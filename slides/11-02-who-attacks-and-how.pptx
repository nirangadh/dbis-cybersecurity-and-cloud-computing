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Welcome back. Remind students: the test at 3:00 is only about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Ask: who could have done this, and why? Do not give the answer yet. We come back to it with the malware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morning we asked what TeaLeaf has that is worth protecting. Now: who would want it, and how do they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Idea 1. Link back: attackers are the threats from this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 this morning. The attacker is the threat in our risk sentence. The reason is called a motive, but students may simply say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attacks on small businesses come from criminals who want money. Link to the hook slide: the locked files are a money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Insiders are staff, past staff or partners. Two kinds. The careless insider is very common and is not a bad person. This matters on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Activists (sometimes called hacktivists) attack because of a belief or a cause. They want attention, not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only. Not in today's test. Sri Lanka CERT is the national centre that helps with cyber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together. This is the answer key for the next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Afterwards ask: which case was hardest? Usually the careless insider, because there is no bad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Idea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two parts. Then show three common ways in. All three are about people, which leads into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Lecturer-led. Open the Attack Lab on the projector and play the matching scene next to each of the next five malware slides, then the Data breach and Denial of service scenes in section 3. Read the story box aloud. Let a student press 'Share the file' in the virus scene: nothing spreads until they share. Answer each scene's question as a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Virus. Read the definition, then the comparison. Ask one student to repeat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Worm. Read the definition, then the comparison. Ask one student to repeat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Trojan. Read the definition, then the comparison. Ask one student to repeat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Ransomware. Read the definition, then the comparison. Ask one student to repeat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Spyware. Read the definition, then the comparison. Ask one student to repeat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hook. It was ransomware, most likely from a criminal who wants money. Link to CIA from this morning: mainly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for the next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 Common mix-up: virus and worm. The worm needs no click and no file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Idea 3. Short section: link each attack to one letter of 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breach links to C, from this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Denial of service links to A. Often used by activists or by criminals who ask for money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 Full-day recap. Put the morning and afternoon together, in the order of the MD's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these to the morning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 Last warm-up before the test. Walk around and note which words cause most trouble; the end screen lists them for each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Brief (5 min). Read this slide slowly. Check that every student has paper and a working phone camera before you start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A20"/>
        </a:solidFill>
      </p:bgPr>
    </p:bg>
    <p:spTree>
      <p:nvGrpSpPr>
        <p:cNvPr id="1" name=""/>
        <p:cNvGrpSpPr/>
        <p:nvPr/>
      </p:nvGrpSpPr>
      <p:grpSpPr>
        <a:xfrm>
          <a:off x="0" y="0"/>
          <a:ext cx="0" cy="0"/>
          <a:chOff x="0" y="0"/>
          <a:chExt cx="0" cy="0"/>
        </a:xfrm>
      </p:grpSpPr>
      <p:sp>
        <p:nvSpPr>
          <p:cNvPr id="2" name="Shape 0"/>
          <p:cNvSpPr/>
          <p:nvPr/>
        </p:nvSpPr>
        <p:spPr>
          <a:xfrm>
            <a:off x="457200" y="502920"/>
            <a:ext cx="731520" cy="731520"/>
          </a:xfrm>
          <a:prstGeom prst="ellipse">
            <a:avLst/>
          </a:prstGeom>
          <a:solidFill>
            <a:srgbClr val="667C7E"/>
          </a:solidFill>
          <a:ln w="12700">
            <a:solidFill>
              <a:srgbClr val="667C7E"/>
            </a:solidFill>
            <a:prstDash val="solid"/>
          </a:ln>
        </p:spPr>
      </p:sp>
      <p:pic>
        <p:nvPicPr>
          <p:cNvPr id="3" name="Image 0" descr="preencoded.png">    </p:cNvPr>
          <p:cNvPicPr>
            <a:picLocks noChangeAspect="1"/>
          </p:cNvPicPr>
          <p:nvPr/>
        </p:nvPicPr>
        <p:blipFill>
          <a:blip r:embed="rId1"/>
          <a:stretch>
            <a:fillRect/>
          </a:stretch>
        </p:blipFill>
        <p:spPr>
          <a:xfrm>
            <a:off x="640080" y="685800"/>
            <a:ext cx="365760" cy="365760"/>
          </a:xfrm>
          <a:prstGeom prst="rect">
            <a:avLst/>
          </a:prstGeom>
        </p:spPr>
      </p:pic>
      <p:sp>
        <p:nvSpPr>
          <p:cNvPr id="4" name="Text 1"/>
          <p:cNvSpPr txBox="1"/>
          <p:nvPr/>
        </p:nvSpPr>
        <p:spPr>
          <a:xfrm>
            <a:off x="457200" y="1508760"/>
            <a:ext cx="8229600" cy="320040"/>
          </a:xfrm>
          <a:prstGeom prst="rect">
            <a:avLst/>
          </a:prstGeom>
          <a:noFill/>
          <a:ln/>
        </p:spPr>
        <p:txBody>
          <a:bodyPr wrap="square" lIns="0" tIns="0" rIns="0" bIns="0" rtlCol="0" anchor="ctr"/>
          <a:lstStyle/>
          <a:p>
            <a:pPr indent="0" marL="0">
              <a:buNone/>
            </a:pPr>
            <a:r>
              <a:rPr lang="en-US" sz="1400" b="1" dirty="0">
                <a:solidFill>
                  <a:srgbClr val="C7A887"/>
                </a:solidFill>
                <a:latin typeface="Open Sans" pitchFamily="34" charset="0"/>
                <a:ea typeface="Open Sans" pitchFamily="34" charset="-122"/>
                <a:cs typeface="Open Sans" pitchFamily="34" charset="-120"/>
              </a:rPr>
              <a:t>DBIS-11  |  Day 1  |  Session 11.2  |  1:00 to 4:00</a:t>
            </a:r>
            <a:endParaRPr lang="en-US" sz="1400" dirty="0"/>
          </a:p>
        </p:txBody>
      </p:sp>
      <p:sp>
        <p:nvSpPr>
          <p:cNvPr id="5" name="Text 2"/>
          <p:cNvSpPr txBox="1"/>
          <p:nvPr/>
        </p:nvSpPr>
        <p:spPr>
          <a:xfrm>
            <a:off x="457200" y="1874520"/>
            <a:ext cx="8229600" cy="118872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Who attacks and how</a:t>
            </a:r>
            <a:endParaRPr lang="en-US" sz="3600" dirty="0"/>
          </a:p>
        </p:txBody>
      </p:sp>
      <p:sp>
        <p:nvSpPr>
          <p:cNvPr id="6" name="Shape 3"/>
          <p:cNvSpPr/>
          <p:nvPr/>
        </p:nvSpPr>
        <p:spPr>
          <a:xfrm>
            <a:off x="457200" y="3154680"/>
            <a:ext cx="822960" cy="64008"/>
          </a:xfrm>
          <a:prstGeom prst="rect">
            <a:avLst/>
          </a:prstGeom>
          <a:solidFill>
            <a:srgbClr val="667C7E"/>
          </a:solidFill>
          <a:ln w="12700">
            <a:solidFill>
              <a:srgbClr val="667C7E"/>
            </a:solidFill>
            <a:prstDash val="solid"/>
          </a:ln>
        </p:spPr>
      </p:sp>
      <p:sp>
        <p:nvSpPr>
          <p:cNvPr id="7" name="Shape 4"/>
          <p:cNvSpPr/>
          <p:nvPr/>
        </p:nvSpPr>
        <p:spPr>
          <a:xfrm>
            <a:off x="1325880" y="3154680"/>
            <a:ext cx="411480" cy="64008"/>
          </a:xfrm>
          <a:prstGeom prst="rect">
            <a:avLst/>
          </a:prstGeom>
          <a:solidFill>
            <a:srgbClr val="C7A887"/>
          </a:solidFill>
          <a:ln w="12700">
            <a:solidFill>
              <a:srgbClr val="C7A887"/>
            </a:solidFill>
            <a:prstDash val="solid"/>
          </a:ln>
        </p:spPr>
      </p:sp>
      <p:sp>
        <p:nvSpPr>
          <p:cNvPr id="8" name="Text 5"/>
          <p:cNvSpPr txBox="1"/>
          <p:nvPr/>
        </p:nvSpPr>
        <p:spPr>
          <a:xfrm>
            <a:off x="457200" y="3383280"/>
            <a:ext cx="8229600" cy="822960"/>
          </a:xfrm>
          <a:prstGeom prst="rect">
            <a:avLst/>
          </a:prstGeom>
          <a:noFill/>
          <a:ln/>
        </p:spPr>
        <p:txBody>
          <a:bodyPr wrap="square" lIns="0" tIns="0" rIns="0" bIns="0" rtlCol="0" anchor="t"/>
          <a:lstStyle/>
          <a:p>
            <a:pPr indent="0" marL="0">
              <a:buNone/>
            </a:pPr>
            <a:r>
              <a:rPr lang="en-US" sz="1500" dirty="0">
                <a:solidFill>
                  <a:srgbClr val="D9D5D2"/>
                </a:solidFill>
                <a:latin typeface="Open Sans" pitchFamily="34" charset="0"/>
                <a:ea typeface="Open Sans" pitchFamily="34" charset="-122"/>
                <a:cs typeface="Open Sans" pitchFamily="34" charset="-120"/>
              </a:rPr>
              <a:t>Cybersecurity and Cloud Computing</a:t>
            </a:r>
            <a:endParaRPr lang="en-US" sz="1500" dirty="0"/>
          </a:p>
          <a:p>
            <a:pPr indent="0" marL="0">
              <a:buNone/>
            </a:pPr>
            <a:r>
              <a:rPr lang="en-US" sz="1500" dirty="0">
                <a:solidFill>
                  <a:srgbClr val="D9D5D2"/>
                </a:solidFill>
                <a:latin typeface="Open Sans" pitchFamily="34" charset="0"/>
                <a:ea typeface="Open Sans" pitchFamily="34" charset="-122"/>
                <a:cs typeface="Open Sans" pitchFamily="34" charset="-120"/>
              </a:rPr>
              <a:t>Test 1 at 3:00</a:t>
            </a:r>
            <a:endParaRPr lang="en-US" sz="1500" dirty="0"/>
          </a:p>
        </p:txBody>
      </p:sp>
      <p:sp>
        <p:nvSpPr>
          <p:cNvPr id="9" name="Text 6"/>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10" name="Text 7"/>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457200"/>
            <a:ext cx="1097280" cy="109728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a:t>
            </a:r>
            <a:endParaRPr lang="en-US" sz="9600" dirty="0"/>
          </a:p>
        </p:txBody>
      </p:sp>
      <p:sp>
        <p:nvSpPr>
          <p:cNvPr id="3" name="Text 1"/>
          <p:cNvSpPr txBox="1"/>
          <p:nvPr/>
        </p:nvSpPr>
        <p:spPr>
          <a:xfrm>
            <a:off x="1097280" y="1188720"/>
            <a:ext cx="7132320" cy="201168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Monday, 8:15 am. A message appears on the accounts computer: "Your files are locked. Pay to get them back."</a:t>
            </a:r>
            <a:endParaRPr lang="en-US" sz="2800" dirty="0"/>
          </a:p>
        </p:txBody>
      </p:sp>
      <p:sp>
        <p:nvSpPr>
          <p:cNvPr id="4" name="Text 2"/>
          <p:cNvSpPr txBox="1"/>
          <p:nvPr/>
        </p:nvSpPr>
        <p:spPr>
          <a:xfrm>
            <a:off x="1097280" y="3383280"/>
            <a:ext cx="7132320" cy="457200"/>
          </a:xfrm>
          <a:prstGeom prst="rect">
            <a:avLst/>
          </a:prstGeom>
          <a:noFill/>
          <a:ln/>
        </p:spPr>
        <p:txBody>
          <a:bodyPr wrap="square" lIns="0" tIns="0" rIns="0" bIns="0" rtlCol="0" anchor="ctr"/>
          <a:lstStyle/>
          <a:p>
            <a:pPr indent="0" marL="0">
              <a:buNone/>
            </a:pPr>
            <a:r>
              <a:rPr lang="en-US" sz="1500" dirty="0">
                <a:solidFill>
                  <a:srgbClr val="C7A887"/>
                </a:solidFill>
                <a:latin typeface="Open Sans" pitchFamily="34" charset="0"/>
                <a:ea typeface="Open Sans" pitchFamily="34" charset="-122"/>
                <a:cs typeface="Open Sans" pitchFamily="34" charset="-120"/>
              </a:rPr>
              <a:t>What happened at TeaLeaf? By 3:00 you will be able to explain it.</a:t>
            </a:r>
            <a:endParaRPr lang="en-US" sz="15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Where we are on the map</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a:t>
            </a:r>
            <a:endParaRPr lang="en-US" sz="800" dirty="0"/>
          </a:p>
        </p:txBody>
      </p:sp>
      <p:sp>
        <p:nvSpPr>
          <p:cNvPr id="8" name="Shape 5"/>
          <p:cNvSpPr/>
          <p:nvPr/>
        </p:nvSpPr>
        <p:spPr>
          <a:xfrm>
            <a:off x="457200" y="1325880"/>
            <a:ext cx="1280160" cy="2103120"/>
          </a:xfrm>
          <a:prstGeom prst="roundRect">
            <a:avLst>
              <a:gd name="adj" fmla="val 5714"/>
            </a:avLst>
          </a:prstGeom>
          <a:solidFill>
            <a:srgbClr val="F2EFEC"/>
          </a:solidFill>
          <a:ln w="6350">
            <a:solidFill>
              <a:srgbClr val="F2EFEC"/>
            </a:solidFill>
            <a:prstDash val="solid"/>
          </a:ln>
        </p:spPr>
      </p:sp>
      <p:sp>
        <p:nvSpPr>
          <p:cNvPr id="9" name="Shape 6"/>
          <p:cNvSpPr/>
          <p:nvPr/>
        </p:nvSpPr>
        <p:spPr>
          <a:xfrm>
            <a:off x="822960" y="1554480"/>
            <a:ext cx="548640" cy="548640"/>
          </a:xfrm>
          <a:prstGeom prst="ellipse">
            <a:avLst/>
          </a:prstGeom>
          <a:solidFill>
            <a:srgbClr val="C9C4BE"/>
          </a:solidFill>
          <a:ln w="12700">
            <a:solidFill>
              <a:srgbClr val="C9C4BE"/>
            </a:solidFill>
            <a:prstDash val="solid"/>
          </a:ln>
        </p:spPr>
      </p:sp>
      <p:pic>
        <p:nvPicPr>
          <p:cNvPr id="10" name="Image 0" descr="preencoded.png">    </p:cNvPr>
          <p:cNvPicPr>
            <a:picLocks noChangeAspect="1"/>
          </p:cNvPicPr>
          <p:nvPr/>
        </p:nvPicPr>
        <p:blipFill>
          <a:blip r:embed="rId1"/>
          <a:stretch>
            <a:fillRect/>
          </a:stretch>
        </p:blipFill>
        <p:spPr>
          <a:xfrm>
            <a:off x="960120" y="1691640"/>
            <a:ext cx="274320" cy="274320"/>
          </a:xfrm>
          <a:prstGeom prst="rect">
            <a:avLst/>
          </a:prstGeom>
        </p:spPr>
      </p:pic>
      <p:sp>
        <p:nvSpPr>
          <p:cNvPr id="11" name="Text 7"/>
          <p:cNvSpPr txBox="1"/>
          <p:nvPr/>
        </p:nvSpPr>
        <p:spPr>
          <a:xfrm>
            <a:off x="502920"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Govern</a:t>
            </a:r>
            <a:endParaRPr lang="en-US" sz="1500" dirty="0"/>
          </a:p>
        </p:txBody>
      </p:sp>
      <p:sp>
        <p:nvSpPr>
          <p:cNvPr id="12" name="Text 8"/>
          <p:cNvSpPr txBox="1"/>
          <p:nvPr/>
        </p:nvSpPr>
        <p:spPr>
          <a:xfrm>
            <a:off x="548640"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Set the rules</a:t>
            </a:r>
            <a:endParaRPr lang="en-US" sz="1200" dirty="0"/>
          </a:p>
        </p:txBody>
      </p:sp>
      <p:sp>
        <p:nvSpPr>
          <p:cNvPr id="13" name="Shape 9"/>
          <p:cNvSpPr/>
          <p:nvPr/>
        </p:nvSpPr>
        <p:spPr>
          <a:xfrm>
            <a:off x="1847088" y="1325880"/>
            <a:ext cx="1280160" cy="2103120"/>
          </a:xfrm>
          <a:prstGeom prst="roundRect">
            <a:avLst>
              <a:gd name="adj" fmla="val 5714"/>
            </a:avLst>
          </a:prstGeom>
          <a:solidFill>
            <a:srgbClr val="D9D5D2"/>
          </a:solidFill>
          <a:ln w="25400">
            <a:solidFill>
              <a:srgbClr val="566A6C"/>
            </a:solidFill>
            <a:prstDash val="solid"/>
          </a:ln>
        </p:spPr>
      </p:sp>
      <p:sp>
        <p:nvSpPr>
          <p:cNvPr id="14" name="Shape 10"/>
          <p:cNvSpPr/>
          <p:nvPr/>
        </p:nvSpPr>
        <p:spPr>
          <a:xfrm>
            <a:off x="2212848" y="1554480"/>
            <a:ext cx="548640" cy="54864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2350008" y="1691640"/>
            <a:ext cx="274320" cy="274320"/>
          </a:xfrm>
          <a:prstGeom prst="rect">
            <a:avLst/>
          </a:prstGeom>
        </p:spPr>
      </p:pic>
      <p:sp>
        <p:nvSpPr>
          <p:cNvPr id="16" name="Text 11"/>
          <p:cNvSpPr txBox="1"/>
          <p:nvPr/>
        </p:nvSpPr>
        <p:spPr>
          <a:xfrm>
            <a:off x="1892808" y="2240280"/>
            <a:ext cx="1188720" cy="365760"/>
          </a:xfrm>
          <a:prstGeom prst="rect">
            <a:avLst/>
          </a:prstGeom>
          <a:noFill/>
          <a:ln/>
        </p:spPr>
        <p:txBody>
          <a:bodyPr wrap="square" lIns="0" tIns="0" rIns="0" bIns="0" rtlCol="0" anchor="ctr"/>
          <a:lstStyle/>
          <a:p>
            <a:pPr algn="ctr" indent="0" marL="0">
              <a:buNone/>
            </a:pPr>
            <a:r>
              <a:rPr lang="en-US" sz="1500" b="1" dirty="0">
                <a:solidFill>
                  <a:srgbClr val="262A20"/>
                </a:solidFill>
                <a:latin typeface="Open Sans" pitchFamily="34" charset="0"/>
                <a:ea typeface="Open Sans" pitchFamily="34" charset="-122"/>
                <a:cs typeface="Open Sans" pitchFamily="34" charset="-120"/>
              </a:rPr>
              <a:t>Identify</a:t>
            </a:r>
            <a:endParaRPr lang="en-US" sz="1500" dirty="0"/>
          </a:p>
        </p:txBody>
      </p:sp>
      <p:sp>
        <p:nvSpPr>
          <p:cNvPr id="17" name="Text 12"/>
          <p:cNvSpPr txBox="1"/>
          <p:nvPr/>
        </p:nvSpPr>
        <p:spPr>
          <a:xfrm>
            <a:off x="1938528" y="2606040"/>
            <a:ext cx="1097280" cy="640080"/>
          </a:xfrm>
          <a:prstGeom prst="rect">
            <a:avLst/>
          </a:prstGeom>
          <a:noFill/>
          <a:ln/>
        </p:spPr>
        <p:txBody>
          <a:bodyPr wrap="square" lIns="0" tIns="0" rIns="0" bIns="0" rtlCol="0" anchor="t"/>
          <a:lstStyle/>
          <a:p>
            <a:pPr algn="ctr" indent="0" marL="0">
              <a:buNone/>
            </a:pPr>
            <a:r>
              <a:rPr lang="en-US" sz="1200" dirty="0">
                <a:solidFill>
                  <a:srgbClr val="262A20"/>
                </a:solidFill>
                <a:latin typeface="Open Sans" pitchFamily="34" charset="0"/>
                <a:ea typeface="Open Sans" pitchFamily="34" charset="-122"/>
                <a:cs typeface="Open Sans" pitchFamily="34" charset="-120"/>
              </a:rPr>
              <a:t>Know what you have</a:t>
            </a:r>
            <a:endParaRPr lang="en-US" sz="1200" dirty="0"/>
          </a:p>
        </p:txBody>
      </p:sp>
      <p:sp>
        <p:nvSpPr>
          <p:cNvPr id="18" name="Shape 13"/>
          <p:cNvSpPr/>
          <p:nvPr/>
        </p:nvSpPr>
        <p:spPr>
          <a:xfrm>
            <a:off x="3236976" y="1325880"/>
            <a:ext cx="1280160" cy="2103120"/>
          </a:xfrm>
          <a:prstGeom prst="roundRect">
            <a:avLst>
              <a:gd name="adj" fmla="val 5714"/>
            </a:avLst>
          </a:prstGeom>
          <a:solidFill>
            <a:srgbClr val="F2EFEC"/>
          </a:solidFill>
          <a:ln w="6350">
            <a:solidFill>
              <a:srgbClr val="F2EFEC"/>
            </a:solidFill>
            <a:prstDash val="solid"/>
          </a:ln>
        </p:spPr>
      </p:sp>
      <p:sp>
        <p:nvSpPr>
          <p:cNvPr id="19" name="Shape 14"/>
          <p:cNvSpPr/>
          <p:nvPr/>
        </p:nvSpPr>
        <p:spPr>
          <a:xfrm>
            <a:off x="3602736" y="1554480"/>
            <a:ext cx="548640" cy="548640"/>
          </a:xfrm>
          <a:prstGeom prst="ellipse">
            <a:avLst/>
          </a:prstGeom>
          <a:solidFill>
            <a:srgbClr val="C9C4BE"/>
          </a:solidFill>
          <a:ln w="12700">
            <a:solidFill>
              <a:srgbClr val="C9C4BE"/>
            </a:solidFill>
            <a:prstDash val="solid"/>
          </a:ln>
        </p:spPr>
      </p:sp>
      <p:pic>
        <p:nvPicPr>
          <p:cNvPr id="20" name="Image 2" descr="preencoded.png">    </p:cNvPr>
          <p:cNvPicPr>
            <a:picLocks noChangeAspect="1"/>
          </p:cNvPicPr>
          <p:nvPr/>
        </p:nvPicPr>
        <p:blipFill>
          <a:blip r:embed="rId3"/>
          <a:stretch>
            <a:fillRect/>
          </a:stretch>
        </p:blipFill>
        <p:spPr>
          <a:xfrm>
            <a:off x="3739896" y="1691640"/>
            <a:ext cx="274320" cy="274320"/>
          </a:xfrm>
          <a:prstGeom prst="rect">
            <a:avLst/>
          </a:prstGeom>
        </p:spPr>
      </p:pic>
      <p:sp>
        <p:nvSpPr>
          <p:cNvPr id="21" name="Text 15"/>
          <p:cNvSpPr txBox="1"/>
          <p:nvPr/>
        </p:nvSpPr>
        <p:spPr>
          <a:xfrm>
            <a:off x="3282696"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Protect</a:t>
            </a:r>
            <a:endParaRPr lang="en-US" sz="1500" dirty="0"/>
          </a:p>
        </p:txBody>
      </p:sp>
      <p:sp>
        <p:nvSpPr>
          <p:cNvPr id="22" name="Text 16"/>
          <p:cNvSpPr txBox="1"/>
          <p:nvPr/>
        </p:nvSpPr>
        <p:spPr>
          <a:xfrm>
            <a:off x="3328416"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Keep it safe</a:t>
            </a:r>
            <a:endParaRPr lang="en-US" sz="1200" dirty="0"/>
          </a:p>
        </p:txBody>
      </p:sp>
      <p:sp>
        <p:nvSpPr>
          <p:cNvPr id="23" name="Shape 17"/>
          <p:cNvSpPr/>
          <p:nvPr/>
        </p:nvSpPr>
        <p:spPr>
          <a:xfrm>
            <a:off x="4626864" y="1325880"/>
            <a:ext cx="1280160" cy="2103120"/>
          </a:xfrm>
          <a:prstGeom prst="roundRect">
            <a:avLst>
              <a:gd name="adj" fmla="val 5714"/>
            </a:avLst>
          </a:prstGeom>
          <a:solidFill>
            <a:srgbClr val="F2EFEC"/>
          </a:solidFill>
          <a:ln w="6350">
            <a:solidFill>
              <a:srgbClr val="F2EFEC"/>
            </a:solidFill>
            <a:prstDash val="solid"/>
          </a:ln>
        </p:spPr>
      </p:sp>
      <p:sp>
        <p:nvSpPr>
          <p:cNvPr id="24" name="Shape 18"/>
          <p:cNvSpPr/>
          <p:nvPr/>
        </p:nvSpPr>
        <p:spPr>
          <a:xfrm>
            <a:off x="4992624" y="1554480"/>
            <a:ext cx="548640" cy="548640"/>
          </a:xfrm>
          <a:prstGeom prst="ellipse">
            <a:avLst/>
          </a:prstGeom>
          <a:solidFill>
            <a:srgbClr val="C9C4BE"/>
          </a:solidFill>
          <a:ln w="12700">
            <a:solidFill>
              <a:srgbClr val="C9C4BE"/>
            </a:solidFill>
            <a:prstDash val="solid"/>
          </a:ln>
        </p:spPr>
      </p:sp>
      <p:pic>
        <p:nvPicPr>
          <p:cNvPr id="25" name="Image 3" descr="preencoded.png">    </p:cNvPr>
          <p:cNvPicPr>
            <a:picLocks noChangeAspect="1"/>
          </p:cNvPicPr>
          <p:nvPr/>
        </p:nvPicPr>
        <p:blipFill>
          <a:blip r:embed="rId4"/>
          <a:stretch>
            <a:fillRect/>
          </a:stretch>
        </p:blipFill>
        <p:spPr>
          <a:xfrm>
            <a:off x="5129784" y="1691640"/>
            <a:ext cx="274320" cy="274320"/>
          </a:xfrm>
          <a:prstGeom prst="rect">
            <a:avLst/>
          </a:prstGeom>
        </p:spPr>
      </p:pic>
      <p:sp>
        <p:nvSpPr>
          <p:cNvPr id="26" name="Text 19"/>
          <p:cNvSpPr txBox="1"/>
          <p:nvPr/>
        </p:nvSpPr>
        <p:spPr>
          <a:xfrm>
            <a:off x="4672584"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Detect</a:t>
            </a:r>
            <a:endParaRPr lang="en-US" sz="1500" dirty="0"/>
          </a:p>
        </p:txBody>
      </p:sp>
      <p:sp>
        <p:nvSpPr>
          <p:cNvPr id="27" name="Text 20"/>
          <p:cNvSpPr txBox="1"/>
          <p:nvPr/>
        </p:nvSpPr>
        <p:spPr>
          <a:xfrm>
            <a:off x="4718304"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Spot attacks</a:t>
            </a:r>
            <a:endParaRPr lang="en-US" sz="1200" dirty="0"/>
          </a:p>
        </p:txBody>
      </p:sp>
      <p:sp>
        <p:nvSpPr>
          <p:cNvPr id="28" name="Shape 21"/>
          <p:cNvSpPr/>
          <p:nvPr/>
        </p:nvSpPr>
        <p:spPr>
          <a:xfrm>
            <a:off x="6016752" y="1325880"/>
            <a:ext cx="1280160" cy="2103120"/>
          </a:xfrm>
          <a:prstGeom prst="roundRect">
            <a:avLst>
              <a:gd name="adj" fmla="val 5714"/>
            </a:avLst>
          </a:prstGeom>
          <a:solidFill>
            <a:srgbClr val="F2EFEC"/>
          </a:solidFill>
          <a:ln w="6350">
            <a:solidFill>
              <a:srgbClr val="F2EFEC"/>
            </a:solidFill>
            <a:prstDash val="solid"/>
          </a:ln>
        </p:spPr>
      </p:sp>
      <p:sp>
        <p:nvSpPr>
          <p:cNvPr id="29" name="Shape 22"/>
          <p:cNvSpPr/>
          <p:nvPr/>
        </p:nvSpPr>
        <p:spPr>
          <a:xfrm>
            <a:off x="6382512" y="1554480"/>
            <a:ext cx="548640" cy="548640"/>
          </a:xfrm>
          <a:prstGeom prst="ellipse">
            <a:avLst/>
          </a:prstGeom>
          <a:solidFill>
            <a:srgbClr val="C9C4BE"/>
          </a:solidFill>
          <a:ln w="12700">
            <a:solidFill>
              <a:srgbClr val="C9C4BE"/>
            </a:solidFill>
            <a:prstDash val="solid"/>
          </a:ln>
        </p:spPr>
      </p:sp>
      <p:pic>
        <p:nvPicPr>
          <p:cNvPr id="30" name="Image 4" descr="preencoded.png">    </p:cNvPr>
          <p:cNvPicPr>
            <a:picLocks noChangeAspect="1"/>
          </p:cNvPicPr>
          <p:nvPr/>
        </p:nvPicPr>
        <p:blipFill>
          <a:blip r:embed="rId5"/>
          <a:stretch>
            <a:fillRect/>
          </a:stretch>
        </p:blipFill>
        <p:spPr>
          <a:xfrm>
            <a:off x="6519672" y="1691640"/>
            <a:ext cx="274320" cy="274320"/>
          </a:xfrm>
          <a:prstGeom prst="rect">
            <a:avLst/>
          </a:prstGeom>
        </p:spPr>
      </p:pic>
      <p:sp>
        <p:nvSpPr>
          <p:cNvPr id="31" name="Text 23"/>
          <p:cNvSpPr txBox="1"/>
          <p:nvPr/>
        </p:nvSpPr>
        <p:spPr>
          <a:xfrm>
            <a:off x="6062472"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Respond</a:t>
            </a:r>
            <a:endParaRPr lang="en-US" sz="1500" dirty="0"/>
          </a:p>
        </p:txBody>
      </p:sp>
      <p:sp>
        <p:nvSpPr>
          <p:cNvPr id="32" name="Text 24"/>
          <p:cNvSpPr txBox="1"/>
          <p:nvPr/>
        </p:nvSpPr>
        <p:spPr>
          <a:xfrm>
            <a:off x="6108192"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Act fast</a:t>
            </a:r>
            <a:endParaRPr lang="en-US" sz="1200" dirty="0"/>
          </a:p>
        </p:txBody>
      </p:sp>
      <p:sp>
        <p:nvSpPr>
          <p:cNvPr id="33" name="Shape 25"/>
          <p:cNvSpPr/>
          <p:nvPr/>
        </p:nvSpPr>
        <p:spPr>
          <a:xfrm>
            <a:off x="7406640" y="1325880"/>
            <a:ext cx="1280160" cy="2103120"/>
          </a:xfrm>
          <a:prstGeom prst="roundRect">
            <a:avLst>
              <a:gd name="adj" fmla="val 5714"/>
            </a:avLst>
          </a:prstGeom>
          <a:solidFill>
            <a:srgbClr val="F2EFEC"/>
          </a:solidFill>
          <a:ln w="6350">
            <a:solidFill>
              <a:srgbClr val="F2EFEC"/>
            </a:solidFill>
            <a:prstDash val="solid"/>
          </a:ln>
        </p:spPr>
      </p:sp>
      <p:sp>
        <p:nvSpPr>
          <p:cNvPr id="34" name="Shape 26"/>
          <p:cNvSpPr/>
          <p:nvPr/>
        </p:nvSpPr>
        <p:spPr>
          <a:xfrm>
            <a:off x="7772400" y="1554480"/>
            <a:ext cx="548640" cy="548640"/>
          </a:xfrm>
          <a:prstGeom prst="ellipse">
            <a:avLst/>
          </a:prstGeom>
          <a:solidFill>
            <a:srgbClr val="C9C4BE"/>
          </a:solidFill>
          <a:ln w="12700">
            <a:solidFill>
              <a:srgbClr val="C9C4BE"/>
            </a:solidFill>
            <a:prstDash val="solid"/>
          </a:ln>
        </p:spPr>
      </p:sp>
      <p:pic>
        <p:nvPicPr>
          <p:cNvPr id="35" name="Image 5" descr="preencoded.png">    </p:cNvPr>
          <p:cNvPicPr>
            <a:picLocks noChangeAspect="1"/>
          </p:cNvPicPr>
          <p:nvPr/>
        </p:nvPicPr>
        <p:blipFill>
          <a:blip r:embed="rId6"/>
          <a:stretch>
            <a:fillRect/>
          </a:stretch>
        </p:blipFill>
        <p:spPr>
          <a:xfrm>
            <a:off x="7909560" y="1691640"/>
            <a:ext cx="274320" cy="274320"/>
          </a:xfrm>
          <a:prstGeom prst="rect">
            <a:avLst/>
          </a:prstGeom>
        </p:spPr>
      </p:pic>
      <p:sp>
        <p:nvSpPr>
          <p:cNvPr id="36" name="Text 27"/>
          <p:cNvSpPr txBox="1"/>
          <p:nvPr/>
        </p:nvSpPr>
        <p:spPr>
          <a:xfrm>
            <a:off x="7452360"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Recover</a:t>
            </a:r>
            <a:endParaRPr lang="en-US" sz="1500" dirty="0"/>
          </a:p>
        </p:txBody>
      </p:sp>
      <p:sp>
        <p:nvSpPr>
          <p:cNvPr id="37" name="Text 28"/>
          <p:cNvSpPr txBox="1"/>
          <p:nvPr/>
        </p:nvSpPr>
        <p:spPr>
          <a:xfrm>
            <a:off x="7498080"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Get back to work</a:t>
            </a:r>
            <a:endParaRPr lang="en-US" sz="1200" dirty="0"/>
          </a:p>
        </p:txBody>
      </p:sp>
      <p:sp>
        <p:nvSpPr>
          <p:cNvPr id="38" name="Text 29"/>
          <p:cNvSpPr txBox="1"/>
          <p:nvPr/>
        </p:nvSpPr>
        <p:spPr>
          <a:xfrm>
            <a:off x="457200" y="3749040"/>
            <a:ext cx="8229600" cy="365760"/>
          </a:xfrm>
          <a:prstGeom prst="rect">
            <a:avLst/>
          </a:prstGeom>
          <a:noFill/>
          <a:ln/>
        </p:spPr>
        <p:txBody>
          <a:bodyPr wrap="square" lIns="0" tIns="0" rIns="0" bIns="0" rtlCol="0" anchor="ctr"/>
          <a:lstStyle/>
          <a:p>
            <a:pPr algn="ctr" indent="0" marL="0">
              <a:buNone/>
            </a:pPr>
            <a:r>
              <a:rPr lang="en-US" sz="1800" b="1" dirty="0">
                <a:solidFill>
                  <a:srgbClr val="7D5F3F"/>
                </a:solidFill>
                <a:latin typeface="Open Sans" pitchFamily="34" charset="0"/>
                <a:ea typeface="Open Sans" pitchFamily="34" charset="-122"/>
                <a:cs typeface="Open Sans" pitchFamily="34" charset="-120"/>
              </a:rPr>
              <a:t>This afternoon: Identify the attackers and their tools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This afternoon you will learn</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4</a:t>
            </a:r>
            <a:endParaRPr lang="en-US" sz="800" dirty="0"/>
          </a:p>
        </p:txBody>
      </p:sp>
      <p:sp>
        <p:nvSpPr>
          <p:cNvPr id="8" name="Shape 5"/>
          <p:cNvSpPr/>
          <p:nvPr/>
        </p:nvSpPr>
        <p:spPr>
          <a:xfrm>
            <a:off x="457200" y="1371600"/>
            <a:ext cx="548640" cy="5486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594360" y="1508760"/>
            <a:ext cx="274320" cy="274320"/>
          </a:xfrm>
          <a:prstGeom prst="rect">
            <a:avLst/>
          </a:prstGeom>
        </p:spPr>
      </p:pic>
      <p:sp>
        <p:nvSpPr>
          <p:cNvPr id="10" name="Text 6"/>
          <p:cNvSpPr txBox="1"/>
          <p:nvPr/>
        </p:nvSpPr>
        <p:spPr>
          <a:xfrm>
            <a:off x="1188720" y="132588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1.  Who attacks, and why</a:t>
            </a:r>
            <a:endParaRPr lang="en-US" sz="1600" dirty="0"/>
          </a:p>
        </p:txBody>
      </p:sp>
      <p:sp>
        <p:nvSpPr>
          <p:cNvPr id="11" name="Text 7"/>
          <p:cNvSpPr txBox="1"/>
          <p:nvPr/>
        </p:nvSpPr>
        <p:spPr>
          <a:xfrm>
            <a:off x="1188720" y="1636776"/>
            <a:ext cx="7498080" cy="59436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Criminals, insiders and activists.</a:t>
            </a:r>
            <a:endParaRPr lang="en-US" sz="1300" dirty="0"/>
          </a:p>
        </p:txBody>
      </p:sp>
      <p:sp>
        <p:nvSpPr>
          <p:cNvPr id="12" name="Shape 8"/>
          <p:cNvSpPr/>
          <p:nvPr/>
        </p:nvSpPr>
        <p:spPr>
          <a:xfrm>
            <a:off x="457200" y="2331720"/>
            <a:ext cx="548640" cy="548640"/>
          </a:xfrm>
          <a:prstGeom prst="ellipse">
            <a:avLst/>
          </a:prstGeom>
          <a:solidFill>
            <a:srgbClr val="667C7E"/>
          </a:solidFill>
          <a:ln w="12700">
            <a:solidFill>
              <a:srgbClr val="667C7E"/>
            </a:solidFill>
            <a:prstDash val="solid"/>
          </a:ln>
        </p:spPr>
      </p:sp>
      <p:pic>
        <p:nvPicPr>
          <p:cNvPr id="13" name="Image 1" descr="preencoded.png">    </p:cNvPr>
          <p:cNvPicPr>
            <a:picLocks noChangeAspect="1"/>
          </p:cNvPicPr>
          <p:nvPr/>
        </p:nvPicPr>
        <p:blipFill>
          <a:blip r:embed="rId2"/>
          <a:stretch>
            <a:fillRect/>
          </a:stretch>
        </p:blipFill>
        <p:spPr>
          <a:xfrm>
            <a:off x="594360" y="2468880"/>
            <a:ext cx="274320" cy="274320"/>
          </a:xfrm>
          <a:prstGeom prst="rect">
            <a:avLst/>
          </a:prstGeom>
        </p:spPr>
      </p:pic>
      <p:sp>
        <p:nvSpPr>
          <p:cNvPr id="14" name="Text 9"/>
          <p:cNvSpPr txBox="1"/>
          <p:nvPr/>
        </p:nvSpPr>
        <p:spPr>
          <a:xfrm>
            <a:off x="1188720" y="228600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2.  Five types of malware</a:t>
            </a:r>
            <a:endParaRPr lang="en-US" sz="1600" dirty="0"/>
          </a:p>
        </p:txBody>
      </p:sp>
      <p:sp>
        <p:nvSpPr>
          <p:cNvPr id="15" name="Text 10"/>
          <p:cNvSpPr txBox="1"/>
          <p:nvPr/>
        </p:nvSpPr>
        <p:spPr>
          <a:xfrm>
            <a:off x="1188720" y="2596896"/>
            <a:ext cx="7498080" cy="59436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Virus, worm, trojan, ransomware, spyware.</a:t>
            </a:r>
            <a:endParaRPr lang="en-US" sz="1300" dirty="0"/>
          </a:p>
        </p:txBody>
      </p:sp>
      <p:sp>
        <p:nvSpPr>
          <p:cNvPr id="16" name="Shape 11"/>
          <p:cNvSpPr/>
          <p:nvPr/>
        </p:nvSpPr>
        <p:spPr>
          <a:xfrm>
            <a:off x="457200" y="3291840"/>
            <a:ext cx="548640" cy="548640"/>
          </a:xfrm>
          <a:prstGeom prst="ellipse">
            <a:avLst/>
          </a:prstGeom>
          <a:solidFill>
            <a:srgbClr val="667C7E"/>
          </a:solidFill>
          <a:ln w="12700">
            <a:solidFill>
              <a:srgbClr val="667C7E"/>
            </a:solidFill>
            <a:prstDash val="solid"/>
          </a:ln>
        </p:spPr>
      </p:sp>
      <p:pic>
        <p:nvPicPr>
          <p:cNvPr id="17" name="Image 2" descr="preencoded.png">    </p:cNvPr>
          <p:cNvPicPr>
            <a:picLocks noChangeAspect="1"/>
          </p:cNvPicPr>
          <p:nvPr/>
        </p:nvPicPr>
        <p:blipFill>
          <a:blip r:embed="rId3"/>
          <a:stretch>
            <a:fillRect/>
          </a:stretch>
        </p:blipFill>
        <p:spPr>
          <a:xfrm>
            <a:off x="594360" y="3429000"/>
            <a:ext cx="274320" cy="274320"/>
          </a:xfrm>
          <a:prstGeom prst="rect">
            <a:avLst/>
          </a:prstGeom>
        </p:spPr>
      </p:pic>
      <p:sp>
        <p:nvSpPr>
          <p:cNvPr id="18" name="Text 12"/>
          <p:cNvSpPr txBox="1"/>
          <p:nvPr/>
        </p:nvSpPr>
        <p:spPr>
          <a:xfrm>
            <a:off x="1188720" y="324612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3.  Data breach and denial of service</a:t>
            </a:r>
            <a:endParaRPr lang="en-US" sz="1600" dirty="0"/>
          </a:p>
        </p:txBody>
      </p:sp>
      <p:sp>
        <p:nvSpPr>
          <p:cNvPr id="19" name="Text 13"/>
          <p:cNvSpPr txBox="1"/>
          <p:nvPr/>
        </p:nvSpPr>
        <p:spPr>
          <a:xfrm>
            <a:off x="1188720" y="3557016"/>
            <a:ext cx="7498080" cy="59436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Two attacks every business must know.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1</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Who attacks, and why</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Every attacker has a reason.</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An attacker is a threat</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6</a:t>
            </a:r>
            <a:endParaRPr lang="en-US" sz="800" dirty="0"/>
          </a:p>
        </p:txBody>
      </p:sp>
      <p:sp>
        <p:nvSpPr>
          <p:cNvPr id="8" name="Shape 5"/>
          <p:cNvSpPr/>
          <p:nvPr/>
        </p:nvSpPr>
        <p:spPr>
          <a:xfrm>
            <a:off x="457200" y="1280160"/>
            <a:ext cx="8229600" cy="1005840"/>
          </a:xfrm>
          <a:prstGeom prst="roundRect">
            <a:avLst>
              <a:gd name="adj" fmla="val 7273"/>
            </a:avLst>
          </a:prstGeom>
          <a:solidFill>
            <a:srgbClr val="D9D5D2"/>
          </a:solidFill>
          <a:ln w="12700">
            <a:solidFill>
              <a:srgbClr val="D9D5D2"/>
            </a:solidFill>
            <a:prstDash val="solid"/>
          </a:ln>
        </p:spPr>
      </p:sp>
      <p:sp>
        <p:nvSpPr>
          <p:cNvPr id="9" name="Text 6"/>
          <p:cNvSpPr txBox="1"/>
          <p:nvPr/>
        </p:nvSpPr>
        <p:spPr>
          <a:xfrm>
            <a:off x="640080" y="1371600"/>
            <a:ext cx="7863840" cy="822960"/>
          </a:xfrm>
          <a:prstGeom prst="rect">
            <a:avLst/>
          </a:prstGeom>
          <a:noFill/>
          <a:ln/>
        </p:spPr>
        <p:txBody>
          <a:bodyPr wrap="square" lIns="0" tIns="0" rIns="0" bIns="0" rtlCol="0" anchor="ctr"/>
          <a:lstStyle/>
          <a:p>
            <a:pPr indent="0" marL="0">
              <a:buNone/>
            </a:pPr>
            <a:r>
              <a:rPr lang="en-US" sz="1600" dirty="0">
                <a:solidFill>
                  <a:srgbClr val="262A20"/>
                </a:solidFill>
                <a:latin typeface="Open Sans" pitchFamily="34" charset="0"/>
                <a:ea typeface="Open Sans" pitchFamily="34" charset="-122"/>
                <a:cs typeface="Open Sans" pitchFamily="34" charset="-120"/>
              </a:rPr>
              <a:t>This morning: a threat is something or someone that can cause harm.</a:t>
            </a:r>
            <a:endParaRPr lang="en-US" sz="1600" dirty="0"/>
          </a:p>
          <a:p>
            <a:pPr indent="0" marL="0">
              <a:buNone/>
            </a:pPr>
            <a:r>
              <a:rPr lang="en-US" sz="1600" dirty="0">
                <a:solidFill>
                  <a:srgbClr val="262A20"/>
                </a:solidFill>
                <a:latin typeface="Open Sans" pitchFamily="34" charset="0"/>
                <a:ea typeface="Open Sans" pitchFamily="34" charset="-122"/>
                <a:cs typeface="Open Sans" pitchFamily="34" charset="-120"/>
              </a:rPr>
              <a:t>This afternoon: we look at the people behind the threats.</a:t>
            </a:r>
            <a:endParaRPr lang="en-US" sz="1600" dirty="0"/>
          </a:p>
        </p:txBody>
      </p:sp>
      <p:sp>
        <p:nvSpPr>
          <p:cNvPr id="10" name="Shape 7"/>
          <p:cNvSpPr/>
          <p:nvPr/>
        </p:nvSpPr>
        <p:spPr>
          <a:xfrm>
            <a:off x="457200" y="2651760"/>
            <a:ext cx="548640" cy="548640"/>
          </a:xfrm>
          <a:prstGeom prst="ellipse">
            <a:avLst/>
          </a:prstGeom>
          <a:solidFill>
            <a:srgbClr val="667C7E"/>
          </a:solidFill>
          <a:ln w="12700">
            <a:solidFill>
              <a:srgbClr val="667C7E"/>
            </a:solidFill>
            <a:prstDash val="solid"/>
          </a:ln>
        </p:spPr>
      </p:sp>
      <p:pic>
        <p:nvPicPr>
          <p:cNvPr id="11" name="Image 0" descr="preencoded.png">    </p:cNvPr>
          <p:cNvPicPr>
            <a:picLocks noChangeAspect="1"/>
          </p:cNvPicPr>
          <p:nvPr/>
        </p:nvPicPr>
        <p:blipFill>
          <a:blip r:embed="rId1"/>
          <a:stretch>
            <a:fillRect/>
          </a:stretch>
        </p:blipFill>
        <p:spPr>
          <a:xfrm>
            <a:off x="594360" y="2788920"/>
            <a:ext cx="274320" cy="274320"/>
          </a:xfrm>
          <a:prstGeom prst="rect">
            <a:avLst/>
          </a:prstGeom>
        </p:spPr>
      </p:pic>
      <p:sp>
        <p:nvSpPr>
          <p:cNvPr id="12" name="Text 8"/>
          <p:cNvSpPr txBox="1"/>
          <p:nvPr/>
        </p:nvSpPr>
        <p:spPr>
          <a:xfrm>
            <a:off x="1188720" y="260604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Attacker</a:t>
            </a:r>
            <a:endParaRPr lang="en-US" sz="1600" dirty="0"/>
          </a:p>
        </p:txBody>
      </p:sp>
      <p:sp>
        <p:nvSpPr>
          <p:cNvPr id="13" name="Text 9"/>
          <p:cNvSpPr txBox="1"/>
          <p:nvPr/>
        </p:nvSpPr>
        <p:spPr>
          <a:xfrm>
            <a:off x="1188720" y="2916936"/>
            <a:ext cx="7498080" cy="54864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A person or group who tries to harm our information.</a:t>
            </a:r>
            <a:endParaRPr lang="en-US" sz="1300" dirty="0"/>
          </a:p>
        </p:txBody>
      </p:sp>
      <p:sp>
        <p:nvSpPr>
          <p:cNvPr id="14" name="Shape 10"/>
          <p:cNvSpPr/>
          <p:nvPr/>
        </p:nvSpPr>
        <p:spPr>
          <a:xfrm>
            <a:off x="457200" y="3566160"/>
            <a:ext cx="548640" cy="54864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594360" y="3703320"/>
            <a:ext cx="274320" cy="274320"/>
          </a:xfrm>
          <a:prstGeom prst="rect">
            <a:avLst/>
          </a:prstGeom>
        </p:spPr>
      </p:pic>
      <p:sp>
        <p:nvSpPr>
          <p:cNvPr id="16" name="Text 11"/>
          <p:cNvSpPr txBox="1"/>
          <p:nvPr/>
        </p:nvSpPr>
        <p:spPr>
          <a:xfrm>
            <a:off x="1188720" y="352044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Reason (motive)</a:t>
            </a:r>
            <a:endParaRPr lang="en-US" sz="1600" dirty="0"/>
          </a:p>
        </p:txBody>
      </p:sp>
      <p:sp>
        <p:nvSpPr>
          <p:cNvPr id="17" name="Text 12"/>
          <p:cNvSpPr txBox="1"/>
          <p:nvPr/>
        </p:nvSpPr>
        <p:spPr>
          <a:xfrm>
            <a:off x="1188720" y="3831336"/>
            <a:ext cx="7498080" cy="54864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Why they do it. The reason helps us guess what they will attack.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Criminals: they want money</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7</a:t>
            </a:r>
            <a:endParaRPr lang="en-US" sz="800" dirty="0"/>
          </a:p>
        </p:txBody>
      </p:sp>
      <p:sp>
        <p:nvSpPr>
          <p:cNvPr id="8" name="Shape 5"/>
          <p:cNvSpPr/>
          <p:nvPr/>
        </p:nvSpPr>
        <p:spPr>
          <a:xfrm>
            <a:off x="457200" y="1280160"/>
            <a:ext cx="1005840" cy="1005840"/>
          </a:xfrm>
          <a:prstGeom prst="ellipse">
            <a:avLst/>
          </a:prstGeom>
          <a:solidFill>
            <a:srgbClr val="C7A887"/>
          </a:solidFill>
          <a:ln w="12700">
            <a:solidFill>
              <a:srgbClr val="C7A887"/>
            </a:solidFill>
            <a:prstDash val="solid"/>
          </a:ln>
        </p:spPr>
      </p:sp>
      <p:pic>
        <p:nvPicPr>
          <p:cNvPr id="9" name="Image 0" descr="preencoded.png">    </p:cNvPr>
          <p:cNvPicPr>
            <a:picLocks noChangeAspect="1"/>
          </p:cNvPicPr>
          <p:nvPr/>
        </p:nvPicPr>
        <p:blipFill>
          <a:blip r:embed="rId1"/>
          <a:stretch>
            <a:fillRect/>
          </a:stretch>
        </p:blipFill>
        <p:spPr>
          <a:xfrm>
            <a:off x="708660" y="1531620"/>
            <a:ext cx="502920" cy="502920"/>
          </a:xfrm>
          <a:prstGeom prst="rect">
            <a:avLst/>
          </a:prstGeom>
        </p:spPr>
      </p:pic>
      <p:sp>
        <p:nvSpPr>
          <p:cNvPr id="10" name="Text 6"/>
          <p:cNvSpPr txBox="1"/>
          <p:nvPr/>
        </p:nvSpPr>
        <p:spPr>
          <a:xfrm>
            <a:off x="1691640" y="1280160"/>
            <a:ext cx="6949440" cy="457200"/>
          </a:xfrm>
          <a:prstGeom prst="rect">
            <a:avLst/>
          </a:prstGeom>
          <a:noFill/>
          <a:ln/>
        </p:spPr>
        <p:txBody>
          <a:bodyPr wrap="square" lIns="0" tIns="0" rIns="0" bIns="0" rtlCol="0" anchor="ctr"/>
          <a:lstStyle/>
          <a:p>
            <a:pPr indent="0" marL="0">
              <a:buNone/>
            </a:pPr>
            <a:r>
              <a:rPr lang="en-US" sz="2400" b="1" dirty="0">
                <a:solidFill>
                  <a:srgbClr val="7D5F3F"/>
                </a:solidFill>
                <a:latin typeface="Open Sans" pitchFamily="34" charset="0"/>
                <a:ea typeface="Open Sans" pitchFamily="34" charset="-122"/>
                <a:cs typeface="Open Sans" pitchFamily="34" charset="-120"/>
              </a:rPr>
              <a:t>Criminals</a:t>
            </a:r>
            <a:endParaRPr lang="en-US" sz="2400" dirty="0"/>
          </a:p>
        </p:txBody>
      </p:sp>
      <p:sp>
        <p:nvSpPr>
          <p:cNvPr id="11" name="Text 7"/>
          <p:cNvSpPr txBox="1"/>
          <p:nvPr/>
        </p:nvSpPr>
        <p:spPr>
          <a:xfrm>
            <a:off x="1691640" y="1737360"/>
            <a:ext cx="6949440" cy="548640"/>
          </a:xfrm>
          <a:prstGeom prst="rect">
            <a:avLst/>
          </a:prstGeom>
          <a:noFill/>
          <a:ln/>
        </p:spPr>
        <p:txBody>
          <a:bodyPr wrap="square" lIns="0" tIns="0" rIns="0" bIns="0" rtlCol="0" anchor="ctr"/>
          <a:lstStyle/>
          <a:p>
            <a:pPr indent="0" marL="0">
              <a:buNone/>
            </a:pPr>
            <a:r>
              <a:rPr lang="en-US" sz="1700" dirty="0">
                <a:solidFill>
                  <a:srgbClr val="262A20"/>
                </a:solidFill>
                <a:latin typeface="Open Sans" pitchFamily="34" charset="0"/>
                <a:ea typeface="Open Sans" pitchFamily="34" charset="-122"/>
                <a:cs typeface="Open Sans" pitchFamily="34" charset="-120"/>
              </a:rPr>
              <a:t>They attack to make money. They do not care who you are.</a:t>
            </a:r>
            <a:endParaRPr lang="en-US" sz="1700" dirty="0"/>
          </a:p>
        </p:txBody>
      </p:sp>
      <p:sp>
        <p:nvSpPr>
          <p:cNvPr id="12" name="Text 8"/>
          <p:cNvSpPr txBox="1"/>
          <p:nvPr/>
        </p:nvSpPr>
        <p:spPr>
          <a:xfrm>
            <a:off x="457200" y="2651760"/>
            <a:ext cx="8229600" cy="16459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62A20"/>
                </a:solidFill>
                <a:latin typeface="Open Sans" pitchFamily="34" charset="0"/>
                <a:ea typeface="Open Sans" pitchFamily="34" charset="-122"/>
                <a:cs typeface="Open Sans" pitchFamily="34" charset="-120"/>
              </a:rPr>
              <a:t>Lock files and ask for payment.</a:t>
            </a:r>
            <a:endParaRPr lang="en-US" sz="1700" dirty="0"/>
          </a:p>
          <a:p>
            <a:pPr marL="342900" indent="-342900">
              <a:spcAft>
                <a:spcPts val="800"/>
              </a:spcAft>
              <a:buSzPct val="100000"/>
              <a:buChar char="•"/>
            </a:pPr>
            <a:r>
              <a:rPr lang="en-US" sz="1700" dirty="0">
                <a:solidFill>
                  <a:srgbClr val="262A20"/>
                </a:solidFill>
                <a:latin typeface="Open Sans" pitchFamily="34" charset="0"/>
                <a:ea typeface="Open Sans" pitchFamily="34" charset="-122"/>
                <a:cs typeface="Open Sans" pitchFamily="34" charset="-120"/>
              </a:rPr>
              <a:t>Steal card details and sell them.</a:t>
            </a:r>
            <a:endParaRPr lang="en-US" sz="1700" dirty="0"/>
          </a:p>
          <a:p>
            <a:pPr marL="342900" indent="-342900">
              <a:spcAft>
                <a:spcPts val="800"/>
              </a:spcAft>
              <a:buSzPct val="100000"/>
              <a:buChar char="•"/>
            </a:pPr>
            <a:r>
              <a:rPr lang="en-US" sz="1700" dirty="0">
                <a:solidFill>
                  <a:srgbClr val="262A20"/>
                </a:solidFill>
                <a:latin typeface="Open Sans" pitchFamily="34" charset="0"/>
                <a:ea typeface="Open Sans" pitchFamily="34" charset="-122"/>
                <a:cs typeface="Open Sans" pitchFamily="34" charset="-120"/>
              </a:rPr>
              <a:t>Send fake emails that trick staff into paying.</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Insiders: people inside the business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8</a:t>
            </a:r>
            <a:endParaRPr lang="en-US" sz="800" dirty="0"/>
          </a:p>
        </p:txBody>
      </p:sp>
      <p:sp>
        <p:nvSpPr>
          <p:cNvPr id="8" name="Shape 5"/>
          <p:cNvSpPr/>
          <p:nvPr/>
        </p:nvSpPr>
        <p:spPr>
          <a:xfrm>
            <a:off x="457200" y="1188720"/>
            <a:ext cx="4000500" cy="2468880"/>
          </a:xfrm>
          <a:prstGeom prst="roundRect">
            <a:avLst>
              <a:gd name="adj" fmla="val 2963"/>
            </a:avLst>
          </a:prstGeom>
          <a:solidFill>
            <a:srgbClr val="EDDDCD"/>
          </a:solidFill>
          <a:ln w="12700">
            <a:solidFill>
              <a:srgbClr val="EDDDCD"/>
            </a:solidFill>
            <a:prstDash val="solid"/>
          </a:ln>
        </p:spPr>
      </p:sp>
      <p:sp>
        <p:nvSpPr>
          <p:cNvPr id="9" name="Shape 6"/>
          <p:cNvSpPr/>
          <p:nvPr/>
        </p:nvSpPr>
        <p:spPr>
          <a:xfrm>
            <a:off x="640080" y="1371600"/>
            <a:ext cx="502920" cy="502920"/>
          </a:xfrm>
          <a:prstGeom prst="ellipse">
            <a:avLst/>
          </a:prstGeom>
          <a:solidFill>
            <a:srgbClr val="C7A887"/>
          </a:solidFill>
          <a:ln w="12700">
            <a:solidFill>
              <a:srgbClr val="C7A887"/>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36347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The angry insider</a:t>
            </a:r>
            <a:endParaRPr lang="en-US" sz="1500" dirty="0"/>
          </a:p>
        </p:txBody>
      </p:sp>
      <p:sp>
        <p:nvSpPr>
          <p:cNvPr id="12" name="Text 8"/>
          <p:cNvSpPr txBox="1"/>
          <p:nvPr/>
        </p:nvSpPr>
        <p:spPr>
          <a:xfrm>
            <a:off x="640080" y="2395728"/>
            <a:ext cx="3634740" cy="114300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Does harm on purpose.</a:t>
            </a:r>
            <a:endParaRPr lang="en-US" sz="1400" dirty="0"/>
          </a:p>
          <a:p>
            <a:pPr indent="0" marL="0">
              <a:buNone/>
            </a:pPr>
            <a:r>
              <a:rPr lang="en-US" sz="1400" dirty="0">
                <a:solidFill>
                  <a:srgbClr val="262A20"/>
                </a:solidFill>
                <a:latin typeface="Open Sans" pitchFamily="34" charset="0"/>
                <a:ea typeface="Open Sans" pitchFamily="34" charset="-122"/>
                <a:cs typeface="Open Sans" pitchFamily="34" charset="-120"/>
              </a:rPr>
              <a:t>Example: a clerk fired last month logs in and deletes orders.</a:t>
            </a:r>
            <a:endParaRPr lang="en-US" sz="1400" dirty="0"/>
          </a:p>
        </p:txBody>
      </p:sp>
      <p:sp>
        <p:nvSpPr>
          <p:cNvPr id="13" name="Shape 9"/>
          <p:cNvSpPr/>
          <p:nvPr/>
        </p:nvSpPr>
        <p:spPr>
          <a:xfrm>
            <a:off x="4686300" y="1188720"/>
            <a:ext cx="4000500" cy="2468880"/>
          </a:xfrm>
          <a:prstGeom prst="roundRect">
            <a:avLst>
              <a:gd name="adj" fmla="val 2963"/>
            </a:avLst>
          </a:prstGeom>
          <a:solidFill>
            <a:srgbClr val="D9D5D2"/>
          </a:solidFill>
          <a:ln w="12700">
            <a:solidFill>
              <a:srgbClr val="D9D5D2"/>
            </a:solidFill>
            <a:prstDash val="solid"/>
          </a:ln>
        </p:spPr>
      </p:sp>
      <p:sp>
        <p:nvSpPr>
          <p:cNvPr id="14" name="Shape 10"/>
          <p:cNvSpPr/>
          <p:nvPr/>
        </p:nvSpPr>
        <p:spPr>
          <a:xfrm>
            <a:off x="4869180" y="1371600"/>
            <a:ext cx="502920" cy="502920"/>
          </a:xfrm>
          <a:prstGeom prst="ellipse">
            <a:avLst/>
          </a:prstGeom>
          <a:solidFill>
            <a:srgbClr val="262A20"/>
          </a:solidFill>
          <a:ln w="12700">
            <a:solidFill>
              <a:srgbClr val="262A20"/>
            </a:solidFill>
            <a:prstDash val="solid"/>
          </a:ln>
        </p:spPr>
      </p:sp>
      <p:pic>
        <p:nvPicPr>
          <p:cNvPr id="15" name="Image 1" descr="preencoded.png">    </p:cNvPr>
          <p:cNvPicPr>
            <a:picLocks noChangeAspect="1"/>
          </p:cNvPicPr>
          <p:nvPr/>
        </p:nvPicPr>
        <p:blipFill>
          <a:blip r:embed="rId2"/>
          <a:stretch>
            <a:fillRect/>
          </a:stretch>
        </p:blipFill>
        <p:spPr>
          <a:xfrm>
            <a:off x="4994910" y="1497330"/>
            <a:ext cx="251460" cy="251460"/>
          </a:xfrm>
          <a:prstGeom prst="rect">
            <a:avLst/>
          </a:prstGeom>
        </p:spPr>
      </p:pic>
      <p:sp>
        <p:nvSpPr>
          <p:cNvPr id="16" name="Text 11"/>
          <p:cNvSpPr txBox="1"/>
          <p:nvPr/>
        </p:nvSpPr>
        <p:spPr>
          <a:xfrm>
            <a:off x="4869180" y="2011680"/>
            <a:ext cx="36347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The careless insider</a:t>
            </a:r>
            <a:endParaRPr lang="en-US" sz="1500" dirty="0"/>
          </a:p>
        </p:txBody>
      </p:sp>
      <p:sp>
        <p:nvSpPr>
          <p:cNvPr id="17" name="Text 12"/>
          <p:cNvSpPr txBox="1"/>
          <p:nvPr/>
        </p:nvSpPr>
        <p:spPr>
          <a:xfrm>
            <a:off x="4869180" y="2395728"/>
            <a:ext cx="3634740" cy="114300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Does harm by mistake.</a:t>
            </a:r>
            <a:endParaRPr lang="en-US" sz="1400" dirty="0"/>
          </a:p>
          <a:p>
            <a:pPr indent="0" marL="0">
              <a:buNone/>
            </a:pPr>
            <a:r>
              <a:rPr lang="en-US" sz="1400" dirty="0">
                <a:solidFill>
                  <a:srgbClr val="262A20"/>
                </a:solidFill>
                <a:latin typeface="Open Sans" pitchFamily="34" charset="0"/>
                <a:ea typeface="Open Sans" pitchFamily="34" charset="-122"/>
                <a:cs typeface="Open Sans" pitchFamily="34" charset="-120"/>
              </a:rPr>
              <a:t>Example: a staff member emails the price list to the wrong person.</a:t>
            </a:r>
            <a:endParaRPr lang="en-US" sz="1400" dirty="0"/>
          </a:p>
        </p:txBody>
      </p:sp>
      <p:sp>
        <p:nvSpPr>
          <p:cNvPr id="18" name="Text 13"/>
          <p:cNvSpPr txBox="1"/>
          <p:nvPr/>
        </p:nvSpPr>
        <p:spPr>
          <a:xfrm>
            <a:off x="457200" y="3931920"/>
            <a:ext cx="8229600" cy="411480"/>
          </a:xfrm>
          <a:prstGeom prst="rect">
            <a:avLst/>
          </a:prstGeom>
          <a:noFill/>
          <a:ln/>
        </p:spPr>
        <p:txBody>
          <a:bodyPr wrap="square" lIns="0" tIns="0" rIns="0" bIns="0" rtlCol="0" anchor="ctr"/>
          <a:lstStyle/>
          <a:p>
            <a:pPr algn="ctr" indent="0" marL="0">
              <a:buNone/>
            </a:pPr>
            <a:r>
              <a:rPr lang="en-US" sz="1700" b="1" dirty="0">
                <a:solidFill>
                  <a:srgbClr val="566A6C"/>
                </a:solidFill>
                <a:latin typeface="Open Sans" pitchFamily="34" charset="0"/>
                <a:ea typeface="Open Sans" pitchFamily="34" charset="-122"/>
                <a:cs typeface="Open Sans" pitchFamily="34" charset="-120"/>
              </a:rPr>
              <a:t>Both are insiders. Only one means to do harm.</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Activists: they want to send a message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9</a:t>
            </a:r>
            <a:endParaRPr lang="en-US" sz="800" dirty="0"/>
          </a:p>
        </p:txBody>
      </p:sp>
      <p:sp>
        <p:nvSpPr>
          <p:cNvPr id="8" name="Shape 5"/>
          <p:cNvSpPr/>
          <p:nvPr/>
        </p:nvSpPr>
        <p:spPr>
          <a:xfrm>
            <a:off x="457200" y="128016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531620"/>
            <a:ext cx="502920" cy="502920"/>
          </a:xfrm>
          <a:prstGeom prst="rect">
            <a:avLst/>
          </a:prstGeom>
        </p:spPr>
      </p:pic>
      <p:sp>
        <p:nvSpPr>
          <p:cNvPr id="10" name="Text 6"/>
          <p:cNvSpPr txBox="1"/>
          <p:nvPr/>
        </p:nvSpPr>
        <p:spPr>
          <a:xfrm>
            <a:off x="1691640" y="1280160"/>
            <a:ext cx="6949440" cy="457200"/>
          </a:xfrm>
          <a:prstGeom prst="rect">
            <a:avLst/>
          </a:prstGeom>
          <a:noFill/>
          <a:ln/>
        </p:spPr>
        <p:txBody>
          <a:bodyPr wrap="square" lIns="0" tIns="0" rIns="0" bIns="0" rtlCol="0" anchor="ctr"/>
          <a:lstStyle/>
          <a:p>
            <a:pPr indent="0" marL="0">
              <a:buNone/>
            </a:pPr>
            <a:r>
              <a:rPr lang="en-US" sz="2400" b="1" dirty="0">
                <a:solidFill>
                  <a:srgbClr val="566A6C"/>
                </a:solidFill>
                <a:latin typeface="Open Sans" pitchFamily="34" charset="0"/>
                <a:ea typeface="Open Sans" pitchFamily="34" charset="-122"/>
                <a:cs typeface="Open Sans" pitchFamily="34" charset="-120"/>
              </a:rPr>
              <a:t>Activists</a:t>
            </a:r>
            <a:endParaRPr lang="en-US" sz="2400" dirty="0"/>
          </a:p>
        </p:txBody>
      </p:sp>
      <p:sp>
        <p:nvSpPr>
          <p:cNvPr id="11" name="Text 7"/>
          <p:cNvSpPr txBox="1"/>
          <p:nvPr/>
        </p:nvSpPr>
        <p:spPr>
          <a:xfrm>
            <a:off x="1691640" y="1737360"/>
            <a:ext cx="6949440" cy="548640"/>
          </a:xfrm>
          <a:prstGeom prst="rect">
            <a:avLst/>
          </a:prstGeom>
          <a:noFill/>
          <a:ln/>
        </p:spPr>
        <p:txBody>
          <a:bodyPr wrap="square" lIns="0" tIns="0" rIns="0" bIns="0" rtlCol="0" anchor="ctr"/>
          <a:lstStyle/>
          <a:p>
            <a:pPr indent="0" marL="0">
              <a:buNone/>
            </a:pPr>
            <a:r>
              <a:rPr lang="en-US" sz="1700" dirty="0">
                <a:solidFill>
                  <a:srgbClr val="262A20"/>
                </a:solidFill>
                <a:latin typeface="Open Sans" pitchFamily="34" charset="0"/>
                <a:ea typeface="Open Sans" pitchFamily="34" charset="-122"/>
                <a:cs typeface="Open Sans" pitchFamily="34" charset="-120"/>
              </a:rPr>
              <a:t>They attack for a cause they believe in. They want people to notice.</a:t>
            </a:r>
            <a:endParaRPr lang="en-US" sz="1700" dirty="0"/>
          </a:p>
        </p:txBody>
      </p:sp>
      <p:sp>
        <p:nvSpPr>
          <p:cNvPr id="12" name="Text 8"/>
          <p:cNvSpPr txBox="1"/>
          <p:nvPr/>
        </p:nvSpPr>
        <p:spPr>
          <a:xfrm>
            <a:off x="457200" y="2651760"/>
            <a:ext cx="8229600" cy="16459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62A20"/>
                </a:solidFill>
                <a:latin typeface="Open Sans" pitchFamily="34" charset="0"/>
                <a:ea typeface="Open Sans" pitchFamily="34" charset="-122"/>
                <a:cs typeface="Open Sans" pitchFamily="34" charset="-120"/>
              </a:rPr>
              <a:t>Change a website to show their message.</a:t>
            </a:r>
            <a:endParaRPr lang="en-US" sz="1700" dirty="0"/>
          </a:p>
          <a:p>
            <a:pPr marL="342900" indent="-342900">
              <a:spcAft>
                <a:spcPts val="800"/>
              </a:spcAft>
              <a:buSzPct val="100000"/>
              <a:buChar char="•"/>
            </a:pPr>
            <a:r>
              <a:rPr lang="en-US" sz="1700" dirty="0">
                <a:solidFill>
                  <a:srgbClr val="262A20"/>
                </a:solidFill>
                <a:latin typeface="Open Sans" pitchFamily="34" charset="0"/>
                <a:ea typeface="Open Sans" pitchFamily="34" charset="-122"/>
                <a:cs typeface="Open Sans" pitchFamily="34" charset="-120"/>
              </a:rPr>
              <a:t>Flood a website so nobody can use it.</a:t>
            </a:r>
            <a:endParaRPr lang="en-US" sz="1700" dirty="0"/>
          </a:p>
          <a:p>
            <a:pPr marL="342900" indent="-342900">
              <a:spcAft>
                <a:spcPts val="800"/>
              </a:spcAft>
              <a:buSzPct val="100000"/>
              <a:buChar char="•"/>
            </a:pPr>
            <a:r>
              <a:rPr lang="en-US" sz="1700" dirty="0">
                <a:solidFill>
                  <a:srgbClr val="262A20"/>
                </a:solidFill>
                <a:latin typeface="Open Sans" pitchFamily="34" charset="0"/>
                <a:ea typeface="Open Sans" pitchFamily="34" charset="-122"/>
                <a:cs typeface="Open Sans" pitchFamily="34" charset="-120"/>
              </a:rPr>
              <a:t>Leak documents to embarrass a company.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Good to know (not in the test)</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10</a:t>
            </a:r>
            <a:endParaRPr lang="en-US" sz="800" dirty="0"/>
          </a:p>
        </p:txBody>
      </p:sp>
      <p:sp>
        <p:nvSpPr>
          <p:cNvPr id="8" name="Shape 5"/>
          <p:cNvSpPr/>
          <p:nvPr/>
        </p:nvSpPr>
        <p:spPr>
          <a:xfrm>
            <a:off x="457200" y="1188720"/>
            <a:ext cx="4000500" cy="2377440"/>
          </a:xfrm>
          <a:prstGeom prst="roundRect">
            <a:avLst>
              <a:gd name="adj" fmla="val 3077"/>
            </a:avLst>
          </a:prstGeom>
          <a:solidFill>
            <a:srgbClr val="F2EFEC"/>
          </a:solidFill>
          <a:ln w="12700">
            <a:solidFill>
              <a:srgbClr val="F2EFEC"/>
            </a:solidFill>
            <a:prstDash val="solid"/>
          </a:ln>
        </p:spPr>
      </p:sp>
      <p:sp>
        <p:nvSpPr>
          <p:cNvPr id="9" name="Shape 6"/>
          <p:cNvSpPr/>
          <p:nvPr/>
        </p:nvSpPr>
        <p:spPr>
          <a:xfrm>
            <a:off x="640080" y="1371600"/>
            <a:ext cx="502920" cy="502920"/>
          </a:xfrm>
          <a:prstGeom prst="ellipse">
            <a:avLst/>
          </a:prstGeom>
          <a:solidFill>
            <a:srgbClr val="7A756F"/>
          </a:solidFill>
          <a:ln w="12700">
            <a:solidFill>
              <a:srgbClr val="7A756F"/>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36347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Governments also attack</a:t>
            </a:r>
            <a:endParaRPr lang="en-US" sz="1500" dirty="0"/>
          </a:p>
        </p:txBody>
      </p:sp>
      <p:sp>
        <p:nvSpPr>
          <p:cNvPr id="12" name="Text 8"/>
          <p:cNvSpPr txBox="1"/>
          <p:nvPr/>
        </p:nvSpPr>
        <p:spPr>
          <a:xfrm>
            <a:off x="640080" y="2395728"/>
            <a:ext cx="3634740" cy="105156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Some countries spy on other countries and on big companies. This is rare for a small business.</a:t>
            </a:r>
            <a:endParaRPr lang="en-US" sz="1250" dirty="0"/>
          </a:p>
        </p:txBody>
      </p:sp>
      <p:sp>
        <p:nvSpPr>
          <p:cNvPr id="13" name="Shape 9"/>
          <p:cNvSpPr/>
          <p:nvPr/>
        </p:nvSpPr>
        <p:spPr>
          <a:xfrm>
            <a:off x="4686300" y="1188720"/>
            <a:ext cx="4000500" cy="2377440"/>
          </a:xfrm>
          <a:prstGeom prst="roundRect">
            <a:avLst>
              <a:gd name="adj" fmla="val 3077"/>
            </a:avLst>
          </a:prstGeom>
          <a:solidFill>
            <a:srgbClr val="F2EFEC"/>
          </a:solidFill>
          <a:ln w="12700">
            <a:solidFill>
              <a:srgbClr val="F2EFEC"/>
            </a:solidFill>
            <a:prstDash val="solid"/>
          </a:ln>
        </p:spPr>
      </p:sp>
      <p:sp>
        <p:nvSpPr>
          <p:cNvPr id="14" name="Shape 10"/>
          <p:cNvSpPr/>
          <p:nvPr/>
        </p:nvSpPr>
        <p:spPr>
          <a:xfrm>
            <a:off x="4869180" y="1371600"/>
            <a:ext cx="502920" cy="502920"/>
          </a:xfrm>
          <a:prstGeom prst="ellipse">
            <a:avLst/>
          </a:prstGeom>
          <a:solidFill>
            <a:srgbClr val="7A756F"/>
          </a:solidFill>
          <a:ln w="12700">
            <a:solidFill>
              <a:srgbClr val="7A756F"/>
            </a:solidFill>
            <a:prstDash val="solid"/>
          </a:ln>
        </p:spPr>
      </p:sp>
      <p:pic>
        <p:nvPicPr>
          <p:cNvPr id="15" name="Image 1" descr="preencoded.png">    </p:cNvPr>
          <p:cNvPicPr>
            <a:picLocks noChangeAspect="1"/>
          </p:cNvPicPr>
          <p:nvPr/>
        </p:nvPicPr>
        <p:blipFill>
          <a:blip r:embed="rId2"/>
          <a:stretch>
            <a:fillRect/>
          </a:stretch>
        </p:blipFill>
        <p:spPr>
          <a:xfrm>
            <a:off x="4994910" y="1497330"/>
            <a:ext cx="251460" cy="251460"/>
          </a:xfrm>
          <a:prstGeom prst="rect">
            <a:avLst/>
          </a:prstGeom>
        </p:spPr>
      </p:pic>
      <p:sp>
        <p:nvSpPr>
          <p:cNvPr id="16" name="Text 11"/>
          <p:cNvSpPr txBox="1"/>
          <p:nvPr/>
        </p:nvSpPr>
        <p:spPr>
          <a:xfrm>
            <a:off x="4869180" y="2011680"/>
            <a:ext cx="36347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Sri Lanka CERT</a:t>
            </a:r>
            <a:endParaRPr lang="en-US" sz="1500" dirty="0"/>
          </a:p>
        </p:txBody>
      </p:sp>
      <p:sp>
        <p:nvSpPr>
          <p:cNvPr id="17" name="Text 12"/>
          <p:cNvSpPr txBox="1"/>
          <p:nvPr/>
        </p:nvSpPr>
        <p:spPr>
          <a:xfrm>
            <a:off x="4869180" y="2395728"/>
            <a:ext cx="3634740" cy="105156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The national help desk for cyber attacks in Sri Lanka. Businesses can report attacks and ask for advice.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Attackers at a glance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11</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2377440"/>
                <a:gridCol w="3840480"/>
              </a:tblGrid>
              <a:tr h="566928">
                <a:tc>
                  <a:txBody>
                    <a:bodyPr/>
                    <a:lstStyle/>
                    <a:p>
                      <a:pPr indent="0" marL="0">
                        <a:buNone/>
                      </a:pPr>
                      <a:r>
                        <a:rPr lang="en-US" sz="1400" b="1" dirty="0">
                          <a:solidFill>
                            <a:srgbClr val="FFFFFF"/>
                          </a:solidFill>
                          <a:latin typeface="Open Sans" pitchFamily="34" charset="0"/>
                          <a:ea typeface="Open Sans" pitchFamily="34" charset="-122"/>
                          <a:cs typeface="Open Sans" pitchFamily="34" charset="-120"/>
                        </a:rPr>
                        <a:t>Attacker</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400" b="1" dirty="0">
                          <a:solidFill>
                            <a:srgbClr val="FFFFFF"/>
                          </a:solidFill>
                          <a:latin typeface="Open Sans" pitchFamily="34" charset="0"/>
                          <a:ea typeface="Open Sans" pitchFamily="34" charset="-122"/>
                          <a:cs typeface="Open Sans" pitchFamily="34" charset="-120"/>
                        </a:rPr>
                        <a:t>Reason</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400" b="1" dirty="0">
                          <a:solidFill>
                            <a:srgbClr val="FFFFFF"/>
                          </a:solidFill>
                          <a:latin typeface="Open Sans" pitchFamily="34" charset="0"/>
                          <a:ea typeface="Open Sans" pitchFamily="34" charset="-122"/>
                          <a:cs typeface="Open Sans" pitchFamily="34" charset="-120"/>
                        </a:rPr>
                        <a:t>Typical attack</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566928">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Criminal</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Money</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Locks files, steals card details, sends fake emails</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Angry insider</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Anger or revenge</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Deletes or steals data on purpose</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566928">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Careless insider</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No bad reason (a mistake)</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Sends data to the wrong person, clicks a bad link</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Activist</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A cause or belief</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Changes a website, floods it, leaks documents</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A1.4</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Attacker Profiler</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Read the clues in each case.</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Choose the attacker and their reason.</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Check the answer and the reason why.</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1 &gt; Attacker Profiler</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who attacks and why</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12 min</a:t>
            </a:r>
            <a:endParaRPr lang="en-US" sz="2600" dirty="0"/>
          </a:p>
        </p:txBody>
      </p:sp>
      <p:sp>
        <p:nvSpPr>
          <p:cNvPr id="11"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12"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2</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Five types of malware</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Malware is the tool. The attacker is the person.</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What is malware?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14</a:t>
            </a:r>
            <a:endParaRPr lang="en-US" sz="800" dirty="0"/>
          </a:p>
        </p:txBody>
      </p:sp>
      <p:sp>
        <p:nvSpPr>
          <p:cNvPr id="8" name="Text 5"/>
          <p:cNvSpPr txBox="1"/>
          <p:nvPr/>
        </p:nvSpPr>
        <p:spPr>
          <a:xfrm>
            <a:off x="457200" y="1234440"/>
            <a:ext cx="8229600" cy="457200"/>
          </a:xfrm>
          <a:prstGeom prst="rect">
            <a:avLst/>
          </a:prstGeom>
          <a:noFill/>
          <a:ln/>
        </p:spPr>
        <p:txBody>
          <a:bodyPr wrap="square" lIns="0" tIns="0" rIns="0" bIns="0" rtlCol="0" anchor="ctr"/>
          <a:lstStyle/>
          <a:p>
            <a:pPr indent="0" marL="0">
              <a:buNone/>
            </a:pPr>
            <a:r>
              <a:rPr lang="en-US" sz="2200" b="1" dirty="0">
                <a:solidFill>
                  <a:srgbClr val="566A6C"/>
                </a:solidFill>
                <a:latin typeface="Open Sans" pitchFamily="34" charset="0"/>
                <a:ea typeface="Open Sans" pitchFamily="34" charset="-122"/>
                <a:cs typeface="Open Sans" pitchFamily="34" charset="-120"/>
              </a:rPr>
              <a:t>Malware = malicious (bad) + software</a:t>
            </a:r>
            <a:endParaRPr lang="en-US" sz="2200" dirty="0"/>
          </a:p>
        </p:txBody>
      </p:sp>
      <p:sp>
        <p:nvSpPr>
          <p:cNvPr id="9" name="Text 6"/>
          <p:cNvSpPr txBox="1"/>
          <p:nvPr/>
        </p:nvSpPr>
        <p:spPr>
          <a:xfrm>
            <a:off x="457200" y="1783080"/>
            <a:ext cx="8229600" cy="457200"/>
          </a:xfrm>
          <a:prstGeom prst="rect">
            <a:avLst/>
          </a:prstGeom>
          <a:noFill/>
          <a:ln/>
        </p:spPr>
        <p:txBody>
          <a:bodyPr wrap="square" lIns="0" tIns="0" rIns="0" bIns="0" rtlCol="0" anchor="ctr"/>
          <a:lstStyle/>
          <a:p>
            <a:pPr indent="0" marL="0">
              <a:buNone/>
            </a:pPr>
            <a:r>
              <a:rPr lang="en-US" sz="1500" dirty="0">
                <a:solidFill>
                  <a:srgbClr val="262A20"/>
                </a:solidFill>
                <a:latin typeface="Open Sans" pitchFamily="34" charset="0"/>
                <a:ea typeface="Open Sans" pitchFamily="34" charset="-122"/>
                <a:cs typeface="Open Sans" pitchFamily="34" charset="-120"/>
              </a:rPr>
              <a:t>Software made to harm a computer or the information on it. It usually gets in through a person:</a:t>
            </a:r>
            <a:endParaRPr lang="en-US" sz="1500" dirty="0"/>
          </a:p>
        </p:txBody>
      </p:sp>
      <p:sp>
        <p:nvSpPr>
          <p:cNvPr id="10" name="Shape 7"/>
          <p:cNvSpPr/>
          <p:nvPr/>
        </p:nvSpPr>
        <p:spPr>
          <a:xfrm>
            <a:off x="457200" y="2377440"/>
            <a:ext cx="2590800" cy="2103120"/>
          </a:xfrm>
          <a:prstGeom prst="roundRect">
            <a:avLst>
              <a:gd name="adj" fmla="val 3478"/>
            </a:avLst>
          </a:prstGeom>
          <a:solidFill>
            <a:srgbClr val="E1E6E6"/>
          </a:solidFill>
          <a:ln w="12700">
            <a:solidFill>
              <a:srgbClr val="E1E6E6"/>
            </a:solidFill>
            <a:prstDash val="solid"/>
          </a:ln>
        </p:spPr>
      </p:sp>
      <p:sp>
        <p:nvSpPr>
          <p:cNvPr id="11" name="Shape 8"/>
          <p:cNvSpPr/>
          <p:nvPr/>
        </p:nvSpPr>
        <p:spPr>
          <a:xfrm>
            <a:off x="640080" y="2560320"/>
            <a:ext cx="502920" cy="502920"/>
          </a:xfrm>
          <a:prstGeom prst="ellipse">
            <a:avLst/>
          </a:prstGeom>
          <a:solidFill>
            <a:srgbClr val="667C7E"/>
          </a:solidFill>
          <a:ln w="12700">
            <a:solidFill>
              <a:srgbClr val="667C7E"/>
            </a:solidFill>
            <a:prstDash val="solid"/>
          </a:ln>
        </p:spPr>
      </p:sp>
      <p:pic>
        <p:nvPicPr>
          <p:cNvPr id="12" name="Image 0" descr="preencoded.png">    </p:cNvPr>
          <p:cNvPicPr>
            <a:picLocks noChangeAspect="1"/>
          </p:cNvPicPr>
          <p:nvPr/>
        </p:nvPicPr>
        <p:blipFill>
          <a:blip r:embed="rId1"/>
          <a:stretch>
            <a:fillRect/>
          </a:stretch>
        </p:blipFill>
        <p:spPr>
          <a:xfrm>
            <a:off x="765810" y="2686050"/>
            <a:ext cx="251460" cy="251460"/>
          </a:xfrm>
          <a:prstGeom prst="rect">
            <a:avLst/>
          </a:prstGeom>
        </p:spPr>
      </p:pic>
      <p:sp>
        <p:nvSpPr>
          <p:cNvPr id="13" name="Text 9"/>
          <p:cNvSpPr txBox="1"/>
          <p:nvPr/>
        </p:nvSpPr>
        <p:spPr>
          <a:xfrm>
            <a:off x="640080" y="320040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An email attachment</a:t>
            </a:r>
            <a:endParaRPr lang="en-US" sz="1500" dirty="0"/>
          </a:p>
        </p:txBody>
      </p:sp>
      <p:sp>
        <p:nvSpPr>
          <p:cNvPr id="14" name="Text 10"/>
          <p:cNvSpPr txBox="1"/>
          <p:nvPr/>
        </p:nvSpPr>
        <p:spPr>
          <a:xfrm>
            <a:off x="640080" y="3584448"/>
            <a:ext cx="2225040" cy="77724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"Please see the attached invoice."</a:t>
            </a:r>
            <a:endParaRPr lang="en-US" sz="1250" dirty="0"/>
          </a:p>
        </p:txBody>
      </p:sp>
      <p:sp>
        <p:nvSpPr>
          <p:cNvPr id="15" name="Shape 11"/>
          <p:cNvSpPr/>
          <p:nvPr/>
        </p:nvSpPr>
        <p:spPr>
          <a:xfrm>
            <a:off x="3276600" y="2377440"/>
            <a:ext cx="2590800" cy="2103120"/>
          </a:xfrm>
          <a:prstGeom prst="roundRect">
            <a:avLst>
              <a:gd name="adj" fmla="val 3478"/>
            </a:avLst>
          </a:prstGeom>
          <a:solidFill>
            <a:srgbClr val="E1E6E6"/>
          </a:solidFill>
          <a:ln w="12700">
            <a:solidFill>
              <a:srgbClr val="E1E6E6"/>
            </a:solidFill>
            <a:prstDash val="solid"/>
          </a:ln>
        </p:spPr>
      </p:sp>
      <p:sp>
        <p:nvSpPr>
          <p:cNvPr id="16" name="Shape 12"/>
          <p:cNvSpPr/>
          <p:nvPr/>
        </p:nvSpPr>
        <p:spPr>
          <a:xfrm>
            <a:off x="3459480" y="2560320"/>
            <a:ext cx="502920" cy="502920"/>
          </a:xfrm>
          <a:prstGeom prst="ellipse">
            <a:avLst/>
          </a:prstGeom>
          <a:solidFill>
            <a:srgbClr val="667C7E"/>
          </a:solidFill>
          <a:ln w="12700">
            <a:solidFill>
              <a:srgbClr val="667C7E"/>
            </a:solidFill>
            <a:prstDash val="solid"/>
          </a:ln>
        </p:spPr>
      </p:sp>
      <p:pic>
        <p:nvPicPr>
          <p:cNvPr id="17" name="Image 1" descr="preencoded.png">    </p:cNvPr>
          <p:cNvPicPr>
            <a:picLocks noChangeAspect="1"/>
          </p:cNvPicPr>
          <p:nvPr/>
        </p:nvPicPr>
        <p:blipFill>
          <a:blip r:embed="rId2"/>
          <a:stretch>
            <a:fillRect/>
          </a:stretch>
        </p:blipFill>
        <p:spPr>
          <a:xfrm>
            <a:off x="3585210" y="2686050"/>
            <a:ext cx="251460" cy="251460"/>
          </a:xfrm>
          <a:prstGeom prst="rect">
            <a:avLst/>
          </a:prstGeom>
        </p:spPr>
      </p:pic>
      <p:sp>
        <p:nvSpPr>
          <p:cNvPr id="18" name="Text 13"/>
          <p:cNvSpPr txBox="1"/>
          <p:nvPr/>
        </p:nvSpPr>
        <p:spPr>
          <a:xfrm>
            <a:off x="3459480" y="320040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A free download</a:t>
            </a:r>
            <a:endParaRPr lang="en-US" sz="1500" dirty="0"/>
          </a:p>
        </p:txBody>
      </p:sp>
      <p:sp>
        <p:nvSpPr>
          <p:cNvPr id="19" name="Text 14"/>
          <p:cNvSpPr txBox="1"/>
          <p:nvPr/>
        </p:nvSpPr>
        <p:spPr>
          <a:xfrm>
            <a:off x="3459480" y="3584448"/>
            <a:ext cx="2225040" cy="77724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"Free invoice tool. Download now!"</a:t>
            </a:r>
            <a:endParaRPr lang="en-US" sz="1250" dirty="0"/>
          </a:p>
        </p:txBody>
      </p:sp>
      <p:sp>
        <p:nvSpPr>
          <p:cNvPr id="20" name="Shape 15"/>
          <p:cNvSpPr/>
          <p:nvPr/>
        </p:nvSpPr>
        <p:spPr>
          <a:xfrm>
            <a:off x="6096000" y="2377440"/>
            <a:ext cx="2590800" cy="2103120"/>
          </a:xfrm>
          <a:prstGeom prst="roundRect">
            <a:avLst>
              <a:gd name="adj" fmla="val 3478"/>
            </a:avLst>
          </a:prstGeom>
          <a:solidFill>
            <a:srgbClr val="E1E6E6"/>
          </a:solidFill>
          <a:ln w="12700">
            <a:solidFill>
              <a:srgbClr val="E1E6E6"/>
            </a:solidFill>
            <a:prstDash val="solid"/>
          </a:ln>
        </p:spPr>
      </p:sp>
      <p:sp>
        <p:nvSpPr>
          <p:cNvPr id="21" name="Shape 16"/>
          <p:cNvSpPr/>
          <p:nvPr/>
        </p:nvSpPr>
        <p:spPr>
          <a:xfrm>
            <a:off x="6278880" y="2560320"/>
            <a:ext cx="502920" cy="502920"/>
          </a:xfrm>
          <a:prstGeom prst="ellipse">
            <a:avLst/>
          </a:prstGeom>
          <a:solidFill>
            <a:srgbClr val="667C7E"/>
          </a:solidFill>
          <a:ln w="12700">
            <a:solidFill>
              <a:srgbClr val="667C7E"/>
            </a:solidFill>
            <a:prstDash val="solid"/>
          </a:ln>
        </p:spPr>
      </p:sp>
      <p:pic>
        <p:nvPicPr>
          <p:cNvPr id="22" name="Image 2" descr="preencoded.png">    </p:cNvPr>
          <p:cNvPicPr>
            <a:picLocks noChangeAspect="1"/>
          </p:cNvPicPr>
          <p:nvPr/>
        </p:nvPicPr>
        <p:blipFill>
          <a:blip r:embed="rId3"/>
          <a:stretch>
            <a:fillRect/>
          </a:stretch>
        </p:blipFill>
        <p:spPr>
          <a:xfrm>
            <a:off x="6404610" y="2686050"/>
            <a:ext cx="251460" cy="251460"/>
          </a:xfrm>
          <a:prstGeom prst="rect">
            <a:avLst/>
          </a:prstGeom>
        </p:spPr>
      </p:pic>
      <p:sp>
        <p:nvSpPr>
          <p:cNvPr id="23" name="Text 17"/>
          <p:cNvSpPr txBox="1"/>
          <p:nvPr/>
        </p:nvSpPr>
        <p:spPr>
          <a:xfrm>
            <a:off x="6278880" y="320040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A USB stick</a:t>
            </a:r>
            <a:endParaRPr lang="en-US" sz="1500" dirty="0"/>
          </a:p>
        </p:txBody>
      </p:sp>
      <p:sp>
        <p:nvSpPr>
          <p:cNvPr id="24" name="Text 18"/>
          <p:cNvSpPr txBox="1"/>
          <p:nvPr/>
        </p:nvSpPr>
        <p:spPr>
          <a:xfrm>
            <a:off x="6278880" y="3584448"/>
            <a:ext cx="2225040" cy="77724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Found in the car park. Plugged in to see what is on it.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A1.8</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Attack Lab</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Watch on the big screen as we meet each type.</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For the virus, you decide when the file is shared.</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Replay every attack on your phone later.</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1 &gt; Attack Lab</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how each attack works, step by step</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Open Sans" pitchFamily="34" charset="0"/>
                <a:ea typeface="Open Sans" pitchFamily="34" charset="-122"/>
                <a:cs typeface="Open Sans" pitchFamily="34" charset="-120"/>
              </a:rPr>
              <a:t>With each type</a:t>
            </a:r>
            <a:endParaRPr lang="en-US" sz="1600" dirty="0"/>
          </a:p>
        </p:txBody>
      </p:sp>
      <p:sp>
        <p:nvSpPr>
          <p:cNvPr id="11"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12"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Malware type: Virus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16</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Virus</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Attaches to a file. Spreads when people open and share that file.</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Word file from a "customer" infects every document it touches.</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It is like...</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the flu: it needs contact to spread.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Malware type: Worm</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17</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Worm</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Spreads by itself from computer to computer across a network. Nobody needs to click.</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It reaches every office computer in minutes, overnight.</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It is like...</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fire that jumps from house to house.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Malware type: Trojan</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18</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Trojan</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Pretends to be useful, but hides something harmful inside.</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"free invoice tool" secretly lets criminals control the PC.</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It is like...</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the wooden horse in an old story, with soldiers hidden inside.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Malware type: Ransomware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19</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Ransomware</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Locks your files and asks for money to unlock them.</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The accounts server shows a countdown and a payment demand.</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It is like...</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kidnapper holding your files.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Malware type: Spyware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20</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Spyware</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Secretly watches what you do and sends it to someone else.</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It records the finance clerk's bank password.</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It is like...</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hidden camera. Some spyware records every key you type.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Back to Monday morning</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21</a:t>
            </a:r>
            <a:endParaRPr lang="en-US" sz="800" dirty="0"/>
          </a:p>
        </p:txBody>
      </p:sp>
      <p:sp>
        <p:nvSpPr>
          <p:cNvPr id="8" name="Text 5"/>
          <p:cNvSpPr txBox="1"/>
          <p:nvPr/>
        </p:nvSpPr>
        <p:spPr>
          <a:xfrm>
            <a:off x="457200" y="1280160"/>
            <a:ext cx="8229600" cy="548640"/>
          </a:xfrm>
          <a:prstGeom prst="rect">
            <a:avLst/>
          </a:prstGeom>
          <a:noFill/>
          <a:ln/>
        </p:spPr>
        <p:txBody>
          <a:bodyPr wrap="square" lIns="0" tIns="0" rIns="0" bIns="0" rtlCol="0" anchor="ctr"/>
          <a:lstStyle/>
          <a:p>
            <a:pPr indent="0" marL="0">
              <a:buNone/>
            </a:pPr>
            <a:r>
              <a:rPr lang="en-US" sz="2000" b="1" i="1" dirty="0">
                <a:solidFill>
                  <a:srgbClr val="262A20"/>
                </a:solidFill>
                <a:latin typeface="Open Sans" pitchFamily="34" charset="0"/>
                <a:ea typeface="Open Sans" pitchFamily="34" charset="-122"/>
                <a:cs typeface="Open Sans" pitchFamily="34" charset="-120"/>
              </a:rPr>
              <a:t>"Your files are locked. Pay to get them back."</a:t>
            </a:r>
            <a:endParaRPr lang="en-US" sz="2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8229600" cy="914400"/>
        </p:xfrm>
        <a:graphic>
          <a:graphicData uri="http://schemas.openxmlformats.org/drawingml/2006/table">
            <a:tbl>
              <a:tblPr/>
              <a:tblGrid>
                <a:gridCol w="3291840"/>
                <a:gridCol w="4937760"/>
              </a:tblGrid>
              <a:tr h="475488">
                <a:tc>
                  <a:txBody>
                    <a:bodyPr/>
                    <a:lstStyle/>
                    <a:p>
                      <a:pPr indent="0" marL="0">
                        <a:buNone/>
                      </a:pPr>
                      <a:r>
                        <a:rPr lang="en-US" sz="1500" b="1" dirty="0">
                          <a:solidFill>
                            <a:srgbClr val="FFFFFF"/>
                          </a:solidFill>
                          <a:latin typeface="Open Sans" pitchFamily="34" charset="0"/>
                          <a:ea typeface="Open Sans" pitchFamily="34" charset="-122"/>
                          <a:cs typeface="Open Sans" pitchFamily="34" charset="-120"/>
                        </a:rPr>
                        <a:t>Question</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500" b="1" dirty="0">
                          <a:solidFill>
                            <a:srgbClr val="FFFFFF"/>
                          </a:solidFill>
                          <a:latin typeface="Open Sans" pitchFamily="34" charset="0"/>
                          <a:ea typeface="Open Sans" pitchFamily="34" charset="-122"/>
                          <a:cs typeface="Open Sans" pitchFamily="34" charset="-120"/>
                        </a:rPr>
                        <a:t>Answer</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475488">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Which malware?</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Ransomware</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Which attacker?</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Most likely a criminal</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475488">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What do they want?</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Money</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Which part of CIA is hurt most?</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Availability: staff cannot use the files</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Five types at a glance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22</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737360"/>
                <a:gridCol w="3474720"/>
                <a:gridCol w="3017520"/>
              </a:tblGrid>
              <a:tr h="502920">
                <a:tc>
                  <a:txBody>
                    <a:bodyPr/>
                    <a:lstStyle/>
                    <a:p>
                      <a:pPr indent="0" marL="0">
                        <a:buNone/>
                      </a:pPr>
                      <a:r>
                        <a:rPr lang="en-US" sz="1400" b="1" dirty="0">
                          <a:solidFill>
                            <a:srgbClr val="FFFFFF"/>
                          </a:solidFill>
                          <a:latin typeface="Open Sans" pitchFamily="34" charset="0"/>
                          <a:ea typeface="Open Sans" pitchFamily="34" charset="-122"/>
                          <a:cs typeface="Open Sans" pitchFamily="34" charset="-120"/>
                        </a:rPr>
                        <a:t>Type</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400" b="1" dirty="0">
                          <a:solidFill>
                            <a:srgbClr val="FFFFFF"/>
                          </a:solidFill>
                          <a:latin typeface="Open Sans" pitchFamily="34" charset="0"/>
                          <a:ea typeface="Open Sans" pitchFamily="34" charset="-122"/>
                          <a:cs typeface="Open Sans" pitchFamily="34" charset="-120"/>
                        </a:rPr>
                        <a:t>How it gets in or spreads</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400" b="1" dirty="0">
                          <a:solidFill>
                            <a:srgbClr val="FFFFFF"/>
                          </a:solidFill>
                          <a:latin typeface="Open Sans" pitchFamily="34" charset="0"/>
                          <a:ea typeface="Open Sans" pitchFamily="34" charset="-122"/>
                          <a:cs typeface="Open Sans" pitchFamily="34" charset="-120"/>
                        </a:rPr>
                        <a:t>What it does</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502920">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Virus</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Rides on a file people share</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Damages files</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Worm</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Spreads by itself across the network</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Reaches many computers fast</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502920">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Trojan</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Pretends to be useful software</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Opens a secret way in</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Ransomware</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Often by email or a trojan</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Locks files, asks for money</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502920">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Spyware</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Hidden in downloads or links</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262A20"/>
                          </a:solidFill>
                          <a:latin typeface="Open Sans" pitchFamily="34" charset="0"/>
                          <a:ea typeface="Open Sans" pitchFamily="34" charset="-122"/>
                          <a:cs typeface="Open Sans" pitchFamily="34" charset="-120"/>
                        </a:rPr>
                        <a:t>Watches and steals, e.g. passwords</a:t>
                      </a:r>
                      <a:endParaRPr lang="en-US" sz="14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A1.5</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Malware Line-up</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Read what the malware does.</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Tap its name before the clock ends.</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Tap Help if you need the five meanings.</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1 &gt; Malware Line-up</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the five malware types</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12 min</a:t>
            </a:r>
            <a:endParaRPr lang="en-US" sz="2600" dirty="0"/>
          </a:p>
        </p:txBody>
      </p:sp>
      <p:sp>
        <p:nvSpPr>
          <p:cNvPr id="11"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12"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3</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Data breach and denial of service</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Two attacks every business must know.</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Data breach</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25</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Data breach</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Information is seen or taken by people who should not have it.</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Customer names and card details are stolen from the online shop and sold.</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Which part of CIA?</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Confidentiality: the data is seen by the wrong people. Customers stop trusting TeaLeaf, and the law may apply.</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Denial of service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26</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Denial of service</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An attacker floods a website with fake visitors, so real customers cannot use it.</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The online shop gets millions of fake visits the day before a big sale. Real buyers cannot get in.</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Which part of CIA?</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Availability: buyers cannot use the shop. Like a traffic jam of fake cars: the road is fine, but you cannot get through.</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What we learned today</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27</a:t>
            </a:r>
            <a:endParaRPr lang="en-US" sz="800" dirty="0"/>
          </a:p>
        </p:txBody>
      </p:sp>
      <p:sp>
        <p:nvSpPr>
          <p:cNvPr id="8" name="Shape 5"/>
          <p:cNvSpPr/>
          <p:nvPr/>
        </p:nvSpPr>
        <p:spPr>
          <a:xfrm>
            <a:off x="457200" y="1188720"/>
            <a:ext cx="2590800" cy="2926080"/>
          </a:xfrm>
          <a:prstGeom prst="roundRect">
            <a:avLst>
              <a:gd name="adj" fmla="val 2824"/>
            </a:avLst>
          </a:prstGeom>
          <a:solidFill>
            <a:srgbClr val="E1E6E6"/>
          </a:solidFill>
          <a:ln w="12700">
            <a:solidFill>
              <a:srgbClr val="E1E6E6"/>
            </a:solidFill>
            <a:prstDash val="solid"/>
          </a:ln>
        </p:spPr>
      </p:sp>
      <p:sp>
        <p:nvSpPr>
          <p:cNvPr id="9" name="Shape 6"/>
          <p:cNvSpPr/>
          <p:nvPr/>
        </p:nvSpPr>
        <p:spPr>
          <a:xfrm>
            <a:off x="640080" y="1371600"/>
            <a:ext cx="502920" cy="502920"/>
          </a:xfrm>
          <a:prstGeom prst="ellipse">
            <a:avLst/>
          </a:prstGeom>
          <a:solidFill>
            <a:srgbClr val="667C7E"/>
          </a:solidFill>
          <a:ln w="12700">
            <a:solidFill>
              <a:srgbClr val="667C7E"/>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222504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What is worth protecting?</a:t>
            </a:r>
            <a:endParaRPr lang="en-US" sz="1500" dirty="0"/>
          </a:p>
        </p:txBody>
      </p:sp>
      <p:sp>
        <p:nvSpPr>
          <p:cNvPr id="12" name="Text 8"/>
          <p:cNvSpPr txBox="1"/>
          <p:nvPr/>
        </p:nvSpPr>
        <p:spPr>
          <a:xfrm>
            <a:off x="640080" y="2670048"/>
            <a:ext cx="2225040" cy="1325880"/>
          </a:xfrm>
          <a:prstGeom prst="rect">
            <a:avLst/>
          </a:prstGeom>
          <a:noFill/>
          <a:ln/>
        </p:spPr>
        <p:txBody>
          <a:bodyPr wrap="square" lIns="0" tIns="0" rIns="0" bIns="0" rtlCol="0" anchor="t"/>
          <a:lstStyle/>
          <a:p>
            <a:pPr indent="0" marL="0">
              <a:buNone/>
            </a:pPr>
            <a:r>
              <a:rPr lang="en-US" sz="1350" dirty="0">
                <a:solidFill>
                  <a:srgbClr val="262A20"/>
                </a:solidFill>
                <a:latin typeface="Open Sans" pitchFamily="34" charset="0"/>
                <a:ea typeface="Open Sans" pitchFamily="34" charset="-122"/>
                <a:cs typeface="Open Sans" pitchFamily="34" charset="-120"/>
              </a:rPr>
              <a:t>Information assets: data, systems, reputation. We want them secret, correct and available (CIA).</a:t>
            </a:r>
            <a:endParaRPr lang="en-US" sz="1350" dirty="0"/>
          </a:p>
        </p:txBody>
      </p:sp>
      <p:sp>
        <p:nvSpPr>
          <p:cNvPr id="13" name="Shape 9"/>
          <p:cNvSpPr/>
          <p:nvPr/>
        </p:nvSpPr>
        <p:spPr>
          <a:xfrm>
            <a:off x="3276600" y="1188720"/>
            <a:ext cx="2590800" cy="2926080"/>
          </a:xfrm>
          <a:prstGeom prst="roundRect">
            <a:avLst>
              <a:gd name="adj" fmla="val 2824"/>
            </a:avLst>
          </a:prstGeom>
          <a:solidFill>
            <a:srgbClr val="D9D5D2"/>
          </a:solidFill>
          <a:ln w="12700">
            <a:solidFill>
              <a:srgbClr val="D9D5D2"/>
            </a:solidFill>
            <a:prstDash val="solid"/>
          </a:ln>
        </p:spPr>
      </p:sp>
      <p:sp>
        <p:nvSpPr>
          <p:cNvPr id="14" name="Shape 10"/>
          <p:cNvSpPr/>
          <p:nvPr/>
        </p:nvSpPr>
        <p:spPr>
          <a:xfrm>
            <a:off x="3459480" y="1371600"/>
            <a:ext cx="502920" cy="502920"/>
          </a:xfrm>
          <a:prstGeom prst="ellipse">
            <a:avLst/>
          </a:prstGeom>
          <a:solidFill>
            <a:srgbClr val="262A20"/>
          </a:solidFill>
          <a:ln w="12700">
            <a:solidFill>
              <a:srgbClr val="262A20"/>
            </a:solidFill>
            <a:prstDash val="solid"/>
          </a:ln>
        </p:spPr>
      </p:sp>
      <p:pic>
        <p:nvPicPr>
          <p:cNvPr id="15" name="Image 1" descr="preencoded.png">    </p:cNvPr>
          <p:cNvPicPr>
            <a:picLocks noChangeAspect="1"/>
          </p:cNvPicPr>
          <p:nvPr/>
        </p:nvPicPr>
        <p:blipFill>
          <a:blip r:embed="rId2"/>
          <a:stretch>
            <a:fillRect/>
          </a:stretch>
        </p:blipFill>
        <p:spPr>
          <a:xfrm>
            <a:off x="3585210" y="1497330"/>
            <a:ext cx="251460" cy="251460"/>
          </a:xfrm>
          <a:prstGeom prst="rect">
            <a:avLst/>
          </a:prstGeom>
        </p:spPr>
      </p:pic>
      <p:sp>
        <p:nvSpPr>
          <p:cNvPr id="16" name="Text 11"/>
          <p:cNvSpPr txBox="1"/>
          <p:nvPr/>
        </p:nvSpPr>
        <p:spPr>
          <a:xfrm>
            <a:off x="3459480" y="2011680"/>
            <a:ext cx="222504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What could go wrong?</a:t>
            </a:r>
            <a:endParaRPr lang="en-US" sz="1500" dirty="0"/>
          </a:p>
        </p:txBody>
      </p:sp>
      <p:sp>
        <p:nvSpPr>
          <p:cNvPr id="17" name="Text 12"/>
          <p:cNvSpPr txBox="1"/>
          <p:nvPr/>
        </p:nvSpPr>
        <p:spPr>
          <a:xfrm>
            <a:off x="3459480" y="2670048"/>
            <a:ext cx="2225040" cy="1325880"/>
          </a:xfrm>
          <a:prstGeom prst="rect">
            <a:avLst/>
          </a:prstGeom>
          <a:noFill/>
          <a:ln/>
        </p:spPr>
        <p:txBody>
          <a:bodyPr wrap="square" lIns="0" tIns="0" rIns="0" bIns="0" rtlCol="0" anchor="t"/>
          <a:lstStyle/>
          <a:p>
            <a:pPr indent="0" marL="0">
              <a:buNone/>
            </a:pPr>
            <a:r>
              <a:rPr lang="en-US" sz="1350" dirty="0">
                <a:solidFill>
                  <a:srgbClr val="262A20"/>
                </a:solidFill>
                <a:latin typeface="Open Sans" pitchFamily="34" charset="0"/>
                <a:ea typeface="Open Sans" pitchFamily="34" charset="-122"/>
                <a:cs typeface="Open Sans" pitchFamily="34" charset="-120"/>
              </a:rPr>
              <a:t>A threat uses a vulnerability and causes harm. That is a risk.</a:t>
            </a:r>
            <a:endParaRPr lang="en-US" sz="1350" dirty="0"/>
          </a:p>
        </p:txBody>
      </p:sp>
      <p:sp>
        <p:nvSpPr>
          <p:cNvPr id="18" name="Shape 13"/>
          <p:cNvSpPr/>
          <p:nvPr/>
        </p:nvSpPr>
        <p:spPr>
          <a:xfrm>
            <a:off x="6096000" y="1188720"/>
            <a:ext cx="2590800" cy="2926080"/>
          </a:xfrm>
          <a:prstGeom prst="roundRect">
            <a:avLst>
              <a:gd name="adj" fmla="val 2824"/>
            </a:avLst>
          </a:prstGeom>
          <a:solidFill>
            <a:srgbClr val="EDDDCD"/>
          </a:solidFill>
          <a:ln w="12700">
            <a:solidFill>
              <a:srgbClr val="EDDDCD"/>
            </a:solidFill>
            <a:prstDash val="solid"/>
          </a:ln>
        </p:spPr>
      </p:sp>
      <p:sp>
        <p:nvSpPr>
          <p:cNvPr id="19" name="Shape 14"/>
          <p:cNvSpPr/>
          <p:nvPr/>
        </p:nvSpPr>
        <p:spPr>
          <a:xfrm>
            <a:off x="6278880" y="1371600"/>
            <a:ext cx="502920" cy="502920"/>
          </a:xfrm>
          <a:prstGeom prst="ellipse">
            <a:avLst/>
          </a:prstGeom>
          <a:solidFill>
            <a:srgbClr val="C7A887"/>
          </a:solidFill>
          <a:ln w="12700">
            <a:solidFill>
              <a:srgbClr val="C7A887"/>
            </a:solidFill>
            <a:prstDash val="solid"/>
          </a:ln>
        </p:spPr>
      </p:sp>
      <p:pic>
        <p:nvPicPr>
          <p:cNvPr id="20" name="Image 2" descr="preencoded.png">    </p:cNvPr>
          <p:cNvPicPr>
            <a:picLocks noChangeAspect="1"/>
          </p:cNvPicPr>
          <p:nvPr/>
        </p:nvPicPr>
        <p:blipFill>
          <a:blip r:embed="rId3"/>
          <a:stretch>
            <a:fillRect/>
          </a:stretch>
        </p:blipFill>
        <p:spPr>
          <a:xfrm>
            <a:off x="6404610" y="1497330"/>
            <a:ext cx="251460" cy="251460"/>
          </a:xfrm>
          <a:prstGeom prst="rect">
            <a:avLst/>
          </a:prstGeom>
        </p:spPr>
      </p:pic>
      <p:sp>
        <p:nvSpPr>
          <p:cNvPr id="21" name="Text 15"/>
          <p:cNvSpPr txBox="1"/>
          <p:nvPr/>
        </p:nvSpPr>
        <p:spPr>
          <a:xfrm>
            <a:off x="6278880" y="2011680"/>
            <a:ext cx="222504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Who attacks, and how?</a:t>
            </a:r>
            <a:endParaRPr lang="en-US" sz="1500" dirty="0"/>
          </a:p>
        </p:txBody>
      </p:sp>
      <p:sp>
        <p:nvSpPr>
          <p:cNvPr id="22" name="Text 16"/>
          <p:cNvSpPr txBox="1"/>
          <p:nvPr/>
        </p:nvSpPr>
        <p:spPr>
          <a:xfrm>
            <a:off x="6278880" y="2670048"/>
            <a:ext cx="2225040" cy="1325880"/>
          </a:xfrm>
          <a:prstGeom prst="rect">
            <a:avLst/>
          </a:prstGeom>
          <a:noFill/>
          <a:ln/>
        </p:spPr>
        <p:txBody>
          <a:bodyPr wrap="square" lIns="0" tIns="0" rIns="0" bIns="0" rtlCol="0" anchor="t"/>
          <a:lstStyle/>
          <a:p>
            <a:pPr indent="0" marL="0">
              <a:buNone/>
            </a:pPr>
            <a:r>
              <a:rPr lang="en-US" sz="1350" dirty="0">
                <a:solidFill>
                  <a:srgbClr val="262A20"/>
                </a:solidFill>
                <a:latin typeface="Open Sans" pitchFamily="34" charset="0"/>
                <a:ea typeface="Open Sans" pitchFamily="34" charset="-122"/>
                <a:cs typeface="Open Sans" pitchFamily="34" charset="-120"/>
              </a:rPr>
              <a:t>Criminals, insiders, activists. Using malware, data breaches and denial of service.</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Words to know</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28</a:t>
            </a:r>
            <a:endParaRPr lang="en-US" sz="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560320"/>
                <a:gridCol w="5669280"/>
              </a:tblGrid>
              <a:tr h="384048">
                <a:tc>
                  <a:txBody>
                    <a:bodyPr/>
                    <a:lstStyle/>
                    <a:p>
                      <a:pPr indent="0" marL="0">
                        <a:buNone/>
                      </a:pPr>
                      <a:r>
                        <a:rPr lang="en-US" sz="1250" b="1" dirty="0">
                          <a:solidFill>
                            <a:srgbClr val="FFFFFF"/>
                          </a:solidFill>
                          <a:latin typeface="Open Sans" pitchFamily="34" charset="0"/>
                          <a:ea typeface="Open Sans" pitchFamily="34" charset="-122"/>
                          <a:cs typeface="Open Sans" pitchFamily="34" charset="-120"/>
                        </a:rPr>
                        <a:t>Word</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250" b="1" dirty="0">
                          <a:solidFill>
                            <a:srgbClr val="FFFFFF"/>
                          </a:solidFill>
                          <a:latin typeface="Open Sans" pitchFamily="34" charset="0"/>
                          <a:ea typeface="Open Sans" pitchFamily="34" charset="-122"/>
                          <a:cs typeface="Open Sans" pitchFamily="34" charset="-120"/>
                        </a:rPr>
                        <a:t>Simple meaning</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384048">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Attacker</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A person or group who tries to harm our information</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Insider</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Someone inside the business: staff, past staff or partners</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384048">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Malware</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Bad software made to cause harm</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Virus / Worm</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Spreads with shared files / spreads by itself</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384048">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Trojan</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Pretends to be useful, hides harm inside</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Ransomware / Spyware</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Locks files for money / secretly watches and steals</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384048">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Data breach</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Information seen or taken by the wrong people</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Denial of service</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250" dirty="0">
                          <a:solidFill>
                            <a:srgbClr val="262A20"/>
                          </a:solidFill>
                          <a:latin typeface="Open Sans" pitchFamily="34" charset="0"/>
                          <a:ea typeface="Open Sans" pitchFamily="34" charset="-122"/>
                          <a:cs typeface="Open Sans" pitchFamily="34" charset="-120"/>
                        </a:rPr>
                        <a:t>Flooding a website so real users cannot use it</a:t>
                      </a:r>
                      <a:endParaRPr lang="en-US" sz="12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A1.9</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Attack Words Ladder</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Study the words. Tap Hear it to hear each one.</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Climb three rungs: meaning, example, right or wrong.</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Use Relaxed mode. Then Challenge mode.</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1 &gt; Attack Words Ladder</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the eleven attack words</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5 min</a:t>
            </a:r>
            <a:endParaRPr lang="en-US" sz="2600" dirty="0"/>
          </a:p>
        </p:txBody>
      </p:sp>
      <p:sp>
        <p:nvSpPr>
          <p:cNvPr id="11"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12"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Test 1: how it works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11.2</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30</a:t>
            </a:r>
            <a:endParaRPr lang="en-US" sz="800" dirty="0"/>
          </a:p>
        </p:txBody>
      </p:sp>
      <p:sp>
        <p:nvSpPr>
          <p:cNvPr id="8" name="Shape 5"/>
          <p:cNvSpPr/>
          <p:nvPr/>
        </p:nvSpPr>
        <p:spPr>
          <a:xfrm>
            <a:off x="457200" y="1234440"/>
            <a:ext cx="1920240" cy="2743200"/>
          </a:xfrm>
          <a:prstGeom prst="roundRect">
            <a:avLst>
              <a:gd name="adj" fmla="val 3810"/>
            </a:avLst>
          </a:prstGeom>
          <a:solidFill>
            <a:srgbClr val="EDDDCD"/>
          </a:solidFill>
          <a:ln w="12700">
            <a:solidFill>
              <a:srgbClr val="EDDDCD"/>
            </a:solidFill>
            <a:prstDash val="solid"/>
          </a:ln>
        </p:spPr>
      </p:sp>
      <p:sp>
        <p:nvSpPr>
          <p:cNvPr id="9" name="Shape 6"/>
          <p:cNvSpPr/>
          <p:nvPr/>
        </p:nvSpPr>
        <p:spPr>
          <a:xfrm>
            <a:off x="640080" y="1463040"/>
            <a:ext cx="548640" cy="548640"/>
          </a:xfrm>
          <a:prstGeom prst="ellipse">
            <a:avLst/>
          </a:prstGeom>
          <a:solidFill>
            <a:srgbClr val="C7A887"/>
          </a:solidFill>
          <a:ln w="12700">
            <a:solidFill>
              <a:srgbClr val="C7A887"/>
            </a:solidFill>
            <a:prstDash val="solid"/>
          </a:ln>
        </p:spPr>
      </p:sp>
      <p:pic>
        <p:nvPicPr>
          <p:cNvPr id="10" name="Image 0" descr="preencoded.png">    </p:cNvPr>
          <p:cNvPicPr>
            <a:picLocks noChangeAspect="1"/>
          </p:cNvPicPr>
          <p:nvPr/>
        </p:nvPicPr>
        <p:blipFill>
          <a:blip r:embed="rId1"/>
          <a:stretch>
            <a:fillRect/>
          </a:stretch>
        </p:blipFill>
        <p:spPr>
          <a:xfrm>
            <a:off x="777240" y="1600200"/>
            <a:ext cx="274320" cy="274320"/>
          </a:xfrm>
          <a:prstGeom prst="rect">
            <a:avLst/>
          </a:prstGeom>
        </p:spPr>
      </p:pic>
      <p:sp>
        <p:nvSpPr>
          <p:cNvPr id="11" name="Text 7"/>
          <p:cNvSpPr txBox="1"/>
          <p:nvPr/>
        </p:nvSpPr>
        <p:spPr>
          <a:xfrm>
            <a:off x="640080" y="2148840"/>
            <a:ext cx="1645920" cy="365760"/>
          </a:xfrm>
          <a:prstGeom prst="rect">
            <a:avLst/>
          </a:prstGeom>
          <a:noFill/>
          <a:ln/>
        </p:spPr>
        <p:txBody>
          <a:bodyPr wrap="square" lIns="0" tIns="0" rIns="0" bIns="0" rtlCol="0" anchor="ctr"/>
          <a:lstStyle/>
          <a:p>
            <a:pPr indent="0" marL="0">
              <a:buNone/>
            </a:pPr>
            <a:r>
              <a:rPr lang="en-US" sz="1700" b="1" dirty="0">
                <a:solidFill>
                  <a:srgbClr val="262A20"/>
                </a:solidFill>
                <a:latin typeface="Open Sans" pitchFamily="34" charset="0"/>
                <a:ea typeface="Open Sans" pitchFamily="34" charset="-122"/>
                <a:cs typeface="Open Sans" pitchFamily="34" charset="-120"/>
              </a:rPr>
              <a:t>1. Write</a:t>
            </a:r>
            <a:endParaRPr lang="en-US" sz="1700" dirty="0"/>
          </a:p>
        </p:txBody>
      </p:sp>
      <p:sp>
        <p:nvSpPr>
          <p:cNvPr id="12" name="Text 8"/>
          <p:cNvSpPr txBox="1"/>
          <p:nvPr/>
        </p:nvSpPr>
        <p:spPr>
          <a:xfrm>
            <a:off x="640080" y="2514600"/>
            <a:ext cx="1645920" cy="320040"/>
          </a:xfrm>
          <a:prstGeom prst="rect">
            <a:avLst/>
          </a:prstGeom>
          <a:noFill/>
          <a:ln/>
        </p:spPr>
        <p:txBody>
          <a:bodyPr wrap="square" lIns="0" tIns="0" rIns="0" bIns="0" rtlCol="0" anchor="ctr"/>
          <a:lstStyle/>
          <a:p>
            <a:pPr indent="0" marL="0">
              <a:buNone/>
            </a:pPr>
            <a:r>
              <a:rPr lang="en-US" sz="1300" b="1" dirty="0">
                <a:solidFill>
                  <a:srgbClr val="7D5F3F"/>
                </a:solidFill>
                <a:latin typeface="Open Sans" pitchFamily="34" charset="0"/>
                <a:ea typeface="Open Sans" pitchFamily="34" charset="-122"/>
                <a:cs typeface="Open Sans" pitchFamily="34" charset="-120"/>
              </a:rPr>
              <a:t>35 min</a:t>
            </a:r>
            <a:endParaRPr lang="en-US" sz="1300" dirty="0"/>
          </a:p>
        </p:txBody>
      </p:sp>
      <p:sp>
        <p:nvSpPr>
          <p:cNvPr id="13" name="Text 9"/>
          <p:cNvSpPr txBox="1"/>
          <p:nvPr/>
        </p:nvSpPr>
        <p:spPr>
          <a:xfrm>
            <a:off x="640080" y="2880360"/>
            <a:ext cx="1600200" cy="1143000"/>
          </a:xfrm>
          <a:prstGeom prst="rect">
            <a:avLst/>
          </a:prstGeom>
          <a:noFill/>
          <a:ln/>
        </p:spPr>
        <p:txBody>
          <a:bodyPr wrap="square" lIns="0" tIns="0" rIns="0" bIns="0" rtlCol="0" anchor="t"/>
          <a:lstStyle/>
          <a:p>
            <a:pPr indent="0" marL="0">
              <a:buNone/>
            </a:pPr>
            <a:r>
              <a:rPr lang="en-US" sz="1200" dirty="0">
                <a:solidFill>
                  <a:srgbClr val="262A20"/>
                </a:solidFill>
                <a:latin typeface="Open Sans" pitchFamily="34" charset="0"/>
                <a:ea typeface="Open Sans" pitchFamily="34" charset="-122"/>
                <a:cs typeface="Open Sans" pitchFamily="34" charset="-120"/>
              </a:rPr>
              <a:t>Answer both questions on paper. No books, no phones.</a:t>
            </a:r>
            <a:endParaRPr lang="en-US" sz="1200" dirty="0"/>
          </a:p>
        </p:txBody>
      </p:sp>
      <p:sp>
        <p:nvSpPr>
          <p:cNvPr id="14" name="Shape 10"/>
          <p:cNvSpPr/>
          <p:nvPr/>
        </p:nvSpPr>
        <p:spPr>
          <a:xfrm>
            <a:off x="2560320" y="1234440"/>
            <a:ext cx="1920240" cy="2743200"/>
          </a:xfrm>
          <a:prstGeom prst="roundRect">
            <a:avLst>
              <a:gd name="adj" fmla="val 3810"/>
            </a:avLst>
          </a:prstGeom>
          <a:solidFill>
            <a:srgbClr val="E1E6E6"/>
          </a:solidFill>
          <a:ln w="12700">
            <a:solidFill>
              <a:srgbClr val="E1E6E6"/>
            </a:solidFill>
            <a:prstDash val="solid"/>
          </a:ln>
        </p:spPr>
      </p:sp>
      <p:sp>
        <p:nvSpPr>
          <p:cNvPr id="15" name="Shape 11"/>
          <p:cNvSpPr/>
          <p:nvPr/>
        </p:nvSpPr>
        <p:spPr>
          <a:xfrm>
            <a:off x="2743200" y="1463040"/>
            <a:ext cx="548640" cy="548640"/>
          </a:xfrm>
          <a:prstGeom prst="ellipse">
            <a:avLst/>
          </a:prstGeom>
          <a:solidFill>
            <a:srgbClr val="667C7E"/>
          </a:solidFill>
          <a:ln w="12700">
            <a:solidFill>
              <a:srgbClr val="667C7E"/>
            </a:solidFill>
            <a:prstDash val="solid"/>
          </a:ln>
        </p:spPr>
      </p:sp>
      <p:pic>
        <p:nvPicPr>
          <p:cNvPr id="16" name="Image 1" descr="preencoded.png">    </p:cNvPr>
          <p:cNvPicPr>
            <a:picLocks noChangeAspect="1"/>
          </p:cNvPicPr>
          <p:nvPr/>
        </p:nvPicPr>
        <p:blipFill>
          <a:blip r:embed="rId2"/>
          <a:stretch>
            <a:fillRect/>
          </a:stretch>
        </p:blipFill>
        <p:spPr>
          <a:xfrm>
            <a:off x="2880360" y="1600200"/>
            <a:ext cx="274320" cy="274320"/>
          </a:xfrm>
          <a:prstGeom prst="rect">
            <a:avLst/>
          </a:prstGeom>
        </p:spPr>
      </p:pic>
      <p:sp>
        <p:nvSpPr>
          <p:cNvPr id="17" name="Text 12"/>
          <p:cNvSpPr txBox="1"/>
          <p:nvPr/>
        </p:nvSpPr>
        <p:spPr>
          <a:xfrm>
            <a:off x="2743200" y="2148840"/>
            <a:ext cx="1645920" cy="365760"/>
          </a:xfrm>
          <a:prstGeom prst="rect">
            <a:avLst/>
          </a:prstGeom>
          <a:noFill/>
          <a:ln/>
        </p:spPr>
        <p:txBody>
          <a:bodyPr wrap="square" lIns="0" tIns="0" rIns="0" bIns="0" rtlCol="0" anchor="ctr"/>
          <a:lstStyle/>
          <a:p>
            <a:pPr indent="0" marL="0">
              <a:buNone/>
            </a:pPr>
            <a:r>
              <a:rPr lang="en-US" sz="1700" b="1" dirty="0">
                <a:solidFill>
                  <a:srgbClr val="262A20"/>
                </a:solidFill>
                <a:latin typeface="Open Sans" pitchFamily="34" charset="0"/>
                <a:ea typeface="Open Sans" pitchFamily="34" charset="-122"/>
                <a:cs typeface="Open Sans" pitchFamily="34" charset="-120"/>
              </a:rPr>
              <a:t>2. Photo</a:t>
            </a:r>
            <a:endParaRPr lang="en-US" sz="1700" dirty="0"/>
          </a:p>
        </p:txBody>
      </p:sp>
      <p:sp>
        <p:nvSpPr>
          <p:cNvPr id="18" name="Text 13"/>
          <p:cNvSpPr txBox="1"/>
          <p:nvPr/>
        </p:nvSpPr>
        <p:spPr>
          <a:xfrm>
            <a:off x="2743200" y="2514600"/>
            <a:ext cx="1645920" cy="320040"/>
          </a:xfrm>
          <a:prstGeom prst="rect">
            <a:avLst/>
          </a:prstGeom>
          <a:noFill/>
          <a:ln/>
        </p:spPr>
        <p:txBody>
          <a:bodyPr wrap="square" lIns="0" tIns="0" rIns="0" bIns="0" rtlCol="0" anchor="ctr"/>
          <a:lstStyle/>
          <a:p>
            <a:pPr indent="0" marL="0">
              <a:buNone/>
            </a:pPr>
            <a:r>
              <a:rPr lang="en-US" sz="1300" b="1" dirty="0">
                <a:solidFill>
                  <a:srgbClr val="566A6C"/>
                </a:solidFill>
                <a:latin typeface="Open Sans" pitchFamily="34" charset="0"/>
                <a:ea typeface="Open Sans" pitchFamily="34" charset="-122"/>
                <a:cs typeface="Open Sans" pitchFamily="34" charset="-120"/>
              </a:rPr>
              <a:t>5 min</a:t>
            </a:r>
            <a:endParaRPr lang="en-US" sz="1300" dirty="0"/>
          </a:p>
        </p:txBody>
      </p:sp>
      <p:sp>
        <p:nvSpPr>
          <p:cNvPr id="19" name="Text 14"/>
          <p:cNvSpPr txBox="1"/>
          <p:nvPr/>
        </p:nvSpPr>
        <p:spPr>
          <a:xfrm>
            <a:off x="2743200" y="2880360"/>
            <a:ext cx="1600200" cy="1143000"/>
          </a:xfrm>
          <a:prstGeom prst="rect">
            <a:avLst/>
          </a:prstGeom>
          <a:noFill/>
          <a:ln/>
        </p:spPr>
        <p:txBody>
          <a:bodyPr wrap="square" lIns="0" tIns="0" rIns="0" bIns="0" rtlCol="0" anchor="t"/>
          <a:lstStyle/>
          <a:p>
            <a:pPr indent="0" marL="0">
              <a:buNone/>
            </a:pPr>
            <a:r>
              <a:rPr lang="en-US" sz="1200" dirty="0">
                <a:solidFill>
                  <a:srgbClr val="262A20"/>
                </a:solidFill>
                <a:latin typeface="Open Sans" pitchFamily="34" charset="0"/>
                <a:ea typeface="Open Sans" pitchFamily="34" charset="-122"/>
                <a:cs typeface="Open Sans" pitchFamily="34" charset="-120"/>
              </a:rPr>
              <a:t>Take clear photos of your pages. Make one PDF.</a:t>
            </a:r>
            <a:endParaRPr lang="en-US" sz="1200" dirty="0"/>
          </a:p>
        </p:txBody>
      </p:sp>
      <p:sp>
        <p:nvSpPr>
          <p:cNvPr id="20" name="Shape 15"/>
          <p:cNvSpPr/>
          <p:nvPr/>
        </p:nvSpPr>
        <p:spPr>
          <a:xfrm>
            <a:off x="4663440" y="1234440"/>
            <a:ext cx="1920240" cy="2743200"/>
          </a:xfrm>
          <a:prstGeom prst="roundRect">
            <a:avLst>
              <a:gd name="adj" fmla="val 3810"/>
            </a:avLst>
          </a:prstGeom>
          <a:solidFill>
            <a:srgbClr val="E1E6E6"/>
          </a:solidFill>
          <a:ln w="12700">
            <a:solidFill>
              <a:srgbClr val="E1E6E6"/>
            </a:solidFill>
            <a:prstDash val="solid"/>
          </a:ln>
        </p:spPr>
      </p:sp>
      <p:sp>
        <p:nvSpPr>
          <p:cNvPr id="21" name="Shape 16"/>
          <p:cNvSpPr/>
          <p:nvPr/>
        </p:nvSpPr>
        <p:spPr>
          <a:xfrm>
            <a:off x="4846320" y="1463040"/>
            <a:ext cx="548640" cy="548640"/>
          </a:xfrm>
          <a:prstGeom prst="ellipse">
            <a:avLst/>
          </a:prstGeom>
          <a:solidFill>
            <a:srgbClr val="667C7E"/>
          </a:solidFill>
          <a:ln w="12700">
            <a:solidFill>
              <a:srgbClr val="667C7E"/>
            </a:solidFill>
            <a:prstDash val="solid"/>
          </a:ln>
        </p:spPr>
      </p:sp>
      <p:pic>
        <p:nvPicPr>
          <p:cNvPr id="22" name="Image 2" descr="preencoded.png">    </p:cNvPr>
          <p:cNvPicPr>
            <a:picLocks noChangeAspect="1"/>
          </p:cNvPicPr>
          <p:nvPr/>
        </p:nvPicPr>
        <p:blipFill>
          <a:blip r:embed="rId3"/>
          <a:stretch>
            <a:fillRect/>
          </a:stretch>
        </p:blipFill>
        <p:spPr>
          <a:xfrm>
            <a:off x="4983480" y="1600200"/>
            <a:ext cx="274320" cy="274320"/>
          </a:xfrm>
          <a:prstGeom prst="rect">
            <a:avLst/>
          </a:prstGeom>
        </p:spPr>
      </p:pic>
      <p:sp>
        <p:nvSpPr>
          <p:cNvPr id="23" name="Text 17"/>
          <p:cNvSpPr txBox="1"/>
          <p:nvPr/>
        </p:nvSpPr>
        <p:spPr>
          <a:xfrm>
            <a:off x="4846320" y="2148840"/>
            <a:ext cx="1645920" cy="365760"/>
          </a:xfrm>
          <a:prstGeom prst="rect">
            <a:avLst/>
          </a:prstGeom>
          <a:noFill/>
          <a:ln/>
        </p:spPr>
        <p:txBody>
          <a:bodyPr wrap="square" lIns="0" tIns="0" rIns="0" bIns="0" rtlCol="0" anchor="ctr"/>
          <a:lstStyle/>
          <a:p>
            <a:pPr indent="0" marL="0">
              <a:buNone/>
            </a:pPr>
            <a:r>
              <a:rPr lang="en-US" sz="1700" b="1" dirty="0">
                <a:solidFill>
                  <a:srgbClr val="262A20"/>
                </a:solidFill>
                <a:latin typeface="Open Sans" pitchFamily="34" charset="0"/>
                <a:ea typeface="Open Sans" pitchFamily="34" charset="-122"/>
                <a:cs typeface="Open Sans" pitchFamily="34" charset="-120"/>
              </a:rPr>
              <a:t>3. Upload</a:t>
            </a:r>
            <a:endParaRPr lang="en-US" sz="1700" dirty="0"/>
          </a:p>
        </p:txBody>
      </p:sp>
      <p:sp>
        <p:nvSpPr>
          <p:cNvPr id="24" name="Text 18"/>
          <p:cNvSpPr txBox="1"/>
          <p:nvPr/>
        </p:nvSpPr>
        <p:spPr>
          <a:xfrm>
            <a:off x="4846320" y="2514600"/>
            <a:ext cx="1645920" cy="320040"/>
          </a:xfrm>
          <a:prstGeom prst="rect">
            <a:avLst/>
          </a:prstGeom>
          <a:noFill/>
          <a:ln/>
        </p:spPr>
        <p:txBody>
          <a:bodyPr wrap="square" lIns="0" tIns="0" rIns="0" bIns="0" rtlCol="0" anchor="ctr"/>
          <a:lstStyle/>
          <a:p>
            <a:pPr indent="0" marL="0">
              <a:buNone/>
            </a:pPr>
            <a:r>
              <a:rPr lang="en-US" sz="1300" b="1" dirty="0">
                <a:solidFill>
                  <a:srgbClr val="566A6C"/>
                </a:solidFill>
                <a:latin typeface="Open Sans" pitchFamily="34" charset="0"/>
                <a:ea typeface="Open Sans" pitchFamily="34" charset="-122"/>
                <a:cs typeface="Open Sans" pitchFamily="34" charset="-120"/>
              </a:rPr>
              <a:t>10 min</a:t>
            </a:r>
            <a:endParaRPr lang="en-US" sz="1300" dirty="0"/>
          </a:p>
        </p:txBody>
      </p:sp>
      <p:sp>
        <p:nvSpPr>
          <p:cNvPr id="25" name="Text 19"/>
          <p:cNvSpPr txBox="1"/>
          <p:nvPr/>
        </p:nvSpPr>
        <p:spPr>
          <a:xfrm>
            <a:off x="4846320" y="2880360"/>
            <a:ext cx="1600200" cy="1143000"/>
          </a:xfrm>
          <a:prstGeom prst="rect">
            <a:avLst/>
          </a:prstGeom>
          <a:noFill/>
          <a:ln/>
        </p:spPr>
        <p:txBody>
          <a:bodyPr wrap="square" lIns="0" tIns="0" rIns="0" bIns="0" rtlCol="0" anchor="t"/>
          <a:lstStyle/>
          <a:p>
            <a:pPr indent="0" marL="0">
              <a:buNone/>
            </a:pPr>
            <a:r>
              <a:rPr lang="en-US" sz="1200" dirty="0">
                <a:solidFill>
                  <a:srgbClr val="262A20"/>
                </a:solidFill>
                <a:latin typeface="Open Sans" pitchFamily="34" charset="0"/>
                <a:ea typeface="Open Sans" pitchFamily="34" charset="-122"/>
                <a:cs typeface="Open Sans" pitchFamily="34" charset="-120"/>
              </a:rPr>
              <a:t>Upload the PDF to the LMS. Use the file name below.</a:t>
            </a:r>
            <a:endParaRPr lang="en-US" sz="1200" dirty="0"/>
          </a:p>
        </p:txBody>
      </p:sp>
      <p:sp>
        <p:nvSpPr>
          <p:cNvPr id="26" name="Shape 20"/>
          <p:cNvSpPr/>
          <p:nvPr/>
        </p:nvSpPr>
        <p:spPr>
          <a:xfrm>
            <a:off x="6766560" y="1234440"/>
            <a:ext cx="1920240" cy="2743200"/>
          </a:xfrm>
          <a:prstGeom prst="roundRect">
            <a:avLst>
              <a:gd name="adj" fmla="val 3810"/>
            </a:avLst>
          </a:prstGeom>
          <a:solidFill>
            <a:srgbClr val="E1E6E6"/>
          </a:solidFill>
          <a:ln w="12700">
            <a:solidFill>
              <a:srgbClr val="E1E6E6"/>
            </a:solidFill>
            <a:prstDash val="solid"/>
          </a:ln>
        </p:spPr>
      </p:sp>
      <p:sp>
        <p:nvSpPr>
          <p:cNvPr id="27" name="Shape 21"/>
          <p:cNvSpPr/>
          <p:nvPr/>
        </p:nvSpPr>
        <p:spPr>
          <a:xfrm>
            <a:off x="6949440" y="1463040"/>
            <a:ext cx="548640" cy="548640"/>
          </a:xfrm>
          <a:prstGeom prst="ellipse">
            <a:avLst/>
          </a:prstGeom>
          <a:solidFill>
            <a:srgbClr val="667C7E"/>
          </a:solidFill>
          <a:ln w="12700">
            <a:solidFill>
              <a:srgbClr val="667C7E"/>
            </a:solidFill>
            <a:prstDash val="solid"/>
          </a:ln>
        </p:spPr>
      </p:sp>
      <p:pic>
        <p:nvPicPr>
          <p:cNvPr id="28" name="Image 3" descr="preencoded.png">    </p:cNvPr>
          <p:cNvPicPr>
            <a:picLocks noChangeAspect="1"/>
          </p:cNvPicPr>
          <p:nvPr/>
        </p:nvPicPr>
        <p:blipFill>
          <a:blip r:embed="rId4"/>
          <a:stretch>
            <a:fillRect/>
          </a:stretch>
        </p:blipFill>
        <p:spPr>
          <a:xfrm>
            <a:off x="7086600" y="1600200"/>
            <a:ext cx="274320" cy="274320"/>
          </a:xfrm>
          <a:prstGeom prst="rect">
            <a:avLst/>
          </a:prstGeom>
        </p:spPr>
      </p:pic>
      <p:sp>
        <p:nvSpPr>
          <p:cNvPr id="29" name="Text 22"/>
          <p:cNvSpPr txBox="1"/>
          <p:nvPr/>
        </p:nvSpPr>
        <p:spPr>
          <a:xfrm>
            <a:off x="6949440" y="2148840"/>
            <a:ext cx="1645920" cy="365760"/>
          </a:xfrm>
          <a:prstGeom prst="rect">
            <a:avLst/>
          </a:prstGeom>
          <a:noFill/>
          <a:ln/>
        </p:spPr>
        <p:txBody>
          <a:bodyPr wrap="square" lIns="0" tIns="0" rIns="0" bIns="0" rtlCol="0" anchor="ctr"/>
          <a:lstStyle/>
          <a:p>
            <a:pPr indent="0" marL="0">
              <a:buNone/>
            </a:pPr>
            <a:r>
              <a:rPr lang="en-US" sz="1700" b="1" dirty="0">
                <a:solidFill>
                  <a:srgbClr val="262A20"/>
                </a:solidFill>
                <a:latin typeface="Open Sans" pitchFamily="34" charset="0"/>
                <a:ea typeface="Open Sans" pitchFamily="34" charset="-122"/>
                <a:cs typeface="Open Sans" pitchFamily="34" charset="-120"/>
              </a:rPr>
              <a:t>4. Hand in</a:t>
            </a:r>
            <a:endParaRPr lang="en-US" sz="1700" dirty="0"/>
          </a:p>
        </p:txBody>
      </p:sp>
      <p:sp>
        <p:nvSpPr>
          <p:cNvPr id="30" name="Text 23"/>
          <p:cNvSpPr txBox="1"/>
          <p:nvPr/>
        </p:nvSpPr>
        <p:spPr>
          <a:xfrm>
            <a:off x="6949440" y="2514600"/>
            <a:ext cx="1645920" cy="320040"/>
          </a:xfrm>
          <a:prstGeom prst="rect">
            <a:avLst/>
          </a:prstGeom>
          <a:noFill/>
          <a:ln/>
        </p:spPr>
        <p:txBody>
          <a:bodyPr wrap="square" lIns="0" tIns="0" rIns="0" bIns="0" rtlCol="0" anchor="ctr"/>
          <a:lstStyle/>
          <a:p>
            <a:pPr indent="0" marL="0">
              <a:buNone/>
            </a:pPr>
            <a:r>
              <a:rPr lang="en-US" sz="1300" b="1" dirty="0">
                <a:solidFill>
                  <a:srgbClr val="566A6C"/>
                </a:solidFill>
                <a:latin typeface="Open Sans" pitchFamily="34" charset="0"/>
                <a:ea typeface="Open Sans" pitchFamily="34" charset="-122"/>
                <a:cs typeface="Open Sans" pitchFamily="34" charset="-120"/>
              </a:rPr>
              <a:t>5 min</a:t>
            </a:r>
            <a:endParaRPr lang="en-US" sz="1300" dirty="0"/>
          </a:p>
        </p:txBody>
      </p:sp>
      <p:sp>
        <p:nvSpPr>
          <p:cNvPr id="31" name="Text 24"/>
          <p:cNvSpPr txBox="1"/>
          <p:nvPr/>
        </p:nvSpPr>
        <p:spPr>
          <a:xfrm>
            <a:off x="6949440" y="2880360"/>
            <a:ext cx="1600200" cy="1143000"/>
          </a:xfrm>
          <a:prstGeom prst="rect">
            <a:avLst/>
          </a:prstGeom>
          <a:noFill/>
          <a:ln/>
        </p:spPr>
        <p:txBody>
          <a:bodyPr wrap="square" lIns="0" tIns="0" rIns="0" bIns="0" rtlCol="0" anchor="t"/>
          <a:lstStyle/>
          <a:p>
            <a:pPr indent="0" marL="0">
              <a:buNone/>
            </a:pPr>
            <a:r>
              <a:rPr lang="en-US" sz="1200" dirty="0">
                <a:solidFill>
                  <a:srgbClr val="262A20"/>
                </a:solidFill>
                <a:latin typeface="Open Sans" pitchFamily="34" charset="0"/>
                <a:ea typeface="Open Sans" pitchFamily="34" charset="-122"/>
                <a:cs typeface="Open Sans" pitchFamily="34" charset="-120"/>
              </a:rPr>
              <a:t>Give your paper to the lecturer before you leave.</a:t>
            </a:r>
            <a:endParaRPr lang="en-US" sz="1200" dirty="0"/>
          </a:p>
        </p:txBody>
      </p:sp>
      <p:sp>
        <p:nvSpPr>
          <p:cNvPr id="32" name="Text 25"/>
          <p:cNvSpPr txBox="1"/>
          <p:nvPr/>
        </p:nvSpPr>
        <p:spPr>
          <a:xfrm>
            <a:off x="457200" y="4187952"/>
            <a:ext cx="8229600" cy="274320"/>
          </a:xfrm>
          <a:prstGeom prst="rect">
            <a:avLst/>
          </a:prstGeom>
          <a:noFill/>
          <a:ln/>
        </p:spPr>
        <p:txBody>
          <a:bodyPr wrap="square" lIns="0" tIns="0" rIns="0" bIns="0" rtlCol="0" anchor="ctr"/>
          <a:lstStyle/>
          <a:p>
            <a:pPr algn="ctr" indent="0" marL="0">
              <a:buNone/>
            </a:pPr>
            <a:r>
              <a:rPr lang="en-US" sz="1400" b="1" dirty="0">
                <a:solidFill>
                  <a:srgbClr val="566A6C"/>
                </a:solidFill>
                <a:latin typeface="Open Sans" pitchFamily="34" charset="0"/>
                <a:ea typeface="Open Sans" pitchFamily="34" charset="-122"/>
                <a:cs typeface="Open Sans" pitchFamily="34" charset="-120"/>
              </a:rPr>
              <a:t>File name: DBIS11_StudentID_Day1.pdf</a:t>
            </a:r>
            <a:endParaRPr lang="en-US" sz="1400" dirty="0"/>
          </a:p>
        </p:txBody>
      </p:sp>
      <p:sp>
        <p:nvSpPr>
          <p:cNvPr id="33" name="Text 26"/>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300" b="1" dirty="0">
                <a:solidFill>
                  <a:srgbClr val="262A20"/>
                </a:solidFill>
                <a:latin typeface="Open Sans" pitchFamily="34" charset="0"/>
                <a:ea typeface="Open Sans" pitchFamily="34" charset="-122"/>
                <a:cs typeface="Open Sans" pitchFamily="34" charset="-120"/>
              </a:rPr>
              <a:t>We mark your ideas, not your grammar. A clear decision with a good reason gets full marks.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attacks and how</dc:title>
  <dc:subject>PptxGenJS Presentation</dc:subject>
  <dc:creator>NIBM SOCE</dc:creator>
  <cp:lastModifiedBy>NIBM SOCE</cp:lastModifiedBy>
  <cp:revision>1</cp:revision>
  <dcterms:created xsi:type="dcterms:W3CDTF">2026-09-28T19:06:13Z</dcterms:created>
  <dcterms:modified xsi:type="dcterms:W3CDTF">2026-09-28T19:06:13Z</dcterms:modified>
</cp:coreProperties>
</file>