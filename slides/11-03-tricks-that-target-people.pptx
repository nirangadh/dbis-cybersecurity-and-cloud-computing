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9:00. Welcome back. Collect any late Test 1 papers. Today is about people: first how they are tricked, then how they prove who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Hook. Take a quick show of hands: who would pay? Do not correct anyone yet. We return to this in section 4 and in the Bank Change Trap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recap from yesterday. Everything today builds on these words. Ask students to say each one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all Protect: protecting people and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ideas only, one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9:10. Idea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no computer was broken. The attacker went around the technology, through a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are not stupid. These are good human qualities that attackers use against us. Ask: which one describes you?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build-up. The same risk sentence from yesterday, with a person as the weakness and a trick as the threat.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9:30. Idea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Phishing. Read the meaning, then the TeaLeaf example. Ask a student for a real example they have seen (no names).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Spear phishing. Read the meaning, then the TeaLeaf example. Ask a student for a real example they have seen (no names).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Smishing. Read the meaning, then the TeaLeaf example. Ask a student for a real example they have seen (no names).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Vishing. Read the meaning, then the TeaLeaf example. Ask a student for a real example they have seen (no names).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for the next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9:55. Some messages are safe on purpose: students who call everything a phish lose points. Afterwards ask which warning sign was hardest to see (usually the lookalike address hi11country).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10:10. This previews section 3. Let them play first, then explain. Ten minutes, then a short discussion until the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11:00. Idea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Criminals push you so you do not stop and think. Learn the three pushes and the two clues. Together they are the warning signs.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real example from the game. Ask the class to find the difference before you reveal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actions. The first one is the most important: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11:20. Idea 4. Back to the hook email from 9:10.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steps. Stress step 1: the criminal often studies the business for weeks before sending one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changes. Old advice said 'look for bad English'; AI has removed that clue. The voice clone is real and cheap. Link to vishing.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students remember one thing from today, it is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11:35. Many students will 'check' by replying to the email or calling the number in it. That is the lesson: they checked in the wrong place. Discuss the endings for 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only. Not tested. A no-blame culture: staff who report quickly are thanked, not punished. Mistakes found early cost much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11:52.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new words. The People Words Ladder at the end of the afternoon uses these and the afternoon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12:00. Lunch.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0" cy="73152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A88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 |  Day 2  |  Session 11.3  |  9:00 to 12:00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8745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Tricks that target people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3154680"/>
            <a:ext cx="822960" cy="64008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25880" y="3154680"/>
            <a:ext cx="411480" cy="64008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383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Cybersecurity and Cloud Computing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Diploma in Business Information Systems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40680" y="502920"/>
            <a:ext cx="3383280" cy="3931920"/>
          </a:xfrm>
          <a:prstGeom prst="ellipse">
            <a:avLst/>
          </a:prstGeom>
          <a:solidFill>
            <a:srgbClr val="3A3F33"/>
          </a:solidFill>
          <a:ln w="12700">
            <a:solidFill>
              <a:srgbClr val="3A3F33"/>
            </a:solidFill>
            <a:prstDash val="solid"/>
          </a:ln>
        </p:spPr>
      </p:sp>
      <p:pic>
        <p:nvPicPr>
          <p:cNvPr id="10" name="Image 1" descr="fake_ca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40384"/>
            <a:ext cx="3474720" cy="28569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39E9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© 2026 Niranga Dharmaratna. Licensed CC BY-NC-SA 4.0. Icons: Font Awesome Free (CC BY 4.0). Illustrations: original, same licence.</a:t>
            </a:r>
            <a:endParaRPr lang="en-US" sz="7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7A88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1887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Monday, 9:10 am. An email from a supplier: "Our bank account has changed. Please pay today."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A88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Would you pay? By 12:00 you will know exactly what to 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06440" y="548640"/>
            <a:ext cx="3017520" cy="3840480"/>
          </a:xfrm>
          <a:prstGeom prst="ellipse">
            <a:avLst/>
          </a:prstGeom>
          <a:solidFill>
            <a:srgbClr val="3A3F33"/>
          </a:solidFill>
          <a:ln w="12700">
            <a:solidFill>
              <a:srgbClr val="3A3F33"/>
            </a:solidFill>
            <a:prstDash val="solid"/>
          </a:ln>
        </p:spPr>
      </p:sp>
      <p:pic>
        <p:nvPicPr>
          <p:cNvPr id="6" name="Image 0" descr="phish_em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428673"/>
            <a:ext cx="3108960" cy="20804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we know from Day 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2011680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70048"/>
            <a:ext cx="222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Keep information secret, correct and available.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2766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59480" y="1371600"/>
            <a:ext cx="502920" cy="50292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210" y="14973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459480" y="2011680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Threat, vulnerability, risk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459480" y="2670048"/>
            <a:ext cx="222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threat uses a weakness and causes harm.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0960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78880" y="1371600"/>
            <a:ext cx="502920" cy="50292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610" y="149733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78880" y="2011680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Attackers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278880" y="2670048"/>
            <a:ext cx="222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Criminals, insiders and activists, each with a reason.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D5F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Today we add: people can be the weakness, and tricks can be the threat.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we are on the 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1280160" cy="2103120"/>
          </a:xfrm>
          <a:prstGeom prst="roundRect">
            <a:avLst>
              <a:gd name="adj" fmla="val 5714"/>
            </a:avLst>
          </a:prstGeom>
          <a:solidFill>
            <a:srgbClr val="F2EFEC"/>
          </a:solidFill>
          <a:ln w="6350">
            <a:solidFill>
              <a:srgbClr val="F2EF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C9C4BE"/>
          </a:solidFill>
          <a:ln w="12700">
            <a:solidFill>
              <a:srgbClr val="C9C4B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2920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606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the rules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847088" y="1325880"/>
            <a:ext cx="1280160" cy="2103120"/>
          </a:xfrm>
          <a:prstGeom prst="roundRect">
            <a:avLst>
              <a:gd name="adj" fmla="val 5714"/>
            </a:avLst>
          </a:prstGeom>
          <a:solidFill>
            <a:srgbClr val="F2EFEC"/>
          </a:solidFill>
          <a:ln w="6350">
            <a:solidFill>
              <a:srgbClr val="F2EF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212848" y="1554480"/>
            <a:ext cx="548640" cy="548640"/>
          </a:xfrm>
          <a:prstGeom prst="ellipse">
            <a:avLst/>
          </a:prstGeom>
          <a:solidFill>
            <a:srgbClr val="C9C4BE"/>
          </a:solidFill>
          <a:ln w="12700">
            <a:solidFill>
              <a:srgbClr val="C9C4B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6916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92808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938528" y="2606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 what you have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236976" y="1325880"/>
            <a:ext cx="1280160" cy="2103120"/>
          </a:xfrm>
          <a:prstGeom prst="roundRect">
            <a:avLst>
              <a:gd name="adj" fmla="val 5714"/>
            </a:avLst>
          </a:prstGeom>
          <a:solidFill>
            <a:srgbClr val="D9D5D2"/>
          </a:solidFill>
          <a:ln w="25400">
            <a:solidFill>
              <a:srgbClr val="566A6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02736" y="1554480"/>
            <a:ext cx="548640" cy="5486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896" y="16916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282696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3328416" y="2606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Keep it safe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626864" y="1325880"/>
            <a:ext cx="1280160" cy="2103120"/>
          </a:xfrm>
          <a:prstGeom prst="roundRect">
            <a:avLst>
              <a:gd name="adj" fmla="val 5714"/>
            </a:avLst>
          </a:prstGeom>
          <a:solidFill>
            <a:srgbClr val="F2EFEC"/>
          </a:solidFill>
          <a:ln w="6350">
            <a:solidFill>
              <a:srgbClr val="F2EF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992624" y="1554480"/>
            <a:ext cx="548640" cy="548640"/>
          </a:xfrm>
          <a:prstGeom prst="ellipse">
            <a:avLst/>
          </a:prstGeom>
          <a:solidFill>
            <a:srgbClr val="C9C4BE"/>
          </a:solidFill>
          <a:ln w="12700">
            <a:solidFill>
              <a:srgbClr val="C9C4B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784" y="16916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72584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718304" y="2606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Spot attacks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016752" y="1325880"/>
            <a:ext cx="1280160" cy="2103120"/>
          </a:xfrm>
          <a:prstGeom prst="roundRect">
            <a:avLst>
              <a:gd name="adj" fmla="val 5714"/>
            </a:avLst>
          </a:prstGeom>
          <a:solidFill>
            <a:srgbClr val="F2EFEC"/>
          </a:solidFill>
          <a:ln w="6350">
            <a:solidFill>
              <a:srgbClr val="F2EFE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82512" y="1554480"/>
            <a:ext cx="548640" cy="548640"/>
          </a:xfrm>
          <a:prstGeom prst="ellipse">
            <a:avLst/>
          </a:prstGeom>
          <a:solidFill>
            <a:srgbClr val="C9C4BE"/>
          </a:solidFill>
          <a:ln w="12700">
            <a:solidFill>
              <a:srgbClr val="C9C4B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169164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062472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Respond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108192" y="2606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 fast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7406640" y="1325880"/>
            <a:ext cx="1280160" cy="2103120"/>
          </a:xfrm>
          <a:prstGeom prst="roundRect">
            <a:avLst>
              <a:gd name="adj" fmla="val 5714"/>
            </a:avLst>
          </a:prstGeom>
          <a:solidFill>
            <a:srgbClr val="F2EFEC"/>
          </a:solidFill>
          <a:ln w="6350">
            <a:solidFill>
              <a:srgbClr val="F2EFE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7772400" y="1554480"/>
            <a:ext cx="548640" cy="548640"/>
          </a:xfrm>
          <a:prstGeom prst="ellipse">
            <a:avLst/>
          </a:prstGeom>
          <a:solidFill>
            <a:srgbClr val="C9C4BE"/>
          </a:solidFill>
          <a:ln w="12700">
            <a:solidFill>
              <a:srgbClr val="C9C4BE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169164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452360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Recover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7498080" y="2606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back to work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5F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Today: Protect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morning you will learn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18872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 Social engineering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149961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Tricking people, not computers.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075688"/>
            <a:ext cx="548640" cy="5486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284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20299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 Four forms of phishing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234086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Email, spear phishing, SMS and phone calls.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2916936"/>
            <a:ext cx="548640" cy="5486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5409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287121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 Warning signs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188720" y="318211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Hurry, boss, fear, and strange senders and links.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3758184"/>
            <a:ext cx="548640" cy="5486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9534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371246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 The fake bank change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188720" y="40233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most expensive trick, now helped by AI.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7A88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9144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Social engineering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2468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Tricking people, not computers.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social engineering?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1005840" cy="10058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234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66A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Social engineering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16916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Tricking people into giving information, money or access.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57200" y="26060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A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TeaLeaf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1089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caller says he is from the bank and asks the finance clerk for the company PIN.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709160" y="26060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DDDCD"/>
          </a:solidFill>
          <a:ln w="12700">
            <a:solidFill>
              <a:srgbClr val="EDDDC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920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5F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31089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clerk wants to help, so he gives the PIN. No computer was hacked at all.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attack people?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201168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want to help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395728"/>
            <a:ext cx="222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polite request is hard to refuse.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2766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59480" y="1371600"/>
            <a:ext cx="502920" cy="50292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210" y="14973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459480" y="201168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obey bosses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459480" y="2395728"/>
            <a:ext cx="222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order from the MD feels safe to follow.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0960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78880" y="1371600"/>
            <a:ext cx="502920" cy="50292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610" y="149733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78880" y="201168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are busy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278880" y="2395728"/>
            <a:ext cx="222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we rush, we stop checking.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66A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often easier to trick one person than to break one computer.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on Day 1: people and risk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 word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Today's example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Threat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phishing email from a criminal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Vulnerability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busy clerk who does not check before paying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The email could trick the busy clerk, and TeaLeaf could lose money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D5F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can be a vulnerability. Tricks can be a threat.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7A88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9144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forms of phishing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2468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same trick, four different channels.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1005840" cy="10058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234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66A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16916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fake email sent to many people to trick them.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57200" y="26060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A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TeaLeaf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1089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email to all staff: "Your password expires today. Click here."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709160" y="26060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DDDCD"/>
          </a:solidFill>
          <a:ln w="12700">
            <a:solidFill>
              <a:srgbClr val="EDDDC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920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5F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like...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31089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fisherman: throw out many hooks and wait for one bite.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Spear phishing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1005840" cy="10058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234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66A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Spear phishing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16916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fake message made for one person, using real details about them.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57200" y="26060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A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TeaLeaf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1089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email to Kasun, signed with the MD's real name, asking him to buy gift cards.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709160" y="26060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DDDCD"/>
          </a:solidFill>
          <a:ln w="12700">
            <a:solidFill>
              <a:srgbClr val="EDDDC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920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5F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like...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31089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spear aimed at one fish, not a net.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Smishing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1005840" cy="10058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234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66A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Smishing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16916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by text message, such as SMS or WhatsApp.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57200" y="26060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A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TeaLeaf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1089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"Your parcel is held. Pay LKR 150 here." with a strange link.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709160" y="26060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DDDCD"/>
          </a:solidFill>
          <a:ln w="12700">
            <a:solidFill>
              <a:srgbClr val="EDDDC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920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5F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like...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31089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that arrives in your pocket.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Vishing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1005840" cy="10058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234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66A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Vishing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16916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by phone call. AI can now copy a real person's voice.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57200" y="26060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A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TeaLeaf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1089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caller who sounds exactly like the MD asks for an urgent payment.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709160" y="26060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DDDCD"/>
          </a:solidFill>
          <a:ln w="12700">
            <a:solidFill>
              <a:srgbClr val="EDDDC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920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5F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like...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31089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you can hear. A voice can be fake too.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forms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463040"/>
                <a:gridCol w="3108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Channel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Sent to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TeaLeaf example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Phishing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Email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Many people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"Your password expires today"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Spear phishing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Email or message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One person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"Kasun, the MD needs gift cards"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Smishing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SMS, WhatsApp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Many or one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"Your parcel is held, pay here"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Vishing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Phone call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One person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fake MD voice asks for payment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66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262A20"/>
          </a:solidFill>
          <a:ln w="12700">
            <a:solidFill>
              <a:srgbClr val="262A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DDC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Play: A2.1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 or Legit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0876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each message in TeaLeaf's inbox.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Tap anything that looks wrong.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Decide: Phish or Legit.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03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it: course site &gt; Day 2 &gt; Phish or Legit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0690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DDC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Practises: spotting phishing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49440" y="155448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262A20"/>
          </a:solidFill>
          <a:ln w="12700">
            <a:solidFill>
              <a:srgbClr val="262A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min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949440" y="2697480"/>
            <a:ext cx="1737360" cy="1965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QR code for Phish or Leg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770632"/>
            <a:ext cx="1517904" cy="15179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49440" y="4315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Scan to play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66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262A20"/>
          </a:solidFill>
          <a:ln w="12700">
            <a:solidFill>
              <a:srgbClr val="262A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DDC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Play: A2.2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Pressure Tricks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0876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each message.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Tap the trick: Hurry, Boss or Fear.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why.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03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it: course site &gt; Day 2 &gt; Pressure Tricks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0690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DDC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Practises: how attackers push people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49440" y="155448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262A20"/>
          </a:solidFill>
          <a:ln w="12700">
            <a:solidFill>
              <a:srgbClr val="262A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min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949440" y="2697480"/>
            <a:ext cx="1737360" cy="1965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QR code for Pressure Tri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770632"/>
            <a:ext cx="1517904" cy="15179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49440" y="4315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Scan to play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977640" y="1463040"/>
            <a:ext cx="1188720" cy="1188720"/>
          </a:xfrm>
          <a:prstGeom prst="ellipse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176022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 at 11:00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Next: how to spot the trick before it works.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6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7A88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9144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Warning signs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2468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to spot the trick before it works.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pushes, and two clues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590800" cy="1783080"/>
          </a:xfrm>
          <a:prstGeom prst="roundRect">
            <a:avLst>
              <a:gd name="adj" fmla="val 4103"/>
            </a:avLst>
          </a:prstGeom>
          <a:solidFill>
            <a:srgbClr val="EDDDCD"/>
          </a:solidFill>
          <a:ln w="12700">
            <a:solidFill>
              <a:srgbClr val="EDDDC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201168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Hurry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395728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"Today." "In 10 minutes." "Final notice."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276600" y="1188720"/>
            <a:ext cx="2590800" cy="1783080"/>
          </a:xfrm>
          <a:prstGeom prst="roundRect">
            <a:avLst>
              <a:gd name="adj" fmla="val 4103"/>
            </a:avLst>
          </a:prstGeom>
          <a:solidFill>
            <a:srgbClr val="D9D5D2"/>
          </a:solidFill>
          <a:ln w="12700">
            <a:solidFill>
              <a:srgbClr val="D9D5D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59480" y="1371600"/>
            <a:ext cx="502920" cy="502920"/>
          </a:xfrm>
          <a:prstGeom prst="ellipse">
            <a:avLst/>
          </a:prstGeom>
          <a:solidFill>
            <a:srgbClr val="262A20"/>
          </a:solidFill>
          <a:ln w="12700">
            <a:solidFill>
              <a:srgbClr val="262A2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210" y="14973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459480" y="201168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Boss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459480" y="2395728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"This is the MD." "The bank." "Head of IT."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096000" y="1188720"/>
            <a:ext cx="2590800" cy="1783080"/>
          </a:xfrm>
          <a:prstGeom prst="roundRect">
            <a:avLst>
              <a:gd name="adj" fmla="val 4103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78880" y="1371600"/>
            <a:ext cx="502920" cy="50292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610" y="149733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78880" y="201168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Fear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278880" y="2395728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"Your account will be closed." "You will lose your files."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200400"/>
            <a:ext cx="4000500" cy="1188720"/>
          </a:xfrm>
          <a:prstGeom prst="roundRect">
            <a:avLst>
              <a:gd name="adj" fmla="val 6154"/>
            </a:avLst>
          </a:prstGeom>
          <a:solidFill>
            <a:srgbClr val="F2EFEC"/>
          </a:solidFill>
          <a:ln w="12700">
            <a:solidFill>
              <a:srgbClr val="F2EFEC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40080" y="338328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Clue: a strange sender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3767328"/>
            <a:ext cx="3634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address that is almost right, or a free Gmail address.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4686300" y="3200400"/>
            <a:ext cx="4000500" cy="1188720"/>
          </a:xfrm>
          <a:prstGeom prst="roundRect">
            <a:avLst>
              <a:gd name="adj" fmla="val 6154"/>
            </a:avLst>
          </a:prstGeom>
          <a:solidFill>
            <a:srgbClr val="F2EFEC"/>
          </a:solidFill>
          <a:ln w="12700">
            <a:solidFill>
              <a:srgbClr val="F2EFEC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869180" y="338328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Clue: a strange link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4869180" y="3767328"/>
            <a:ext cx="3634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link to a website that is not the real one.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Look closely at the sender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325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Real:   accounts@hillcountrypackaging.lk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DDDCD"/>
          </a:solidFill>
          <a:ln w="12700">
            <a:solidFill>
              <a:srgbClr val="EDDDC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240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Fake:   accounts@hi11countrypackaging.lk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154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fake uses the number 1 in place of the letter 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name shown can be anything. Always read the real address.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link can say one thing and go somewhere else. On a phone, press and hold to see where it goes.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to do when you see a warning 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EDDDCD"/>
          </a:solidFill>
          <a:ln w="12700">
            <a:solidFill>
              <a:srgbClr val="EDDDC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1463040"/>
            <a:ext cx="640080" cy="640080"/>
          </a:xfrm>
          <a:prstGeom prst="ellipse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16230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Stop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 not click, reply or pay.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560320" y="128016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00400" y="1463040"/>
            <a:ext cx="640080" cy="64008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6230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6517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Check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269748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 number you already have.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128016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303520" y="1463040"/>
            <a:ext cx="640080" cy="64008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6230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75488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Report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480060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Tell the IT officer.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766560" y="128016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E1E6E6"/>
          </a:solidFill>
          <a:ln w="12700">
            <a:solidFill>
              <a:srgbClr val="E1E6E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406640" y="1463040"/>
            <a:ext cx="640080" cy="64008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162306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85800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Delete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690372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after you report it.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5F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check using the phone number or link inside the message.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6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7A88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9144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fake bank change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2468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most expensive trick, now helped by AI.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the fake bank change works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97280" y="1325880"/>
            <a:ext cx="640080" cy="64008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14859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Study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criminal learns who TeaLeaf pays.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240280" y="1645920"/>
            <a:ext cx="411480" cy="0"/>
          </a:xfrm>
          <a:prstGeom prst="line">
            <a:avLst/>
          </a:prstGeom>
          <a:noFill/>
          <a:ln w="25400">
            <a:solidFill>
              <a:srgbClr val="5A5F55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200400" y="1325880"/>
            <a:ext cx="640080" cy="64008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4859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56032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Copy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265176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make an email address that looks like the supplier's.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343400" y="1645920"/>
            <a:ext cx="411480" cy="0"/>
          </a:xfrm>
          <a:prstGeom prst="line">
            <a:avLst/>
          </a:prstGeom>
          <a:noFill/>
          <a:ln w="25400">
            <a:solidFill>
              <a:srgbClr val="5A5F55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303520" y="1325880"/>
            <a:ext cx="640080" cy="64008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48590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66344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Ask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475488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"Our bank has changed. Pay the new account."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46520" y="1645920"/>
            <a:ext cx="411480" cy="0"/>
          </a:xfrm>
          <a:prstGeom prst="line">
            <a:avLst/>
          </a:prstGeom>
          <a:noFill/>
          <a:ln w="25400">
            <a:solidFill>
              <a:srgbClr val="5A5F5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406640" y="1325880"/>
            <a:ext cx="640080" cy="64008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148590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76656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Push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685800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"Today, or there is a late fee."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5F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money goes to the criminal. The real supplier is still waiting to be paid.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Now helped by AI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446020" cy="2194560"/>
          </a:xfrm>
          <a:prstGeom prst="roundRect">
            <a:avLst>
              <a:gd name="adj" fmla="val 3333"/>
            </a:avLst>
          </a:prstGeom>
          <a:solidFill>
            <a:srgbClr val="D9D5D2"/>
          </a:solidFill>
          <a:ln w="12700">
            <a:solidFill>
              <a:srgbClr val="D9D5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262A20"/>
          </a:solidFill>
          <a:ln w="12700">
            <a:solidFill>
              <a:srgbClr val="262A2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201168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Perfect English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395728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writes emails with no spelling mistakes. Bad English is no longer a reliable clue.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131820" y="1188720"/>
            <a:ext cx="2446020" cy="2194560"/>
          </a:xfrm>
          <a:prstGeom prst="roundRect">
            <a:avLst>
              <a:gd name="adj" fmla="val 3333"/>
            </a:avLst>
          </a:prstGeom>
          <a:solidFill>
            <a:srgbClr val="EDDDCD"/>
          </a:solidFill>
          <a:ln w="12700">
            <a:solidFill>
              <a:srgbClr val="EDDDC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14700" y="1371600"/>
            <a:ext cx="502920" cy="502920"/>
          </a:xfrm>
          <a:prstGeom prst="ellipse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430" y="14973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314700" y="201168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Fake voices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314700" y="2395728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few seconds of someone's voice is enough to copy it. A deepfake call can sound exactly like the MD.</a:t>
            </a:r>
            <a:endParaRPr lang="en-US" sz="1350" dirty="0"/>
          </a:p>
        </p:txBody>
      </p:sp>
      <p:pic>
        <p:nvPicPr>
          <p:cNvPr id="18" name="Image 2" descr="fake_ca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04772"/>
            <a:ext cx="2880360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golden rule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262A20"/>
          </a:solidFill>
          <a:ln w="12700">
            <a:solidFill>
              <a:srgbClr val="262A2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using a number you already have.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the one in the message.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0632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Call the supplier on the number in TeaLeaf's own records.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Call the MD back on her usual number, even if the voice sounds real.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second person approves every change to bank details.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566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262A20"/>
          </a:solidFill>
          <a:ln w="12700">
            <a:solidFill>
              <a:srgbClr val="262A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DDC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Play: A2.3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Bank Change Trap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0876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are Kasun, the finance clerk.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choice changes the story.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 the one path that wins.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03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it: course site &gt; Day 2 &gt; The Bank Change Trap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0690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DDC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Practises: checking before paying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49440" y="155448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262A20"/>
          </a:solidFill>
          <a:ln w="12700">
            <a:solidFill>
              <a:srgbClr val="262A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min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949440" y="2697480"/>
            <a:ext cx="1737360" cy="1965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QR code for The Bank Change Tr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770632"/>
            <a:ext cx="1517904" cy="15179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49440" y="4315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Scan to play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D5D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Good to know: report, do not hide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Clicked by mistake? Tell the IT officer at once.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1031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mistake reported in 5 minutes can be fixed. A mistake hidden for 5 days can cost TeaLeaf its money and its customers.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Good to know. Not in the test.</a:t>
            </a:r>
            <a:endParaRPr lang="en-US" sz="1200" dirty="0"/>
          </a:p>
        </p:txBody>
      </p:sp>
      <p:pic>
        <p:nvPicPr>
          <p:cNvPr id="11" name="Image 0" descr="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466698"/>
            <a:ext cx="3108960" cy="27358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we learned this morning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18872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Social engineering tricks people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149961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can be the weakness; tricks can be the threat.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075688"/>
            <a:ext cx="548640" cy="5486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284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20299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forms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234086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Phishing, spear phishing, smishing, vishing.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2916936"/>
            <a:ext cx="548640" cy="5486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5409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287121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Warning signs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188720" y="318211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Hurry, boss, fear, strange senders and links.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3758184"/>
            <a:ext cx="548640" cy="54864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9534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371246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fake bank change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188720" y="40233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using a number you already have.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Words to know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Word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Simple meaning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Social engineering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Tricking people into giving information, money or access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Phishing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fake email sent to many people to trick them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Spear phishing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fake message made for one person, using real details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Smishing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Phishing by text message (SMS, WhatsApp)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Vishing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Phishing by phone call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Deepfake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2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fake voice or video made by AI to copy a real person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lunch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54864"/>
          </a:xfrm>
          <a:prstGeom prst="rect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96112"/>
            <a:ext cx="320040" cy="54864"/>
          </a:xfrm>
          <a:prstGeom prst="rect">
            <a:avLst/>
          </a:prstGeom>
          <a:solidFill>
            <a:srgbClr val="C7A887"/>
          </a:solidFill>
          <a:ln w="12700">
            <a:solidFill>
              <a:srgbClr val="C7A8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2803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DBIS-11 Cybersecurity and Cloud Computing  |  Day 2  |  Session 11.3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977640" y="1371600"/>
            <a:ext cx="1188720" cy="1188720"/>
          </a:xfrm>
          <a:prstGeom prst="ellipse">
            <a:avLst/>
          </a:prstGeom>
          <a:solidFill>
            <a:srgbClr val="667C7E"/>
          </a:solidFill>
          <a:ln w="12700">
            <a:solidFill>
              <a:srgbClr val="667C7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166878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A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Proving who you are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F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CIA grows two new letters, and your password gets a partner. Back at 1:00.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Tricks that target people</dc:title>
  <dc:subject>PptxGenJS Presentation</dc:subject>
  <dc:creator>NIBM SOCE</dc:creator>
  <cp:lastModifiedBy>NIBM SOCE</cp:lastModifiedBy>
  <cp:revision>1</cp:revision>
  <dcterms:created xsi:type="dcterms:W3CDTF">2026-09-28T19:53:54Z</dcterms:created>
  <dcterms:modified xsi:type="dcterms:W3CDTF">2026-09-28T19:53:54Z</dcterms:modified>
</cp:coreProperties>
</file>