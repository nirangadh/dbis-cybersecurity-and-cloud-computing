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9:00. Welcome back. Collect any late Test 1 papers. Today is about people: first how they are tricked, then how they prove who they 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Hook. Take a quick show of hands: who would pay? Do not correct anyone yet. We return to this in section 4 and in the Bank Change Trap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Short recap from yesterday. Everything today builds on these words. Ask students to say each one aloud.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Today is all Protect: protecting people and accounts.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ideas only, one at a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9:10. Idea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Stress: no computer was broken. The attacker went around the technology, through a person.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People are not stupid. These are good human qualities that attackers use against us. Ask: which one describes you?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build-up. The same risk sentence from yesterday, with a person as the weakness and a trick as the threat.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9:30. Idea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Phishing. Read the meaning, then the TeaLeaf example. Ask a student for a real example they have seen (no names).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Spear phishing. Read the meaning, then the TeaLeaf example. Ask a student for a real example they have seen (no names).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Smishing. Read the meaning, then the TeaLeaf example. Ask a student for a real example they have seen (no names).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Vishing. Read the meaning, then the TeaLeaf example. Ask a student for a real example they have seen (no names).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for the next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9:55. Some messages are safe on purpose: students who call everything a phish lose points. Afterwards ask which warning sign was hardest to see (usually the lookalike address hi11country).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10:10. This previews section 3. Let them play first, then explain. Ten minutes, then a short discussion until the break.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10:30 to 11:00.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11:00. Idea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Criminals push you so you do not stop and think. Learn the three pushes and the two clues. Together they are the warning signs.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 real example from the game. Ask the class to find the difference before you reveal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actions. The first one is the most important: stop.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11:20. Idea 4. Back to the hook email from 9:10.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four steps. Stress step 1: the criminal often studies the business for weeks before sending one email.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changes. Old advice said 'look for bad English'; AI has removed that clue. The voice clone is real and cheap. Link to vishing.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students remember one thing from today, it is this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11:35. Many students will 'check' by replying to the email or calling the number in it. That is the lesson: they checked in the wrong place. Discuss the endings for 3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only. Not tested. A no-blame culture: staff who report quickly are thanked, not punished. Mistakes found early cost much less.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11:52.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new words. The People Words Ladder at the end of the afternoon uses these and the afternoon words.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12:00. Lunch.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731520" cy="73152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85800"/>
            <a:ext cx="365760" cy="365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15087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7A88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 |  Day 2  |  Session 11.3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87452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Tricks that target people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57200" y="3154680"/>
            <a:ext cx="822960" cy="64008"/>
          </a:xfrm>
          <a:prstGeom prst="rect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325880" y="3154680"/>
            <a:ext cx="411480" cy="64008"/>
          </a:xfrm>
          <a:prstGeom prst="rect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7200" y="338328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Cybersecurity and Cloud Computing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Diploma in Business Information Systems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40680" y="502920"/>
            <a:ext cx="3383280" cy="3931920"/>
          </a:xfrm>
          <a:prstGeom prst="ellipse">
            <a:avLst/>
          </a:prstGeom>
          <a:solidFill>
            <a:srgbClr val="3A3F33"/>
          </a:solidFill>
          <a:ln w="12700">
            <a:solidFill>
              <a:srgbClr val="3A3F33"/>
            </a:solidFill>
            <a:prstDash val="solid"/>
          </a:ln>
        </p:spPr>
      </p:sp>
      <p:pic>
        <p:nvPicPr>
          <p:cNvPr id="10" name="Image 1" descr="fake_cal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040384"/>
            <a:ext cx="3474720" cy="285699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7200" y="40233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A88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Niranga Dharmaratna - niranga@nibm.lk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440740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A39E9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© 2026 Niranga Dharmaratna, School of Computing &amp; Engineering, National Institute of Business Management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39E9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Licensed CC BY-NC-SA 4.0. Icons: Font Awesome Free (CC BY 4.0). Illustrations: original, same licence.</a:t>
            </a:r>
            <a:endParaRPr lang="en-US" sz="75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11.3</a:t>
            </a:r>
            <a:endParaRPr lang="en-US" sz="800" dirty="0"/>
          </a:p>
        </p:txBody>
      </p:sp>
      <p:sp>
        <p:nvSpPr>
          <p:cNvPr id="14" name="Text 10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6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C7A88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“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1097280" y="118872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Monday, 9:10 am. An email from a supplier: "Our bank account has changed. Please pay today."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3832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7A88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Would you pay? By 12:00 you will know exactly what to do.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806440" y="548640"/>
            <a:ext cx="3017520" cy="3840480"/>
          </a:xfrm>
          <a:prstGeom prst="ellipse">
            <a:avLst/>
          </a:prstGeom>
          <a:solidFill>
            <a:srgbClr val="3A3F33"/>
          </a:solidFill>
          <a:ln w="12700">
            <a:solidFill>
              <a:srgbClr val="3A3F33"/>
            </a:solidFill>
            <a:prstDash val="solid"/>
          </a:ln>
        </p:spPr>
      </p:sp>
      <p:pic>
        <p:nvPicPr>
          <p:cNvPr id="6" name="Image 0" descr="phish_em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428673"/>
            <a:ext cx="3108960" cy="208041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11.3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What we know from Day 1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640080" cy="54864"/>
          </a:xfrm>
          <a:prstGeom prst="rect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896112"/>
            <a:ext cx="320040" cy="54864"/>
          </a:xfrm>
          <a:prstGeom prst="rect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11.3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188720"/>
            <a:ext cx="2590800" cy="2377440"/>
          </a:xfrm>
          <a:prstGeom prst="roundRect">
            <a:avLst>
              <a:gd name="adj" fmla="val 3077"/>
            </a:avLst>
          </a:prstGeom>
          <a:solidFill>
            <a:srgbClr val="E1E6E6"/>
          </a:solidFill>
          <a:ln w="12700">
            <a:solidFill>
              <a:srgbClr val="E1E6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1371600"/>
            <a:ext cx="502920" cy="50292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810" y="1497330"/>
            <a:ext cx="251460" cy="251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0080" y="2011680"/>
            <a:ext cx="222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CIA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640080" y="2670048"/>
            <a:ext cx="222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Keep information secret, correct and available.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3276600" y="1188720"/>
            <a:ext cx="2590800" cy="2377440"/>
          </a:xfrm>
          <a:prstGeom prst="roundRect">
            <a:avLst>
              <a:gd name="adj" fmla="val 3077"/>
            </a:avLst>
          </a:prstGeom>
          <a:solidFill>
            <a:srgbClr val="E1E6E6"/>
          </a:solidFill>
          <a:ln w="12700">
            <a:solidFill>
              <a:srgbClr val="E1E6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3459480" y="1371600"/>
            <a:ext cx="502920" cy="50292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5210" y="1497330"/>
            <a:ext cx="251460" cy="251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459480" y="2011680"/>
            <a:ext cx="222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Threat, vulnerability, risk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3459480" y="2670048"/>
            <a:ext cx="222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threat uses a weakness and causes harm.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6096000" y="1188720"/>
            <a:ext cx="2590800" cy="2377440"/>
          </a:xfrm>
          <a:prstGeom prst="roundRect">
            <a:avLst>
              <a:gd name="adj" fmla="val 3077"/>
            </a:avLst>
          </a:prstGeom>
          <a:solidFill>
            <a:srgbClr val="E1E6E6"/>
          </a:solidFill>
          <a:ln w="12700">
            <a:solidFill>
              <a:srgbClr val="E1E6E6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278880" y="1371600"/>
            <a:ext cx="502920" cy="50292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4610" y="1497330"/>
            <a:ext cx="251460" cy="2514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278880" y="2011680"/>
            <a:ext cx="222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Attackers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6278880" y="2670048"/>
            <a:ext cx="222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Criminals, insiders and activists, each with a reason.</a:t>
            </a:r>
            <a:endParaRPr lang="en-US" sz="1250" dirty="0"/>
          </a:p>
        </p:txBody>
      </p:sp>
      <p:sp>
        <p:nvSpPr>
          <p:cNvPr id="23" name="Text 17"/>
          <p:cNvSpPr txBox="1"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D5F3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Today we add: people can be the weakness, and tricks can be the threat.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Where we are on the map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640080" cy="54864"/>
          </a:xfrm>
          <a:prstGeom prst="rect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896112"/>
            <a:ext cx="320040" cy="54864"/>
          </a:xfrm>
          <a:prstGeom prst="rect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11.3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325880"/>
            <a:ext cx="1280160" cy="2103120"/>
          </a:xfrm>
          <a:prstGeom prst="roundRect">
            <a:avLst>
              <a:gd name="adj" fmla="val 5714"/>
            </a:avLst>
          </a:prstGeom>
          <a:solidFill>
            <a:srgbClr val="F2EFEC"/>
          </a:solidFill>
          <a:ln w="6350">
            <a:solidFill>
              <a:srgbClr val="F2EFE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22960" y="1554480"/>
            <a:ext cx="548640" cy="548640"/>
          </a:xfrm>
          <a:prstGeom prst="ellipse">
            <a:avLst/>
          </a:prstGeom>
          <a:solidFill>
            <a:srgbClr val="C9C4BE"/>
          </a:solidFill>
          <a:ln w="12700">
            <a:solidFill>
              <a:srgbClr val="C9C4BE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69164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02920" y="22402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Govern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2606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Set the rules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1847088" y="1325880"/>
            <a:ext cx="1280160" cy="2103120"/>
          </a:xfrm>
          <a:prstGeom prst="roundRect">
            <a:avLst>
              <a:gd name="adj" fmla="val 5714"/>
            </a:avLst>
          </a:prstGeom>
          <a:solidFill>
            <a:srgbClr val="F2EFEC"/>
          </a:solidFill>
          <a:ln w="6350">
            <a:solidFill>
              <a:srgbClr val="F2EFEC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212848" y="1554480"/>
            <a:ext cx="548640" cy="548640"/>
          </a:xfrm>
          <a:prstGeom prst="ellipse">
            <a:avLst/>
          </a:prstGeom>
          <a:solidFill>
            <a:srgbClr val="C9C4BE"/>
          </a:solidFill>
          <a:ln w="12700">
            <a:solidFill>
              <a:srgbClr val="C9C4BE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0008" y="169164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892808" y="22402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Identify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938528" y="2606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Know what you have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3236976" y="1325880"/>
            <a:ext cx="1280160" cy="2103120"/>
          </a:xfrm>
          <a:prstGeom prst="roundRect">
            <a:avLst>
              <a:gd name="adj" fmla="val 5714"/>
            </a:avLst>
          </a:prstGeom>
          <a:solidFill>
            <a:srgbClr val="D9D5D2"/>
          </a:solidFill>
          <a:ln w="25400">
            <a:solidFill>
              <a:srgbClr val="566A6C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3602736" y="1554480"/>
            <a:ext cx="548640" cy="54864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9896" y="1691640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3282696" y="22402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Protect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3328416" y="2606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Keep it safe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4626864" y="1325880"/>
            <a:ext cx="1280160" cy="2103120"/>
          </a:xfrm>
          <a:prstGeom prst="roundRect">
            <a:avLst>
              <a:gd name="adj" fmla="val 5714"/>
            </a:avLst>
          </a:prstGeom>
          <a:solidFill>
            <a:srgbClr val="F2EFEC"/>
          </a:solidFill>
          <a:ln w="6350">
            <a:solidFill>
              <a:srgbClr val="F2EFEC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992624" y="1554480"/>
            <a:ext cx="548640" cy="548640"/>
          </a:xfrm>
          <a:prstGeom prst="ellipse">
            <a:avLst/>
          </a:prstGeom>
          <a:solidFill>
            <a:srgbClr val="C9C4BE"/>
          </a:solidFill>
          <a:ln w="12700">
            <a:solidFill>
              <a:srgbClr val="C9C4BE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9784" y="1691640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672584" y="22402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Detect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4718304" y="2606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Spot attacks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6016752" y="1325880"/>
            <a:ext cx="1280160" cy="2103120"/>
          </a:xfrm>
          <a:prstGeom prst="roundRect">
            <a:avLst>
              <a:gd name="adj" fmla="val 5714"/>
            </a:avLst>
          </a:prstGeom>
          <a:solidFill>
            <a:srgbClr val="F2EFEC"/>
          </a:solidFill>
          <a:ln w="6350">
            <a:solidFill>
              <a:srgbClr val="F2EFEC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6382512" y="1554480"/>
            <a:ext cx="548640" cy="548640"/>
          </a:xfrm>
          <a:prstGeom prst="ellipse">
            <a:avLst/>
          </a:prstGeom>
          <a:solidFill>
            <a:srgbClr val="C9C4BE"/>
          </a:solidFill>
          <a:ln w="12700">
            <a:solidFill>
              <a:srgbClr val="C9C4BE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9672" y="1691640"/>
            <a:ext cx="274320" cy="27432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062472" y="22402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Respond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6108192" y="2606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Act fast</a:t>
            </a:r>
            <a:endParaRPr lang="en-US" sz="1200" dirty="0"/>
          </a:p>
        </p:txBody>
      </p:sp>
      <p:sp>
        <p:nvSpPr>
          <p:cNvPr id="33" name="Shape 25"/>
          <p:cNvSpPr/>
          <p:nvPr/>
        </p:nvSpPr>
        <p:spPr>
          <a:xfrm>
            <a:off x="7406640" y="1325880"/>
            <a:ext cx="1280160" cy="2103120"/>
          </a:xfrm>
          <a:prstGeom prst="roundRect">
            <a:avLst>
              <a:gd name="adj" fmla="val 5714"/>
            </a:avLst>
          </a:prstGeom>
          <a:solidFill>
            <a:srgbClr val="F2EFEC"/>
          </a:solidFill>
          <a:ln w="6350">
            <a:solidFill>
              <a:srgbClr val="F2EFEC"/>
            </a:solidFill>
            <a:prstDash val="solid"/>
          </a:ln>
        </p:spPr>
      </p:sp>
      <p:sp>
        <p:nvSpPr>
          <p:cNvPr id="34" name="Shape 26"/>
          <p:cNvSpPr/>
          <p:nvPr/>
        </p:nvSpPr>
        <p:spPr>
          <a:xfrm>
            <a:off x="7772400" y="1554480"/>
            <a:ext cx="548640" cy="548640"/>
          </a:xfrm>
          <a:prstGeom prst="ellipse">
            <a:avLst/>
          </a:prstGeom>
          <a:solidFill>
            <a:srgbClr val="C9C4BE"/>
          </a:solidFill>
          <a:ln w="12700">
            <a:solidFill>
              <a:srgbClr val="C9C4BE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09560" y="1691640"/>
            <a:ext cx="274320" cy="27432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7452360" y="22402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Recover</a:t>
            </a:r>
            <a:endParaRPr lang="en-US" sz="1500" dirty="0"/>
          </a:p>
        </p:txBody>
      </p:sp>
      <p:sp>
        <p:nvSpPr>
          <p:cNvPr id="37" name="Text 28"/>
          <p:cNvSpPr txBox="1"/>
          <p:nvPr/>
        </p:nvSpPr>
        <p:spPr>
          <a:xfrm>
            <a:off x="7498080" y="2606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Get back to work</a:t>
            </a:r>
            <a:endParaRPr lang="en-US" sz="1200" dirty="0"/>
          </a:p>
        </p:txBody>
      </p:sp>
      <p:sp>
        <p:nvSpPr>
          <p:cNvPr id="38" name="Text 29"/>
          <p:cNvSpPr txBox="1"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D5F3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Today: Protect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This morning you will learn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640080" cy="54864"/>
          </a:xfrm>
          <a:prstGeom prst="rect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896112"/>
            <a:ext cx="320040" cy="54864"/>
          </a:xfrm>
          <a:prstGeom prst="rect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11.3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5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234440"/>
            <a:ext cx="548640" cy="54864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371600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188720" y="118872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1.  Social engineering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1188720" y="1499616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Tricking people, not computers.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457200" y="2075688"/>
            <a:ext cx="548640" cy="54864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212848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188720" y="2029968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2.  Four forms of phishing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1188720" y="2340864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Email, spear phishing, SMS and phone calls.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457200" y="2916936"/>
            <a:ext cx="548640" cy="54864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05409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188720" y="2871216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3.  Warning signs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1188720" y="3182112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Hurry, boss, fear, and strange senders and links.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457200" y="3758184"/>
            <a:ext cx="548640" cy="54864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3895344"/>
            <a:ext cx="274320" cy="27432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188720" y="371246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4.  The fake bank change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1188720" y="4023360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most expensive trick, now helped by AI.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6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9728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C7A88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2377440" y="914400"/>
            <a:ext cx="6309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Social engineering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2377440" y="24688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Tricking people, not computers.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11.3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What is social engineering?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640080" cy="54864"/>
          </a:xfrm>
          <a:prstGeom prst="rect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896112"/>
            <a:ext cx="320040" cy="54864"/>
          </a:xfrm>
          <a:prstGeom prst="rect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11.3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7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234440"/>
            <a:ext cx="1005840" cy="100584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1485900"/>
            <a:ext cx="502920" cy="5029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691640" y="12344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66A6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Social engineering</a:t>
            </a:r>
            <a:endParaRPr lang="en-US" sz="2600" dirty="0"/>
          </a:p>
        </p:txBody>
      </p:sp>
      <p:sp>
        <p:nvSpPr>
          <p:cNvPr id="11" name="Text 7"/>
          <p:cNvSpPr txBox="1"/>
          <p:nvPr/>
        </p:nvSpPr>
        <p:spPr>
          <a:xfrm>
            <a:off x="1691640" y="169164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Tricking people into giving information, money or access.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457200" y="2606040"/>
            <a:ext cx="3977640" cy="1920240"/>
          </a:xfrm>
          <a:prstGeom prst="roundRect">
            <a:avLst>
              <a:gd name="adj" fmla="val 3810"/>
            </a:avLst>
          </a:prstGeom>
          <a:solidFill>
            <a:srgbClr val="E1E6E6"/>
          </a:solidFill>
          <a:ln w="12700">
            <a:solidFill>
              <a:srgbClr val="E1E6E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40080" y="2743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66A6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At TeaLeaf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0080" y="3108960"/>
            <a:ext cx="3611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caller says he is from the bank and asks the finance clerk for the company PIN.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4709160" y="2606040"/>
            <a:ext cx="3977640" cy="1920240"/>
          </a:xfrm>
          <a:prstGeom prst="roundRect">
            <a:avLst>
              <a:gd name="adj" fmla="val 3810"/>
            </a:avLst>
          </a:prstGeom>
          <a:solidFill>
            <a:srgbClr val="EDDDCD"/>
          </a:solidFill>
          <a:ln w="12700">
            <a:solidFill>
              <a:srgbClr val="EDDDCD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892040" y="2743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D5F3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Why it works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4892040" y="3108960"/>
            <a:ext cx="3611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clerk wants to help, so he gives the PIN. No computer was hacked at all.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Why attack people?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640080" cy="54864"/>
          </a:xfrm>
          <a:prstGeom prst="rect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896112"/>
            <a:ext cx="320040" cy="54864"/>
          </a:xfrm>
          <a:prstGeom prst="rect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11.3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8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188720"/>
            <a:ext cx="2590800" cy="2377440"/>
          </a:xfrm>
          <a:prstGeom prst="roundRect">
            <a:avLst>
              <a:gd name="adj" fmla="val 3077"/>
            </a:avLst>
          </a:prstGeom>
          <a:solidFill>
            <a:srgbClr val="E1E6E6"/>
          </a:solidFill>
          <a:ln w="12700">
            <a:solidFill>
              <a:srgbClr val="E1E6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1371600"/>
            <a:ext cx="502920" cy="50292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810" y="1497330"/>
            <a:ext cx="251460" cy="251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0080" y="2011680"/>
            <a:ext cx="222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We want to help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640080" y="2395728"/>
            <a:ext cx="2225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polite request is hard to refuse.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3276600" y="1188720"/>
            <a:ext cx="2590800" cy="2377440"/>
          </a:xfrm>
          <a:prstGeom prst="roundRect">
            <a:avLst>
              <a:gd name="adj" fmla="val 3077"/>
            </a:avLst>
          </a:prstGeom>
          <a:solidFill>
            <a:srgbClr val="E1E6E6"/>
          </a:solidFill>
          <a:ln w="12700">
            <a:solidFill>
              <a:srgbClr val="E1E6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3459480" y="1371600"/>
            <a:ext cx="502920" cy="50292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5210" y="1497330"/>
            <a:ext cx="251460" cy="251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459480" y="2011680"/>
            <a:ext cx="222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We obey bosses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3459480" y="2395728"/>
            <a:ext cx="2225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 order from the MD feels safe to follow.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6096000" y="1188720"/>
            <a:ext cx="2590800" cy="2377440"/>
          </a:xfrm>
          <a:prstGeom prst="roundRect">
            <a:avLst>
              <a:gd name="adj" fmla="val 3077"/>
            </a:avLst>
          </a:prstGeom>
          <a:solidFill>
            <a:srgbClr val="E1E6E6"/>
          </a:solidFill>
          <a:ln w="12700">
            <a:solidFill>
              <a:srgbClr val="E1E6E6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278880" y="1371600"/>
            <a:ext cx="502920" cy="50292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4610" y="1497330"/>
            <a:ext cx="251460" cy="2514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278880" y="2011680"/>
            <a:ext cx="222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We are busy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6278880" y="2395728"/>
            <a:ext cx="2225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When we rush, we stop checking.</a:t>
            </a:r>
            <a:endParaRPr lang="en-US" sz="1250" dirty="0"/>
          </a:p>
        </p:txBody>
      </p:sp>
      <p:sp>
        <p:nvSpPr>
          <p:cNvPr id="23" name="Text 17"/>
          <p:cNvSpPr txBox="1"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566A6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It is often easier to trick one person than to break one computer.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Building on Day 1: people and risk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640080" cy="54864"/>
          </a:xfrm>
          <a:prstGeom prst="rect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896112"/>
            <a:ext cx="320040" cy="54864"/>
          </a:xfrm>
          <a:prstGeom prst="rect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11.3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9</a:t>
            </a:r>
            <a:endParaRPr lang="en-US" sz="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8521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Risk word</a:t>
                      </a:r>
                      <a:endParaRPr lang="en-US" sz="15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Today's example</a:t>
                      </a:r>
                      <a:endParaRPr lang="en-US" sz="15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A2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Threat</a:t>
                      </a:r>
                      <a:endParaRPr lang="en-US" sz="15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 phishing email from a criminal</a:t>
                      </a:r>
                      <a:endParaRPr lang="en-US" sz="15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Vulnerability</a:t>
                      </a:r>
                      <a:endParaRPr lang="en-US" sz="15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 busy clerk who does not check before paying</a:t>
                      </a:r>
                      <a:endParaRPr lang="en-US" sz="15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Risk</a:t>
                      </a:r>
                      <a:endParaRPr lang="en-US" sz="15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The email could trick the busy clerk, and TeaLeaf could lose money</a:t>
                      </a:r>
                      <a:endParaRPr lang="en-US" sz="15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D5F3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People can be a vulnerability. Tricks can be a threat.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6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9728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C7A88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2377440" y="914400"/>
            <a:ext cx="6309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Four forms of phishing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2377440" y="24688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same trick, four different channels.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11.3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Phishing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640080" cy="54864"/>
          </a:xfrm>
          <a:prstGeom prst="rect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896112"/>
            <a:ext cx="320040" cy="54864"/>
          </a:xfrm>
          <a:prstGeom prst="rect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11.3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11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234440"/>
            <a:ext cx="1005840" cy="100584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1485900"/>
            <a:ext cx="502920" cy="5029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691640" y="12344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66A6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Phishing</a:t>
            </a:r>
            <a:endParaRPr lang="en-US" sz="2600" dirty="0"/>
          </a:p>
        </p:txBody>
      </p:sp>
      <p:sp>
        <p:nvSpPr>
          <p:cNvPr id="11" name="Text 7"/>
          <p:cNvSpPr txBox="1"/>
          <p:nvPr/>
        </p:nvSpPr>
        <p:spPr>
          <a:xfrm>
            <a:off x="1691640" y="169164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fake email sent to many people to trick them.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457200" y="2606040"/>
            <a:ext cx="3977640" cy="1920240"/>
          </a:xfrm>
          <a:prstGeom prst="roundRect">
            <a:avLst>
              <a:gd name="adj" fmla="val 3810"/>
            </a:avLst>
          </a:prstGeom>
          <a:solidFill>
            <a:srgbClr val="E1E6E6"/>
          </a:solidFill>
          <a:ln w="12700">
            <a:solidFill>
              <a:srgbClr val="E1E6E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40080" y="2743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66A6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At TeaLeaf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0080" y="3108960"/>
            <a:ext cx="3611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 email to all staff: "Your password expires today. Click here."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4709160" y="2606040"/>
            <a:ext cx="3977640" cy="1920240"/>
          </a:xfrm>
          <a:prstGeom prst="roundRect">
            <a:avLst>
              <a:gd name="adj" fmla="val 3810"/>
            </a:avLst>
          </a:prstGeom>
          <a:solidFill>
            <a:srgbClr val="EDDDCD"/>
          </a:solidFill>
          <a:ln w="12700">
            <a:solidFill>
              <a:srgbClr val="EDDDCD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892040" y="2743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D5F3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It is like...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4892040" y="3108960"/>
            <a:ext cx="3611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fisherman: throw out many hooks and wait for one bite.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Spear phishing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640080" cy="54864"/>
          </a:xfrm>
          <a:prstGeom prst="rect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896112"/>
            <a:ext cx="320040" cy="54864"/>
          </a:xfrm>
          <a:prstGeom prst="rect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11.3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12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234440"/>
            <a:ext cx="1005840" cy="100584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1485900"/>
            <a:ext cx="502920" cy="5029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691640" y="12344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66A6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Spear phishing</a:t>
            </a:r>
            <a:endParaRPr lang="en-US" sz="2600" dirty="0"/>
          </a:p>
        </p:txBody>
      </p:sp>
      <p:sp>
        <p:nvSpPr>
          <p:cNvPr id="11" name="Text 7"/>
          <p:cNvSpPr txBox="1"/>
          <p:nvPr/>
        </p:nvSpPr>
        <p:spPr>
          <a:xfrm>
            <a:off x="1691640" y="169164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fake message made for one person, using real details about them.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457200" y="2606040"/>
            <a:ext cx="3977640" cy="1920240"/>
          </a:xfrm>
          <a:prstGeom prst="roundRect">
            <a:avLst>
              <a:gd name="adj" fmla="val 3810"/>
            </a:avLst>
          </a:prstGeom>
          <a:solidFill>
            <a:srgbClr val="E1E6E6"/>
          </a:solidFill>
          <a:ln w="12700">
            <a:solidFill>
              <a:srgbClr val="E1E6E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40080" y="2743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66A6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At TeaLeaf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0080" y="3108960"/>
            <a:ext cx="3611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 email to Kasun, signed with the MD's real name, asking him to buy gift cards.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4709160" y="2606040"/>
            <a:ext cx="3977640" cy="1920240"/>
          </a:xfrm>
          <a:prstGeom prst="roundRect">
            <a:avLst>
              <a:gd name="adj" fmla="val 3810"/>
            </a:avLst>
          </a:prstGeom>
          <a:solidFill>
            <a:srgbClr val="EDDDCD"/>
          </a:solidFill>
          <a:ln w="12700">
            <a:solidFill>
              <a:srgbClr val="EDDDCD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892040" y="2743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D5F3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It is like...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4892040" y="3108960"/>
            <a:ext cx="3611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spear aimed at one fish, not a net.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Smishing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640080" cy="54864"/>
          </a:xfrm>
          <a:prstGeom prst="rect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896112"/>
            <a:ext cx="320040" cy="54864"/>
          </a:xfrm>
          <a:prstGeom prst="rect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11.3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13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234440"/>
            <a:ext cx="1005840" cy="100584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1485900"/>
            <a:ext cx="502920" cy="5029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691640" y="12344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66A6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Smishing</a:t>
            </a:r>
            <a:endParaRPr lang="en-US" sz="2600" dirty="0"/>
          </a:p>
        </p:txBody>
      </p:sp>
      <p:sp>
        <p:nvSpPr>
          <p:cNvPr id="11" name="Text 7"/>
          <p:cNvSpPr txBox="1"/>
          <p:nvPr/>
        </p:nvSpPr>
        <p:spPr>
          <a:xfrm>
            <a:off x="1691640" y="169164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Phishing by text message, such as SMS or WhatsApp.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457200" y="2606040"/>
            <a:ext cx="3977640" cy="1920240"/>
          </a:xfrm>
          <a:prstGeom prst="roundRect">
            <a:avLst>
              <a:gd name="adj" fmla="val 3810"/>
            </a:avLst>
          </a:prstGeom>
          <a:solidFill>
            <a:srgbClr val="E1E6E6"/>
          </a:solidFill>
          <a:ln w="12700">
            <a:solidFill>
              <a:srgbClr val="E1E6E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40080" y="2743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66A6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At TeaLeaf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0080" y="3108960"/>
            <a:ext cx="3611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"Your parcel is held. Pay LKR 150 here." with a strange link.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4709160" y="2606040"/>
            <a:ext cx="3977640" cy="1920240"/>
          </a:xfrm>
          <a:prstGeom prst="roundRect">
            <a:avLst>
              <a:gd name="adj" fmla="val 3810"/>
            </a:avLst>
          </a:prstGeom>
          <a:solidFill>
            <a:srgbClr val="EDDDCD"/>
          </a:solidFill>
          <a:ln w="12700">
            <a:solidFill>
              <a:srgbClr val="EDDDCD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892040" y="2743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D5F3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It is like...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4892040" y="3108960"/>
            <a:ext cx="3611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phishing that arrives in your pocket.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Vishing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640080" cy="54864"/>
          </a:xfrm>
          <a:prstGeom prst="rect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896112"/>
            <a:ext cx="320040" cy="54864"/>
          </a:xfrm>
          <a:prstGeom prst="rect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11.3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14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234440"/>
            <a:ext cx="1005840" cy="100584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1485900"/>
            <a:ext cx="502920" cy="5029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691640" y="12344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66A6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Vishing</a:t>
            </a:r>
            <a:endParaRPr lang="en-US" sz="2600" dirty="0"/>
          </a:p>
        </p:txBody>
      </p:sp>
      <p:sp>
        <p:nvSpPr>
          <p:cNvPr id="11" name="Text 7"/>
          <p:cNvSpPr txBox="1"/>
          <p:nvPr/>
        </p:nvSpPr>
        <p:spPr>
          <a:xfrm>
            <a:off x="1691640" y="169164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Phishing by phone call. AI can now copy a real person's voice.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457200" y="2606040"/>
            <a:ext cx="3977640" cy="1920240"/>
          </a:xfrm>
          <a:prstGeom prst="roundRect">
            <a:avLst>
              <a:gd name="adj" fmla="val 3810"/>
            </a:avLst>
          </a:prstGeom>
          <a:solidFill>
            <a:srgbClr val="E1E6E6"/>
          </a:solidFill>
          <a:ln w="12700">
            <a:solidFill>
              <a:srgbClr val="E1E6E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40080" y="2743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66A6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At TeaLeaf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0080" y="3108960"/>
            <a:ext cx="3611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caller who sounds exactly like the MD asks for an urgent payment.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4709160" y="2606040"/>
            <a:ext cx="3977640" cy="1920240"/>
          </a:xfrm>
          <a:prstGeom prst="roundRect">
            <a:avLst>
              <a:gd name="adj" fmla="val 3810"/>
            </a:avLst>
          </a:prstGeom>
          <a:solidFill>
            <a:srgbClr val="EDDDCD"/>
          </a:solidFill>
          <a:ln w="12700">
            <a:solidFill>
              <a:srgbClr val="EDDDCD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892040" y="2743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D5F3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It is like...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4892040" y="3108960"/>
            <a:ext cx="3611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phishing you can hear. A voice can be fake too.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Four forms at a glance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640080" cy="54864"/>
          </a:xfrm>
          <a:prstGeom prst="rect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896112"/>
            <a:ext cx="320040" cy="54864"/>
          </a:xfrm>
          <a:prstGeom prst="rect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11.3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15</a:t>
            </a:r>
            <a:endParaRPr lang="en-US" sz="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920240"/>
                <a:gridCol w="1463040"/>
                <a:gridCol w="31089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Form</a:t>
                      </a:r>
                      <a:endParaRPr lang="en-US" sz="13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Channel</a:t>
                      </a:r>
                      <a:endParaRPr lang="en-US" sz="13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Sent to</a:t>
                      </a:r>
                      <a:endParaRPr lang="en-US" sz="13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TeaLeaf example</a:t>
                      </a:r>
                      <a:endParaRPr lang="en-US" sz="13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A2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Phishing</a:t>
                      </a:r>
                      <a:endParaRPr lang="en-US" sz="13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Email</a:t>
                      </a:r>
                      <a:endParaRPr lang="en-US" sz="13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Many people</a:t>
                      </a:r>
                      <a:endParaRPr lang="en-US" sz="13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"Your password expires today"</a:t>
                      </a:r>
                      <a:endParaRPr lang="en-US" sz="13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Spear phishing</a:t>
                      </a:r>
                      <a:endParaRPr lang="en-US" sz="13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Email or message</a:t>
                      </a:r>
                      <a:endParaRPr lang="en-US" sz="13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One person</a:t>
                      </a:r>
                      <a:endParaRPr lang="en-US" sz="13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"Kasun, the MD needs gift cards"</a:t>
                      </a:r>
                      <a:endParaRPr lang="en-US" sz="13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Smishing</a:t>
                      </a:r>
                      <a:endParaRPr lang="en-US" sz="13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SMS, WhatsApp</a:t>
                      </a:r>
                      <a:endParaRPr lang="en-US" sz="13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Many or one</a:t>
                      </a:r>
                      <a:endParaRPr lang="en-US" sz="13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"Your parcel is held, pay here"</a:t>
                      </a:r>
                      <a:endParaRPr lang="en-US" sz="13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Vishing</a:t>
                      </a:r>
                      <a:endParaRPr lang="en-US" sz="13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Phone call</a:t>
                      </a:r>
                      <a:endParaRPr lang="en-US" sz="13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One person</a:t>
                      </a:r>
                      <a:endParaRPr lang="en-US" sz="13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 fake MD voice asks for payment</a:t>
                      </a:r>
                      <a:endParaRPr lang="en-US" sz="13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566A6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731520" cy="731520"/>
          </a:xfrm>
          <a:prstGeom prst="ellipse">
            <a:avLst/>
          </a:prstGeom>
          <a:solidFill>
            <a:srgbClr val="262A20"/>
          </a:solidFill>
          <a:ln w="12700">
            <a:solidFill>
              <a:srgbClr val="262A20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94360"/>
            <a:ext cx="365760" cy="365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371600" y="4114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DDC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Play: A2.1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7315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Phish or Legit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508760"/>
            <a:ext cx="6035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Read each message in TeaLeaf's inbox.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Tap anything that looks wrong.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Decide: Phish or Legit.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70332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Open it: course site &gt; Day 2 &gt; Phish or Legit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406908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DDDC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Practises: spotting phishing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949440" y="1554480"/>
            <a:ext cx="1737360" cy="1005840"/>
          </a:xfrm>
          <a:prstGeom prst="roundRect">
            <a:avLst>
              <a:gd name="adj" fmla="val 9091"/>
            </a:avLst>
          </a:prstGeom>
          <a:solidFill>
            <a:srgbClr val="262A20"/>
          </a:solidFill>
          <a:ln w="12700">
            <a:solidFill>
              <a:srgbClr val="262A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949440" y="15544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15 min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6949440" y="2697480"/>
            <a:ext cx="1737360" cy="1965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Image 1" descr="QR code for Phish or Leg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168" y="2770632"/>
            <a:ext cx="1517904" cy="151790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949440" y="43159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Scan to play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11.3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566A6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731520" cy="731520"/>
          </a:xfrm>
          <a:prstGeom prst="ellipse">
            <a:avLst/>
          </a:prstGeom>
          <a:solidFill>
            <a:srgbClr val="262A20"/>
          </a:solidFill>
          <a:ln w="12700">
            <a:solidFill>
              <a:srgbClr val="262A20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94360"/>
            <a:ext cx="365760" cy="365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371600" y="4114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DDC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Play: A2.2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7315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Pressure Tricks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508760"/>
            <a:ext cx="6035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Read each message.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Tap the trick: Hurry, Boss or Fear.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Read why.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70332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Open it: course site &gt; Day 2 &gt; Pressure Tricks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406908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DDDC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Practises: how attackers push people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949440" y="1554480"/>
            <a:ext cx="1737360" cy="1005840"/>
          </a:xfrm>
          <a:prstGeom prst="roundRect">
            <a:avLst>
              <a:gd name="adj" fmla="val 9091"/>
            </a:avLst>
          </a:prstGeom>
          <a:solidFill>
            <a:srgbClr val="262A20"/>
          </a:solidFill>
          <a:ln w="12700">
            <a:solidFill>
              <a:srgbClr val="262A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949440" y="15544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10 min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6949440" y="2697480"/>
            <a:ext cx="1737360" cy="1965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Image 1" descr="QR code for Pressure Trick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168" y="2770632"/>
            <a:ext cx="1517904" cy="151790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949440" y="43159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Scan to play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11.3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Break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640080" cy="54864"/>
          </a:xfrm>
          <a:prstGeom prst="rect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896112"/>
            <a:ext cx="320040" cy="54864"/>
          </a:xfrm>
          <a:prstGeom prst="rect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11.3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18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977640" y="1463040"/>
            <a:ext cx="1188720" cy="1188720"/>
          </a:xfrm>
          <a:prstGeom prst="ellipse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4820" y="1760220"/>
            <a:ext cx="594360" cy="5943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7200" y="2926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Back at 11:00</a:t>
            </a:r>
            <a:endParaRPr lang="en-US" sz="32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3611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Next: how to spot the trick before it works.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6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9728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C7A88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2377440" y="914400"/>
            <a:ext cx="6309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Warning signs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2377440" y="24688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How to spot the trick before it works.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11.3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Three pushes, and two clues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640080" cy="54864"/>
          </a:xfrm>
          <a:prstGeom prst="rect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896112"/>
            <a:ext cx="320040" cy="54864"/>
          </a:xfrm>
          <a:prstGeom prst="rect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11.3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20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188720"/>
            <a:ext cx="2590800" cy="1783080"/>
          </a:xfrm>
          <a:prstGeom prst="roundRect">
            <a:avLst>
              <a:gd name="adj" fmla="val 4103"/>
            </a:avLst>
          </a:prstGeom>
          <a:solidFill>
            <a:srgbClr val="EDDDCD"/>
          </a:solidFill>
          <a:ln w="12700">
            <a:solidFill>
              <a:srgbClr val="EDDDC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1371600"/>
            <a:ext cx="502920" cy="502920"/>
          </a:xfrm>
          <a:prstGeom prst="ellipse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810" y="1497330"/>
            <a:ext cx="251460" cy="251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0080" y="2011680"/>
            <a:ext cx="222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Hurry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640080" y="2395728"/>
            <a:ext cx="222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"Today." "In 10 minutes." "Final notice."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3276600" y="1188720"/>
            <a:ext cx="2590800" cy="1783080"/>
          </a:xfrm>
          <a:prstGeom prst="roundRect">
            <a:avLst>
              <a:gd name="adj" fmla="val 4103"/>
            </a:avLst>
          </a:prstGeom>
          <a:solidFill>
            <a:srgbClr val="D9D5D2"/>
          </a:solidFill>
          <a:ln w="12700">
            <a:solidFill>
              <a:srgbClr val="D9D5D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3459480" y="1371600"/>
            <a:ext cx="502920" cy="502920"/>
          </a:xfrm>
          <a:prstGeom prst="ellipse">
            <a:avLst/>
          </a:prstGeom>
          <a:solidFill>
            <a:srgbClr val="262A20"/>
          </a:solidFill>
          <a:ln w="12700">
            <a:solidFill>
              <a:srgbClr val="262A20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5210" y="1497330"/>
            <a:ext cx="251460" cy="251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459480" y="2011680"/>
            <a:ext cx="222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Boss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3459480" y="2395728"/>
            <a:ext cx="222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"This is the MD." "The bank." "Head of IT."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096000" y="1188720"/>
            <a:ext cx="2590800" cy="1783080"/>
          </a:xfrm>
          <a:prstGeom prst="roundRect">
            <a:avLst>
              <a:gd name="adj" fmla="val 4103"/>
            </a:avLst>
          </a:prstGeom>
          <a:solidFill>
            <a:srgbClr val="E1E6E6"/>
          </a:solidFill>
          <a:ln w="12700">
            <a:solidFill>
              <a:srgbClr val="E1E6E6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278880" y="1371600"/>
            <a:ext cx="502920" cy="50292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4610" y="1497330"/>
            <a:ext cx="251460" cy="2514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278880" y="2011680"/>
            <a:ext cx="222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Fear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6278880" y="2395728"/>
            <a:ext cx="222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"Your account will be closed." "You will lose your files."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457200" y="3200400"/>
            <a:ext cx="4000500" cy="1188720"/>
          </a:xfrm>
          <a:prstGeom prst="roundRect">
            <a:avLst>
              <a:gd name="adj" fmla="val 6154"/>
            </a:avLst>
          </a:prstGeom>
          <a:solidFill>
            <a:srgbClr val="F2EFEC"/>
          </a:solidFill>
          <a:ln w="12700">
            <a:solidFill>
              <a:srgbClr val="F2EFEC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640080" y="3383280"/>
            <a:ext cx="36347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Clue: a strange sender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3767328"/>
            <a:ext cx="36347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 address that is almost right, or a free Gmail address.</a:t>
            </a:r>
            <a:endParaRPr lang="en-US" sz="1350" dirty="0"/>
          </a:p>
        </p:txBody>
      </p:sp>
      <p:sp>
        <p:nvSpPr>
          <p:cNvPr id="26" name="Shape 20"/>
          <p:cNvSpPr/>
          <p:nvPr/>
        </p:nvSpPr>
        <p:spPr>
          <a:xfrm>
            <a:off x="4686300" y="3200400"/>
            <a:ext cx="4000500" cy="1188720"/>
          </a:xfrm>
          <a:prstGeom prst="roundRect">
            <a:avLst>
              <a:gd name="adj" fmla="val 6154"/>
            </a:avLst>
          </a:prstGeom>
          <a:solidFill>
            <a:srgbClr val="F2EFEC"/>
          </a:solidFill>
          <a:ln w="12700">
            <a:solidFill>
              <a:srgbClr val="F2EFEC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4869180" y="3383280"/>
            <a:ext cx="36347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Clue: a strange link</a:t>
            </a:r>
            <a:endParaRPr lang="en-US" sz="1500" dirty="0"/>
          </a:p>
        </p:txBody>
      </p:sp>
      <p:sp>
        <p:nvSpPr>
          <p:cNvPr id="28" name="Text 22"/>
          <p:cNvSpPr txBox="1"/>
          <p:nvPr/>
        </p:nvSpPr>
        <p:spPr>
          <a:xfrm>
            <a:off x="4869180" y="3767328"/>
            <a:ext cx="36347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link to a website that is not the real one.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Look closely at the sender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640080" cy="54864"/>
          </a:xfrm>
          <a:prstGeom prst="rect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896112"/>
            <a:ext cx="320040" cy="54864"/>
          </a:xfrm>
          <a:prstGeom prst="rect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11.3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21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28016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E1E6E6"/>
          </a:solidFill>
          <a:ln w="12700">
            <a:solidFill>
              <a:srgbClr val="E1E6E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13258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Real:   accounts@hillcountrypackaging.lk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457200" y="219456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EDDDCD"/>
          </a:solidFill>
          <a:ln w="12700">
            <a:solidFill>
              <a:srgbClr val="EDDDC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22402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Fake:   accounts@hi11countrypackaging.lk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315468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fake uses the number 1 in place of the letter l.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name shown can be anything. Always read the real address.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link can say one thing and go somewhere else. On a phone, press and hold to see where it goes.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What to do when you see a warning sign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640080" cy="54864"/>
          </a:xfrm>
          <a:prstGeom prst="rect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896112"/>
            <a:ext cx="320040" cy="54864"/>
          </a:xfrm>
          <a:prstGeom prst="rect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11.3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22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280160"/>
            <a:ext cx="1920240" cy="2377440"/>
          </a:xfrm>
          <a:prstGeom prst="roundRect">
            <a:avLst>
              <a:gd name="adj" fmla="val 3810"/>
            </a:avLst>
          </a:prstGeom>
          <a:solidFill>
            <a:srgbClr val="EDDDCD"/>
          </a:solidFill>
          <a:ln w="12700">
            <a:solidFill>
              <a:srgbClr val="EDDDC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97280" y="1463040"/>
            <a:ext cx="640080" cy="640080"/>
          </a:xfrm>
          <a:prstGeom prst="ellipse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300" y="162306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22402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1. Stop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594360" y="26974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 not click, reply or pay.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2560320" y="1280160"/>
            <a:ext cx="1920240" cy="2377440"/>
          </a:xfrm>
          <a:prstGeom prst="roundRect">
            <a:avLst>
              <a:gd name="adj" fmla="val 3810"/>
            </a:avLst>
          </a:prstGeom>
          <a:solidFill>
            <a:srgbClr val="E1E6E6"/>
          </a:solidFill>
          <a:ln w="12700">
            <a:solidFill>
              <a:srgbClr val="E1E6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3200400" y="1463040"/>
            <a:ext cx="640080" cy="64008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0420" y="162306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651760" y="22402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2. Check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2697480" y="26974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Use a number you already have.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4663440" y="1280160"/>
            <a:ext cx="1920240" cy="2377440"/>
          </a:xfrm>
          <a:prstGeom prst="roundRect">
            <a:avLst>
              <a:gd name="adj" fmla="val 3810"/>
            </a:avLst>
          </a:prstGeom>
          <a:solidFill>
            <a:srgbClr val="E1E6E6"/>
          </a:solidFill>
          <a:ln w="12700">
            <a:solidFill>
              <a:srgbClr val="E1E6E6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303520" y="1463040"/>
            <a:ext cx="640080" cy="64008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3540" y="1623060"/>
            <a:ext cx="320040" cy="3200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4754880" y="22402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3. Report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4800600" y="26974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Tell the IT officer.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6766560" y="1280160"/>
            <a:ext cx="1920240" cy="2377440"/>
          </a:xfrm>
          <a:prstGeom prst="roundRect">
            <a:avLst>
              <a:gd name="adj" fmla="val 3810"/>
            </a:avLst>
          </a:prstGeom>
          <a:solidFill>
            <a:srgbClr val="E1E6E6"/>
          </a:solidFill>
          <a:ln w="12700">
            <a:solidFill>
              <a:srgbClr val="E1E6E6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7406640" y="1463040"/>
            <a:ext cx="640080" cy="64008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6660" y="1623060"/>
            <a:ext cx="320040" cy="32004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858000" y="22402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4. Delete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6903720" y="26974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Only after you report it.</a:t>
            </a:r>
            <a:endParaRPr 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457200" y="3931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D5F3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Never check using the phone number or link inside the message.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6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9728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C7A88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2377440" y="914400"/>
            <a:ext cx="6309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fake bank change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2377440" y="24688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most expensive trick, now helped by AI.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11.3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23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How the fake bank change works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640080" cy="54864"/>
          </a:xfrm>
          <a:prstGeom prst="rect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896112"/>
            <a:ext cx="320040" cy="54864"/>
          </a:xfrm>
          <a:prstGeom prst="rect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11.3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24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1097280" y="1325880"/>
            <a:ext cx="640080" cy="64008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300" y="1485900"/>
            <a:ext cx="320040" cy="3200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7200" y="20574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1. Study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246888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criminal learns who TeaLeaf pays.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2240280" y="1645920"/>
            <a:ext cx="411480" cy="0"/>
          </a:xfrm>
          <a:prstGeom prst="line">
            <a:avLst/>
          </a:prstGeom>
          <a:noFill/>
          <a:ln w="25400">
            <a:solidFill>
              <a:srgbClr val="5A5F55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3200400" y="1325880"/>
            <a:ext cx="640080" cy="64008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0420" y="1485900"/>
            <a:ext cx="320040" cy="32004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2560320" y="20574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2. Copy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2651760" y="246888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They make an email address that looks like the supplier's.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4343400" y="1645920"/>
            <a:ext cx="411480" cy="0"/>
          </a:xfrm>
          <a:prstGeom prst="line">
            <a:avLst/>
          </a:prstGeom>
          <a:noFill/>
          <a:ln w="25400">
            <a:solidFill>
              <a:srgbClr val="5A5F55"/>
            </a:solidFill>
            <a:prstDash val="solid"/>
            <a:tailEnd type="triangle"/>
          </a:ln>
        </p:spPr>
      </p:sp>
      <p:sp>
        <p:nvSpPr>
          <p:cNvPr id="18" name="Shape 13"/>
          <p:cNvSpPr/>
          <p:nvPr/>
        </p:nvSpPr>
        <p:spPr>
          <a:xfrm>
            <a:off x="5303520" y="1325880"/>
            <a:ext cx="640080" cy="64008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3540" y="1485900"/>
            <a:ext cx="320040" cy="32004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4663440" y="20574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3. Ask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4754880" y="246888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"Our bank has changed. Pay the new account."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6446520" y="1645920"/>
            <a:ext cx="411480" cy="0"/>
          </a:xfrm>
          <a:prstGeom prst="line">
            <a:avLst/>
          </a:prstGeom>
          <a:noFill/>
          <a:ln w="25400">
            <a:solidFill>
              <a:srgbClr val="5A5F55"/>
            </a:solidFill>
            <a:prstDash val="solid"/>
            <a:tailEnd type="triangle"/>
          </a:ln>
        </p:spPr>
      </p:sp>
      <p:sp>
        <p:nvSpPr>
          <p:cNvPr id="23" name="Shape 17"/>
          <p:cNvSpPr/>
          <p:nvPr/>
        </p:nvSpPr>
        <p:spPr>
          <a:xfrm>
            <a:off x="7406640" y="1325880"/>
            <a:ext cx="640080" cy="64008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6660" y="1485900"/>
            <a:ext cx="320040" cy="32004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6766560" y="20574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4. Push</a:t>
            </a:r>
            <a:endParaRPr lang="en-US" sz="1700" dirty="0"/>
          </a:p>
        </p:txBody>
      </p:sp>
      <p:sp>
        <p:nvSpPr>
          <p:cNvPr id="26" name="Text 19"/>
          <p:cNvSpPr txBox="1"/>
          <p:nvPr/>
        </p:nvSpPr>
        <p:spPr>
          <a:xfrm>
            <a:off x="6858000" y="246888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"Today, or there is a late fee."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457200" y="3749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D5F3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money goes to the criminal. The real supplier is still waiting to be paid.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Now helped by AI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640080" cy="54864"/>
          </a:xfrm>
          <a:prstGeom prst="rect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896112"/>
            <a:ext cx="320040" cy="54864"/>
          </a:xfrm>
          <a:prstGeom prst="rect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11.3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25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188720"/>
            <a:ext cx="2446020" cy="2194560"/>
          </a:xfrm>
          <a:prstGeom prst="roundRect">
            <a:avLst>
              <a:gd name="adj" fmla="val 3333"/>
            </a:avLst>
          </a:prstGeom>
          <a:solidFill>
            <a:srgbClr val="D9D5D2"/>
          </a:solidFill>
          <a:ln w="12700">
            <a:solidFill>
              <a:srgbClr val="D9D5D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1371600"/>
            <a:ext cx="502920" cy="502920"/>
          </a:xfrm>
          <a:prstGeom prst="ellipse">
            <a:avLst/>
          </a:prstGeom>
          <a:solidFill>
            <a:srgbClr val="262A20"/>
          </a:solidFill>
          <a:ln w="12700">
            <a:solidFill>
              <a:srgbClr val="262A20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810" y="1497330"/>
            <a:ext cx="251460" cy="251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0080" y="2011680"/>
            <a:ext cx="2080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Perfect English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640080" y="2395728"/>
            <a:ext cx="20802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 writes emails with no spelling mistakes. Bad English is no longer a reliable clue.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3131820" y="1188720"/>
            <a:ext cx="2446020" cy="2194560"/>
          </a:xfrm>
          <a:prstGeom prst="roundRect">
            <a:avLst>
              <a:gd name="adj" fmla="val 3333"/>
            </a:avLst>
          </a:prstGeom>
          <a:solidFill>
            <a:srgbClr val="EDDDCD"/>
          </a:solidFill>
          <a:ln w="12700">
            <a:solidFill>
              <a:srgbClr val="EDDDCD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3314700" y="1371600"/>
            <a:ext cx="502920" cy="502920"/>
          </a:xfrm>
          <a:prstGeom prst="ellipse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0430" y="1497330"/>
            <a:ext cx="251460" cy="251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314700" y="2011680"/>
            <a:ext cx="2080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Fake voices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3314700" y="2395728"/>
            <a:ext cx="20802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few seconds of someone's voice is enough to copy it. A deepfake call can sound exactly like the MD.</a:t>
            </a:r>
            <a:endParaRPr lang="en-US" sz="1350" dirty="0"/>
          </a:p>
        </p:txBody>
      </p:sp>
      <p:pic>
        <p:nvPicPr>
          <p:cNvPr id="18" name="Image 2" descr="fake_cal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1604772"/>
            <a:ext cx="2880360" cy="2368296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golden rule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640080" cy="54864"/>
          </a:xfrm>
          <a:prstGeom prst="rect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896112"/>
            <a:ext cx="320040" cy="54864"/>
          </a:xfrm>
          <a:prstGeom prst="rect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11.3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28016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262A20"/>
          </a:solidFill>
          <a:ln w="12700">
            <a:solidFill>
              <a:srgbClr val="262A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Check using a number you already have.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Never the one in the message.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06324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Call the supplier on the number in TeaLeaf's own records.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Call the MD back on her usual number, even if the voice sounds real.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second person approves every change to bank details.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566A6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731520" cy="731520"/>
          </a:xfrm>
          <a:prstGeom prst="ellipse">
            <a:avLst/>
          </a:prstGeom>
          <a:solidFill>
            <a:srgbClr val="262A20"/>
          </a:solidFill>
          <a:ln w="12700">
            <a:solidFill>
              <a:srgbClr val="262A20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94360"/>
            <a:ext cx="365760" cy="365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371600" y="4114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DDC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Play: A2.3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7315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Bank Change Trap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508760"/>
            <a:ext cx="6035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You are Kasun, the finance clerk.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Every choice changes the story.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Find the one path that wins.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70332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Open it: course site &gt; Day 2 &gt; The Bank Change Trap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406908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DDDC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Practises: checking before paying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949440" y="1554480"/>
            <a:ext cx="1737360" cy="1005840"/>
          </a:xfrm>
          <a:prstGeom prst="roundRect">
            <a:avLst>
              <a:gd name="adj" fmla="val 9091"/>
            </a:avLst>
          </a:prstGeom>
          <a:solidFill>
            <a:srgbClr val="262A20"/>
          </a:solidFill>
          <a:ln w="12700">
            <a:solidFill>
              <a:srgbClr val="262A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949440" y="15544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12 min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6949440" y="2697480"/>
            <a:ext cx="1737360" cy="1965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Image 1" descr="QR code for The Bank Change Tra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168" y="2770632"/>
            <a:ext cx="1517904" cy="151790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949440" y="43159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Scan to play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11.3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9D5D2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27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Good to know: report, do not hide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640080" cy="54864"/>
          </a:xfrm>
          <a:prstGeom prst="rect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896112"/>
            <a:ext cx="320040" cy="54864"/>
          </a:xfrm>
          <a:prstGeom prst="rect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11.3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28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2801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Clicked by mistake? Tell the IT officer at once.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10312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mistake reported in 5 minutes can be fixed. A mistake hidden for 5 days can cost TeaLeaf its money and its customers.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023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Good to know. Not in the test.</a:t>
            </a:r>
            <a:endParaRPr lang="en-US" sz="1200" dirty="0"/>
          </a:p>
        </p:txBody>
      </p:sp>
      <p:pic>
        <p:nvPicPr>
          <p:cNvPr id="11" name="Image 0" descr="repo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0" y="1466698"/>
            <a:ext cx="3108960" cy="2735885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What we learned this morning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640080" cy="54864"/>
          </a:xfrm>
          <a:prstGeom prst="rect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896112"/>
            <a:ext cx="320040" cy="54864"/>
          </a:xfrm>
          <a:prstGeom prst="rect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11.3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29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57200" y="1234440"/>
            <a:ext cx="548640" cy="54864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371600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188720" y="118872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Social engineering tricks people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1188720" y="1499616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People can be the weakness; tricks can be the threat.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457200" y="2075688"/>
            <a:ext cx="548640" cy="54864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212848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188720" y="2029968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Four forms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1188720" y="2340864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Phishing, spear phishing, smishing, vishing.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457200" y="2916936"/>
            <a:ext cx="548640" cy="54864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05409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188720" y="2871216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Warning signs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1188720" y="3182112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Hurry, boss, fear, strange senders and links.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457200" y="3758184"/>
            <a:ext cx="548640" cy="54864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3895344"/>
            <a:ext cx="274320" cy="27432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188720" y="371246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fake bank change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1188720" y="4023360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Check using a number you already have.</a:t>
            </a:r>
            <a:endParaRPr lang="en-US" sz="13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Words to know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640080" cy="54864"/>
          </a:xfrm>
          <a:prstGeom prst="rect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896112"/>
            <a:ext cx="320040" cy="54864"/>
          </a:xfrm>
          <a:prstGeom prst="rect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11.3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30</a:t>
            </a:r>
            <a:endParaRPr lang="en-US" sz="8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852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Word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Simple meaning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A2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Social engineering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Tricking people into giving information, money or access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Phishing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 fake email sent to many people to trick them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Spear phishing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 fake message made for one person, using real details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Smishing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Phishing by text message (SMS, WhatsApp)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Vishing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Phishing by phone call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Deepfake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A2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 fake voice or video made by AI to copy a real person</a:t>
                      </a:r>
                      <a:endParaRPr lang="en-US" sz="13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F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After lunch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640080" cy="54864"/>
          </a:xfrm>
          <a:prstGeom prst="rect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896112"/>
            <a:ext cx="320040" cy="54864"/>
          </a:xfrm>
          <a:prstGeom prst="rect">
            <a:avLst/>
          </a:prstGeom>
          <a:solidFill>
            <a:srgbClr val="C7A887"/>
          </a:solidFill>
          <a:ln w="12700">
            <a:solidFill>
              <a:srgbClr val="C7A88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828032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DBIS-11 Cybersecurity and Cloud Computing  |  Day 2  |  Session 11.3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31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977640" y="1371600"/>
            <a:ext cx="1188720" cy="1188720"/>
          </a:xfrm>
          <a:prstGeom prst="ellipse">
            <a:avLst/>
          </a:prstGeom>
          <a:solidFill>
            <a:srgbClr val="667C7E"/>
          </a:solidFill>
          <a:ln w="12700">
            <a:solidFill>
              <a:srgbClr val="667C7E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4820" y="1668780"/>
            <a:ext cx="594360" cy="5943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7200" y="2788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62A2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Proving who you are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A5F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CIA grows two new letters, and your password gets a partner. Back at 1:00.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Tricks that target people</dc:title>
  <dc:subject>PptxGenJS Presentation</dc:subject>
  <dc:creator>NIBM SOCE</dc:creator>
  <cp:lastModifiedBy>NIBM SOCE</cp:lastModifiedBy>
  <cp:revision>1</cp:revision>
  <dcterms:created xsi:type="dcterms:W3CDTF">2026-10-02T03:59:48Z</dcterms:created>
  <dcterms:modified xsi:type="dcterms:W3CDTF">2026-10-02T03:59:48Z</dcterms:modified>
</cp:coreProperties>
</file>