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Remind students: Test 2 at 3:00 is only about today, morning and afternoon.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Hook. Let students guess names. The point: nobody can know. We return to this in the Access Office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Still Protect: this afternoon we protect accounts.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ideas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1:10. Idea 1. This is the build-up from Day 1: open with 'what we know', then 'what we add'.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check. Point at each letter and ask the class for the plain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new goals come straight from this morning. The fake bank email was not really from the supplier: authenticity. The deleted order had no name on it: accountability.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Authenticity is about REAL or FAKE. Link back to every trick this morning: they all attack authenticity.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Accountability is about WHO. It also protects honest staff: with a log, nobody can blame you for something you did not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words that sound alike. Authentication is the check at the door; authorisation is which rooms you may enter. Personal logins plus logs give accountability.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1:35. Same game as Day 1 plus the two new goals. Students who mastered CIA yesterday should find the new cards stand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1:45. Idea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common failures. Ask for a show of hands for each one, anonymously if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that swapping letters for symbols does not help: attackers try those swaps first. Length does help. Four or five random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Password managers solve the 'used everywhere' problem. Students remember one strong passphrase; the app remembers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2:05. Idea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word is DIFFERENT. Next slide shows the three kinds.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more examples of each kind. Common confusion: a PIN is something you know, not something you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code is the second key. Link back to the WhatsApp message in Phish or Legit this morning: 'send me the code you just received'.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2:20. Remind students loudly: never type a real password. Nothing leaves the phone, but it is a good habit. Try P@ssw0rd! together on the projector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only. These ideas return later in the week. The Access Office game practises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2:35. Round 1 answers the hook: with accounts1, 'we cannot tell'. After personal logins, the log names Nimal. That is accountability. Rounds 2 and 3 are mention-only ideas: do not test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2:48. Full-day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these to the morning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2:53. Last warm-up before the test. Watch for authentication and authorisation: the most confused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3:00. Brief (5 min). Same procedure as yesterday.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731520" cy="7315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85800"/>
            <a:ext cx="365760" cy="365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508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 |  Day 2  |  Session 11.4  |  1:00 to 4:00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8745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Proving who you are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3154680"/>
            <a:ext cx="822960" cy="64008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25880" y="3154680"/>
            <a:ext cx="411480" cy="64008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33832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Cybersecurity and Cloud Computing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Test 2 at 3:00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40680" y="502920"/>
            <a:ext cx="3383280" cy="3931920"/>
          </a:xfrm>
          <a:prstGeom prst="ellipse">
            <a:avLst/>
          </a:prstGeom>
          <a:solidFill>
            <a:srgbClr val="3A3F33"/>
          </a:solidFill>
          <a:ln w="12700">
            <a:solidFill>
              <a:srgbClr val="3A3F33"/>
            </a:solidFill>
            <a:prstDash val="solid"/>
          </a:ln>
        </p:spPr>
      </p:sp>
      <p:pic>
        <p:nvPicPr>
          <p:cNvPr id="10" name="Image 1" descr="mfa_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984985"/>
            <a:ext cx="3474720" cy="296778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4526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39E9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© 2026 Niranga Dharmaratna. Licensed CC BY-NC-SA 4.0. Icons: Font Awesome Free (CC BY 4.0). Illustrations: original, same licence.</a:t>
            </a:r>
            <a:endParaRPr lang="en-US" sz="7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6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18872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customer order was deleted at 11:14 pm. Everyone in accounts uses the same login: accounts1. Who did it?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3832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By 3:00 you will know why nobody can answer, and how to fix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806440" y="548640"/>
            <a:ext cx="3017520" cy="3840480"/>
          </a:xfrm>
          <a:prstGeom prst="ellipse">
            <a:avLst/>
          </a:prstGeom>
          <a:solidFill>
            <a:srgbClr val="3A3F33"/>
          </a:solidFill>
          <a:ln w="12700">
            <a:solidFill>
              <a:srgbClr val="3A3F33"/>
            </a:solidFill>
            <a:prstDash val="solid"/>
          </a:ln>
        </p:spPr>
      </p:sp>
      <p:pic>
        <p:nvPicPr>
          <p:cNvPr id="6" name="Image 0" descr="it_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188551"/>
            <a:ext cx="3108960" cy="256065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Where we are on the map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325880"/>
            <a:ext cx="1280160" cy="2103120"/>
          </a:xfrm>
          <a:prstGeom prst="roundRect">
            <a:avLst>
              <a:gd name="adj" fmla="val 5714"/>
            </a:avLst>
          </a:prstGeom>
          <a:solidFill>
            <a:srgbClr val="F2EFEC"/>
          </a:solidFill>
          <a:ln w="6350">
            <a:solidFill>
              <a:srgbClr val="F2EF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rgbClr val="C9C4BE"/>
          </a:solidFill>
          <a:ln w="12700">
            <a:solidFill>
              <a:srgbClr val="C9C4B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916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920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Set the rules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847088" y="1325880"/>
            <a:ext cx="1280160" cy="2103120"/>
          </a:xfrm>
          <a:prstGeom prst="roundRect">
            <a:avLst>
              <a:gd name="adj" fmla="val 5714"/>
            </a:avLst>
          </a:prstGeom>
          <a:solidFill>
            <a:srgbClr val="F2EFEC"/>
          </a:solidFill>
          <a:ln w="6350">
            <a:solidFill>
              <a:srgbClr val="F2EF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212848" y="1554480"/>
            <a:ext cx="548640" cy="548640"/>
          </a:xfrm>
          <a:prstGeom prst="ellipse">
            <a:avLst/>
          </a:prstGeom>
          <a:solidFill>
            <a:srgbClr val="C9C4BE"/>
          </a:solidFill>
          <a:ln w="12700">
            <a:solidFill>
              <a:srgbClr val="C9C4B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169164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892808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Identify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938528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Know what you have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236976" y="1325880"/>
            <a:ext cx="1280160" cy="2103120"/>
          </a:xfrm>
          <a:prstGeom prst="roundRect">
            <a:avLst>
              <a:gd name="adj" fmla="val 5714"/>
            </a:avLst>
          </a:prstGeom>
          <a:solidFill>
            <a:srgbClr val="D9D5D2"/>
          </a:solidFill>
          <a:ln w="25400">
            <a:solidFill>
              <a:srgbClr val="566A6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602736" y="1554480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9896" y="169164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282696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Protect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3328416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Keep it safe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626864" y="1325880"/>
            <a:ext cx="1280160" cy="2103120"/>
          </a:xfrm>
          <a:prstGeom prst="roundRect">
            <a:avLst>
              <a:gd name="adj" fmla="val 5714"/>
            </a:avLst>
          </a:prstGeom>
          <a:solidFill>
            <a:srgbClr val="F2EFEC"/>
          </a:solidFill>
          <a:ln w="6350">
            <a:solidFill>
              <a:srgbClr val="F2EFEC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992624" y="1554480"/>
            <a:ext cx="548640" cy="548640"/>
          </a:xfrm>
          <a:prstGeom prst="ellipse">
            <a:avLst/>
          </a:prstGeom>
          <a:solidFill>
            <a:srgbClr val="C9C4BE"/>
          </a:solidFill>
          <a:ln w="12700">
            <a:solidFill>
              <a:srgbClr val="C9C4B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784" y="169164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72584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Detect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718304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Spot attacks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6016752" y="1325880"/>
            <a:ext cx="1280160" cy="2103120"/>
          </a:xfrm>
          <a:prstGeom prst="roundRect">
            <a:avLst>
              <a:gd name="adj" fmla="val 5714"/>
            </a:avLst>
          </a:prstGeom>
          <a:solidFill>
            <a:srgbClr val="F2EFEC"/>
          </a:solidFill>
          <a:ln w="6350">
            <a:solidFill>
              <a:srgbClr val="F2EFEC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382512" y="1554480"/>
            <a:ext cx="548640" cy="548640"/>
          </a:xfrm>
          <a:prstGeom prst="ellipse">
            <a:avLst/>
          </a:prstGeom>
          <a:solidFill>
            <a:srgbClr val="C9C4BE"/>
          </a:solidFill>
          <a:ln w="12700">
            <a:solidFill>
              <a:srgbClr val="C9C4BE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1691640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062472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Respond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108192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Act fast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7406640" y="1325880"/>
            <a:ext cx="1280160" cy="2103120"/>
          </a:xfrm>
          <a:prstGeom prst="roundRect">
            <a:avLst>
              <a:gd name="adj" fmla="val 5714"/>
            </a:avLst>
          </a:prstGeom>
          <a:solidFill>
            <a:srgbClr val="F2EFEC"/>
          </a:solidFill>
          <a:ln w="6350">
            <a:solidFill>
              <a:srgbClr val="F2EFEC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7772400" y="1554480"/>
            <a:ext cx="548640" cy="548640"/>
          </a:xfrm>
          <a:prstGeom prst="ellipse">
            <a:avLst/>
          </a:prstGeom>
          <a:solidFill>
            <a:srgbClr val="C9C4BE"/>
          </a:solidFill>
          <a:ln w="12700">
            <a:solidFill>
              <a:srgbClr val="C9C4BE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9560" y="1691640"/>
            <a:ext cx="274320" cy="2743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452360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Recover</a:t>
            </a:r>
            <a:endParaRPr lang="en-US" sz="1500" dirty="0"/>
          </a:p>
        </p:txBody>
      </p:sp>
      <p:sp>
        <p:nvSpPr>
          <p:cNvPr id="37" name="Text 28"/>
          <p:cNvSpPr txBox="1"/>
          <p:nvPr/>
        </p:nvSpPr>
        <p:spPr>
          <a:xfrm>
            <a:off x="7498080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Get back to work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This afternoon: Protect our accounts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This afternoon you will learn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371600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13258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 Extended CIA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1636776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CIA grows: authenticity and accountability.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57200" y="2331720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4688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88720" y="2286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 Strong passwords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2596896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Passphrases and password managers.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7200" y="3291840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42900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88720" y="324612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 MFA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1188720" y="3557016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Something you know, have or are.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6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91440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Extended CIA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468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we know, and what we add today.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we know: the CIA triad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188720"/>
            <a:ext cx="2590800" cy="2011680"/>
          </a:xfrm>
          <a:prstGeom prst="roundRect">
            <a:avLst>
              <a:gd name="adj" fmla="val 3636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137160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C: Confidentiality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1755648"/>
            <a:ext cx="2225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Keep it secret. Was it SEEN by the wrong person?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76600" y="1188720"/>
            <a:ext cx="2590800" cy="2011680"/>
          </a:xfrm>
          <a:prstGeom prst="roundRect">
            <a:avLst>
              <a:gd name="adj" fmla="val 3636"/>
            </a:avLst>
          </a:prstGeom>
          <a:solidFill>
            <a:srgbClr val="D9D5D2"/>
          </a:solidFill>
          <a:ln w="12700">
            <a:solidFill>
              <a:srgbClr val="D9D5D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459480" y="137160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I: Integrity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459480" y="1755648"/>
            <a:ext cx="2225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Keep it correct. Was it CHANGED wrongly?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096000" y="1188720"/>
            <a:ext cx="2590800" cy="2011680"/>
          </a:xfrm>
          <a:prstGeom prst="roundRect">
            <a:avLst>
              <a:gd name="adj" fmla="val 3636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78880" y="137160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A: Availability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278880" y="1755648"/>
            <a:ext cx="2225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Keep it available. Could we NOT USE it?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This morning's tricks showed us two problems CIA does not name...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we add today: two new goals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188720"/>
            <a:ext cx="4000500" cy="2377440"/>
          </a:xfrm>
          <a:prstGeom prst="roundRect">
            <a:avLst>
              <a:gd name="adj" fmla="val 3077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rgbClr val="7D5F3F"/>
          </a:solidFill>
          <a:ln w="12700">
            <a:solidFill>
              <a:srgbClr val="7D5F3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4973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011680"/>
            <a:ext cx="36347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Au: Authenticity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2395728"/>
            <a:ext cx="36347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 it really you, or really from them?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This morning: the fake supplier email and the fake MD voice.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686300" y="1188720"/>
            <a:ext cx="4000500" cy="2377440"/>
          </a:xfrm>
          <a:prstGeom prst="roundRect">
            <a:avLst>
              <a:gd name="adj" fmla="val 3077"/>
            </a:avLst>
          </a:prstGeom>
          <a:solidFill>
            <a:srgbClr val="D9D5D2"/>
          </a:solidFill>
          <a:ln w="12700">
            <a:solidFill>
              <a:srgbClr val="D9D5D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869180" y="1371600"/>
            <a:ext cx="502920" cy="502920"/>
          </a:xfrm>
          <a:prstGeom prst="ellipse">
            <a:avLst/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910" y="14973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869180" y="2011680"/>
            <a:ext cx="36347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Ac: Accountability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869180" y="2395728"/>
            <a:ext cx="36347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Can we tell who did it?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This afternoon: the deleted order and the shared login.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CIA + Authenticity + Accountability = extended CIA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 is for Authenticity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1005840" cy="10058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4859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1234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Authenticity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1691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Being sure something is real: it is really you, or it is really from them.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 TeaLeaf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bank's email really comes from the bank. The person logging in as Kasun really is Kasun.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70916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9204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When it goes wrong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fake supplier email. A deepfake call in the MD's voice. A criminal using Kasun's stolen password.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 is for Accountability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1005840" cy="10058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4859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1234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Accountability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1691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Being able to tell who did something. Every action can be traced to one person.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 TeaLeaf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staff member has their own login. The log shows who changed each price.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70916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9204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When it goes wrong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Everyone uses accounts1, so nobody knows who deleted the order. The log was switched off.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How we get them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2560320" cy="3017520"/>
          </a:xfrm>
          <a:prstGeom prst="roundRect">
            <a:avLst>
              <a:gd name="adj" fmla="val 2857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17320" y="1371600"/>
            <a:ext cx="640080" cy="64008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340" y="15316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Authentication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Who are you?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Password and a code prove it is really you.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703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Gives authenticity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3035808" y="2743200"/>
            <a:ext cx="237744" cy="0"/>
          </a:xfrm>
          <a:prstGeom prst="line">
            <a:avLst/>
          </a:prstGeom>
          <a:noFill/>
          <a:ln w="25400">
            <a:solidFill>
              <a:srgbClr val="5A5F55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3291840" y="1234440"/>
            <a:ext cx="2560320" cy="3017520"/>
          </a:xfrm>
          <a:prstGeom prst="roundRect">
            <a:avLst>
              <a:gd name="adj" fmla="val 2857"/>
            </a:avLst>
          </a:prstGeom>
          <a:solidFill>
            <a:srgbClr val="D9D5D2"/>
          </a:solidFill>
          <a:ln w="12700">
            <a:solidFill>
              <a:srgbClr val="D9D5D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51960" y="1371600"/>
            <a:ext cx="640080" cy="64008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980" y="153162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38328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Authorisation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338328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may you do?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347472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Kasun may open Accounts, not Payroll.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3383280" y="3703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Limits the harm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5870448" y="2743200"/>
            <a:ext cx="237744" cy="0"/>
          </a:xfrm>
          <a:prstGeom prst="line">
            <a:avLst/>
          </a:prstGeom>
          <a:noFill/>
          <a:ln w="25400">
            <a:solidFill>
              <a:srgbClr val="5A5F55"/>
            </a:solidFill>
            <a:prstDash val="solid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6126480" y="1234440"/>
            <a:ext cx="2560320" cy="3017520"/>
          </a:xfrm>
          <a:prstGeom prst="roundRect">
            <a:avLst>
              <a:gd name="adj" fmla="val 2857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086600" y="1371600"/>
            <a:ext cx="640080" cy="64008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620" y="1531620"/>
            <a:ext cx="320040" cy="32004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21792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Personal login + log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621792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Who did it?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630936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action is recorded with a name.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6217920" y="3703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Gives accountability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566A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731520" cy="731520"/>
          </a:xfrm>
          <a:prstGeom prst="ellipse">
            <a:avLst/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411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Play: A1.1+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731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Extended CIA Triage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50876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Day 1 game, with two new buttons.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Tap C, I, A, Au or Ac.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Watch for fakes (Au) and 'who did it?' (Ac).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0332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it: course site &gt; Day 2 &gt; Extended CIA Triage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690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Practises: the five goals of extended CIA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949440" y="155448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1554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 min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6949440" y="2697480"/>
            <a:ext cx="1737360" cy="1965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QR code for Extended CIA Tri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2770632"/>
            <a:ext cx="1517904" cy="151790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949440" y="43159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Scan to play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6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91440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Strong passwords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468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Length beats tricks.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passwords fail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188720"/>
            <a:ext cx="1885950" cy="2651760"/>
          </a:xfrm>
          <a:prstGeom prst="roundRect">
            <a:avLst>
              <a:gd name="adj" fmla="val 3879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4973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011680"/>
            <a:ext cx="15201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Used everywhere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2670048"/>
            <a:ext cx="152019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One website is hacked, and the same password opens all your accounts.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2571750" y="1188720"/>
            <a:ext cx="1885950" cy="2651760"/>
          </a:xfrm>
          <a:prstGeom prst="roundRect">
            <a:avLst>
              <a:gd name="adj" fmla="val 3879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75463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4973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754630" y="2011680"/>
            <a:ext cx="15201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Easy to guess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2754630" y="2670048"/>
            <a:ext cx="152019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Names, birthdays, "123456", "tealeaf123".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686300" y="1188720"/>
            <a:ext cx="1885950" cy="2651760"/>
          </a:xfrm>
          <a:prstGeom prst="roundRect">
            <a:avLst>
              <a:gd name="adj" fmla="val 3879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910" y="14973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869180" y="2011680"/>
            <a:ext cx="15201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Shared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869180" y="2670048"/>
            <a:ext cx="152019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Shared passwords break accountability.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800850" y="1188720"/>
            <a:ext cx="1885950" cy="2651760"/>
          </a:xfrm>
          <a:prstGeom prst="roundRect">
            <a:avLst>
              <a:gd name="adj" fmla="val 3879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98373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9460" y="1497330"/>
            <a:ext cx="251460" cy="2514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983730" y="2011680"/>
            <a:ext cx="15201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Written down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6983730" y="2670048"/>
            <a:ext cx="152019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sticky note on the screen is not a secret.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passphrase: long, and easy to remember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14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017520"/>
                <a:gridCol w="2103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Password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Why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Time to guess (estimate)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tealeaf123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Common and short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Less than a second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P@ssw0rd!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Symbols swapped into a common word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Less than a second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river-lamp-cloud-seven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Four random words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Years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river-lamp-cloud-seven-mango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Five random words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Hundreds of thousands of years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Estimates from the Password Lab: a fast computer guessing 10 billion a second.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password manager remembers for you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6304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128016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One master passphrase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1591056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remember one long passphrase.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57200" y="2286000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42316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88720" y="224028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different password everywhere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2551176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app makes a strong, different password for every site.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7200" y="3246120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38328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88720" y="320040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 fills them in for you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1188720" y="3511296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typing, no sticky notes, no reuse.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583680" y="1737360"/>
            <a:ext cx="1645920" cy="1645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214884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6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91440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MFA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468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password gets a partner.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is MFA?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1005840" cy="10058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4859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1234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MFA: multi-factor authentication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1691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Logging in with two or more DIFFERENT kinds of factor.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 TeaLeaf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Kasun types his password, then a code from his phone. Both are needed.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70916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9204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it works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criminal buys Kasun's stolen password, but does not have his phone. The criminal is stopped.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Three kinds of factor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188720"/>
            <a:ext cx="2590800" cy="2194560"/>
          </a:xfrm>
          <a:prstGeom prst="roundRect">
            <a:avLst>
              <a:gd name="adj" fmla="val 3333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4973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01168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Something you know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2395728"/>
            <a:ext cx="222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password, a passphrase, a PIN.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3276600" y="1188720"/>
            <a:ext cx="2590800" cy="2194560"/>
          </a:xfrm>
          <a:prstGeom prst="roundRect">
            <a:avLst>
              <a:gd name="adj" fmla="val 3333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4594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210" y="14973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9480" y="201168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Something you have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459480" y="2395728"/>
            <a:ext cx="222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phone, a security key, a bank card.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096000" y="1188720"/>
            <a:ext cx="2590800" cy="2194560"/>
          </a:xfrm>
          <a:prstGeom prst="roundRect">
            <a:avLst>
              <a:gd name="adj" fmla="val 3333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2788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610" y="14973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8880" y="201168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Something you are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278880" y="2395728"/>
            <a:ext cx="222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fingerprint, your face.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457200" y="36118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40080" y="3657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password + a PIN is NOT MFA: both are something you know.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Never share the code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2801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code from your phone is a key.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0116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Anyone who asks for it is trying to break in.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bank, IT and the MD will never ask for your code.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If someone asks, say no and report it.</a:t>
            </a:r>
            <a:endParaRPr lang="en-US" sz="1700" dirty="0"/>
          </a:p>
        </p:txBody>
      </p:sp>
      <p:pic>
        <p:nvPicPr>
          <p:cNvPr id="10" name="Image 0" descr="mfa_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506945"/>
            <a:ext cx="3108960" cy="265539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66A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731520" cy="731520"/>
          </a:xfrm>
          <a:prstGeom prst="ellipse">
            <a:avLst/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411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Play: A2.4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731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Password Lab and MFA Gauntlet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50876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Test made-up passwords. Never a real one.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Sort factors: know, have or are.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Stop the attacker in the gauntlet.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0332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it: course site &gt; Day 2 &gt; Password Lab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690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Practises: passphrases and MFA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949440" y="155448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1554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 min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6949440" y="2697480"/>
            <a:ext cx="1737360" cy="1965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QR code for Password Lab and MFA Gauntl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2770632"/>
            <a:ext cx="1517904" cy="151790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949440" y="43159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Scan to play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Good to know (not in the test)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188720"/>
            <a:ext cx="2590800" cy="2377440"/>
          </a:xfrm>
          <a:prstGeom prst="roundRect">
            <a:avLst>
              <a:gd name="adj" fmla="val 3077"/>
            </a:avLst>
          </a:prstGeom>
          <a:solidFill>
            <a:srgbClr val="F2EFEC"/>
          </a:solidFill>
          <a:ln w="12700">
            <a:solidFill>
              <a:srgbClr val="F2EF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rgbClr val="7A756F"/>
          </a:solidFill>
          <a:ln w="12700">
            <a:solidFill>
              <a:srgbClr val="7A756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4973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01168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Least privilege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2395728"/>
            <a:ext cx="222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People get only the access their job needs.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3276600" y="1188720"/>
            <a:ext cx="2590800" cy="2377440"/>
          </a:xfrm>
          <a:prstGeom prst="roundRect">
            <a:avLst>
              <a:gd name="adj" fmla="val 3077"/>
            </a:avLst>
          </a:prstGeom>
          <a:solidFill>
            <a:srgbClr val="F2EFEC"/>
          </a:solidFill>
          <a:ln w="12700">
            <a:solidFill>
              <a:srgbClr val="F2EF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459480" y="1371600"/>
            <a:ext cx="502920" cy="502920"/>
          </a:xfrm>
          <a:prstGeom prst="ellipse">
            <a:avLst/>
          </a:prstGeom>
          <a:solidFill>
            <a:srgbClr val="7A756F"/>
          </a:solidFill>
          <a:ln w="12700">
            <a:solidFill>
              <a:srgbClr val="7A756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210" y="14973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9480" y="201168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Leavers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459480" y="2395728"/>
            <a:ext cx="222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Remove every login on a person's last day.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096000" y="1188720"/>
            <a:ext cx="2590800" cy="2377440"/>
          </a:xfrm>
          <a:prstGeom prst="roundRect">
            <a:avLst>
              <a:gd name="adj" fmla="val 3077"/>
            </a:avLst>
          </a:prstGeom>
          <a:solidFill>
            <a:srgbClr val="F2EFEC"/>
          </a:solidFill>
          <a:ln w="12700">
            <a:solidFill>
              <a:srgbClr val="F2EFE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278880" y="1371600"/>
            <a:ext cx="502920" cy="502920"/>
          </a:xfrm>
          <a:prstGeom prst="ellipse">
            <a:avLst/>
          </a:prstGeom>
          <a:solidFill>
            <a:srgbClr val="7A756F"/>
          </a:solidFill>
          <a:ln w="12700">
            <a:solidFill>
              <a:srgbClr val="7A756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610" y="14973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8880" y="201168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Zero trust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278880" y="2395728"/>
            <a:ext cx="222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Check every time, even with the right password.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66A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731520" cy="731520"/>
          </a:xfrm>
          <a:prstGeom prst="ellipse">
            <a:avLst/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411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Play: A2.5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731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Access Office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50876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Find who deleted the order.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Give each person only what they need.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Allow, deny or check each login.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0332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it: course site &gt; Day 2 &gt; Access Office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690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Practises: accountability, with least privilege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949440" y="155448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1554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12 min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6949440" y="2697480"/>
            <a:ext cx="1737360" cy="1965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QR code for Access Off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2770632"/>
            <a:ext cx="1517904" cy="151790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949440" y="43159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Scan to play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we learned today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188720"/>
            <a:ext cx="2590800" cy="2926080"/>
          </a:xfrm>
          <a:prstGeom prst="roundRect">
            <a:avLst>
              <a:gd name="adj" fmla="val 2824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4973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011680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People can be tricked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2670048"/>
            <a:ext cx="2225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Phishing in four forms. Watch for hurry, boss, fear, strange senders. Check with a number you already have.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3276600" y="1188720"/>
            <a:ext cx="2590800" cy="2926080"/>
          </a:xfrm>
          <a:prstGeom prst="roundRect">
            <a:avLst>
              <a:gd name="adj" fmla="val 2824"/>
            </a:avLst>
          </a:prstGeom>
          <a:solidFill>
            <a:srgbClr val="D9D5D2"/>
          </a:solidFill>
          <a:ln w="12700">
            <a:solidFill>
              <a:srgbClr val="D9D5D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459480" y="1371600"/>
            <a:ext cx="502920" cy="502920"/>
          </a:xfrm>
          <a:prstGeom prst="ellipse">
            <a:avLst/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210" y="14973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9480" y="2011680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Extended CIA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459480" y="2670048"/>
            <a:ext cx="2225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CIA plus authenticity (is it real?) and accountability (who did it?).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096000" y="1188720"/>
            <a:ext cx="2590800" cy="2926080"/>
          </a:xfrm>
          <a:prstGeom prst="roundRect">
            <a:avLst>
              <a:gd name="adj" fmla="val 2824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2788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610" y="14973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8880" y="2011680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Stronger logins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278880" y="2670048"/>
            <a:ext cx="2225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Passphrases, a password manager, and MFA with two different factors.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Words to know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24</a:t>
            </a:r>
            <a:endParaRPr lang="en-US" sz="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Word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Simple meaning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Authenticity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Being sure it is really you, or really from them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Accountability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Being able to tell who did something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Authentication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Proving who you are, e.g. password and a code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Authorisation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What you are allowed to do after you log in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Passphrase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 password made of several random words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Password manager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An app that makes and remembers strong passwords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MFA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Logging in with two or more different kinds of factor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566A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731520" cy="731520"/>
          </a:xfrm>
          <a:prstGeom prst="ellipse">
            <a:avLst/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411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Play: A2.6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731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People Words Ladder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50876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Study the words. Tap Hear it to hear each one.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Climb three rungs: meaning, example, right or wrong.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Relaxed mode first, then Challenge.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0332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it: course site &gt; Day 2 &gt; People Words Ladder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690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Practises: all thirteen words of the day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949440" y="155448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1554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 min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6949440" y="2697480"/>
            <a:ext cx="1737360" cy="1965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QR code for People Words Ladd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2770632"/>
            <a:ext cx="1517904" cy="151790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949440" y="43159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Scan to play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Test 2: how it works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417320"/>
            <a:ext cx="548640" cy="548640"/>
          </a:xfrm>
          <a:prstGeom prst="ellipse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Write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35 min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283464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Answer both questions on paper. No books, no phones.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560320" y="123444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743200" y="1417320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55448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74320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Photo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274320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 min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2743200" y="283464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Take clear photos of your pages. Make one PDF.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663440" y="123444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46320" y="1417320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55448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84632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Upload</a:t>
            </a:r>
            <a:endParaRPr lang="en-US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484632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 min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4846320" y="283464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Upload the PDF to the LMS. Use the file name below.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6766560" y="123444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949440" y="1417320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1554480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94944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4. Hand in</a:t>
            </a:r>
            <a:endParaRPr 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694944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 min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6949440" y="283464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Give your paper to the lecturer before you leave.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457200" y="4187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File name: DBIS11_StudentID_Day2.pdf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 mark your ideas, not your grammar. A clear decision with a good reason gets full marks.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Proving who you are</dc:title>
  <dc:subject>PptxGenJS Presentation</dc:subject>
  <dc:creator>NIBM SOCE</dc:creator>
  <cp:lastModifiedBy>NIBM SOCE</cp:lastModifiedBy>
  <cp:revision>1</cp:revision>
  <dcterms:created xsi:type="dcterms:W3CDTF">2026-09-28T19:53:54Z</dcterms:created>
  <dcterms:modified xsi:type="dcterms:W3CDTF">2026-09-28T19:53:54Z</dcterms:modified>
</cp:coreProperties>
</file>