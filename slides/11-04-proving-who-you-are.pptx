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Remind students: Includes Test 2 is only about today, morning and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Let students guess names. The point: nobody can know. We return to this in the Access Office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Protect: this afternoon we protect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Idea 1. The build-up from Day 1. Teaching point for this section: authenticity and accountability are easy to mix up. Separate them by TIME: authenticity is checked NOW (the door), accountability is traced LATER (the diary). Say door and diary every time you say the two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Point at each letter and ask the class for the plain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each goal with its question AND its time. Do not rush to the definitions: the door and the diary on the next slide carry the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image. Point at the left: the door checks your ID BEFORE you come in. Point at the right: the diary records what you did, so anyone can look it up AFTER. Ask door or diary about two quick examples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NOW. Every trick this morning attacked authenticity: something fake got through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LATER. Accountability is not a check at the door; it is the record we read afterwards. It also protects honest staff: the diary proves what they did NOT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along the timeline. The same morning at TeaLeaf has a door moment and a diary moment. Ask the class to call out door or diary at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pair of rows looks similar. Cover the right column, read one situation at a time, and let the class answer. The deciding question is always: now 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deepest point of the section, and the bridge to MFA. The Access Office log named Nimal. If his password was stolen, the diary lies. Strong authenticity is what makes accountability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Authentication sounds like authenticity. Authentication is the CHECK at the door; authenticity is the GOAL (being sure it is real). Personal logins plus logs build the diary.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Short and focused on the one confusion. Watch the Nimal pair: the stolen password is a door problem; the argument about the log afterwards is a diary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1:47. Now mix all five goals. Section 2 starts at about 1:55; trim the password slides if you run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Idea 2. Keep this section brisk (about 15 minutes) to protect the time given to section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common failures. Ask for a show of hands for each one, anonymously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swapping letters for symbols does not help: attackers try those swaps first. Length does help. Four or five random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Password managers solve the 'used everywhere' problem. Students remember one strong passphrase; the app remembers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Idea 3. Link back to the slide on the door and the diary needing each other: MFA makes the door stronger, which also makes the diary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word is DIFFERENT. Next slide shows the three kinds.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more examples of each kind. Common confusion: a PIN is something you know, not something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the second key. Link back to the WhatsApp message in Phish or Legit this morning: 'send me the code you just received'.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 Remind students loudly: never type a real password. Nothing leaves the phone, but it is a good habit. Try P@ssw0rd! together on the projector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only. These ideas return later in the week. The Access Office game practises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 Round 1 answers the hook, and its second log shows the door-and-diary link again: with accounts1, 'we cannot tell'. After personal logins, the log names Nimal. That is accountability. Rounds 2 and 3 are mention-only ideas: do not test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2:48. Full-day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these to the morning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 Last warm-up before the test. Watch for authentication and authorisation: the most confused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Brief (5 min). Same procedure as yesterday.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A20"/>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667C7E"/>
          </a:solidFill>
          <a:ln w="12700">
            <a:solidFill>
              <a:srgbClr val="667C7E"/>
            </a:solidFill>
            <a:prstDash val="solid"/>
          </a:ln>
        </p:spPr>
      </p:sp>
      <p:pic>
        <p:nvPicPr>
          <p:cNvPr id="3" name="Image 0" descr="preencoded.png">    </p:cNvPr>
          <p:cNvPicPr>
            <a:picLocks noChangeAspect="1"/>
          </p:cNvPicPr>
          <p:nvPr/>
        </p:nvPicPr>
        <p:blipFill>
          <a:blip r:embed="rId1"/>
          <a:stretch>
            <a:fillRect/>
          </a:stretch>
        </p:blipFill>
        <p:spPr>
          <a:xfrm>
            <a:off x="640080" y="685800"/>
            <a:ext cx="365760" cy="365760"/>
          </a:xfrm>
          <a:prstGeom prst="rect">
            <a:avLst/>
          </a:prstGeom>
        </p:spPr>
      </p:pic>
      <p:sp>
        <p:nvSpPr>
          <p:cNvPr id="4" name="Text 1"/>
          <p:cNvSpPr txBox="1"/>
          <p:nvPr/>
        </p:nvSpPr>
        <p:spPr>
          <a:xfrm>
            <a:off x="457200" y="1508760"/>
            <a:ext cx="4937760" cy="320040"/>
          </a:xfrm>
          <a:prstGeom prst="rect">
            <a:avLst/>
          </a:prstGeom>
          <a:noFill/>
          <a:ln/>
        </p:spPr>
        <p:txBody>
          <a:bodyPr wrap="square" lIns="0" tIns="0" rIns="0" bIns="0" rtlCol="0" anchor="ctr"/>
          <a:lstStyle/>
          <a:p>
            <a:pPr indent="0" marL="0">
              <a:buNone/>
            </a:pPr>
            <a:r>
              <a:rPr lang="en-US" sz="1400" b="1" dirty="0">
                <a:solidFill>
                  <a:srgbClr val="C7A887"/>
                </a:solidFill>
                <a:latin typeface="Open Sans" pitchFamily="34" charset="0"/>
                <a:ea typeface="Open Sans" pitchFamily="34" charset="-122"/>
                <a:cs typeface="Open Sans" pitchFamily="34" charset="-120"/>
              </a:rPr>
              <a:t>DBIS-11  |  Day 2  |  Session 11.4</a:t>
            </a:r>
            <a:endParaRPr lang="en-US" sz="1400" dirty="0"/>
          </a:p>
        </p:txBody>
      </p:sp>
      <p:sp>
        <p:nvSpPr>
          <p:cNvPr id="5" name="Text 2"/>
          <p:cNvSpPr txBox="1"/>
          <p:nvPr/>
        </p:nvSpPr>
        <p:spPr>
          <a:xfrm>
            <a:off x="457200" y="1874520"/>
            <a:ext cx="4937760" cy="1188720"/>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Proving who you are</a:t>
            </a:r>
            <a:endParaRPr lang="en-US" sz="3200" dirty="0"/>
          </a:p>
        </p:txBody>
      </p:sp>
      <p:sp>
        <p:nvSpPr>
          <p:cNvPr id="6" name="Shape 3"/>
          <p:cNvSpPr/>
          <p:nvPr/>
        </p:nvSpPr>
        <p:spPr>
          <a:xfrm>
            <a:off x="457200" y="3154680"/>
            <a:ext cx="822960" cy="64008"/>
          </a:xfrm>
          <a:prstGeom prst="rect">
            <a:avLst/>
          </a:prstGeom>
          <a:solidFill>
            <a:srgbClr val="667C7E"/>
          </a:solidFill>
          <a:ln w="12700">
            <a:solidFill>
              <a:srgbClr val="667C7E"/>
            </a:solidFill>
            <a:prstDash val="solid"/>
          </a:ln>
        </p:spPr>
      </p:sp>
      <p:sp>
        <p:nvSpPr>
          <p:cNvPr id="7" name="Shape 4"/>
          <p:cNvSpPr/>
          <p:nvPr/>
        </p:nvSpPr>
        <p:spPr>
          <a:xfrm>
            <a:off x="1325880" y="3154680"/>
            <a:ext cx="411480" cy="64008"/>
          </a:xfrm>
          <a:prstGeom prst="rect">
            <a:avLst/>
          </a:prstGeom>
          <a:solidFill>
            <a:srgbClr val="C7A887"/>
          </a:solidFill>
          <a:ln w="12700">
            <a:solidFill>
              <a:srgbClr val="C7A887"/>
            </a:solidFill>
            <a:prstDash val="solid"/>
          </a:ln>
        </p:spPr>
      </p:sp>
      <p:sp>
        <p:nvSpPr>
          <p:cNvPr id="8" name="Text 5"/>
          <p:cNvSpPr txBox="1"/>
          <p:nvPr/>
        </p:nvSpPr>
        <p:spPr>
          <a:xfrm>
            <a:off x="457200" y="3383280"/>
            <a:ext cx="4937760" cy="822960"/>
          </a:xfrm>
          <a:prstGeom prst="rect">
            <a:avLst/>
          </a:prstGeom>
          <a:noFill/>
          <a:ln/>
        </p:spPr>
        <p:txBody>
          <a:bodyPr wrap="square" lIns="0" tIns="0" rIns="0" bIns="0" rtlCol="0" anchor="t"/>
          <a:lstStyle/>
          <a:p>
            <a:pPr indent="0" marL="0">
              <a:buNone/>
            </a:pPr>
            <a:r>
              <a:rPr lang="en-US" sz="1500" dirty="0">
                <a:solidFill>
                  <a:srgbClr val="D9D5D2"/>
                </a:solidFill>
                <a:latin typeface="Open Sans" pitchFamily="34" charset="0"/>
                <a:ea typeface="Open Sans" pitchFamily="34" charset="-122"/>
                <a:cs typeface="Open Sans" pitchFamily="34" charset="-120"/>
              </a:rPr>
              <a:t>Cybersecurity and Cloud Computing</a:t>
            </a:r>
            <a:endParaRPr lang="en-US" sz="1500" dirty="0"/>
          </a:p>
          <a:p>
            <a:pPr indent="0" marL="0">
              <a:buNone/>
            </a:pPr>
            <a:r>
              <a:rPr lang="en-US" sz="1500" dirty="0">
                <a:solidFill>
                  <a:srgbClr val="D9D5D2"/>
                </a:solidFill>
                <a:latin typeface="Open Sans" pitchFamily="34" charset="0"/>
                <a:ea typeface="Open Sans" pitchFamily="34" charset="-122"/>
                <a:cs typeface="Open Sans" pitchFamily="34" charset="-120"/>
              </a:rPr>
              <a:t>Includes Test 2</a:t>
            </a:r>
            <a:endParaRPr lang="en-US" sz="1500" dirty="0"/>
          </a:p>
        </p:txBody>
      </p:sp>
      <p:sp>
        <p:nvSpPr>
          <p:cNvPr id="9" name="Shape 6"/>
          <p:cNvSpPr/>
          <p:nvPr/>
        </p:nvSpPr>
        <p:spPr>
          <a:xfrm>
            <a:off x="5440680" y="502920"/>
            <a:ext cx="3383280" cy="3931920"/>
          </a:xfrm>
          <a:prstGeom prst="ellipse">
            <a:avLst/>
          </a:prstGeom>
          <a:solidFill>
            <a:srgbClr val="3A3F33"/>
          </a:solidFill>
          <a:ln w="12700">
            <a:solidFill>
              <a:srgbClr val="3A3F33"/>
            </a:solidFill>
            <a:prstDash val="solid"/>
          </a:ln>
        </p:spPr>
      </p:sp>
      <p:pic>
        <p:nvPicPr>
          <p:cNvPr id="10" name="Image 1" descr="mfa_phone">    </p:cNvPr>
          <p:cNvPicPr>
            <a:picLocks noChangeAspect="1"/>
          </p:cNvPicPr>
          <p:nvPr/>
        </p:nvPicPr>
        <p:blipFill>
          <a:blip r:embed="rId2"/>
          <a:stretch>
            <a:fillRect/>
          </a:stretch>
        </p:blipFill>
        <p:spPr>
          <a:xfrm>
            <a:off x="5394960" y="984985"/>
            <a:ext cx="3474720" cy="2967789"/>
          </a:xfrm>
          <a:prstGeom prst="rect">
            <a:avLst/>
          </a:prstGeom>
        </p:spPr>
      </p:pic>
      <p:sp>
        <p:nvSpPr>
          <p:cNvPr id="11" name="Text 7"/>
          <p:cNvSpPr txBox="1"/>
          <p:nvPr/>
        </p:nvSpPr>
        <p:spPr>
          <a:xfrm>
            <a:off x="457200" y="4023360"/>
            <a:ext cx="4937760" cy="274320"/>
          </a:xfrm>
          <a:prstGeom prst="rect">
            <a:avLst/>
          </a:prstGeom>
          <a:noFill/>
          <a:ln/>
        </p:spPr>
        <p:txBody>
          <a:bodyPr wrap="square" lIns="0" tIns="0" rIns="0" bIns="0" rtlCol="0" anchor="ctr"/>
          <a:lstStyle/>
          <a:p>
            <a:pPr indent="0" marL="0">
              <a:buNone/>
            </a:pPr>
            <a:r>
              <a:rPr lang="en-US" sz="1200" b="1" dirty="0">
                <a:solidFill>
                  <a:srgbClr val="C7A887"/>
                </a:solidFill>
                <a:latin typeface="Open Sans" pitchFamily="34" charset="0"/>
                <a:ea typeface="Open Sans" pitchFamily="34" charset="-122"/>
                <a:cs typeface="Open Sans" pitchFamily="34" charset="-120"/>
              </a:rPr>
              <a:t>Niranga Dharmaratna - niranga@nibm.lk</a:t>
            </a:r>
            <a:endParaRPr lang="en-US" sz="1200" dirty="0"/>
          </a:p>
        </p:txBody>
      </p:sp>
      <p:sp>
        <p:nvSpPr>
          <p:cNvPr id="12" name="Text 8"/>
          <p:cNvSpPr txBox="1"/>
          <p:nvPr/>
        </p:nvSpPr>
        <p:spPr>
          <a:xfrm>
            <a:off x="457200" y="4407408"/>
            <a:ext cx="8229600" cy="329184"/>
          </a:xfrm>
          <a:prstGeom prst="rect">
            <a:avLst/>
          </a:prstGeom>
          <a:noFill/>
          <a:ln/>
        </p:spPr>
        <p:txBody>
          <a:bodyPr wrap="square" lIns="0" tIns="0" rIns="0" bIns="0" rtlCol="0" anchor="t"/>
          <a:lstStyle/>
          <a:p>
            <a:pPr indent="0" marL="0">
              <a:buNone/>
            </a:pPr>
            <a:r>
              <a:rPr lang="en-US" sz="750" dirty="0">
                <a:solidFill>
                  <a:srgbClr val="A39E98"/>
                </a:solidFill>
                <a:latin typeface="Open Sans" pitchFamily="34" charset="0"/>
                <a:ea typeface="Open Sans" pitchFamily="34" charset="-122"/>
                <a:cs typeface="Open Sans" pitchFamily="34" charset="-120"/>
              </a:rPr>
              <a:t>© 2026 Niranga Dharmaratna, School of Computing &amp; Engineering, National Institute of Business Management</a:t>
            </a:r>
            <a:endParaRPr lang="en-US" sz="750" dirty="0"/>
          </a:p>
          <a:p>
            <a:pPr indent="0" marL="0">
              <a:buNone/>
            </a:pPr>
            <a:r>
              <a:rPr lang="en-US" sz="750" dirty="0">
                <a:solidFill>
                  <a:srgbClr val="A39E98"/>
                </a:solidFill>
                <a:latin typeface="Open Sans" pitchFamily="34" charset="0"/>
                <a:ea typeface="Open Sans" pitchFamily="34" charset="-122"/>
                <a:cs typeface="Open Sans" pitchFamily="34" charset="-120"/>
              </a:rPr>
              <a:t>Licensed CC BY-NC-SA 4.0. Icons: Font Awesome Free (CC BY 4.0). Illustrations: original, same licence.</a:t>
            </a:r>
            <a:endParaRPr lang="en-US" sz="750" dirty="0"/>
          </a:p>
        </p:txBody>
      </p:sp>
      <p:sp>
        <p:nvSpPr>
          <p:cNvPr id="13" name="Text 9"/>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14" name="Text 10"/>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457200"/>
            <a:ext cx="1097280" cy="109728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a:t>
            </a:r>
            <a:endParaRPr lang="en-US" sz="9600" dirty="0"/>
          </a:p>
        </p:txBody>
      </p:sp>
      <p:sp>
        <p:nvSpPr>
          <p:cNvPr id="3" name="Text 1"/>
          <p:cNvSpPr txBox="1"/>
          <p:nvPr/>
        </p:nvSpPr>
        <p:spPr>
          <a:xfrm>
            <a:off x="1097280" y="1188720"/>
            <a:ext cx="4572000" cy="2011680"/>
          </a:xfrm>
          <a:prstGeom prst="rect">
            <a:avLst/>
          </a:prstGeom>
          <a:noFill/>
          <a:ln/>
        </p:spPr>
        <p:txBody>
          <a:bodyPr wrap="square" lIns="0" tIns="0" rIns="0" bIns="0" rtlCol="0" anchor="ctr"/>
          <a:lstStyle/>
          <a:p>
            <a:pPr indent="0" marL="0">
              <a:buNone/>
            </a:pPr>
            <a:r>
              <a:rPr lang="en-US" sz="2400" b="1" dirty="0">
                <a:solidFill>
                  <a:srgbClr val="FFFFFF"/>
                </a:solidFill>
                <a:latin typeface="Open Sans" pitchFamily="34" charset="0"/>
                <a:ea typeface="Open Sans" pitchFamily="34" charset="-122"/>
                <a:cs typeface="Open Sans" pitchFamily="34" charset="-120"/>
              </a:rPr>
              <a:t>A customer order was deleted at 11:14 pm. Everyone in accounts uses the same login: accounts1. Who did it?</a:t>
            </a:r>
            <a:endParaRPr lang="en-US" sz="2400" dirty="0"/>
          </a:p>
        </p:txBody>
      </p:sp>
      <p:sp>
        <p:nvSpPr>
          <p:cNvPr id="4" name="Text 2"/>
          <p:cNvSpPr txBox="1"/>
          <p:nvPr/>
        </p:nvSpPr>
        <p:spPr>
          <a:xfrm>
            <a:off x="1097280" y="3383280"/>
            <a:ext cx="4572000" cy="548640"/>
          </a:xfrm>
          <a:prstGeom prst="rect">
            <a:avLst/>
          </a:prstGeom>
          <a:noFill/>
          <a:ln/>
        </p:spPr>
        <p:txBody>
          <a:bodyPr wrap="square" lIns="0" tIns="0" rIns="0" bIns="0" rtlCol="0" anchor="t"/>
          <a:lstStyle/>
          <a:p>
            <a:pPr indent="0" marL="0">
              <a:buNone/>
            </a:pPr>
            <a:r>
              <a:rPr lang="en-US" sz="1500" dirty="0">
                <a:solidFill>
                  <a:srgbClr val="C7A887"/>
                </a:solidFill>
                <a:latin typeface="Open Sans" pitchFamily="34" charset="0"/>
                <a:ea typeface="Open Sans" pitchFamily="34" charset="-122"/>
                <a:cs typeface="Open Sans" pitchFamily="34" charset="-120"/>
              </a:rPr>
              <a:t>By 3:00 you will know why nobody can answer, and how to fix it.</a:t>
            </a:r>
            <a:endParaRPr lang="en-US" sz="1500" dirty="0"/>
          </a:p>
        </p:txBody>
      </p:sp>
      <p:sp>
        <p:nvSpPr>
          <p:cNvPr id="5" name="Shape 3"/>
          <p:cNvSpPr/>
          <p:nvPr/>
        </p:nvSpPr>
        <p:spPr>
          <a:xfrm>
            <a:off x="5806440" y="548640"/>
            <a:ext cx="3017520" cy="3840480"/>
          </a:xfrm>
          <a:prstGeom prst="ellipse">
            <a:avLst/>
          </a:prstGeom>
          <a:solidFill>
            <a:srgbClr val="3A3F33"/>
          </a:solidFill>
          <a:ln w="12700">
            <a:solidFill>
              <a:srgbClr val="3A3F33"/>
            </a:solidFill>
            <a:prstDash val="solid"/>
          </a:ln>
        </p:spPr>
      </p:sp>
      <p:pic>
        <p:nvPicPr>
          <p:cNvPr id="6" name="Image 0" descr="it_server">    </p:cNvPr>
          <p:cNvPicPr>
            <a:picLocks noChangeAspect="1"/>
          </p:cNvPicPr>
          <p:nvPr/>
        </p:nvPicPr>
        <p:blipFill>
          <a:blip r:embed="rId1"/>
          <a:stretch>
            <a:fillRect/>
          </a:stretch>
        </p:blipFill>
        <p:spPr>
          <a:xfrm>
            <a:off x="5760720" y="1188551"/>
            <a:ext cx="3108960" cy="2560658"/>
          </a:xfrm>
          <a:prstGeom prst="rect">
            <a:avLst/>
          </a:prstGeom>
        </p:spPr>
      </p:pic>
      <p:sp>
        <p:nvSpPr>
          <p:cNvPr id="7" name="Text 4"/>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8" name="Text 5"/>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Where we are on the map</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a:t>
            </a:r>
            <a:endParaRPr lang="en-US" sz="800" dirty="0"/>
          </a:p>
        </p:txBody>
      </p:sp>
      <p:sp>
        <p:nvSpPr>
          <p:cNvPr id="8" name="Shape 5"/>
          <p:cNvSpPr/>
          <p:nvPr/>
        </p:nvSpPr>
        <p:spPr>
          <a:xfrm>
            <a:off x="457200" y="1325880"/>
            <a:ext cx="1280160" cy="2103120"/>
          </a:xfrm>
          <a:prstGeom prst="roundRect">
            <a:avLst>
              <a:gd name="adj" fmla="val 5714"/>
            </a:avLst>
          </a:prstGeom>
          <a:solidFill>
            <a:srgbClr val="F2EFEC"/>
          </a:solidFill>
          <a:ln w="6350">
            <a:solidFill>
              <a:srgbClr val="F2EFEC"/>
            </a:solidFill>
            <a:prstDash val="solid"/>
          </a:ln>
        </p:spPr>
      </p:sp>
      <p:sp>
        <p:nvSpPr>
          <p:cNvPr id="9" name="Shape 6"/>
          <p:cNvSpPr/>
          <p:nvPr/>
        </p:nvSpPr>
        <p:spPr>
          <a:xfrm>
            <a:off x="822960" y="1554480"/>
            <a:ext cx="548640" cy="548640"/>
          </a:xfrm>
          <a:prstGeom prst="ellipse">
            <a:avLst/>
          </a:prstGeom>
          <a:solidFill>
            <a:srgbClr val="C9C4BE"/>
          </a:solidFill>
          <a:ln w="12700">
            <a:solidFill>
              <a:srgbClr val="C9C4BE"/>
            </a:solidFill>
            <a:prstDash val="solid"/>
          </a:ln>
        </p:spPr>
      </p:sp>
      <p:pic>
        <p:nvPicPr>
          <p:cNvPr id="10" name="Image 0" descr="preencoded.png">    </p:cNvPr>
          <p:cNvPicPr>
            <a:picLocks noChangeAspect="1"/>
          </p:cNvPicPr>
          <p:nvPr/>
        </p:nvPicPr>
        <p:blipFill>
          <a:blip r:embed="rId1"/>
          <a:stretch>
            <a:fillRect/>
          </a:stretch>
        </p:blipFill>
        <p:spPr>
          <a:xfrm>
            <a:off x="960120" y="1691640"/>
            <a:ext cx="274320" cy="274320"/>
          </a:xfrm>
          <a:prstGeom prst="rect">
            <a:avLst/>
          </a:prstGeom>
        </p:spPr>
      </p:pic>
      <p:sp>
        <p:nvSpPr>
          <p:cNvPr id="11" name="Text 7"/>
          <p:cNvSpPr txBox="1"/>
          <p:nvPr/>
        </p:nvSpPr>
        <p:spPr>
          <a:xfrm>
            <a:off x="50292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Govern</a:t>
            </a:r>
            <a:endParaRPr lang="en-US" sz="1500" dirty="0"/>
          </a:p>
        </p:txBody>
      </p:sp>
      <p:sp>
        <p:nvSpPr>
          <p:cNvPr id="12" name="Text 8"/>
          <p:cNvSpPr txBox="1"/>
          <p:nvPr/>
        </p:nvSpPr>
        <p:spPr>
          <a:xfrm>
            <a:off x="54864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Set the rules</a:t>
            </a:r>
            <a:endParaRPr lang="en-US" sz="1200" dirty="0"/>
          </a:p>
        </p:txBody>
      </p:sp>
      <p:sp>
        <p:nvSpPr>
          <p:cNvPr id="13" name="Shape 9"/>
          <p:cNvSpPr/>
          <p:nvPr/>
        </p:nvSpPr>
        <p:spPr>
          <a:xfrm>
            <a:off x="1847088" y="1325880"/>
            <a:ext cx="1280160" cy="2103120"/>
          </a:xfrm>
          <a:prstGeom prst="roundRect">
            <a:avLst>
              <a:gd name="adj" fmla="val 5714"/>
            </a:avLst>
          </a:prstGeom>
          <a:solidFill>
            <a:srgbClr val="F2EFEC"/>
          </a:solidFill>
          <a:ln w="6350">
            <a:solidFill>
              <a:srgbClr val="F2EFEC"/>
            </a:solidFill>
            <a:prstDash val="solid"/>
          </a:ln>
        </p:spPr>
      </p:sp>
      <p:sp>
        <p:nvSpPr>
          <p:cNvPr id="14" name="Shape 10"/>
          <p:cNvSpPr/>
          <p:nvPr/>
        </p:nvSpPr>
        <p:spPr>
          <a:xfrm>
            <a:off x="2212848" y="1554480"/>
            <a:ext cx="548640" cy="548640"/>
          </a:xfrm>
          <a:prstGeom prst="ellipse">
            <a:avLst/>
          </a:prstGeom>
          <a:solidFill>
            <a:srgbClr val="C9C4BE"/>
          </a:solidFill>
          <a:ln w="12700">
            <a:solidFill>
              <a:srgbClr val="C9C4BE"/>
            </a:solidFill>
            <a:prstDash val="solid"/>
          </a:ln>
        </p:spPr>
      </p:sp>
      <p:pic>
        <p:nvPicPr>
          <p:cNvPr id="15" name="Image 1" descr="preencoded.png">    </p:cNvPr>
          <p:cNvPicPr>
            <a:picLocks noChangeAspect="1"/>
          </p:cNvPicPr>
          <p:nvPr/>
        </p:nvPicPr>
        <p:blipFill>
          <a:blip r:embed="rId2"/>
          <a:stretch>
            <a:fillRect/>
          </a:stretch>
        </p:blipFill>
        <p:spPr>
          <a:xfrm>
            <a:off x="2350008" y="1691640"/>
            <a:ext cx="274320" cy="274320"/>
          </a:xfrm>
          <a:prstGeom prst="rect">
            <a:avLst/>
          </a:prstGeom>
        </p:spPr>
      </p:pic>
      <p:sp>
        <p:nvSpPr>
          <p:cNvPr id="16" name="Text 11"/>
          <p:cNvSpPr txBox="1"/>
          <p:nvPr/>
        </p:nvSpPr>
        <p:spPr>
          <a:xfrm>
            <a:off x="1892808"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Identify</a:t>
            </a:r>
            <a:endParaRPr lang="en-US" sz="1500" dirty="0"/>
          </a:p>
        </p:txBody>
      </p:sp>
      <p:sp>
        <p:nvSpPr>
          <p:cNvPr id="17" name="Text 12"/>
          <p:cNvSpPr txBox="1"/>
          <p:nvPr/>
        </p:nvSpPr>
        <p:spPr>
          <a:xfrm>
            <a:off x="1938528"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Know what you have</a:t>
            </a:r>
            <a:endParaRPr lang="en-US" sz="1200" dirty="0"/>
          </a:p>
        </p:txBody>
      </p:sp>
      <p:sp>
        <p:nvSpPr>
          <p:cNvPr id="18" name="Shape 13"/>
          <p:cNvSpPr/>
          <p:nvPr/>
        </p:nvSpPr>
        <p:spPr>
          <a:xfrm>
            <a:off x="3236976" y="1325880"/>
            <a:ext cx="1280160" cy="2103120"/>
          </a:xfrm>
          <a:prstGeom prst="roundRect">
            <a:avLst>
              <a:gd name="adj" fmla="val 5714"/>
            </a:avLst>
          </a:prstGeom>
          <a:solidFill>
            <a:srgbClr val="D9D5D2"/>
          </a:solidFill>
          <a:ln w="25400">
            <a:solidFill>
              <a:srgbClr val="566A6C"/>
            </a:solidFill>
            <a:prstDash val="solid"/>
          </a:ln>
        </p:spPr>
      </p:sp>
      <p:sp>
        <p:nvSpPr>
          <p:cNvPr id="19" name="Shape 14"/>
          <p:cNvSpPr/>
          <p:nvPr/>
        </p:nvSpPr>
        <p:spPr>
          <a:xfrm>
            <a:off x="3602736" y="1554480"/>
            <a:ext cx="548640" cy="54864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3739896" y="1691640"/>
            <a:ext cx="274320" cy="274320"/>
          </a:xfrm>
          <a:prstGeom prst="rect">
            <a:avLst/>
          </a:prstGeom>
        </p:spPr>
      </p:pic>
      <p:sp>
        <p:nvSpPr>
          <p:cNvPr id="21" name="Text 15"/>
          <p:cNvSpPr txBox="1"/>
          <p:nvPr/>
        </p:nvSpPr>
        <p:spPr>
          <a:xfrm>
            <a:off x="3282696"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Protect</a:t>
            </a:r>
            <a:endParaRPr lang="en-US" sz="1500" dirty="0"/>
          </a:p>
        </p:txBody>
      </p:sp>
      <p:sp>
        <p:nvSpPr>
          <p:cNvPr id="22" name="Text 16"/>
          <p:cNvSpPr txBox="1"/>
          <p:nvPr/>
        </p:nvSpPr>
        <p:spPr>
          <a:xfrm>
            <a:off x="3328416"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Keep it safe</a:t>
            </a:r>
            <a:endParaRPr lang="en-US" sz="1200" dirty="0"/>
          </a:p>
        </p:txBody>
      </p:sp>
      <p:sp>
        <p:nvSpPr>
          <p:cNvPr id="23" name="Shape 17"/>
          <p:cNvSpPr/>
          <p:nvPr/>
        </p:nvSpPr>
        <p:spPr>
          <a:xfrm>
            <a:off x="4626864" y="1325880"/>
            <a:ext cx="1280160" cy="2103120"/>
          </a:xfrm>
          <a:prstGeom prst="roundRect">
            <a:avLst>
              <a:gd name="adj" fmla="val 5714"/>
            </a:avLst>
          </a:prstGeom>
          <a:solidFill>
            <a:srgbClr val="F2EFEC"/>
          </a:solidFill>
          <a:ln w="6350">
            <a:solidFill>
              <a:srgbClr val="F2EFEC"/>
            </a:solidFill>
            <a:prstDash val="solid"/>
          </a:ln>
        </p:spPr>
      </p:sp>
      <p:sp>
        <p:nvSpPr>
          <p:cNvPr id="24" name="Shape 18"/>
          <p:cNvSpPr/>
          <p:nvPr/>
        </p:nvSpPr>
        <p:spPr>
          <a:xfrm>
            <a:off x="4992624" y="1554480"/>
            <a:ext cx="548640" cy="548640"/>
          </a:xfrm>
          <a:prstGeom prst="ellipse">
            <a:avLst/>
          </a:prstGeom>
          <a:solidFill>
            <a:srgbClr val="C9C4BE"/>
          </a:solidFill>
          <a:ln w="12700">
            <a:solidFill>
              <a:srgbClr val="C9C4BE"/>
            </a:solidFill>
            <a:prstDash val="solid"/>
          </a:ln>
        </p:spPr>
      </p:sp>
      <p:pic>
        <p:nvPicPr>
          <p:cNvPr id="25" name="Image 3" descr="preencoded.png">    </p:cNvPr>
          <p:cNvPicPr>
            <a:picLocks noChangeAspect="1"/>
          </p:cNvPicPr>
          <p:nvPr/>
        </p:nvPicPr>
        <p:blipFill>
          <a:blip r:embed="rId4"/>
          <a:stretch>
            <a:fillRect/>
          </a:stretch>
        </p:blipFill>
        <p:spPr>
          <a:xfrm>
            <a:off x="5129784" y="1691640"/>
            <a:ext cx="274320" cy="274320"/>
          </a:xfrm>
          <a:prstGeom prst="rect">
            <a:avLst/>
          </a:prstGeom>
        </p:spPr>
      </p:pic>
      <p:sp>
        <p:nvSpPr>
          <p:cNvPr id="26" name="Text 19"/>
          <p:cNvSpPr txBox="1"/>
          <p:nvPr/>
        </p:nvSpPr>
        <p:spPr>
          <a:xfrm>
            <a:off x="4672584"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Detect</a:t>
            </a:r>
            <a:endParaRPr lang="en-US" sz="1500" dirty="0"/>
          </a:p>
        </p:txBody>
      </p:sp>
      <p:sp>
        <p:nvSpPr>
          <p:cNvPr id="27" name="Text 20"/>
          <p:cNvSpPr txBox="1"/>
          <p:nvPr/>
        </p:nvSpPr>
        <p:spPr>
          <a:xfrm>
            <a:off x="4718304"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Spot attacks</a:t>
            </a:r>
            <a:endParaRPr lang="en-US" sz="1200" dirty="0"/>
          </a:p>
        </p:txBody>
      </p:sp>
      <p:sp>
        <p:nvSpPr>
          <p:cNvPr id="28" name="Shape 21"/>
          <p:cNvSpPr/>
          <p:nvPr/>
        </p:nvSpPr>
        <p:spPr>
          <a:xfrm>
            <a:off x="6016752" y="1325880"/>
            <a:ext cx="1280160" cy="2103120"/>
          </a:xfrm>
          <a:prstGeom prst="roundRect">
            <a:avLst>
              <a:gd name="adj" fmla="val 5714"/>
            </a:avLst>
          </a:prstGeom>
          <a:solidFill>
            <a:srgbClr val="F2EFEC"/>
          </a:solidFill>
          <a:ln w="6350">
            <a:solidFill>
              <a:srgbClr val="F2EFEC"/>
            </a:solidFill>
            <a:prstDash val="solid"/>
          </a:ln>
        </p:spPr>
      </p:sp>
      <p:sp>
        <p:nvSpPr>
          <p:cNvPr id="29" name="Shape 22"/>
          <p:cNvSpPr/>
          <p:nvPr/>
        </p:nvSpPr>
        <p:spPr>
          <a:xfrm>
            <a:off x="6382512" y="1554480"/>
            <a:ext cx="548640" cy="548640"/>
          </a:xfrm>
          <a:prstGeom prst="ellipse">
            <a:avLst/>
          </a:prstGeom>
          <a:solidFill>
            <a:srgbClr val="C9C4BE"/>
          </a:solidFill>
          <a:ln w="12700">
            <a:solidFill>
              <a:srgbClr val="C9C4BE"/>
            </a:solidFill>
            <a:prstDash val="solid"/>
          </a:ln>
        </p:spPr>
      </p:sp>
      <p:pic>
        <p:nvPicPr>
          <p:cNvPr id="30" name="Image 4" descr="preencoded.png">    </p:cNvPr>
          <p:cNvPicPr>
            <a:picLocks noChangeAspect="1"/>
          </p:cNvPicPr>
          <p:nvPr/>
        </p:nvPicPr>
        <p:blipFill>
          <a:blip r:embed="rId5"/>
          <a:stretch>
            <a:fillRect/>
          </a:stretch>
        </p:blipFill>
        <p:spPr>
          <a:xfrm>
            <a:off x="6519672" y="1691640"/>
            <a:ext cx="274320" cy="274320"/>
          </a:xfrm>
          <a:prstGeom prst="rect">
            <a:avLst/>
          </a:prstGeom>
        </p:spPr>
      </p:pic>
      <p:sp>
        <p:nvSpPr>
          <p:cNvPr id="31" name="Text 23"/>
          <p:cNvSpPr txBox="1"/>
          <p:nvPr/>
        </p:nvSpPr>
        <p:spPr>
          <a:xfrm>
            <a:off x="6062472"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Respond</a:t>
            </a:r>
            <a:endParaRPr lang="en-US" sz="1500" dirty="0"/>
          </a:p>
        </p:txBody>
      </p:sp>
      <p:sp>
        <p:nvSpPr>
          <p:cNvPr id="32" name="Text 24"/>
          <p:cNvSpPr txBox="1"/>
          <p:nvPr/>
        </p:nvSpPr>
        <p:spPr>
          <a:xfrm>
            <a:off x="6108192"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Act fast</a:t>
            </a:r>
            <a:endParaRPr lang="en-US" sz="1200" dirty="0"/>
          </a:p>
        </p:txBody>
      </p:sp>
      <p:sp>
        <p:nvSpPr>
          <p:cNvPr id="33" name="Shape 25"/>
          <p:cNvSpPr/>
          <p:nvPr/>
        </p:nvSpPr>
        <p:spPr>
          <a:xfrm>
            <a:off x="7406640" y="1325880"/>
            <a:ext cx="1280160" cy="2103120"/>
          </a:xfrm>
          <a:prstGeom prst="roundRect">
            <a:avLst>
              <a:gd name="adj" fmla="val 5714"/>
            </a:avLst>
          </a:prstGeom>
          <a:solidFill>
            <a:srgbClr val="F2EFEC"/>
          </a:solidFill>
          <a:ln w="6350">
            <a:solidFill>
              <a:srgbClr val="F2EFEC"/>
            </a:solidFill>
            <a:prstDash val="solid"/>
          </a:ln>
        </p:spPr>
      </p:sp>
      <p:sp>
        <p:nvSpPr>
          <p:cNvPr id="34" name="Shape 26"/>
          <p:cNvSpPr/>
          <p:nvPr/>
        </p:nvSpPr>
        <p:spPr>
          <a:xfrm>
            <a:off x="7772400" y="1554480"/>
            <a:ext cx="548640" cy="548640"/>
          </a:xfrm>
          <a:prstGeom prst="ellipse">
            <a:avLst/>
          </a:prstGeom>
          <a:solidFill>
            <a:srgbClr val="C9C4BE"/>
          </a:solidFill>
          <a:ln w="12700">
            <a:solidFill>
              <a:srgbClr val="C9C4BE"/>
            </a:solidFill>
            <a:prstDash val="solid"/>
          </a:ln>
        </p:spPr>
      </p:sp>
      <p:pic>
        <p:nvPicPr>
          <p:cNvPr id="35" name="Image 5" descr="preencoded.png">    </p:cNvPr>
          <p:cNvPicPr>
            <a:picLocks noChangeAspect="1"/>
          </p:cNvPicPr>
          <p:nvPr/>
        </p:nvPicPr>
        <p:blipFill>
          <a:blip r:embed="rId6"/>
          <a:stretch>
            <a:fillRect/>
          </a:stretch>
        </p:blipFill>
        <p:spPr>
          <a:xfrm>
            <a:off x="7909560" y="1691640"/>
            <a:ext cx="274320" cy="274320"/>
          </a:xfrm>
          <a:prstGeom prst="rect">
            <a:avLst/>
          </a:prstGeom>
        </p:spPr>
      </p:pic>
      <p:sp>
        <p:nvSpPr>
          <p:cNvPr id="36" name="Text 27"/>
          <p:cNvSpPr txBox="1"/>
          <p:nvPr/>
        </p:nvSpPr>
        <p:spPr>
          <a:xfrm>
            <a:off x="745236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Recover</a:t>
            </a:r>
            <a:endParaRPr lang="en-US" sz="1500" dirty="0"/>
          </a:p>
        </p:txBody>
      </p:sp>
      <p:sp>
        <p:nvSpPr>
          <p:cNvPr id="37" name="Text 28"/>
          <p:cNvSpPr txBox="1"/>
          <p:nvPr/>
        </p:nvSpPr>
        <p:spPr>
          <a:xfrm>
            <a:off x="749808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Get back to work</a:t>
            </a:r>
            <a:endParaRPr lang="en-US" sz="1200" dirty="0"/>
          </a:p>
        </p:txBody>
      </p:sp>
      <p:sp>
        <p:nvSpPr>
          <p:cNvPr id="38" name="Text 29"/>
          <p:cNvSpPr txBox="1"/>
          <p:nvPr/>
        </p:nvSpPr>
        <p:spPr>
          <a:xfrm>
            <a:off x="457200" y="3749040"/>
            <a:ext cx="822960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This afternoon: Protect our accounts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This afternoon you will learn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4</a:t>
            </a:r>
            <a:endParaRPr lang="en-US" sz="800" dirty="0"/>
          </a:p>
        </p:txBody>
      </p:sp>
      <p:sp>
        <p:nvSpPr>
          <p:cNvPr id="8" name="Shape 5"/>
          <p:cNvSpPr/>
          <p:nvPr/>
        </p:nvSpPr>
        <p:spPr>
          <a:xfrm>
            <a:off x="457200" y="137160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508760"/>
            <a:ext cx="274320" cy="274320"/>
          </a:xfrm>
          <a:prstGeom prst="rect">
            <a:avLst/>
          </a:prstGeom>
        </p:spPr>
      </p:pic>
      <p:sp>
        <p:nvSpPr>
          <p:cNvPr id="10" name="Text 6"/>
          <p:cNvSpPr txBox="1"/>
          <p:nvPr/>
        </p:nvSpPr>
        <p:spPr>
          <a:xfrm>
            <a:off x="1188720" y="132588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1.  Extended CIA</a:t>
            </a:r>
            <a:endParaRPr lang="en-US" sz="1600" dirty="0"/>
          </a:p>
        </p:txBody>
      </p:sp>
      <p:sp>
        <p:nvSpPr>
          <p:cNvPr id="11" name="Text 7"/>
          <p:cNvSpPr txBox="1"/>
          <p:nvPr/>
        </p:nvSpPr>
        <p:spPr>
          <a:xfrm>
            <a:off x="1188720" y="163677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CIA grows: authenticity and accountability.</a:t>
            </a:r>
            <a:endParaRPr lang="en-US" sz="1300" dirty="0"/>
          </a:p>
        </p:txBody>
      </p:sp>
      <p:sp>
        <p:nvSpPr>
          <p:cNvPr id="12" name="Shape 8"/>
          <p:cNvSpPr/>
          <p:nvPr/>
        </p:nvSpPr>
        <p:spPr>
          <a:xfrm>
            <a:off x="457200" y="2331720"/>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468880"/>
            <a:ext cx="274320" cy="274320"/>
          </a:xfrm>
          <a:prstGeom prst="rect">
            <a:avLst/>
          </a:prstGeom>
        </p:spPr>
      </p:pic>
      <p:sp>
        <p:nvSpPr>
          <p:cNvPr id="14" name="Text 9"/>
          <p:cNvSpPr txBox="1"/>
          <p:nvPr/>
        </p:nvSpPr>
        <p:spPr>
          <a:xfrm>
            <a:off x="1188720" y="228600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2.  Strong passwords</a:t>
            </a:r>
            <a:endParaRPr lang="en-US" sz="1600" dirty="0"/>
          </a:p>
        </p:txBody>
      </p:sp>
      <p:sp>
        <p:nvSpPr>
          <p:cNvPr id="15" name="Text 10"/>
          <p:cNvSpPr txBox="1"/>
          <p:nvPr/>
        </p:nvSpPr>
        <p:spPr>
          <a:xfrm>
            <a:off x="1188720" y="259689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Passphrases and password managers.</a:t>
            </a:r>
            <a:endParaRPr lang="en-US" sz="1300" dirty="0"/>
          </a:p>
        </p:txBody>
      </p:sp>
      <p:sp>
        <p:nvSpPr>
          <p:cNvPr id="16" name="Shape 11"/>
          <p:cNvSpPr/>
          <p:nvPr/>
        </p:nvSpPr>
        <p:spPr>
          <a:xfrm>
            <a:off x="457200" y="3291840"/>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429000"/>
            <a:ext cx="274320" cy="274320"/>
          </a:xfrm>
          <a:prstGeom prst="rect">
            <a:avLst/>
          </a:prstGeom>
        </p:spPr>
      </p:pic>
      <p:sp>
        <p:nvSpPr>
          <p:cNvPr id="18" name="Text 12"/>
          <p:cNvSpPr txBox="1"/>
          <p:nvPr/>
        </p:nvSpPr>
        <p:spPr>
          <a:xfrm>
            <a:off x="1188720" y="32461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3.  MFA</a:t>
            </a:r>
            <a:endParaRPr lang="en-US" sz="1600" dirty="0"/>
          </a:p>
        </p:txBody>
      </p:sp>
      <p:sp>
        <p:nvSpPr>
          <p:cNvPr id="19" name="Text 13"/>
          <p:cNvSpPr txBox="1"/>
          <p:nvPr/>
        </p:nvSpPr>
        <p:spPr>
          <a:xfrm>
            <a:off x="1188720" y="355701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Something you know, have or are.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1</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Extended CIA</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What we know, and what we add today.</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we know: the CIA triad</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6</a:t>
            </a:r>
            <a:endParaRPr lang="en-US" sz="800" dirty="0"/>
          </a:p>
        </p:txBody>
      </p:sp>
      <p:sp>
        <p:nvSpPr>
          <p:cNvPr id="8" name="Shape 5"/>
          <p:cNvSpPr/>
          <p:nvPr/>
        </p:nvSpPr>
        <p:spPr>
          <a:xfrm>
            <a:off x="457200" y="1188720"/>
            <a:ext cx="2590800" cy="2011680"/>
          </a:xfrm>
          <a:prstGeom prst="roundRect">
            <a:avLst>
              <a:gd name="adj" fmla="val 3636"/>
            </a:avLst>
          </a:prstGeom>
          <a:solidFill>
            <a:srgbClr val="E1E6E6"/>
          </a:solidFill>
          <a:ln w="12700">
            <a:solidFill>
              <a:srgbClr val="E1E6E6"/>
            </a:solidFill>
            <a:prstDash val="solid"/>
          </a:ln>
        </p:spPr>
      </p:sp>
      <p:sp>
        <p:nvSpPr>
          <p:cNvPr id="9" name="Text 6"/>
          <p:cNvSpPr txBox="1"/>
          <p:nvPr/>
        </p:nvSpPr>
        <p:spPr>
          <a:xfrm>
            <a:off x="640080" y="1371600"/>
            <a:ext cx="2225040" cy="36576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C: Confidentiality</a:t>
            </a:r>
            <a:endParaRPr lang="en-US" sz="1600" dirty="0"/>
          </a:p>
        </p:txBody>
      </p:sp>
      <p:sp>
        <p:nvSpPr>
          <p:cNvPr id="10" name="Text 7"/>
          <p:cNvSpPr txBox="1"/>
          <p:nvPr/>
        </p:nvSpPr>
        <p:spPr>
          <a:xfrm>
            <a:off x="640080" y="1755648"/>
            <a:ext cx="222504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Keep it secret. Was it SEEN by the wrong person?</a:t>
            </a:r>
            <a:endParaRPr lang="en-US" sz="1400" dirty="0"/>
          </a:p>
        </p:txBody>
      </p:sp>
      <p:sp>
        <p:nvSpPr>
          <p:cNvPr id="11" name="Shape 8"/>
          <p:cNvSpPr/>
          <p:nvPr/>
        </p:nvSpPr>
        <p:spPr>
          <a:xfrm>
            <a:off x="3276600" y="1188720"/>
            <a:ext cx="2590800" cy="2011680"/>
          </a:xfrm>
          <a:prstGeom prst="roundRect">
            <a:avLst>
              <a:gd name="adj" fmla="val 3636"/>
            </a:avLst>
          </a:prstGeom>
          <a:solidFill>
            <a:srgbClr val="D9D5D2"/>
          </a:solidFill>
          <a:ln w="12700">
            <a:solidFill>
              <a:srgbClr val="D9D5D2"/>
            </a:solidFill>
            <a:prstDash val="solid"/>
          </a:ln>
        </p:spPr>
      </p:sp>
      <p:sp>
        <p:nvSpPr>
          <p:cNvPr id="12" name="Text 9"/>
          <p:cNvSpPr txBox="1"/>
          <p:nvPr/>
        </p:nvSpPr>
        <p:spPr>
          <a:xfrm>
            <a:off x="3459480" y="1371600"/>
            <a:ext cx="2225040" cy="36576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I: Integrity</a:t>
            </a:r>
            <a:endParaRPr lang="en-US" sz="1600" dirty="0"/>
          </a:p>
        </p:txBody>
      </p:sp>
      <p:sp>
        <p:nvSpPr>
          <p:cNvPr id="13" name="Text 10"/>
          <p:cNvSpPr txBox="1"/>
          <p:nvPr/>
        </p:nvSpPr>
        <p:spPr>
          <a:xfrm>
            <a:off x="3459480" y="1755648"/>
            <a:ext cx="222504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Keep it correct. Was it CHANGED wrongly?</a:t>
            </a:r>
            <a:endParaRPr lang="en-US" sz="1400" dirty="0"/>
          </a:p>
        </p:txBody>
      </p:sp>
      <p:sp>
        <p:nvSpPr>
          <p:cNvPr id="14" name="Shape 11"/>
          <p:cNvSpPr/>
          <p:nvPr/>
        </p:nvSpPr>
        <p:spPr>
          <a:xfrm>
            <a:off x="6096000" y="1188720"/>
            <a:ext cx="2590800" cy="2011680"/>
          </a:xfrm>
          <a:prstGeom prst="roundRect">
            <a:avLst>
              <a:gd name="adj" fmla="val 3636"/>
            </a:avLst>
          </a:prstGeom>
          <a:solidFill>
            <a:srgbClr val="EDDDCD"/>
          </a:solidFill>
          <a:ln w="12700">
            <a:solidFill>
              <a:srgbClr val="EDDDCD"/>
            </a:solidFill>
            <a:prstDash val="solid"/>
          </a:ln>
        </p:spPr>
      </p:sp>
      <p:sp>
        <p:nvSpPr>
          <p:cNvPr id="15" name="Text 12"/>
          <p:cNvSpPr txBox="1"/>
          <p:nvPr/>
        </p:nvSpPr>
        <p:spPr>
          <a:xfrm>
            <a:off x="6278880" y="1371600"/>
            <a:ext cx="2225040" cy="36576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A: Availability</a:t>
            </a:r>
            <a:endParaRPr lang="en-US" sz="1600" dirty="0"/>
          </a:p>
        </p:txBody>
      </p:sp>
      <p:sp>
        <p:nvSpPr>
          <p:cNvPr id="16" name="Text 13"/>
          <p:cNvSpPr txBox="1"/>
          <p:nvPr/>
        </p:nvSpPr>
        <p:spPr>
          <a:xfrm>
            <a:off x="6278880" y="1755648"/>
            <a:ext cx="222504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Keep it available. Could we NOT USE it?</a:t>
            </a:r>
            <a:endParaRPr lang="en-US" sz="1400" dirty="0"/>
          </a:p>
        </p:txBody>
      </p:sp>
      <p:sp>
        <p:nvSpPr>
          <p:cNvPr id="17" name="Text 14"/>
          <p:cNvSpPr txBox="1"/>
          <p:nvPr/>
        </p:nvSpPr>
        <p:spPr>
          <a:xfrm>
            <a:off x="457200" y="3657600"/>
            <a:ext cx="8229600" cy="457200"/>
          </a:xfrm>
          <a:prstGeom prst="rect">
            <a:avLst/>
          </a:prstGeom>
          <a:noFill/>
          <a:ln/>
        </p:spPr>
        <p:txBody>
          <a:bodyPr wrap="square" lIns="0" tIns="0" rIns="0" bIns="0" rtlCol="0" anchor="ctr"/>
          <a:lstStyle/>
          <a:p>
            <a:pPr algn="ctr" indent="0" marL="0">
              <a:buNone/>
            </a:pPr>
            <a:r>
              <a:rPr lang="en-US" sz="1700" b="1" dirty="0">
                <a:solidFill>
                  <a:srgbClr val="7D5F3F"/>
                </a:solidFill>
                <a:latin typeface="Open Sans" pitchFamily="34" charset="0"/>
                <a:ea typeface="Open Sans" pitchFamily="34" charset="-122"/>
                <a:cs typeface="Open Sans" pitchFamily="34" charset="-120"/>
              </a:rPr>
              <a:t>This morning's tricks showed us two problems CIA does not name...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we add today: two new goals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7</a:t>
            </a:r>
            <a:endParaRPr lang="en-US" sz="800" dirty="0"/>
          </a:p>
        </p:txBody>
      </p:sp>
      <p:sp>
        <p:nvSpPr>
          <p:cNvPr id="8" name="Shape 5"/>
          <p:cNvSpPr/>
          <p:nvPr/>
        </p:nvSpPr>
        <p:spPr>
          <a:xfrm>
            <a:off x="457200" y="1188720"/>
            <a:ext cx="4000500" cy="2377440"/>
          </a:xfrm>
          <a:prstGeom prst="roundRect">
            <a:avLst>
              <a:gd name="adj" fmla="val 3077"/>
            </a:avLst>
          </a:prstGeom>
          <a:solidFill>
            <a:srgbClr val="EDDDCD"/>
          </a:solidFill>
          <a:ln w="12700">
            <a:solidFill>
              <a:srgbClr val="EDDDCD"/>
            </a:solidFill>
            <a:prstDash val="solid"/>
          </a:ln>
        </p:spPr>
      </p:sp>
      <p:sp>
        <p:nvSpPr>
          <p:cNvPr id="9" name="Shape 6"/>
          <p:cNvSpPr/>
          <p:nvPr/>
        </p:nvSpPr>
        <p:spPr>
          <a:xfrm>
            <a:off x="640080" y="1371600"/>
            <a:ext cx="502920" cy="502920"/>
          </a:xfrm>
          <a:prstGeom prst="ellipse">
            <a:avLst/>
          </a:prstGeom>
          <a:solidFill>
            <a:srgbClr val="7D5F3F"/>
          </a:solidFill>
          <a:ln w="12700">
            <a:solidFill>
              <a:srgbClr val="7D5F3F"/>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3634740" cy="4114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Authenticity: is it REAL?</a:t>
            </a:r>
            <a:endParaRPr lang="en-US" sz="1500" dirty="0"/>
          </a:p>
        </p:txBody>
      </p:sp>
      <p:sp>
        <p:nvSpPr>
          <p:cNvPr id="12" name="Text 8"/>
          <p:cNvSpPr txBox="1"/>
          <p:nvPr/>
        </p:nvSpPr>
        <p:spPr>
          <a:xfrm>
            <a:off x="640080" y="2441448"/>
            <a:ext cx="3634740" cy="100584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Checked NOW, when a message arrives or someone logs in.</a:t>
            </a:r>
            <a:endParaRPr lang="en-US" sz="1400" dirty="0"/>
          </a:p>
          <a:p>
            <a:pPr indent="0" marL="0">
              <a:buNone/>
            </a:pPr>
            <a:r>
              <a:rPr lang="en-US" sz="1400" dirty="0">
                <a:solidFill>
                  <a:srgbClr val="262A20"/>
                </a:solidFill>
                <a:latin typeface="Open Sans" pitchFamily="34" charset="0"/>
                <a:ea typeface="Open Sans" pitchFamily="34" charset="-122"/>
                <a:cs typeface="Open Sans" pitchFamily="34" charset="-120"/>
              </a:rPr>
              <a:t>This morning: the fake supplier email, the fake MD voice.</a:t>
            </a:r>
            <a:endParaRPr lang="en-US" sz="1400" dirty="0"/>
          </a:p>
        </p:txBody>
      </p:sp>
      <p:sp>
        <p:nvSpPr>
          <p:cNvPr id="13" name="Shape 9"/>
          <p:cNvSpPr/>
          <p:nvPr/>
        </p:nvSpPr>
        <p:spPr>
          <a:xfrm>
            <a:off x="4686300" y="1188720"/>
            <a:ext cx="4000500" cy="2377440"/>
          </a:xfrm>
          <a:prstGeom prst="roundRect">
            <a:avLst>
              <a:gd name="adj" fmla="val 3077"/>
            </a:avLst>
          </a:prstGeom>
          <a:solidFill>
            <a:srgbClr val="D9D5D2"/>
          </a:solidFill>
          <a:ln w="12700">
            <a:solidFill>
              <a:srgbClr val="D9D5D2"/>
            </a:solidFill>
            <a:prstDash val="solid"/>
          </a:ln>
        </p:spPr>
      </p:sp>
      <p:sp>
        <p:nvSpPr>
          <p:cNvPr id="14" name="Shape 10"/>
          <p:cNvSpPr/>
          <p:nvPr/>
        </p:nvSpPr>
        <p:spPr>
          <a:xfrm>
            <a:off x="4869180" y="1371600"/>
            <a:ext cx="502920" cy="502920"/>
          </a:xfrm>
          <a:prstGeom prst="ellipse">
            <a:avLst/>
          </a:prstGeom>
          <a:solidFill>
            <a:srgbClr val="262A20"/>
          </a:solidFill>
          <a:ln w="12700">
            <a:solidFill>
              <a:srgbClr val="262A20"/>
            </a:solidFill>
            <a:prstDash val="solid"/>
          </a:ln>
        </p:spPr>
      </p:sp>
      <p:pic>
        <p:nvPicPr>
          <p:cNvPr id="15" name="Image 1" descr="preencoded.png">    </p:cNvPr>
          <p:cNvPicPr>
            <a:picLocks noChangeAspect="1"/>
          </p:cNvPicPr>
          <p:nvPr/>
        </p:nvPicPr>
        <p:blipFill>
          <a:blip r:embed="rId2"/>
          <a:stretch>
            <a:fillRect/>
          </a:stretch>
        </p:blipFill>
        <p:spPr>
          <a:xfrm>
            <a:off x="4994910" y="1497330"/>
            <a:ext cx="251460" cy="251460"/>
          </a:xfrm>
          <a:prstGeom prst="rect">
            <a:avLst/>
          </a:prstGeom>
        </p:spPr>
      </p:pic>
      <p:sp>
        <p:nvSpPr>
          <p:cNvPr id="16" name="Text 11"/>
          <p:cNvSpPr txBox="1"/>
          <p:nvPr/>
        </p:nvSpPr>
        <p:spPr>
          <a:xfrm>
            <a:off x="4869180" y="2011680"/>
            <a:ext cx="3634740" cy="4114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Accountability: WHO did it?</a:t>
            </a:r>
            <a:endParaRPr lang="en-US" sz="1500" dirty="0"/>
          </a:p>
        </p:txBody>
      </p:sp>
      <p:sp>
        <p:nvSpPr>
          <p:cNvPr id="17" name="Text 12"/>
          <p:cNvSpPr txBox="1"/>
          <p:nvPr/>
        </p:nvSpPr>
        <p:spPr>
          <a:xfrm>
            <a:off x="4869180" y="2441448"/>
            <a:ext cx="3634740" cy="100584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Traced LATER, from records such as logs.</a:t>
            </a:r>
            <a:endParaRPr lang="en-US" sz="1400" dirty="0"/>
          </a:p>
          <a:p>
            <a:pPr indent="0" marL="0">
              <a:buNone/>
            </a:pPr>
            <a:r>
              <a:rPr lang="en-US" sz="1400" dirty="0">
                <a:solidFill>
                  <a:srgbClr val="262A20"/>
                </a:solidFill>
                <a:latin typeface="Open Sans" pitchFamily="34" charset="0"/>
                <a:ea typeface="Open Sans" pitchFamily="34" charset="-122"/>
                <a:cs typeface="Open Sans" pitchFamily="34" charset="-120"/>
              </a:rPr>
              <a:t>This afternoon: the deleted order nobody can trace.</a:t>
            </a:r>
            <a:endParaRPr lang="en-US" sz="1400" dirty="0"/>
          </a:p>
        </p:txBody>
      </p:sp>
      <p:sp>
        <p:nvSpPr>
          <p:cNvPr id="18" name="Text 13"/>
          <p:cNvSpPr txBox="1"/>
          <p:nvPr/>
        </p:nvSpPr>
        <p:spPr>
          <a:xfrm>
            <a:off x="457200" y="3840480"/>
            <a:ext cx="8229600" cy="457200"/>
          </a:xfrm>
          <a:prstGeom prst="rect">
            <a:avLst/>
          </a:prstGeom>
          <a:noFill/>
          <a:ln/>
        </p:spPr>
        <p:txBody>
          <a:bodyPr wrap="square" lIns="0" tIns="0" rIns="0" bIns="0" rtlCol="0" anchor="ctr"/>
          <a:lstStyle/>
          <a:p>
            <a:pPr algn="ctr" indent="0" marL="0">
              <a:buNone/>
            </a:pPr>
            <a:r>
              <a:rPr lang="en-US" sz="1800" b="1" dirty="0">
                <a:solidFill>
                  <a:srgbClr val="566A6C"/>
                </a:solidFill>
                <a:latin typeface="Open Sans" pitchFamily="34" charset="0"/>
                <a:ea typeface="Open Sans" pitchFamily="34" charset="-122"/>
                <a:cs typeface="Open Sans" pitchFamily="34" charset="-120"/>
              </a:rPr>
              <a:t>CIA + Authenticity + Accountability = extended CIA</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door and the diary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8</a:t>
            </a:r>
            <a:endParaRPr lang="en-US" sz="800" dirty="0"/>
          </a:p>
        </p:txBody>
      </p:sp>
      <p:pic>
        <p:nvPicPr>
          <p:cNvPr id="8" name="Image 0" descr="door_diary">    </p:cNvPr>
          <p:cNvPicPr>
            <a:picLocks noChangeAspect="1"/>
          </p:cNvPicPr>
          <p:nvPr/>
        </p:nvPicPr>
        <p:blipFill>
          <a:blip r:embed="rId1"/>
          <a:stretch>
            <a:fillRect/>
          </a:stretch>
        </p:blipFill>
        <p:spPr>
          <a:xfrm>
            <a:off x="365760" y="1488492"/>
            <a:ext cx="4663440" cy="2600856"/>
          </a:xfrm>
          <a:prstGeom prst="rect">
            <a:avLst/>
          </a:prstGeom>
        </p:spPr>
      </p:pic>
      <p:sp>
        <p:nvSpPr>
          <p:cNvPr id="9" name="Shape 5"/>
          <p:cNvSpPr/>
          <p:nvPr/>
        </p:nvSpPr>
        <p:spPr>
          <a:xfrm>
            <a:off x="5166360" y="1280160"/>
            <a:ext cx="548640" cy="548640"/>
          </a:xfrm>
          <a:prstGeom prst="ellipse">
            <a:avLst/>
          </a:prstGeom>
          <a:solidFill>
            <a:srgbClr val="7D5F3F"/>
          </a:solidFill>
          <a:ln w="12700">
            <a:solidFill>
              <a:srgbClr val="7D5F3F"/>
            </a:solidFill>
            <a:prstDash val="solid"/>
          </a:ln>
        </p:spPr>
      </p:sp>
      <p:pic>
        <p:nvPicPr>
          <p:cNvPr id="10" name="Image 1" descr="preencoded.png">    </p:cNvPr>
          <p:cNvPicPr>
            <a:picLocks noChangeAspect="1"/>
          </p:cNvPicPr>
          <p:nvPr/>
        </p:nvPicPr>
        <p:blipFill>
          <a:blip r:embed="rId2"/>
          <a:stretch>
            <a:fillRect/>
          </a:stretch>
        </p:blipFill>
        <p:spPr>
          <a:xfrm>
            <a:off x="5303520" y="1417320"/>
            <a:ext cx="274320" cy="274320"/>
          </a:xfrm>
          <a:prstGeom prst="rect">
            <a:avLst/>
          </a:prstGeom>
        </p:spPr>
      </p:pic>
      <p:sp>
        <p:nvSpPr>
          <p:cNvPr id="11" name="Text 6"/>
          <p:cNvSpPr txBox="1"/>
          <p:nvPr/>
        </p:nvSpPr>
        <p:spPr>
          <a:xfrm>
            <a:off x="5897880" y="1234440"/>
            <a:ext cx="28346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Door: Authenticity</a:t>
            </a:r>
            <a:endParaRPr lang="en-US" sz="1600" dirty="0"/>
          </a:p>
        </p:txBody>
      </p:sp>
      <p:sp>
        <p:nvSpPr>
          <p:cNvPr id="12" name="Text 7"/>
          <p:cNvSpPr txBox="1"/>
          <p:nvPr/>
        </p:nvSpPr>
        <p:spPr>
          <a:xfrm>
            <a:off x="5897880" y="1545336"/>
            <a:ext cx="2834640" cy="68580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Is it real? Checked NOW.</a:t>
            </a:r>
            <a:endParaRPr lang="en-US" sz="1300" dirty="0"/>
          </a:p>
        </p:txBody>
      </p:sp>
      <p:sp>
        <p:nvSpPr>
          <p:cNvPr id="13" name="Shape 8"/>
          <p:cNvSpPr/>
          <p:nvPr/>
        </p:nvSpPr>
        <p:spPr>
          <a:xfrm>
            <a:off x="5166360" y="2331720"/>
            <a:ext cx="548640" cy="548640"/>
          </a:xfrm>
          <a:prstGeom prst="ellipse">
            <a:avLst/>
          </a:prstGeom>
          <a:solidFill>
            <a:srgbClr val="262A20"/>
          </a:solidFill>
          <a:ln w="12700">
            <a:solidFill>
              <a:srgbClr val="262A20"/>
            </a:solidFill>
            <a:prstDash val="solid"/>
          </a:ln>
        </p:spPr>
      </p:sp>
      <p:pic>
        <p:nvPicPr>
          <p:cNvPr id="14" name="Image 2" descr="preencoded.png">    </p:cNvPr>
          <p:cNvPicPr>
            <a:picLocks noChangeAspect="1"/>
          </p:cNvPicPr>
          <p:nvPr/>
        </p:nvPicPr>
        <p:blipFill>
          <a:blip r:embed="rId3"/>
          <a:stretch>
            <a:fillRect/>
          </a:stretch>
        </p:blipFill>
        <p:spPr>
          <a:xfrm>
            <a:off x="5303520" y="2468880"/>
            <a:ext cx="274320" cy="274320"/>
          </a:xfrm>
          <a:prstGeom prst="rect">
            <a:avLst/>
          </a:prstGeom>
        </p:spPr>
      </p:pic>
      <p:sp>
        <p:nvSpPr>
          <p:cNvPr id="15" name="Text 9"/>
          <p:cNvSpPr txBox="1"/>
          <p:nvPr/>
        </p:nvSpPr>
        <p:spPr>
          <a:xfrm>
            <a:off x="5897880" y="2286000"/>
            <a:ext cx="28346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Diary: Accountability</a:t>
            </a:r>
            <a:endParaRPr lang="en-US" sz="1600" dirty="0"/>
          </a:p>
        </p:txBody>
      </p:sp>
      <p:sp>
        <p:nvSpPr>
          <p:cNvPr id="16" name="Text 10"/>
          <p:cNvSpPr txBox="1"/>
          <p:nvPr/>
        </p:nvSpPr>
        <p:spPr>
          <a:xfrm>
            <a:off x="5897880" y="2596896"/>
            <a:ext cx="2834640" cy="68580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Who did it? Traced LATER.</a:t>
            </a:r>
            <a:endParaRPr lang="en-US" sz="1300" dirty="0"/>
          </a:p>
        </p:txBody>
      </p:sp>
      <p:sp>
        <p:nvSpPr>
          <p:cNvPr id="17" name="Shape 11"/>
          <p:cNvSpPr/>
          <p:nvPr/>
        </p:nvSpPr>
        <p:spPr>
          <a:xfrm>
            <a:off x="5166360" y="3383280"/>
            <a:ext cx="548640" cy="548640"/>
          </a:xfrm>
          <a:prstGeom prst="ellipse">
            <a:avLst/>
          </a:prstGeom>
          <a:solidFill>
            <a:srgbClr val="667C7E"/>
          </a:solidFill>
          <a:ln w="12700">
            <a:solidFill>
              <a:srgbClr val="667C7E"/>
            </a:solidFill>
            <a:prstDash val="solid"/>
          </a:ln>
        </p:spPr>
      </p:sp>
      <p:pic>
        <p:nvPicPr>
          <p:cNvPr id="18" name="Image 3" descr="preencoded.png">    </p:cNvPr>
          <p:cNvPicPr>
            <a:picLocks noChangeAspect="1"/>
          </p:cNvPicPr>
          <p:nvPr/>
        </p:nvPicPr>
        <p:blipFill>
          <a:blip r:embed="rId4"/>
          <a:stretch>
            <a:fillRect/>
          </a:stretch>
        </p:blipFill>
        <p:spPr>
          <a:xfrm>
            <a:off x="5303520" y="3520440"/>
            <a:ext cx="274320" cy="274320"/>
          </a:xfrm>
          <a:prstGeom prst="rect">
            <a:avLst/>
          </a:prstGeom>
        </p:spPr>
      </p:pic>
      <p:sp>
        <p:nvSpPr>
          <p:cNvPr id="19" name="Text 12"/>
          <p:cNvSpPr txBox="1"/>
          <p:nvPr/>
        </p:nvSpPr>
        <p:spPr>
          <a:xfrm>
            <a:off x="5897880" y="3337560"/>
            <a:ext cx="28346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One question decides</a:t>
            </a:r>
            <a:endParaRPr lang="en-US" sz="1600" dirty="0"/>
          </a:p>
        </p:txBody>
      </p:sp>
      <p:sp>
        <p:nvSpPr>
          <p:cNvPr id="20" name="Text 13"/>
          <p:cNvSpPr txBox="1"/>
          <p:nvPr/>
        </p:nvSpPr>
        <p:spPr>
          <a:xfrm>
            <a:off x="5897880" y="3648456"/>
            <a:ext cx="2834640" cy="68580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Are we checking now, or tracing later?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Authenticity: the door</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9</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Authenticity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Checking that something is real, at the moment it happens: it is really you, or really from them.</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Before paying, Kasun checks that the email really comes from the supplier. The login asks for a password and a code.</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fake supplier email is believed. A deepfake call in the MD's voice is obeyed. A criminal logs in with Kasun's stolen password.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Accountability: the diary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10</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Accountability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Being able to trace an action to the person who did it, later, from records.</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Every staff member has their own login. The log shows who changed each price, so a manager can check next week.</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Everyone uses accounts1, so nobody knows who deleted the order. The log was switched off.</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One story, before and after</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11</a:t>
            </a:r>
            <a:endParaRPr lang="en-US" sz="800" dirty="0"/>
          </a:p>
        </p:txBody>
      </p:sp>
      <p:sp>
        <p:nvSpPr>
          <p:cNvPr id="8" name="Shape 5"/>
          <p:cNvSpPr/>
          <p:nvPr/>
        </p:nvSpPr>
        <p:spPr>
          <a:xfrm>
            <a:off x="731520" y="1600200"/>
            <a:ext cx="7680960" cy="0"/>
          </a:xfrm>
          <a:prstGeom prst="line">
            <a:avLst/>
          </a:prstGeom>
          <a:noFill/>
          <a:ln w="25400">
            <a:solidFill>
              <a:srgbClr val="5A5F55"/>
            </a:solidFill>
            <a:prstDash val="solid"/>
            <a:tailEnd type="triangle"/>
          </a:ln>
        </p:spPr>
      </p:sp>
      <p:sp>
        <p:nvSpPr>
          <p:cNvPr id="9" name="Shape 6"/>
          <p:cNvSpPr/>
          <p:nvPr/>
        </p:nvSpPr>
        <p:spPr>
          <a:xfrm>
            <a:off x="1600200" y="1463040"/>
            <a:ext cx="274320" cy="274320"/>
          </a:xfrm>
          <a:prstGeom prst="ellipse">
            <a:avLst/>
          </a:prstGeom>
          <a:solidFill>
            <a:srgbClr val="7D5F3F"/>
          </a:solidFill>
          <a:ln w="12700">
            <a:solidFill>
              <a:srgbClr val="7D5F3F"/>
            </a:solidFill>
            <a:prstDash val="solid"/>
          </a:ln>
        </p:spPr>
      </p:sp>
      <p:sp>
        <p:nvSpPr>
          <p:cNvPr id="10" name="Shape 7"/>
          <p:cNvSpPr/>
          <p:nvPr/>
        </p:nvSpPr>
        <p:spPr>
          <a:xfrm>
            <a:off x="457200" y="1920240"/>
            <a:ext cx="2560320" cy="2377440"/>
          </a:xfrm>
          <a:prstGeom prst="roundRect">
            <a:avLst>
              <a:gd name="adj" fmla="val 3077"/>
            </a:avLst>
          </a:prstGeom>
          <a:solidFill>
            <a:srgbClr val="EDDDCD"/>
          </a:solidFill>
          <a:ln w="12700">
            <a:solidFill>
              <a:srgbClr val="EDDDCD"/>
            </a:solidFill>
            <a:prstDash val="solid"/>
          </a:ln>
        </p:spPr>
      </p:sp>
      <p:sp>
        <p:nvSpPr>
          <p:cNvPr id="11" name="Text 8"/>
          <p:cNvSpPr txBox="1"/>
          <p:nvPr/>
        </p:nvSpPr>
        <p:spPr>
          <a:xfrm>
            <a:off x="594360" y="2011680"/>
            <a:ext cx="2286000" cy="365760"/>
          </a:xfrm>
          <a:prstGeom prst="rect">
            <a:avLst/>
          </a:prstGeom>
          <a:noFill/>
          <a:ln/>
        </p:spPr>
        <p:txBody>
          <a:bodyPr wrap="square" lIns="0" tIns="0" rIns="0" bIns="0" rtlCol="0" anchor="ctr"/>
          <a:lstStyle/>
          <a:p>
            <a:pPr indent="0" marL="0">
              <a:buNone/>
            </a:pPr>
            <a:r>
              <a:rPr lang="en-US" sz="1800" b="1" dirty="0">
                <a:solidFill>
                  <a:srgbClr val="262A20"/>
                </a:solidFill>
                <a:latin typeface="Open Sans" pitchFamily="34" charset="0"/>
                <a:ea typeface="Open Sans" pitchFamily="34" charset="-122"/>
                <a:cs typeface="Open Sans" pitchFamily="34" charset="-120"/>
              </a:rPr>
              <a:t>9:05 am</a:t>
            </a:r>
            <a:endParaRPr lang="en-US" sz="1800" dirty="0"/>
          </a:p>
        </p:txBody>
      </p:sp>
      <p:sp>
        <p:nvSpPr>
          <p:cNvPr id="12" name="Text 9"/>
          <p:cNvSpPr txBox="1"/>
          <p:nvPr/>
        </p:nvSpPr>
        <p:spPr>
          <a:xfrm>
            <a:off x="594360" y="2423160"/>
            <a:ext cx="2286000" cy="91440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Kasun logs in with his password and a phone code.</a:t>
            </a:r>
            <a:endParaRPr lang="en-US" sz="1400" dirty="0"/>
          </a:p>
        </p:txBody>
      </p:sp>
      <p:sp>
        <p:nvSpPr>
          <p:cNvPr id="13" name="Text 10"/>
          <p:cNvSpPr txBox="1"/>
          <p:nvPr/>
        </p:nvSpPr>
        <p:spPr>
          <a:xfrm>
            <a:off x="594360" y="3429000"/>
            <a:ext cx="2286000" cy="731520"/>
          </a:xfrm>
          <a:prstGeom prst="rect">
            <a:avLst/>
          </a:prstGeom>
          <a:noFill/>
          <a:ln/>
        </p:spPr>
        <p:txBody>
          <a:bodyPr wrap="square" lIns="0" tIns="0" rIns="0" bIns="0" rtlCol="0" anchor="t"/>
          <a:lstStyle/>
          <a:p>
            <a:pPr indent="0" marL="0">
              <a:buNone/>
            </a:pPr>
            <a:r>
              <a:rPr lang="en-US" sz="1400" b="1" dirty="0">
                <a:solidFill>
                  <a:srgbClr val="7D5F3F"/>
                </a:solidFill>
                <a:latin typeface="Open Sans" pitchFamily="34" charset="0"/>
                <a:ea typeface="Open Sans" pitchFamily="34" charset="-122"/>
                <a:cs typeface="Open Sans" pitchFamily="34" charset="-120"/>
              </a:rPr>
              <a:t>Door: is it really Kasun?</a:t>
            </a:r>
            <a:endParaRPr lang="en-US" sz="1400" dirty="0"/>
          </a:p>
        </p:txBody>
      </p:sp>
      <p:sp>
        <p:nvSpPr>
          <p:cNvPr id="14" name="Shape 11"/>
          <p:cNvSpPr/>
          <p:nvPr/>
        </p:nvSpPr>
        <p:spPr>
          <a:xfrm>
            <a:off x="4434840" y="1463040"/>
            <a:ext cx="274320" cy="274320"/>
          </a:xfrm>
          <a:prstGeom prst="ellipse">
            <a:avLst/>
          </a:prstGeom>
          <a:solidFill>
            <a:srgbClr val="5A5F55"/>
          </a:solidFill>
          <a:ln w="12700">
            <a:solidFill>
              <a:srgbClr val="5A5F55"/>
            </a:solidFill>
            <a:prstDash val="solid"/>
          </a:ln>
        </p:spPr>
      </p:sp>
      <p:sp>
        <p:nvSpPr>
          <p:cNvPr id="15" name="Shape 12"/>
          <p:cNvSpPr/>
          <p:nvPr/>
        </p:nvSpPr>
        <p:spPr>
          <a:xfrm>
            <a:off x="3291840" y="1920240"/>
            <a:ext cx="2560320" cy="2377440"/>
          </a:xfrm>
          <a:prstGeom prst="roundRect">
            <a:avLst>
              <a:gd name="adj" fmla="val 3077"/>
            </a:avLst>
          </a:prstGeom>
          <a:solidFill>
            <a:srgbClr val="F2EFEC"/>
          </a:solidFill>
          <a:ln w="12700">
            <a:solidFill>
              <a:srgbClr val="F2EFEC"/>
            </a:solidFill>
            <a:prstDash val="solid"/>
          </a:ln>
        </p:spPr>
      </p:sp>
      <p:sp>
        <p:nvSpPr>
          <p:cNvPr id="16" name="Text 13"/>
          <p:cNvSpPr txBox="1"/>
          <p:nvPr/>
        </p:nvSpPr>
        <p:spPr>
          <a:xfrm>
            <a:off x="3429000" y="2011680"/>
            <a:ext cx="2286000" cy="365760"/>
          </a:xfrm>
          <a:prstGeom prst="rect">
            <a:avLst/>
          </a:prstGeom>
          <a:noFill/>
          <a:ln/>
        </p:spPr>
        <p:txBody>
          <a:bodyPr wrap="square" lIns="0" tIns="0" rIns="0" bIns="0" rtlCol="0" anchor="ctr"/>
          <a:lstStyle/>
          <a:p>
            <a:pPr indent="0" marL="0">
              <a:buNone/>
            </a:pPr>
            <a:r>
              <a:rPr lang="en-US" sz="1800" b="1" dirty="0">
                <a:solidFill>
                  <a:srgbClr val="262A20"/>
                </a:solidFill>
                <a:latin typeface="Open Sans" pitchFamily="34" charset="0"/>
                <a:ea typeface="Open Sans" pitchFamily="34" charset="-122"/>
                <a:cs typeface="Open Sans" pitchFamily="34" charset="-120"/>
              </a:rPr>
              <a:t>9:20 am</a:t>
            </a:r>
            <a:endParaRPr lang="en-US" sz="1800" dirty="0"/>
          </a:p>
        </p:txBody>
      </p:sp>
      <p:sp>
        <p:nvSpPr>
          <p:cNvPr id="17" name="Text 14"/>
          <p:cNvSpPr txBox="1"/>
          <p:nvPr/>
        </p:nvSpPr>
        <p:spPr>
          <a:xfrm>
            <a:off x="3429000" y="2423160"/>
            <a:ext cx="2286000" cy="91440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Kasun changes the price of order 4470.</a:t>
            </a:r>
            <a:endParaRPr lang="en-US" sz="1400" dirty="0"/>
          </a:p>
        </p:txBody>
      </p:sp>
      <p:sp>
        <p:nvSpPr>
          <p:cNvPr id="18" name="Text 15"/>
          <p:cNvSpPr txBox="1"/>
          <p:nvPr/>
        </p:nvSpPr>
        <p:spPr>
          <a:xfrm>
            <a:off x="3429000" y="3429000"/>
            <a:ext cx="2286000" cy="731520"/>
          </a:xfrm>
          <a:prstGeom prst="rect">
            <a:avLst/>
          </a:prstGeom>
          <a:noFill/>
          <a:ln/>
        </p:spPr>
        <p:txBody>
          <a:bodyPr wrap="square" lIns="0" tIns="0" rIns="0" bIns="0" rtlCol="0" anchor="t"/>
          <a:lstStyle/>
          <a:p>
            <a:pPr indent="0" marL="0">
              <a:buNone/>
            </a:pPr>
            <a:r>
              <a:rPr lang="en-US" sz="1400" b="1" dirty="0">
                <a:solidFill>
                  <a:srgbClr val="5A5F55"/>
                </a:solidFill>
                <a:latin typeface="Open Sans" pitchFamily="34" charset="0"/>
                <a:ea typeface="Open Sans" pitchFamily="34" charset="-122"/>
                <a:cs typeface="Open Sans" pitchFamily="34" charset="-120"/>
              </a:rPr>
              <a:t>The system writes it in the log.</a:t>
            </a:r>
            <a:endParaRPr lang="en-US" sz="1400" dirty="0"/>
          </a:p>
        </p:txBody>
      </p:sp>
      <p:sp>
        <p:nvSpPr>
          <p:cNvPr id="19" name="Shape 16"/>
          <p:cNvSpPr/>
          <p:nvPr/>
        </p:nvSpPr>
        <p:spPr>
          <a:xfrm>
            <a:off x="7269480" y="1463040"/>
            <a:ext cx="274320" cy="274320"/>
          </a:xfrm>
          <a:prstGeom prst="ellipse">
            <a:avLst/>
          </a:prstGeom>
          <a:solidFill>
            <a:srgbClr val="262A20"/>
          </a:solidFill>
          <a:ln w="12700">
            <a:solidFill>
              <a:srgbClr val="262A20"/>
            </a:solidFill>
            <a:prstDash val="solid"/>
          </a:ln>
        </p:spPr>
      </p:sp>
      <p:sp>
        <p:nvSpPr>
          <p:cNvPr id="20" name="Shape 17"/>
          <p:cNvSpPr/>
          <p:nvPr/>
        </p:nvSpPr>
        <p:spPr>
          <a:xfrm>
            <a:off x="6126480" y="1920240"/>
            <a:ext cx="2560320" cy="2377440"/>
          </a:xfrm>
          <a:prstGeom prst="roundRect">
            <a:avLst>
              <a:gd name="adj" fmla="val 3077"/>
            </a:avLst>
          </a:prstGeom>
          <a:solidFill>
            <a:srgbClr val="D9D5D2"/>
          </a:solidFill>
          <a:ln w="12700">
            <a:solidFill>
              <a:srgbClr val="D9D5D2"/>
            </a:solidFill>
            <a:prstDash val="solid"/>
          </a:ln>
        </p:spPr>
      </p:sp>
      <p:sp>
        <p:nvSpPr>
          <p:cNvPr id="21" name="Text 18"/>
          <p:cNvSpPr txBox="1"/>
          <p:nvPr/>
        </p:nvSpPr>
        <p:spPr>
          <a:xfrm>
            <a:off x="6263640" y="2011680"/>
            <a:ext cx="2286000" cy="365760"/>
          </a:xfrm>
          <a:prstGeom prst="rect">
            <a:avLst/>
          </a:prstGeom>
          <a:noFill/>
          <a:ln/>
        </p:spPr>
        <p:txBody>
          <a:bodyPr wrap="square" lIns="0" tIns="0" rIns="0" bIns="0" rtlCol="0" anchor="ctr"/>
          <a:lstStyle/>
          <a:p>
            <a:pPr indent="0" marL="0">
              <a:buNone/>
            </a:pPr>
            <a:r>
              <a:rPr lang="en-US" sz="1800" b="1" dirty="0">
                <a:solidFill>
                  <a:srgbClr val="262A20"/>
                </a:solidFill>
                <a:latin typeface="Open Sans" pitchFamily="34" charset="0"/>
                <a:ea typeface="Open Sans" pitchFamily="34" charset="-122"/>
                <a:cs typeface="Open Sans" pitchFamily="34" charset="-120"/>
              </a:rPr>
              <a:t>Friday</a:t>
            </a:r>
            <a:endParaRPr lang="en-US" sz="1800" dirty="0"/>
          </a:p>
        </p:txBody>
      </p:sp>
      <p:sp>
        <p:nvSpPr>
          <p:cNvPr id="22" name="Text 19"/>
          <p:cNvSpPr txBox="1"/>
          <p:nvPr/>
        </p:nvSpPr>
        <p:spPr>
          <a:xfrm>
            <a:off x="6263640" y="2423160"/>
            <a:ext cx="2286000" cy="91440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MD asks: who changed that price?</a:t>
            </a:r>
            <a:endParaRPr lang="en-US" sz="1400" dirty="0"/>
          </a:p>
        </p:txBody>
      </p:sp>
      <p:sp>
        <p:nvSpPr>
          <p:cNvPr id="23" name="Text 20"/>
          <p:cNvSpPr txBox="1"/>
          <p:nvPr/>
        </p:nvSpPr>
        <p:spPr>
          <a:xfrm>
            <a:off x="6263640" y="3429000"/>
            <a:ext cx="2286000" cy="731520"/>
          </a:xfrm>
          <a:prstGeom prst="rect">
            <a:avLst/>
          </a:prstGeom>
          <a:noFill/>
          <a:ln/>
        </p:spPr>
        <p:txBody>
          <a:bodyPr wrap="square" lIns="0" tIns="0" rIns="0" bIns="0" rtlCol="0" anchor="t"/>
          <a:lstStyle/>
          <a:p>
            <a:pPr indent="0" marL="0">
              <a:buNone/>
            </a:pPr>
            <a:r>
              <a:rPr lang="en-US" sz="1400" b="1" dirty="0">
                <a:solidFill>
                  <a:srgbClr val="262A20"/>
                </a:solidFill>
                <a:latin typeface="Open Sans" pitchFamily="34" charset="0"/>
                <a:ea typeface="Open Sans" pitchFamily="34" charset="-122"/>
                <a:cs typeface="Open Sans" pitchFamily="34" charset="-120"/>
              </a:rPr>
              <a:t>Diary: the log says kasun.p.</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Door or diary? Look-alike pairs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12</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5394960"/>
                <a:gridCol w="2834640"/>
              </a:tblGrid>
              <a:tr h="475488">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Situation</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Door or diary?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475488">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fake email pretends to be from TeaLeaf's bank.</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Door: authenticity (is it real?)</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Nobody can find out who sent the price list to a rival.</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Diary: accountability (who did it?)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75488">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criminal logs in with Kasun's stolen password.</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Door: authenticity (not really Kasun)</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log shows kasun.p changed the price last week.</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Diary: accountability (traced later)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75488">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caller copies the MD's voice.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Door: authenticity (not really the MD)</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Everyone uses accounts1, so nobody knows who deleted the order.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Diary: accountability (no names to trace)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door and the diary need each other</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13</a:t>
            </a:r>
            <a:endParaRPr lang="en-US" sz="800" dirty="0"/>
          </a:p>
        </p:txBody>
      </p:sp>
      <p:sp>
        <p:nvSpPr>
          <p:cNvPr id="8" name="Shape 5"/>
          <p:cNvSpPr/>
          <p:nvPr/>
        </p:nvSpPr>
        <p:spPr>
          <a:xfrm>
            <a:off x="457200" y="1234440"/>
            <a:ext cx="8229600" cy="914400"/>
          </a:xfrm>
          <a:prstGeom prst="roundRect">
            <a:avLst>
              <a:gd name="adj" fmla="val 8000"/>
            </a:avLst>
          </a:prstGeom>
          <a:solidFill>
            <a:srgbClr val="D9D5D2"/>
          </a:solidFill>
          <a:ln w="12700">
            <a:solidFill>
              <a:srgbClr val="D9D5D2"/>
            </a:solidFill>
            <a:prstDash val="solid"/>
          </a:ln>
        </p:spPr>
      </p:sp>
      <p:sp>
        <p:nvSpPr>
          <p:cNvPr id="9" name="Text 6"/>
          <p:cNvSpPr txBox="1"/>
          <p:nvPr/>
        </p:nvSpPr>
        <p:spPr>
          <a:xfrm>
            <a:off x="640080" y="1280160"/>
            <a:ext cx="7863840" cy="822960"/>
          </a:xfrm>
          <a:prstGeom prst="rect">
            <a:avLst/>
          </a:prstGeom>
          <a:noFill/>
          <a:ln/>
        </p:spPr>
        <p:txBody>
          <a:bodyPr wrap="square" lIns="0" tIns="0" rIns="0" bIns="0" rtlCol="0" anchor="ctr"/>
          <a:lstStyle/>
          <a:p>
            <a:pPr indent="0" marL="0">
              <a:buNone/>
            </a:pPr>
            <a:r>
              <a:rPr lang="en-US" sz="1800" b="1" dirty="0">
                <a:solidFill>
                  <a:srgbClr val="262A20"/>
                </a:solidFill>
                <a:latin typeface="Courier New" pitchFamily="34" charset="0"/>
                <a:ea typeface="Courier New" pitchFamily="34" charset="-122"/>
                <a:cs typeface="Courier New" pitchFamily="34" charset="-120"/>
              </a:rPr>
              <a:t>The log says: 23:14  nimal.f  DELETED order 4471</a:t>
            </a:r>
            <a:endParaRPr lang="en-US" sz="1800" dirty="0"/>
          </a:p>
        </p:txBody>
      </p:sp>
      <p:sp>
        <p:nvSpPr>
          <p:cNvPr id="10" name="Shape 7"/>
          <p:cNvSpPr/>
          <p:nvPr/>
        </p:nvSpPr>
        <p:spPr>
          <a:xfrm>
            <a:off x="457200" y="2377440"/>
            <a:ext cx="4000500" cy="1280160"/>
          </a:xfrm>
          <a:prstGeom prst="roundRect">
            <a:avLst>
              <a:gd name="adj" fmla="val 5714"/>
            </a:avLst>
          </a:prstGeom>
          <a:solidFill>
            <a:srgbClr val="E1E6E6"/>
          </a:solidFill>
          <a:ln w="12700">
            <a:solidFill>
              <a:srgbClr val="E1E6E6"/>
            </a:solidFill>
            <a:prstDash val="solid"/>
          </a:ln>
        </p:spPr>
      </p:sp>
      <p:sp>
        <p:nvSpPr>
          <p:cNvPr id="11" name="Text 8"/>
          <p:cNvSpPr txBox="1"/>
          <p:nvPr/>
        </p:nvSpPr>
        <p:spPr>
          <a:xfrm>
            <a:off x="640080" y="256032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If the door worked</a:t>
            </a:r>
            <a:endParaRPr lang="en-US" sz="1500" dirty="0"/>
          </a:p>
        </p:txBody>
      </p:sp>
      <p:sp>
        <p:nvSpPr>
          <p:cNvPr id="12" name="Text 9"/>
          <p:cNvSpPr txBox="1"/>
          <p:nvPr/>
        </p:nvSpPr>
        <p:spPr>
          <a:xfrm>
            <a:off x="640080" y="2944368"/>
            <a:ext cx="3634740" cy="59436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It really was Nimal. The diary is true. Accountability works.</a:t>
            </a:r>
            <a:endParaRPr lang="en-US" sz="1400" dirty="0"/>
          </a:p>
        </p:txBody>
      </p:sp>
      <p:sp>
        <p:nvSpPr>
          <p:cNvPr id="13" name="Shape 10"/>
          <p:cNvSpPr/>
          <p:nvPr/>
        </p:nvSpPr>
        <p:spPr>
          <a:xfrm>
            <a:off x="4686300" y="2377440"/>
            <a:ext cx="4000500" cy="1280160"/>
          </a:xfrm>
          <a:prstGeom prst="roundRect">
            <a:avLst>
              <a:gd name="adj" fmla="val 5714"/>
            </a:avLst>
          </a:prstGeom>
          <a:solidFill>
            <a:srgbClr val="EDDDCD"/>
          </a:solidFill>
          <a:ln w="12700">
            <a:solidFill>
              <a:srgbClr val="EDDDCD"/>
            </a:solidFill>
            <a:prstDash val="solid"/>
          </a:ln>
        </p:spPr>
      </p:sp>
      <p:sp>
        <p:nvSpPr>
          <p:cNvPr id="14" name="Text 11"/>
          <p:cNvSpPr txBox="1"/>
          <p:nvPr/>
        </p:nvSpPr>
        <p:spPr>
          <a:xfrm>
            <a:off x="4869180" y="256032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If the door failed</a:t>
            </a:r>
            <a:endParaRPr lang="en-US" sz="1500" dirty="0"/>
          </a:p>
        </p:txBody>
      </p:sp>
      <p:sp>
        <p:nvSpPr>
          <p:cNvPr id="15" name="Text 12"/>
          <p:cNvSpPr txBox="1"/>
          <p:nvPr/>
        </p:nvSpPr>
        <p:spPr>
          <a:xfrm>
            <a:off x="4869180" y="2944368"/>
            <a:ext cx="3634740" cy="59436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criminal used Nimal's stolen password. The diary blames the wrong person.</a:t>
            </a:r>
            <a:endParaRPr lang="en-US" sz="1400" dirty="0"/>
          </a:p>
        </p:txBody>
      </p:sp>
      <p:sp>
        <p:nvSpPr>
          <p:cNvPr id="16" name="Text 13"/>
          <p:cNvSpPr txBox="1"/>
          <p:nvPr/>
        </p:nvSpPr>
        <p:spPr>
          <a:xfrm>
            <a:off x="457200" y="3840480"/>
            <a:ext cx="8229600" cy="457200"/>
          </a:xfrm>
          <a:prstGeom prst="rect">
            <a:avLst/>
          </a:prstGeom>
          <a:noFill/>
          <a:ln/>
        </p:spPr>
        <p:txBody>
          <a:bodyPr wrap="square" lIns="0" tIns="0" rIns="0" bIns="0" rtlCol="0" anchor="ctr"/>
          <a:lstStyle/>
          <a:p>
            <a:pPr algn="ctr" indent="0" marL="0">
              <a:buNone/>
            </a:pPr>
            <a:r>
              <a:rPr lang="en-US" sz="1600" b="1" dirty="0">
                <a:solidFill>
                  <a:srgbClr val="7D5F3F"/>
                </a:solidFill>
                <a:latin typeface="Open Sans" pitchFamily="34" charset="0"/>
                <a:ea typeface="Open Sans" pitchFamily="34" charset="-122"/>
                <a:cs typeface="Open Sans" pitchFamily="34" charset="-120"/>
              </a:rPr>
              <a:t>Weak authenticity breaks accountability. MFA helps both (section 3).</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How we get them</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14</a:t>
            </a:r>
            <a:endParaRPr lang="en-US" sz="800" dirty="0"/>
          </a:p>
        </p:txBody>
      </p:sp>
      <p:sp>
        <p:nvSpPr>
          <p:cNvPr id="8" name="Shape 5"/>
          <p:cNvSpPr/>
          <p:nvPr/>
        </p:nvSpPr>
        <p:spPr>
          <a:xfrm>
            <a:off x="457200" y="1234440"/>
            <a:ext cx="2560320" cy="3017520"/>
          </a:xfrm>
          <a:prstGeom prst="roundRect">
            <a:avLst>
              <a:gd name="adj" fmla="val 2857"/>
            </a:avLst>
          </a:prstGeom>
          <a:solidFill>
            <a:srgbClr val="EDDDCD"/>
          </a:solidFill>
          <a:ln w="12700">
            <a:solidFill>
              <a:srgbClr val="EDDDCD"/>
            </a:solidFill>
            <a:prstDash val="solid"/>
          </a:ln>
        </p:spPr>
      </p:sp>
      <p:sp>
        <p:nvSpPr>
          <p:cNvPr id="9" name="Shape 6"/>
          <p:cNvSpPr/>
          <p:nvPr/>
        </p:nvSpPr>
        <p:spPr>
          <a:xfrm>
            <a:off x="1417320" y="1371600"/>
            <a:ext cx="640080" cy="64008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1577340" y="1531620"/>
            <a:ext cx="320040" cy="320040"/>
          </a:xfrm>
          <a:prstGeom prst="rect">
            <a:avLst/>
          </a:prstGeom>
        </p:spPr>
      </p:pic>
      <p:sp>
        <p:nvSpPr>
          <p:cNvPr id="11" name="Text 7"/>
          <p:cNvSpPr txBox="1"/>
          <p:nvPr/>
        </p:nvSpPr>
        <p:spPr>
          <a:xfrm>
            <a:off x="548640" y="2103120"/>
            <a:ext cx="2377440" cy="36576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Authentication</a:t>
            </a:r>
            <a:endParaRPr lang="en-US" sz="1600" dirty="0"/>
          </a:p>
        </p:txBody>
      </p:sp>
      <p:sp>
        <p:nvSpPr>
          <p:cNvPr id="12" name="Text 8"/>
          <p:cNvSpPr txBox="1"/>
          <p:nvPr/>
        </p:nvSpPr>
        <p:spPr>
          <a:xfrm>
            <a:off x="548640" y="2468880"/>
            <a:ext cx="2377440" cy="320040"/>
          </a:xfrm>
          <a:prstGeom prst="rect">
            <a:avLst/>
          </a:prstGeom>
          <a:noFill/>
          <a:ln/>
        </p:spPr>
        <p:txBody>
          <a:bodyPr wrap="square" lIns="0" tIns="0" rIns="0" bIns="0" rtlCol="0" anchor="ctr"/>
          <a:lstStyle/>
          <a:p>
            <a:pPr algn="ctr" indent="0" marL="0">
              <a:buNone/>
            </a:pPr>
            <a:r>
              <a:rPr lang="en-US" sz="1400" b="1" dirty="0">
                <a:solidFill>
                  <a:srgbClr val="262A20"/>
                </a:solidFill>
                <a:latin typeface="Open Sans" pitchFamily="34" charset="0"/>
                <a:ea typeface="Open Sans" pitchFamily="34" charset="-122"/>
                <a:cs typeface="Open Sans" pitchFamily="34" charset="-120"/>
              </a:rPr>
              <a:t>Who are you?</a:t>
            </a:r>
            <a:endParaRPr lang="en-US" sz="1400" dirty="0"/>
          </a:p>
        </p:txBody>
      </p:sp>
      <p:sp>
        <p:nvSpPr>
          <p:cNvPr id="13" name="Text 9"/>
          <p:cNvSpPr txBox="1"/>
          <p:nvPr/>
        </p:nvSpPr>
        <p:spPr>
          <a:xfrm>
            <a:off x="640080" y="2834640"/>
            <a:ext cx="2194560" cy="731520"/>
          </a:xfrm>
          <a:prstGeom prst="rect">
            <a:avLst/>
          </a:prstGeom>
          <a:noFill/>
          <a:ln/>
        </p:spPr>
        <p:txBody>
          <a:bodyPr wrap="square" lIns="0" tIns="0" rIns="0" bIns="0" rtlCol="0" anchor="t"/>
          <a:lstStyle/>
          <a:p>
            <a:pPr algn="ctr" indent="0" marL="0">
              <a:buNone/>
            </a:pPr>
            <a:r>
              <a:rPr lang="en-US" sz="1250" dirty="0">
                <a:solidFill>
                  <a:srgbClr val="262A20"/>
                </a:solidFill>
                <a:latin typeface="Open Sans" pitchFamily="34" charset="0"/>
                <a:ea typeface="Open Sans" pitchFamily="34" charset="-122"/>
                <a:cs typeface="Open Sans" pitchFamily="34" charset="-120"/>
              </a:rPr>
              <a:t>Password and a code prove it is really you.</a:t>
            </a:r>
            <a:endParaRPr lang="en-US" sz="1250" dirty="0"/>
          </a:p>
        </p:txBody>
      </p:sp>
      <p:sp>
        <p:nvSpPr>
          <p:cNvPr id="14" name="Text 10"/>
          <p:cNvSpPr txBox="1"/>
          <p:nvPr/>
        </p:nvSpPr>
        <p:spPr>
          <a:xfrm>
            <a:off x="548640" y="3611880"/>
            <a:ext cx="2377440" cy="502920"/>
          </a:xfrm>
          <a:prstGeom prst="rect">
            <a:avLst/>
          </a:prstGeom>
          <a:noFill/>
          <a:ln/>
        </p:spPr>
        <p:txBody>
          <a:bodyPr wrap="square" lIns="0" tIns="0" rIns="0" bIns="0" rtlCol="0" anchor="t"/>
          <a:lstStyle/>
          <a:p>
            <a:pPr algn="ctr" indent="0" marL="0">
              <a:buNone/>
            </a:pPr>
            <a:r>
              <a:rPr lang="en-US" sz="1250" b="1" dirty="0">
                <a:solidFill>
                  <a:srgbClr val="7D5F3F"/>
                </a:solidFill>
                <a:latin typeface="Open Sans" pitchFamily="34" charset="0"/>
                <a:ea typeface="Open Sans" pitchFamily="34" charset="-122"/>
                <a:cs typeface="Open Sans" pitchFamily="34" charset="-120"/>
              </a:rPr>
              <a:t>Gives authenticity (the door)</a:t>
            </a:r>
            <a:endParaRPr lang="en-US" sz="1250" dirty="0"/>
          </a:p>
        </p:txBody>
      </p:sp>
      <p:sp>
        <p:nvSpPr>
          <p:cNvPr id="15" name="Shape 11"/>
          <p:cNvSpPr/>
          <p:nvPr/>
        </p:nvSpPr>
        <p:spPr>
          <a:xfrm>
            <a:off x="3035808" y="2743200"/>
            <a:ext cx="237744" cy="0"/>
          </a:xfrm>
          <a:prstGeom prst="line">
            <a:avLst/>
          </a:prstGeom>
          <a:noFill/>
          <a:ln w="25400">
            <a:solidFill>
              <a:srgbClr val="5A5F55"/>
            </a:solidFill>
            <a:prstDash val="solid"/>
            <a:tailEnd type="triangle"/>
          </a:ln>
        </p:spPr>
      </p:sp>
      <p:sp>
        <p:nvSpPr>
          <p:cNvPr id="16" name="Shape 12"/>
          <p:cNvSpPr/>
          <p:nvPr/>
        </p:nvSpPr>
        <p:spPr>
          <a:xfrm>
            <a:off x="3291840" y="1234440"/>
            <a:ext cx="2560320" cy="3017520"/>
          </a:xfrm>
          <a:prstGeom prst="roundRect">
            <a:avLst>
              <a:gd name="adj" fmla="val 2857"/>
            </a:avLst>
          </a:prstGeom>
          <a:solidFill>
            <a:srgbClr val="F2EFEC"/>
          </a:solidFill>
          <a:ln w="12700">
            <a:solidFill>
              <a:srgbClr val="F2EFEC"/>
            </a:solidFill>
            <a:prstDash val="solid"/>
          </a:ln>
        </p:spPr>
      </p:sp>
      <p:sp>
        <p:nvSpPr>
          <p:cNvPr id="17" name="Shape 13"/>
          <p:cNvSpPr/>
          <p:nvPr/>
        </p:nvSpPr>
        <p:spPr>
          <a:xfrm>
            <a:off x="4251960" y="1371600"/>
            <a:ext cx="640080" cy="640080"/>
          </a:xfrm>
          <a:prstGeom prst="ellipse">
            <a:avLst/>
          </a:prstGeom>
          <a:solidFill>
            <a:srgbClr val="667C7E"/>
          </a:solidFill>
          <a:ln w="12700">
            <a:solidFill>
              <a:srgbClr val="667C7E"/>
            </a:solidFill>
            <a:prstDash val="solid"/>
          </a:ln>
        </p:spPr>
      </p:sp>
      <p:pic>
        <p:nvPicPr>
          <p:cNvPr id="18" name="Image 1" descr="preencoded.png">    </p:cNvPr>
          <p:cNvPicPr>
            <a:picLocks noChangeAspect="1"/>
          </p:cNvPicPr>
          <p:nvPr/>
        </p:nvPicPr>
        <p:blipFill>
          <a:blip r:embed="rId2"/>
          <a:stretch>
            <a:fillRect/>
          </a:stretch>
        </p:blipFill>
        <p:spPr>
          <a:xfrm>
            <a:off x="4411980" y="1531620"/>
            <a:ext cx="320040" cy="320040"/>
          </a:xfrm>
          <a:prstGeom prst="rect">
            <a:avLst/>
          </a:prstGeom>
        </p:spPr>
      </p:pic>
      <p:sp>
        <p:nvSpPr>
          <p:cNvPr id="19" name="Text 14"/>
          <p:cNvSpPr txBox="1"/>
          <p:nvPr/>
        </p:nvSpPr>
        <p:spPr>
          <a:xfrm>
            <a:off x="3383280" y="2103120"/>
            <a:ext cx="2377440" cy="36576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Authorisation</a:t>
            </a:r>
            <a:endParaRPr lang="en-US" sz="1600" dirty="0"/>
          </a:p>
        </p:txBody>
      </p:sp>
      <p:sp>
        <p:nvSpPr>
          <p:cNvPr id="20" name="Text 15"/>
          <p:cNvSpPr txBox="1"/>
          <p:nvPr/>
        </p:nvSpPr>
        <p:spPr>
          <a:xfrm>
            <a:off x="3383280" y="2468880"/>
            <a:ext cx="2377440" cy="320040"/>
          </a:xfrm>
          <a:prstGeom prst="rect">
            <a:avLst/>
          </a:prstGeom>
          <a:noFill/>
          <a:ln/>
        </p:spPr>
        <p:txBody>
          <a:bodyPr wrap="square" lIns="0" tIns="0" rIns="0" bIns="0" rtlCol="0" anchor="ctr"/>
          <a:lstStyle/>
          <a:p>
            <a:pPr algn="ctr" indent="0" marL="0">
              <a:buNone/>
            </a:pPr>
            <a:r>
              <a:rPr lang="en-US" sz="1400" b="1" dirty="0">
                <a:solidFill>
                  <a:srgbClr val="262A20"/>
                </a:solidFill>
                <a:latin typeface="Open Sans" pitchFamily="34" charset="0"/>
                <a:ea typeface="Open Sans" pitchFamily="34" charset="-122"/>
                <a:cs typeface="Open Sans" pitchFamily="34" charset="-120"/>
              </a:rPr>
              <a:t>What may you do?</a:t>
            </a:r>
            <a:endParaRPr lang="en-US" sz="1400" dirty="0"/>
          </a:p>
        </p:txBody>
      </p:sp>
      <p:sp>
        <p:nvSpPr>
          <p:cNvPr id="21" name="Text 16"/>
          <p:cNvSpPr txBox="1"/>
          <p:nvPr/>
        </p:nvSpPr>
        <p:spPr>
          <a:xfrm>
            <a:off x="3474720" y="2834640"/>
            <a:ext cx="2194560" cy="731520"/>
          </a:xfrm>
          <a:prstGeom prst="rect">
            <a:avLst/>
          </a:prstGeom>
          <a:noFill/>
          <a:ln/>
        </p:spPr>
        <p:txBody>
          <a:bodyPr wrap="square" lIns="0" tIns="0" rIns="0" bIns="0" rtlCol="0" anchor="t"/>
          <a:lstStyle/>
          <a:p>
            <a:pPr algn="ctr" indent="0" marL="0">
              <a:buNone/>
            </a:pPr>
            <a:r>
              <a:rPr lang="en-US" sz="1250" dirty="0">
                <a:solidFill>
                  <a:srgbClr val="262A20"/>
                </a:solidFill>
                <a:latin typeface="Open Sans" pitchFamily="34" charset="0"/>
                <a:ea typeface="Open Sans" pitchFamily="34" charset="-122"/>
                <a:cs typeface="Open Sans" pitchFamily="34" charset="-120"/>
              </a:rPr>
              <a:t>Kasun may open Accounts, not Payroll.</a:t>
            </a:r>
            <a:endParaRPr lang="en-US" sz="1250" dirty="0"/>
          </a:p>
        </p:txBody>
      </p:sp>
      <p:sp>
        <p:nvSpPr>
          <p:cNvPr id="22" name="Text 17"/>
          <p:cNvSpPr txBox="1"/>
          <p:nvPr/>
        </p:nvSpPr>
        <p:spPr>
          <a:xfrm>
            <a:off x="3383280" y="3611880"/>
            <a:ext cx="2377440" cy="502920"/>
          </a:xfrm>
          <a:prstGeom prst="rect">
            <a:avLst/>
          </a:prstGeom>
          <a:noFill/>
          <a:ln/>
        </p:spPr>
        <p:txBody>
          <a:bodyPr wrap="square" lIns="0" tIns="0" rIns="0" bIns="0" rtlCol="0" anchor="t"/>
          <a:lstStyle/>
          <a:p>
            <a:pPr algn="ctr" indent="0" marL="0">
              <a:buNone/>
            </a:pPr>
            <a:r>
              <a:rPr lang="en-US" sz="1250" b="1" dirty="0">
                <a:solidFill>
                  <a:srgbClr val="7D5F3F"/>
                </a:solidFill>
                <a:latin typeface="Open Sans" pitchFamily="34" charset="0"/>
                <a:ea typeface="Open Sans" pitchFamily="34" charset="-122"/>
                <a:cs typeface="Open Sans" pitchFamily="34" charset="-120"/>
              </a:rPr>
              <a:t>Limits the harm</a:t>
            </a:r>
            <a:endParaRPr lang="en-US" sz="1250" dirty="0"/>
          </a:p>
        </p:txBody>
      </p:sp>
      <p:sp>
        <p:nvSpPr>
          <p:cNvPr id="23" name="Shape 18"/>
          <p:cNvSpPr/>
          <p:nvPr/>
        </p:nvSpPr>
        <p:spPr>
          <a:xfrm>
            <a:off x="5870448" y="2743200"/>
            <a:ext cx="237744" cy="0"/>
          </a:xfrm>
          <a:prstGeom prst="line">
            <a:avLst/>
          </a:prstGeom>
          <a:noFill/>
          <a:ln w="25400">
            <a:solidFill>
              <a:srgbClr val="5A5F55"/>
            </a:solidFill>
            <a:prstDash val="solid"/>
            <a:tailEnd type="triangle"/>
          </a:ln>
        </p:spPr>
      </p:sp>
      <p:sp>
        <p:nvSpPr>
          <p:cNvPr id="24" name="Shape 19"/>
          <p:cNvSpPr/>
          <p:nvPr/>
        </p:nvSpPr>
        <p:spPr>
          <a:xfrm>
            <a:off x="6126480" y="1234440"/>
            <a:ext cx="2560320" cy="3017520"/>
          </a:xfrm>
          <a:prstGeom prst="roundRect">
            <a:avLst>
              <a:gd name="adj" fmla="val 2857"/>
            </a:avLst>
          </a:prstGeom>
          <a:solidFill>
            <a:srgbClr val="D9D5D2"/>
          </a:solidFill>
          <a:ln w="12700">
            <a:solidFill>
              <a:srgbClr val="D9D5D2"/>
            </a:solidFill>
            <a:prstDash val="solid"/>
          </a:ln>
        </p:spPr>
      </p:sp>
      <p:sp>
        <p:nvSpPr>
          <p:cNvPr id="25" name="Shape 20"/>
          <p:cNvSpPr/>
          <p:nvPr/>
        </p:nvSpPr>
        <p:spPr>
          <a:xfrm>
            <a:off x="7086600" y="1371600"/>
            <a:ext cx="640080" cy="640080"/>
          </a:xfrm>
          <a:prstGeom prst="ellipse">
            <a:avLst/>
          </a:prstGeom>
          <a:solidFill>
            <a:srgbClr val="667C7E"/>
          </a:solidFill>
          <a:ln w="12700">
            <a:solidFill>
              <a:srgbClr val="667C7E"/>
            </a:solidFill>
            <a:prstDash val="solid"/>
          </a:ln>
        </p:spPr>
      </p:sp>
      <p:pic>
        <p:nvPicPr>
          <p:cNvPr id="26" name="Image 2" descr="preencoded.png">    </p:cNvPr>
          <p:cNvPicPr>
            <a:picLocks noChangeAspect="1"/>
          </p:cNvPicPr>
          <p:nvPr/>
        </p:nvPicPr>
        <p:blipFill>
          <a:blip r:embed="rId3"/>
          <a:stretch>
            <a:fillRect/>
          </a:stretch>
        </p:blipFill>
        <p:spPr>
          <a:xfrm>
            <a:off x="7246620" y="1531620"/>
            <a:ext cx="320040" cy="320040"/>
          </a:xfrm>
          <a:prstGeom prst="rect">
            <a:avLst/>
          </a:prstGeom>
        </p:spPr>
      </p:pic>
      <p:sp>
        <p:nvSpPr>
          <p:cNvPr id="27" name="Text 21"/>
          <p:cNvSpPr txBox="1"/>
          <p:nvPr/>
        </p:nvSpPr>
        <p:spPr>
          <a:xfrm>
            <a:off x="6217920" y="2103120"/>
            <a:ext cx="2377440" cy="36576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Personal login + log</a:t>
            </a:r>
            <a:endParaRPr lang="en-US" sz="1600" dirty="0"/>
          </a:p>
        </p:txBody>
      </p:sp>
      <p:sp>
        <p:nvSpPr>
          <p:cNvPr id="28" name="Text 22"/>
          <p:cNvSpPr txBox="1"/>
          <p:nvPr/>
        </p:nvSpPr>
        <p:spPr>
          <a:xfrm>
            <a:off x="6217920" y="2468880"/>
            <a:ext cx="2377440" cy="320040"/>
          </a:xfrm>
          <a:prstGeom prst="rect">
            <a:avLst/>
          </a:prstGeom>
          <a:noFill/>
          <a:ln/>
        </p:spPr>
        <p:txBody>
          <a:bodyPr wrap="square" lIns="0" tIns="0" rIns="0" bIns="0" rtlCol="0" anchor="ctr"/>
          <a:lstStyle/>
          <a:p>
            <a:pPr algn="ctr" indent="0" marL="0">
              <a:buNone/>
            </a:pPr>
            <a:r>
              <a:rPr lang="en-US" sz="1400" b="1" dirty="0">
                <a:solidFill>
                  <a:srgbClr val="262A20"/>
                </a:solidFill>
                <a:latin typeface="Open Sans" pitchFamily="34" charset="0"/>
                <a:ea typeface="Open Sans" pitchFamily="34" charset="-122"/>
                <a:cs typeface="Open Sans" pitchFamily="34" charset="-120"/>
              </a:rPr>
              <a:t>Who did it?</a:t>
            </a:r>
            <a:endParaRPr lang="en-US" sz="1400" dirty="0"/>
          </a:p>
        </p:txBody>
      </p:sp>
      <p:sp>
        <p:nvSpPr>
          <p:cNvPr id="29" name="Text 23"/>
          <p:cNvSpPr txBox="1"/>
          <p:nvPr/>
        </p:nvSpPr>
        <p:spPr>
          <a:xfrm>
            <a:off x="6309360" y="2834640"/>
            <a:ext cx="2194560" cy="731520"/>
          </a:xfrm>
          <a:prstGeom prst="rect">
            <a:avLst/>
          </a:prstGeom>
          <a:noFill/>
          <a:ln/>
        </p:spPr>
        <p:txBody>
          <a:bodyPr wrap="square" lIns="0" tIns="0" rIns="0" bIns="0" rtlCol="0" anchor="t"/>
          <a:lstStyle/>
          <a:p>
            <a:pPr algn="ctr" indent="0" marL="0">
              <a:buNone/>
            </a:pPr>
            <a:r>
              <a:rPr lang="en-US" sz="1250" dirty="0">
                <a:solidFill>
                  <a:srgbClr val="262A20"/>
                </a:solidFill>
                <a:latin typeface="Open Sans" pitchFamily="34" charset="0"/>
                <a:ea typeface="Open Sans" pitchFamily="34" charset="-122"/>
                <a:cs typeface="Open Sans" pitchFamily="34" charset="-120"/>
              </a:rPr>
              <a:t>Every action is recorded with a name.</a:t>
            </a:r>
            <a:endParaRPr lang="en-US" sz="1250" dirty="0"/>
          </a:p>
        </p:txBody>
      </p:sp>
      <p:sp>
        <p:nvSpPr>
          <p:cNvPr id="30" name="Text 24"/>
          <p:cNvSpPr txBox="1"/>
          <p:nvPr/>
        </p:nvSpPr>
        <p:spPr>
          <a:xfrm>
            <a:off x="6217920" y="3611880"/>
            <a:ext cx="2377440" cy="502920"/>
          </a:xfrm>
          <a:prstGeom prst="rect">
            <a:avLst/>
          </a:prstGeom>
          <a:noFill/>
          <a:ln/>
        </p:spPr>
        <p:txBody>
          <a:bodyPr wrap="square" lIns="0" tIns="0" rIns="0" bIns="0" rtlCol="0" anchor="t"/>
          <a:lstStyle/>
          <a:p>
            <a:pPr algn="ctr" indent="0" marL="0">
              <a:buNone/>
            </a:pPr>
            <a:r>
              <a:rPr lang="en-US" sz="1250" b="1" dirty="0">
                <a:solidFill>
                  <a:srgbClr val="7D5F3F"/>
                </a:solidFill>
                <a:latin typeface="Open Sans" pitchFamily="34" charset="0"/>
                <a:ea typeface="Open Sans" pitchFamily="34" charset="-122"/>
                <a:cs typeface="Open Sans" pitchFamily="34" charset="-120"/>
              </a:rPr>
              <a:t>Gives accountability (the diary)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A2.7</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Door or Diary?</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each situation.</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Door (is it real, now) or diary (who did it, later)?</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The situations come in look-alike pairs.</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2 &gt; Door or Diary?</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telling authenticity from accountability</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6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Door or Diary?">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A1.1+</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Extended CIA Triage</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The Day 1 game, with two new buttons.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C, I, A, Au (door) or Ac (diary).</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Ask: seen, changed, cannot use, real, or who?</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2 &gt; Extended CIA Triage</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five goals of extended CIA</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7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Extended CIA Triage">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2</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Strong passwords</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Length beats tricks.</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Why passwords fail</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18</a:t>
            </a:r>
            <a:endParaRPr lang="en-US" sz="800" dirty="0"/>
          </a:p>
        </p:txBody>
      </p:sp>
      <p:sp>
        <p:nvSpPr>
          <p:cNvPr id="8" name="Shape 5"/>
          <p:cNvSpPr/>
          <p:nvPr/>
        </p:nvSpPr>
        <p:spPr>
          <a:xfrm>
            <a:off x="457200" y="1188720"/>
            <a:ext cx="1885950" cy="2651760"/>
          </a:xfrm>
          <a:prstGeom prst="roundRect">
            <a:avLst>
              <a:gd name="adj" fmla="val 3879"/>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152019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Used everywhere</a:t>
            </a:r>
            <a:endParaRPr lang="en-US" sz="1500" dirty="0"/>
          </a:p>
        </p:txBody>
      </p:sp>
      <p:sp>
        <p:nvSpPr>
          <p:cNvPr id="12" name="Text 8"/>
          <p:cNvSpPr txBox="1"/>
          <p:nvPr/>
        </p:nvSpPr>
        <p:spPr>
          <a:xfrm>
            <a:off x="640080" y="2670048"/>
            <a:ext cx="152019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One website is hacked, and the same password opens all your accounts.</a:t>
            </a:r>
            <a:endParaRPr lang="en-US" sz="1250" dirty="0"/>
          </a:p>
        </p:txBody>
      </p:sp>
      <p:sp>
        <p:nvSpPr>
          <p:cNvPr id="13" name="Shape 9"/>
          <p:cNvSpPr/>
          <p:nvPr/>
        </p:nvSpPr>
        <p:spPr>
          <a:xfrm>
            <a:off x="2571750" y="1188720"/>
            <a:ext cx="1885950" cy="2651760"/>
          </a:xfrm>
          <a:prstGeom prst="roundRect">
            <a:avLst>
              <a:gd name="adj" fmla="val 3879"/>
            </a:avLst>
          </a:prstGeom>
          <a:solidFill>
            <a:srgbClr val="E1E6E6"/>
          </a:solidFill>
          <a:ln w="12700">
            <a:solidFill>
              <a:srgbClr val="E1E6E6"/>
            </a:solidFill>
            <a:prstDash val="solid"/>
          </a:ln>
        </p:spPr>
      </p:sp>
      <p:sp>
        <p:nvSpPr>
          <p:cNvPr id="14" name="Shape 10"/>
          <p:cNvSpPr/>
          <p:nvPr/>
        </p:nvSpPr>
        <p:spPr>
          <a:xfrm>
            <a:off x="275463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880360" y="1497330"/>
            <a:ext cx="251460" cy="251460"/>
          </a:xfrm>
          <a:prstGeom prst="rect">
            <a:avLst/>
          </a:prstGeom>
        </p:spPr>
      </p:pic>
      <p:sp>
        <p:nvSpPr>
          <p:cNvPr id="16" name="Text 11"/>
          <p:cNvSpPr txBox="1"/>
          <p:nvPr/>
        </p:nvSpPr>
        <p:spPr>
          <a:xfrm>
            <a:off x="2754630" y="2011680"/>
            <a:ext cx="152019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Easy to guess</a:t>
            </a:r>
            <a:endParaRPr lang="en-US" sz="1500" dirty="0"/>
          </a:p>
        </p:txBody>
      </p:sp>
      <p:sp>
        <p:nvSpPr>
          <p:cNvPr id="17" name="Text 12"/>
          <p:cNvSpPr txBox="1"/>
          <p:nvPr/>
        </p:nvSpPr>
        <p:spPr>
          <a:xfrm>
            <a:off x="2754630" y="2670048"/>
            <a:ext cx="152019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Names, birthdays, "123456", "tealeaf123".</a:t>
            </a:r>
            <a:endParaRPr lang="en-US" sz="1250" dirty="0"/>
          </a:p>
        </p:txBody>
      </p:sp>
      <p:sp>
        <p:nvSpPr>
          <p:cNvPr id="18" name="Shape 13"/>
          <p:cNvSpPr/>
          <p:nvPr/>
        </p:nvSpPr>
        <p:spPr>
          <a:xfrm>
            <a:off x="4686300" y="1188720"/>
            <a:ext cx="1885950" cy="2651760"/>
          </a:xfrm>
          <a:prstGeom prst="roundRect">
            <a:avLst>
              <a:gd name="adj" fmla="val 3879"/>
            </a:avLst>
          </a:prstGeom>
          <a:solidFill>
            <a:srgbClr val="E1E6E6"/>
          </a:solidFill>
          <a:ln w="12700">
            <a:solidFill>
              <a:srgbClr val="E1E6E6"/>
            </a:solidFill>
            <a:prstDash val="solid"/>
          </a:ln>
        </p:spPr>
      </p:sp>
      <p:sp>
        <p:nvSpPr>
          <p:cNvPr id="19" name="Shape 14"/>
          <p:cNvSpPr/>
          <p:nvPr/>
        </p:nvSpPr>
        <p:spPr>
          <a:xfrm>
            <a:off x="48691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4994910" y="1497330"/>
            <a:ext cx="251460" cy="251460"/>
          </a:xfrm>
          <a:prstGeom prst="rect">
            <a:avLst/>
          </a:prstGeom>
        </p:spPr>
      </p:pic>
      <p:sp>
        <p:nvSpPr>
          <p:cNvPr id="21" name="Text 15"/>
          <p:cNvSpPr txBox="1"/>
          <p:nvPr/>
        </p:nvSpPr>
        <p:spPr>
          <a:xfrm>
            <a:off x="4869180" y="2011680"/>
            <a:ext cx="152019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Shared</a:t>
            </a:r>
            <a:endParaRPr lang="en-US" sz="1500" dirty="0"/>
          </a:p>
        </p:txBody>
      </p:sp>
      <p:sp>
        <p:nvSpPr>
          <p:cNvPr id="22" name="Text 16"/>
          <p:cNvSpPr txBox="1"/>
          <p:nvPr/>
        </p:nvSpPr>
        <p:spPr>
          <a:xfrm>
            <a:off x="4869180" y="2670048"/>
            <a:ext cx="152019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Shared passwords break accountability.</a:t>
            </a:r>
            <a:endParaRPr lang="en-US" sz="1250" dirty="0"/>
          </a:p>
        </p:txBody>
      </p:sp>
      <p:sp>
        <p:nvSpPr>
          <p:cNvPr id="23" name="Shape 17"/>
          <p:cNvSpPr/>
          <p:nvPr/>
        </p:nvSpPr>
        <p:spPr>
          <a:xfrm>
            <a:off x="6800850" y="1188720"/>
            <a:ext cx="1885950" cy="2651760"/>
          </a:xfrm>
          <a:prstGeom prst="roundRect">
            <a:avLst>
              <a:gd name="adj" fmla="val 3879"/>
            </a:avLst>
          </a:prstGeom>
          <a:solidFill>
            <a:srgbClr val="E1E6E6"/>
          </a:solidFill>
          <a:ln w="12700">
            <a:solidFill>
              <a:srgbClr val="E1E6E6"/>
            </a:solidFill>
            <a:prstDash val="solid"/>
          </a:ln>
        </p:spPr>
      </p:sp>
      <p:sp>
        <p:nvSpPr>
          <p:cNvPr id="24" name="Shape 18"/>
          <p:cNvSpPr/>
          <p:nvPr/>
        </p:nvSpPr>
        <p:spPr>
          <a:xfrm>
            <a:off x="6983730" y="1371600"/>
            <a:ext cx="502920" cy="502920"/>
          </a:xfrm>
          <a:prstGeom prst="ellipse">
            <a:avLst/>
          </a:prstGeom>
          <a:solidFill>
            <a:srgbClr val="667C7E"/>
          </a:solidFill>
          <a:ln w="12700">
            <a:solidFill>
              <a:srgbClr val="667C7E"/>
            </a:solidFill>
            <a:prstDash val="solid"/>
          </a:ln>
        </p:spPr>
      </p:sp>
      <p:pic>
        <p:nvPicPr>
          <p:cNvPr id="25" name="Image 3" descr="preencoded.png">    </p:cNvPr>
          <p:cNvPicPr>
            <a:picLocks noChangeAspect="1"/>
          </p:cNvPicPr>
          <p:nvPr/>
        </p:nvPicPr>
        <p:blipFill>
          <a:blip r:embed="rId4"/>
          <a:stretch>
            <a:fillRect/>
          </a:stretch>
        </p:blipFill>
        <p:spPr>
          <a:xfrm>
            <a:off x="7109460" y="1497330"/>
            <a:ext cx="251460" cy="251460"/>
          </a:xfrm>
          <a:prstGeom prst="rect">
            <a:avLst/>
          </a:prstGeom>
        </p:spPr>
      </p:pic>
      <p:sp>
        <p:nvSpPr>
          <p:cNvPr id="26" name="Text 19"/>
          <p:cNvSpPr txBox="1"/>
          <p:nvPr/>
        </p:nvSpPr>
        <p:spPr>
          <a:xfrm>
            <a:off x="6983730" y="2011680"/>
            <a:ext cx="152019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Written down</a:t>
            </a:r>
            <a:endParaRPr lang="en-US" sz="1500" dirty="0"/>
          </a:p>
        </p:txBody>
      </p:sp>
      <p:sp>
        <p:nvSpPr>
          <p:cNvPr id="27" name="Text 20"/>
          <p:cNvSpPr txBox="1"/>
          <p:nvPr/>
        </p:nvSpPr>
        <p:spPr>
          <a:xfrm>
            <a:off x="6983730" y="2670048"/>
            <a:ext cx="152019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A sticky note on the screen is not a secret.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 passphrase: long, and easy to remember</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19</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108960"/>
                <a:gridCol w="3017520"/>
                <a:gridCol w="2103120"/>
              </a:tblGrid>
              <a:tr h="502920">
                <a:tc>
                  <a:txBody>
                    <a:bodyPr/>
                    <a:lstStyle/>
                    <a:p>
                      <a:pPr indent="0" marL="0">
                        <a:buNone/>
                      </a:pPr>
                      <a:r>
                        <a:rPr lang="en-US" sz="1350" b="1" dirty="0">
                          <a:solidFill>
                            <a:srgbClr val="FFFFFF"/>
                          </a:solidFill>
                          <a:latin typeface="Open Sans" pitchFamily="34" charset="0"/>
                          <a:ea typeface="Open Sans" pitchFamily="34" charset="-122"/>
                          <a:cs typeface="Open Sans" pitchFamily="34" charset="-120"/>
                        </a:rPr>
                        <a:t>Password</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50" b="1" dirty="0">
                          <a:solidFill>
                            <a:srgbClr val="FFFFFF"/>
                          </a:solidFill>
                          <a:latin typeface="Open Sans" pitchFamily="34" charset="0"/>
                          <a:ea typeface="Open Sans" pitchFamily="34" charset="-122"/>
                          <a:cs typeface="Open Sans" pitchFamily="34" charset="-120"/>
                        </a:rPr>
                        <a:t>Why</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50" b="1" dirty="0">
                          <a:solidFill>
                            <a:srgbClr val="FFFFFF"/>
                          </a:solidFill>
                          <a:latin typeface="Open Sans" pitchFamily="34" charset="0"/>
                          <a:ea typeface="Open Sans" pitchFamily="34" charset="-122"/>
                          <a:cs typeface="Open Sans" pitchFamily="34" charset="-120"/>
                        </a:rPr>
                        <a:t>Time to guess (estimate)</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02920">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tealeaf123</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Common and short</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Less than a second</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P@ssw0rd!</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Symbols swapped into a common word</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Less than a second</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02920">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river-lamp-cloud-seven</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Four random words</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Years</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river-lamp-cloud-seven-mango</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Five random words</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50" dirty="0">
                          <a:solidFill>
                            <a:srgbClr val="262A20"/>
                          </a:solidFill>
                          <a:latin typeface="Open Sans" pitchFamily="34" charset="0"/>
                          <a:ea typeface="Open Sans" pitchFamily="34" charset="-122"/>
                          <a:cs typeface="Open Sans" pitchFamily="34" charset="-120"/>
                        </a:rPr>
                        <a:t>Hundreds of thousands of years</a:t>
                      </a:r>
                      <a:endParaRPr lang="en-US" sz="13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
        <p:nvSpPr>
          <p:cNvPr id="9" name="Text 5"/>
          <p:cNvSpPr txBox="1"/>
          <p:nvPr/>
        </p:nvSpPr>
        <p:spPr>
          <a:xfrm>
            <a:off x="457200" y="3977640"/>
            <a:ext cx="8229600" cy="320040"/>
          </a:xfrm>
          <a:prstGeom prst="rect">
            <a:avLst/>
          </a:prstGeom>
          <a:noFill/>
          <a:ln/>
        </p:spPr>
        <p:txBody>
          <a:bodyPr wrap="square" lIns="0" tIns="0" rIns="0" bIns="0" rtlCol="0" anchor="ctr"/>
          <a:lstStyle/>
          <a:p>
            <a:pPr indent="0" marL="0">
              <a:buNone/>
            </a:pPr>
            <a:r>
              <a:rPr lang="en-US" sz="1100" dirty="0">
                <a:solidFill>
                  <a:srgbClr val="5A5F55"/>
                </a:solidFill>
                <a:latin typeface="Open Sans" pitchFamily="34" charset="0"/>
                <a:ea typeface="Open Sans" pitchFamily="34" charset="-122"/>
                <a:cs typeface="Open Sans" pitchFamily="34" charset="-120"/>
              </a:rPr>
              <a:t>Estimates from the Password Lab: a fast computer guessing 10 billion a second.</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 password manager remembers for you</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20</a:t>
            </a:r>
            <a:endParaRPr lang="en-US" sz="800" dirty="0"/>
          </a:p>
        </p:txBody>
      </p:sp>
      <p:sp>
        <p:nvSpPr>
          <p:cNvPr id="8" name="Shape 5"/>
          <p:cNvSpPr/>
          <p:nvPr/>
        </p:nvSpPr>
        <p:spPr>
          <a:xfrm>
            <a:off x="457200" y="132588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463040"/>
            <a:ext cx="274320" cy="274320"/>
          </a:xfrm>
          <a:prstGeom prst="rect">
            <a:avLst/>
          </a:prstGeom>
        </p:spPr>
      </p:pic>
      <p:sp>
        <p:nvSpPr>
          <p:cNvPr id="10" name="Text 6"/>
          <p:cNvSpPr txBox="1"/>
          <p:nvPr/>
        </p:nvSpPr>
        <p:spPr>
          <a:xfrm>
            <a:off x="1188720" y="1280160"/>
            <a:ext cx="457200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One master passphrase</a:t>
            </a:r>
            <a:endParaRPr lang="en-US" sz="1600" dirty="0"/>
          </a:p>
        </p:txBody>
      </p:sp>
      <p:sp>
        <p:nvSpPr>
          <p:cNvPr id="11" name="Text 7"/>
          <p:cNvSpPr txBox="1"/>
          <p:nvPr/>
        </p:nvSpPr>
        <p:spPr>
          <a:xfrm>
            <a:off x="1188720" y="1591056"/>
            <a:ext cx="457200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You remember one long passphrase.</a:t>
            </a:r>
            <a:endParaRPr lang="en-US" sz="1300" dirty="0"/>
          </a:p>
        </p:txBody>
      </p:sp>
      <p:sp>
        <p:nvSpPr>
          <p:cNvPr id="12" name="Shape 8"/>
          <p:cNvSpPr/>
          <p:nvPr/>
        </p:nvSpPr>
        <p:spPr>
          <a:xfrm>
            <a:off x="457200" y="2286000"/>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423160"/>
            <a:ext cx="274320" cy="274320"/>
          </a:xfrm>
          <a:prstGeom prst="rect">
            <a:avLst/>
          </a:prstGeom>
        </p:spPr>
      </p:pic>
      <p:sp>
        <p:nvSpPr>
          <p:cNvPr id="14" name="Text 9"/>
          <p:cNvSpPr txBox="1"/>
          <p:nvPr/>
        </p:nvSpPr>
        <p:spPr>
          <a:xfrm>
            <a:off x="1188720" y="2240280"/>
            <a:ext cx="457200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 different password everywhere</a:t>
            </a:r>
            <a:endParaRPr lang="en-US" sz="1600" dirty="0"/>
          </a:p>
        </p:txBody>
      </p:sp>
      <p:sp>
        <p:nvSpPr>
          <p:cNvPr id="15" name="Text 10"/>
          <p:cNvSpPr txBox="1"/>
          <p:nvPr/>
        </p:nvSpPr>
        <p:spPr>
          <a:xfrm>
            <a:off x="1188720" y="2551176"/>
            <a:ext cx="457200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The app makes a strong, different password for every site.</a:t>
            </a:r>
            <a:endParaRPr lang="en-US" sz="1300" dirty="0"/>
          </a:p>
        </p:txBody>
      </p:sp>
      <p:sp>
        <p:nvSpPr>
          <p:cNvPr id="16" name="Shape 11"/>
          <p:cNvSpPr/>
          <p:nvPr/>
        </p:nvSpPr>
        <p:spPr>
          <a:xfrm>
            <a:off x="457200" y="3246120"/>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383280"/>
            <a:ext cx="274320" cy="274320"/>
          </a:xfrm>
          <a:prstGeom prst="rect">
            <a:avLst/>
          </a:prstGeom>
        </p:spPr>
      </p:pic>
      <p:sp>
        <p:nvSpPr>
          <p:cNvPr id="18" name="Text 12"/>
          <p:cNvSpPr txBox="1"/>
          <p:nvPr/>
        </p:nvSpPr>
        <p:spPr>
          <a:xfrm>
            <a:off x="1188720" y="3200400"/>
            <a:ext cx="457200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It fills them in for you</a:t>
            </a:r>
            <a:endParaRPr lang="en-US" sz="1600" dirty="0"/>
          </a:p>
        </p:txBody>
      </p:sp>
      <p:sp>
        <p:nvSpPr>
          <p:cNvPr id="19" name="Text 13"/>
          <p:cNvSpPr txBox="1"/>
          <p:nvPr/>
        </p:nvSpPr>
        <p:spPr>
          <a:xfrm>
            <a:off x="1188720" y="3511296"/>
            <a:ext cx="457200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No typing, no sticky notes, no reuse.</a:t>
            </a:r>
            <a:endParaRPr lang="en-US" sz="1300" dirty="0"/>
          </a:p>
        </p:txBody>
      </p:sp>
      <p:sp>
        <p:nvSpPr>
          <p:cNvPr id="20" name="Shape 14"/>
          <p:cNvSpPr/>
          <p:nvPr/>
        </p:nvSpPr>
        <p:spPr>
          <a:xfrm>
            <a:off x="6583680" y="1737360"/>
            <a:ext cx="1645920" cy="164592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6995160" y="2148840"/>
            <a:ext cx="822960" cy="82296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3</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MFA</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Your password gets a partner.</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is MFA?</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22</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MFA: multi-factor authentication</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Logging in with two or more DIFFERENT kinds of factor.</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Kasun types his password, then a code from his phone. Both are needed.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Why it works</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criminal buys Kasun's stolen password, but does not have his phone. The criminal is stopped.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Three kinds of factor</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23</a:t>
            </a:r>
            <a:endParaRPr lang="en-US" sz="800" dirty="0"/>
          </a:p>
        </p:txBody>
      </p:sp>
      <p:sp>
        <p:nvSpPr>
          <p:cNvPr id="8" name="Shape 5"/>
          <p:cNvSpPr/>
          <p:nvPr/>
        </p:nvSpPr>
        <p:spPr>
          <a:xfrm>
            <a:off x="457200" y="1188720"/>
            <a:ext cx="2590800" cy="2194560"/>
          </a:xfrm>
          <a:prstGeom prst="roundRect">
            <a:avLst>
              <a:gd name="adj" fmla="val 3333"/>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Something you know</a:t>
            </a:r>
            <a:endParaRPr lang="en-US" sz="1600" dirty="0"/>
          </a:p>
        </p:txBody>
      </p:sp>
      <p:sp>
        <p:nvSpPr>
          <p:cNvPr id="12" name="Text 8"/>
          <p:cNvSpPr txBox="1"/>
          <p:nvPr/>
        </p:nvSpPr>
        <p:spPr>
          <a:xfrm>
            <a:off x="640080" y="2395728"/>
            <a:ext cx="2225040" cy="8686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password, a passphrase, a PIN.</a:t>
            </a:r>
            <a:endParaRPr lang="en-US" sz="1400" dirty="0"/>
          </a:p>
        </p:txBody>
      </p:sp>
      <p:sp>
        <p:nvSpPr>
          <p:cNvPr id="13" name="Shape 9"/>
          <p:cNvSpPr/>
          <p:nvPr/>
        </p:nvSpPr>
        <p:spPr>
          <a:xfrm>
            <a:off x="3276600" y="1188720"/>
            <a:ext cx="2590800" cy="2194560"/>
          </a:xfrm>
          <a:prstGeom prst="roundRect">
            <a:avLst>
              <a:gd name="adj" fmla="val 3333"/>
            </a:avLst>
          </a:prstGeom>
          <a:solidFill>
            <a:srgbClr val="E1E6E6"/>
          </a:solidFill>
          <a:ln w="12700">
            <a:solidFill>
              <a:srgbClr val="E1E6E6"/>
            </a:solidFill>
            <a:prstDash val="solid"/>
          </a:ln>
        </p:spPr>
      </p:sp>
      <p:sp>
        <p:nvSpPr>
          <p:cNvPr id="14" name="Shape 10"/>
          <p:cNvSpPr/>
          <p:nvPr/>
        </p:nvSpPr>
        <p:spPr>
          <a:xfrm>
            <a:off x="345948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Something you have</a:t>
            </a:r>
            <a:endParaRPr lang="en-US" sz="1600" dirty="0"/>
          </a:p>
        </p:txBody>
      </p:sp>
      <p:sp>
        <p:nvSpPr>
          <p:cNvPr id="17" name="Text 12"/>
          <p:cNvSpPr txBox="1"/>
          <p:nvPr/>
        </p:nvSpPr>
        <p:spPr>
          <a:xfrm>
            <a:off x="3459480" y="2395728"/>
            <a:ext cx="2225040" cy="8686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Your phone, a security key, a bank card.</a:t>
            </a:r>
            <a:endParaRPr lang="en-US" sz="1400" dirty="0"/>
          </a:p>
        </p:txBody>
      </p:sp>
      <p:sp>
        <p:nvSpPr>
          <p:cNvPr id="18" name="Shape 13"/>
          <p:cNvSpPr/>
          <p:nvPr/>
        </p:nvSpPr>
        <p:spPr>
          <a:xfrm>
            <a:off x="6096000" y="1188720"/>
            <a:ext cx="2590800" cy="2194560"/>
          </a:xfrm>
          <a:prstGeom prst="roundRect">
            <a:avLst>
              <a:gd name="adj" fmla="val 3333"/>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Something you are</a:t>
            </a:r>
            <a:endParaRPr lang="en-US" sz="1600" dirty="0"/>
          </a:p>
        </p:txBody>
      </p:sp>
      <p:sp>
        <p:nvSpPr>
          <p:cNvPr id="22" name="Text 16"/>
          <p:cNvSpPr txBox="1"/>
          <p:nvPr/>
        </p:nvSpPr>
        <p:spPr>
          <a:xfrm>
            <a:off x="6278880" y="2395728"/>
            <a:ext cx="2225040" cy="8686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Your fingerprint, your face.</a:t>
            </a:r>
            <a:endParaRPr lang="en-US" sz="1400" dirty="0"/>
          </a:p>
        </p:txBody>
      </p:sp>
      <p:sp>
        <p:nvSpPr>
          <p:cNvPr id="23" name="Shape 17"/>
          <p:cNvSpPr/>
          <p:nvPr/>
        </p:nvSpPr>
        <p:spPr>
          <a:xfrm>
            <a:off x="457200" y="3611880"/>
            <a:ext cx="8229600" cy="777240"/>
          </a:xfrm>
          <a:prstGeom prst="roundRect">
            <a:avLst>
              <a:gd name="adj" fmla="val 9412"/>
            </a:avLst>
          </a:prstGeom>
          <a:solidFill>
            <a:srgbClr val="EDDDCD"/>
          </a:solidFill>
          <a:ln w="12700">
            <a:solidFill>
              <a:srgbClr val="EDDDCD"/>
            </a:solidFill>
            <a:prstDash val="solid"/>
          </a:ln>
        </p:spPr>
      </p:sp>
      <p:sp>
        <p:nvSpPr>
          <p:cNvPr id="24" name="Text 18"/>
          <p:cNvSpPr txBox="1"/>
          <p:nvPr/>
        </p:nvSpPr>
        <p:spPr>
          <a:xfrm>
            <a:off x="640080" y="3657600"/>
            <a:ext cx="7863840" cy="685800"/>
          </a:xfrm>
          <a:prstGeom prst="rect">
            <a:avLst/>
          </a:prstGeom>
          <a:noFill/>
          <a:ln/>
        </p:spPr>
        <p:txBody>
          <a:bodyPr wrap="square" lIns="0" tIns="0" rIns="0" bIns="0" rtlCol="0" anchor="ctr"/>
          <a:lstStyle/>
          <a:p>
            <a:pPr algn="ctr" indent="0" marL="0">
              <a:buNone/>
            </a:pPr>
            <a:r>
              <a:rPr lang="en-US" sz="1700" b="1" dirty="0">
                <a:solidFill>
                  <a:srgbClr val="262A20"/>
                </a:solidFill>
                <a:latin typeface="Open Sans" pitchFamily="34" charset="0"/>
                <a:ea typeface="Open Sans" pitchFamily="34" charset="-122"/>
                <a:cs typeface="Open Sans" pitchFamily="34" charset="-120"/>
              </a:rPr>
              <a:t>A password + a PIN is NOT MFA: both are something you know.</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Never share the code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24</a:t>
            </a:r>
            <a:endParaRPr lang="en-US" sz="800" dirty="0"/>
          </a:p>
        </p:txBody>
      </p:sp>
      <p:sp>
        <p:nvSpPr>
          <p:cNvPr id="8" name="Text 5"/>
          <p:cNvSpPr txBox="1"/>
          <p:nvPr/>
        </p:nvSpPr>
        <p:spPr>
          <a:xfrm>
            <a:off x="457200" y="1280160"/>
            <a:ext cx="4937760" cy="548640"/>
          </a:xfrm>
          <a:prstGeom prst="rect">
            <a:avLst/>
          </a:prstGeom>
          <a:noFill/>
          <a:ln/>
        </p:spPr>
        <p:txBody>
          <a:bodyPr wrap="square" lIns="0" tIns="0" rIns="0" bIns="0" rtlCol="0" anchor="ctr"/>
          <a:lstStyle/>
          <a:p>
            <a:pPr indent="0" marL="0">
              <a:buNone/>
            </a:pPr>
            <a:r>
              <a:rPr lang="en-US" sz="2200" b="1" dirty="0">
                <a:solidFill>
                  <a:srgbClr val="262A20"/>
                </a:solidFill>
                <a:latin typeface="Open Sans" pitchFamily="34" charset="0"/>
                <a:ea typeface="Open Sans" pitchFamily="34" charset="-122"/>
                <a:cs typeface="Open Sans" pitchFamily="34" charset="-120"/>
              </a:rPr>
              <a:t>A code from your phone is a key.</a:t>
            </a:r>
            <a:endParaRPr lang="en-US" sz="2200" dirty="0"/>
          </a:p>
        </p:txBody>
      </p:sp>
      <p:sp>
        <p:nvSpPr>
          <p:cNvPr id="9" name="Text 6"/>
          <p:cNvSpPr txBox="1"/>
          <p:nvPr/>
        </p:nvSpPr>
        <p:spPr>
          <a:xfrm>
            <a:off x="457200" y="2011680"/>
            <a:ext cx="4937760" cy="18288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62A20"/>
                </a:solidFill>
                <a:latin typeface="Open Sans" pitchFamily="34" charset="0"/>
                <a:ea typeface="Open Sans" pitchFamily="34" charset="-122"/>
                <a:cs typeface="Open Sans" pitchFamily="34" charset="-120"/>
              </a:rPr>
              <a:t>Anyone who asks for it is trying to break in.</a:t>
            </a:r>
            <a:endParaRPr lang="en-US" sz="1700" dirty="0"/>
          </a:p>
          <a:p>
            <a:pPr marL="342900" indent="-342900">
              <a:spcAft>
                <a:spcPts val="800"/>
              </a:spcAft>
              <a:buSzPct val="100000"/>
              <a:buChar char="•"/>
            </a:pPr>
            <a:r>
              <a:rPr lang="en-US" sz="1700" dirty="0">
                <a:solidFill>
                  <a:srgbClr val="262A20"/>
                </a:solidFill>
                <a:latin typeface="Open Sans" pitchFamily="34" charset="0"/>
                <a:ea typeface="Open Sans" pitchFamily="34" charset="-122"/>
                <a:cs typeface="Open Sans" pitchFamily="34" charset="-120"/>
              </a:rPr>
              <a:t>The bank, IT and the MD will never ask for your code.</a:t>
            </a:r>
            <a:endParaRPr lang="en-US" sz="1700" dirty="0"/>
          </a:p>
          <a:p>
            <a:pPr marL="342900" indent="-342900">
              <a:spcAft>
                <a:spcPts val="800"/>
              </a:spcAft>
              <a:buSzPct val="100000"/>
              <a:buChar char="•"/>
            </a:pPr>
            <a:r>
              <a:rPr lang="en-US" sz="1700" dirty="0">
                <a:solidFill>
                  <a:srgbClr val="262A20"/>
                </a:solidFill>
                <a:latin typeface="Open Sans" pitchFamily="34" charset="0"/>
                <a:ea typeface="Open Sans" pitchFamily="34" charset="-122"/>
                <a:cs typeface="Open Sans" pitchFamily="34" charset="-120"/>
              </a:rPr>
              <a:t>If someone asks, say no and report it.</a:t>
            </a:r>
            <a:endParaRPr lang="en-US" sz="1700" dirty="0"/>
          </a:p>
        </p:txBody>
      </p:sp>
      <p:pic>
        <p:nvPicPr>
          <p:cNvPr id="10" name="Image 0" descr="mfa_phone">    </p:cNvPr>
          <p:cNvPicPr>
            <a:picLocks noChangeAspect="1"/>
          </p:cNvPicPr>
          <p:nvPr/>
        </p:nvPicPr>
        <p:blipFill>
          <a:blip r:embed="rId1"/>
          <a:stretch>
            <a:fillRect/>
          </a:stretch>
        </p:blipFill>
        <p:spPr>
          <a:xfrm>
            <a:off x="5577840" y="1506945"/>
            <a:ext cx="3108960" cy="265539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A2.4</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Password Lab and MFA Gauntlet</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Test made-up passwords. Never a real one.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Sort factors: know, have or are.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Stop the attacker in the gauntlet.</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2 &gt; Password Lab</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passphrases and MFA</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12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Password Lab and MFA Gauntlet">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Good to know (not in the test)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26</a:t>
            </a:r>
            <a:endParaRPr lang="en-US" sz="800" dirty="0"/>
          </a:p>
        </p:txBody>
      </p:sp>
      <p:sp>
        <p:nvSpPr>
          <p:cNvPr id="8" name="Shape 5"/>
          <p:cNvSpPr/>
          <p:nvPr/>
        </p:nvSpPr>
        <p:spPr>
          <a:xfrm>
            <a:off x="457200" y="1188720"/>
            <a:ext cx="2590800" cy="2377440"/>
          </a:xfrm>
          <a:prstGeom prst="roundRect">
            <a:avLst>
              <a:gd name="adj" fmla="val 3077"/>
            </a:avLst>
          </a:prstGeom>
          <a:solidFill>
            <a:srgbClr val="F2EFEC"/>
          </a:solidFill>
          <a:ln w="12700">
            <a:solidFill>
              <a:srgbClr val="F2EFEC"/>
            </a:solidFill>
            <a:prstDash val="solid"/>
          </a:ln>
        </p:spPr>
      </p:sp>
      <p:sp>
        <p:nvSpPr>
          <p:cNvPr id="9" name="Shape 6"/>
          <p:cNvSpPr/>
          <p:nvPr/>
        </p:nvSpPr>
        <p:spPr>
          <a:xfrm>
            <a:off x="640080" y="1371600"/>
            <a:ext cx="502920" cy="502920"/>
          </a:xfrm>
          <a:prstGeom prst="ellipse">
            <a:avLst/>
          </a:prstGeom>
          <a:solidFill>
            <a:srgbClr val="7A756F"/>
          </a:solidFill>
          <a:ln w="12700">
            <a:solidFill>
              <a:srgbClr val="7A756F"/>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Least privilege</a:t>
            </a:r>
            <a:endParaRPr lang="en-US" sz="1500" dirty="0"/>
          </a:p>
        </p:txBody>
      </p:sp>
      <p:sp>
        <p:nvSpPr>
          <p:cNvPr id="12" name="Text 8"/>
          <p:cNvSpPr txBox="1"/>
          <p:nvPr/>
        </p:nvSpPr>
        <p:spPr>
          <a:xfrm>
            <a:off x="640080" y="2395728"/>
            <a:ext cx="222504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People get only the access their job needs.</a:t>
            </a:r>
            <a:endParaRPr lang="en-US" sz="1250" dirty="0"/>
          </a:p>
        </p:txBody>
      </p:sp>
      <p:sp>
        <p:nvSpPr>
          <p:cNvPr id="13" name="Shape 9"/>
          <p:cNvSpPr/>
          <p:nvPr/>
        </p:nvSpPr>
        <p:spPr>
          <a:xfrm>
            <a:off x="3276600" y="1188720"/>
            <a:ext cx="2590800" cy="2377440"/>
          </a:xfrm>
          <a:prstGeom prst="roundRect">
            <a:avLst>
              <a:gd name="adj" fmla="val 3077"/>
            </a:avLst>
          </a:prstGeom>
          <a:solidFill>
            <a:srgbClr val="F2EFEC"/>
          </a:solidFill>
          <a:ln w="12700">
            <a:solidFill>
              <a:srgbClr val="F2EFEC"/>
            </a:solidFill>
            <a:prstDash val="solid"/>
          </a:ln>
        </p:spPr>
      </p:sp>
      <p:sp>
        <p:nvSpPr>
          <p:cNvPr id="14" name="Shape 10"/>
          <p:cNvSpPr/>
          <p:nvPr/>
        </p:nvSpPr>
        <p:spPr>
          <a:xfrm>
            <a:off x="3459480" y="1371600"/>
            <a:ext cx="502920" cy="502920"/>
          </a:xfrm>
          <a:prstGeom prst="ellipse">
            <a:avLst/>
          </a:prstGeom>
          <a:solidFill>
            <a:srgbClr val="7A756F"/>
          </a:solidFill>
          <a:ln w="12700">
            <a:solidFill>
              <a:srgbClr val="7A756F"/>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Leavers</a:t>
            </a:r>
            <a:endParaRPr lang="en-US" sz="1500" dirty="0"/>
          </a:p>
        </p:txBody>
      </p:sp>
      <p:sp>
        <p:nvSpPr>
          <p:cNvPr id="17" name="Text 12"/>
          <p:cNvSpPr txBox="1"/>
          <p:nvPr/>
        </p:nvSpPr>
        <p:spPr>
          <a:xfrm>
            <a:off x="3459480" y="2395728"/>
            <a:ext cx="222504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Remove every login on a person's last day.</a:t>
            </a:r>
            <a:endParaRPr lang="en-US" sz="1250" dirty="0"/>
          </a:p>
        </p:txBody>
      </p:sp>
      <p:sp>
        <p:nvSpPr>
          <p:cNvPr id="18" name="Shape 13"/>
          <p:cNvSpPr/>
          <p:nvPr/>
        </p:nvSpPr>
        <p:spPr>
          <a:xfrm>
            <a:off x="6096000" y="1188720"/>
            <a:ext cx="2590800" cy="2377440"/>
          </a:xfrm>
          <a:prstGeom prst="roundRect">
            <a:avLst>
              <a:gd name="adj" fmla="val 3077"/>
            </a:avLst>
          </a:prstGeom>
          <a:solidFill>
            <a:srgbClr val="F2EFEC"/>
          </a:solidFill>
          <a:ln w="12700">
            <a:solidFill>
              <a:srgbClr val="F2EFEC"/>
            </a:solidFill>
            <a:prstDash val="solid"/>
          </a:ln>
        </p:spPr>
      </p:sp>
      <p:sp>
        <p:nvSpPr>
          <p:cNvPr id="19" name="Shape 14"/>
          <p:cNvSpPr/>
          <p:nvPr/>
        </p:nvSpPr>
        <p:spPr>
          <a:xfrm>
            <a:off x="6278880" y="1371600"/>
            <a:ext cx="502920" cy="502920"/>
          </a:xfrm>
          <a:prstGeom prst="ellipse">
            <a:avLst/>
          </a:prstGeom>
          <a:solidFill>
            <a:srgbClr val="7A756F"/>
          </a:solidFill>
          <a:ln w="12700">
            <a:solidFill>
              <a:srgbClr val="7A756F"/>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Zero trust</a:t>
            </a:r>
            <a:endParaRPr lang="en-US" sz="1500" dirty="0"/>
          </a:p>
        </p:txBody>
      </p:sp>
      <p:sp>
        <p:nvSpPr>
          <p:cNvPr id="22" name="Text 16"/>
          <p:cNvSpPr txBox="1"/>
          <p:nvPr/>
        </p:nvSpPr>
        <p:spPr>
          <a:xfrm>
            <a:off x="6278880" y="2395728"/>
            <a:ext cx="222504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Check every time, even with the right password.</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A2.5</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Access Office</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Find who deleted the order.</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Give each person only what they need.</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Allow, deny or check each login.</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2 &gt; Access Office</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accountability, with least privilege</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10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ccess Office">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27</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we learned today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28</a:t>
            </a:r>
            <a:endParaRPr lang="en-US" sz="800" dirty="0"/>
          </a:p>
        </p:txBody>
      </p:sp>
      <p:sp>
        <p:nvSpPr>
          <p:cNvPr id="8" name="Shape 5"/>
          <p:cNvSpPr/>
          <p:nvPr/>
        </p:nvSpPr>
        <p:spPr>
          <a:xfrm>
            <a:off x="457200" y="1188720"/>
            <a:ext cx="2590800" cy="2926080"/>
          </a:xfrm>
          <a:prstGeom prst="roundRect">
            <a:avLst>
              <a:gd name="adj" fmla="val 2824"/>
            </a:avLst>
          </a:prstGeom>
          <a:solidFill>
            <a:srgbClr val="EDDDCD"/>
          </a:solidFill>
          <a:ln w="12700">
            <a:solidFill>
              <a:srgbClr val="EDDDCD"/>
            </a:solidFill>
            <a:prstDash val="solid"/>
          </a:ln>
        </p:spPr>
      </p:sp>
      <p:sp>
        <p:nvSpPr>
          <p:cNvPr id="9" name="Shape 6"/>
          <p:cNvSpPr/>
          <p:nvPr/>
        </p:nvSpPr>
        <p:spPr>
          <a:xfrm>
            <a:off x="640080" y="1371600"/>
            <a:ext cx="502920" cy="502920"/>
          </a:xfrm>
          <a:prstGeom prst="ellipse">
            <a:avLst/>
          </a:prstGeom>
          <a:solidFill>
            <a:srgbClr val="C7A887"/>
          </a:solidFill>
          <a:ln w="12700">
            <a:solidFill>
              <a:srgbClr val="C7A887"/>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People can be tricked</a:t>
            </a:r>
            <a:endParaRPr lang="en-US" sz="1500" dirty="0"/>
          </a:p>
        </p:txBody>
      </p:sp>
      <p:sp>
        <p:nvSpPr>
          <p:cNvPr id="12" name="Text 8"/>
          <p:cNvSpPr txBox="1"/>
          <p:nvPr/>
        </p:nvSpPr>
        <p:spPr>
          <a:xfrm>
            <a:off x="640080" y="2670048"/>
            <a:ext cx="2225040" cy="13258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Phishing in four forms. Watch for hurry, boss, fear, strange senders. Check with a number you already have.</a:t>
            </a:r>
            <a:endParaRPr lang="en-US" sz="1300" dirty="0"/>
          </a:p>
        </p:txBody>
      </p:sp>
      <p:sp>
        <p:nvSpPr>
          <p:cNvPr id="13" name="Shape 9"/>
          <p:cNvSpPr/>
          <p:nvPr/>
        </p:nvSpPr>
        <p:spPr>
          <a:xfrm>
            <a:off x="3276600" y="1188720"/>
            <a:ext cx="2590800" cy="2926080"/>
          </a:xfrm>
          <a:prstGeom prst="roundRect">
            <a:avLst>
              <a:gd name="adj" fmla="val 2824"/>
            </a:avLst>
          </a:prstGeom>
          <a:solidFill>
            <a:srgbClr val="D9D5D2"/>
          </a:solidFill>
          <a:ln w="12700">
            <a:solidFill>
              <a:srgbClr val="D9D5D2"/>
            </a:solidFill>
            <a:prstDash val="solid"/>
          </a:ln>
        </p:spPr>
      </p:sp>
      <p:sp>
        <p:nvSpPr>
          <p:cNvPr id="14" name="Shape 10"/>
          <p:cNvSpPr/>
          <p:nvPr/>
        </p:nvSpPr>
        <p:spPr>
          <a:xfrm>
            <a:off x="3459480" y="1371600"/>
            <a:ext cx="502920" cy="502920"/>
          </a:xfrm>
          <a:prstGeom prst="ellipse">
            <a:avLst/>
          </a:prstGeom>
          <a:solidFill>
            <a:srgbClr val="262A20"/>
          </a:solidFill>
          <a:ln w="12700">
            <a:solidFill>
              <a:srgbClr val="262A20"/>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Extended CIA</a:t>
            </a:r>
            <a:endParaRPr lang="en-US" sz="1500" dirty="0"/>
          </a:p>
        </p:txBody>
      </p:sp>
      <p:sp>
        <p:nvSpPr>
          <p:cNvPr id="17" name="Text 12"/>
          <p:cNvSpPr txBox="1"/>
          <p:nvPr/>
        </p:nvSpPr>
        <p:spPr>
          <a:xfrm>
            <a:off x="3459480" y="2670048"/>
            <a:ext cx="2225040" cy="13258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CIA plus authenticity (the door: is it real, now?) and accountability (the diary: who did it, later?).</a:t>
            </a:r>
            <a:endParaRPr lang="en-US" sz="1300" dirty="0"/>
          </a:p>
        </p:txBody>
      </p:sp>
      <p:sp>
        <p:nvSpPr>
          <p:cNvPr id="18" name="Shape 13"/>
          <p:cNvSpPr/>
          <p:nvPr/>
        </p:nvSpPr>
        <p:spPr>
          <a:xfrm>
            <a:off x="6096000" y="1188720"/>
            <a:ext cx="2590800" cy="2926080"/>
          </a:xfrm>
          <a:prstGeom prst="roundRect">
            <a:avLst>
              <a:gd name="adj" fmla="val 2824"/>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Stronger logins</a:t>
            </a:r>
            <a:endParaRPr lang="en-US" sz="1500" dirty="0"/>
          </a:p>
        </p:txBody>
      </p:sp>
      <p:sp>
        <p:nvSpPr>
          <p:cNvPr id="22" name="Text 16"/>
          <p:cNvSpPr txBox="1"/>
          <p:nvPr/>
        </p:nvSpPr>
        <p:spPr>
          <a:xfrm>
            <a:off x="6278880" y="2670048"/>
            <a:ext cx="2225040" cy="13258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Passphrases, a password manager, and MFA with two different factors.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Words to know</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29</a:t>
            </a:r>
            <a:endParaRPr lang="en-US" sz="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377440"/>
                <a:gridCol w="5852160"/>
              </a:tblGrid>
              <a:tr h="411480">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Word</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Simple meaning</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Authenticity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door: checking it is real, now (really you, or really from them)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Accountability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diary: tracing who did something, later, from records</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Authentication</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Proving who you are, e.g. password and a code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Authorisation</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What you are allowed to do after you log in</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Passphrase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password made of several random words</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Password manager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An app that makes and remembers strong passwords</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MFA</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Logging in with two or more different kinds of factor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A2.6</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People Words Ladder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Study the words. Tap Hear it to hear each one.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Climb three rungs: meaning, example, right or wrong.</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Relaxed mode first, then Challenge.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2 &gt; People Words Ladder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all thirteen words of the day</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People Words Lad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30</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Test 2: how it works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2  |  Session 11.4</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31</a:t>
            </a:r>
            <a:endParaRPr lang="en-US" sz="800" dirty="0"/>
          </a:p>
        </p:txBody>
      </p:sp>
      <p:sp>
        <p:nvSpPr>
          <p:cNvPr id="8" name="Shape 5"/>
          <p:cNvSpPr/>
          <p:nvPr/>
        </p:nvSpPr>
        <p:spPr>
          <a:xfrm>
            <a:off x="457200" y="1234440"/>
            <a:ext cx="1920240" cy="2743200"/>
          </a:xfrm>
          <a:prstGeom prst="roundRect">
            <a:avLst>
              <a:gd name="adj" fmla="val 3810"/>
            </a:avLst>
          </a:prstGeom>
          <a:solidFill>
            <a:srgbClr val="EDDDCD"/>
          </a:solidFill>
          <a:ln w="12700">
            <a:solidFill>
              <a:srgbClr val="EDDDCD"/>
            </a:solidFill>
            <a:prstDash val="solid"/>
          </a:ln>
        </p:spPr>
      </p:sp>
      <p:sp>
        <p:nvSpPr>
          <p:cNvPr id="9" name="Shape 6"/>
          <p:cNvSpPr/>
          <p:nvPr/>
        </p:nvSpPr>
        <p:spPr>
          <a:xfrm>
            <a:off x="640080" y="1417320"/>
            <a:ext cx="548640" cy="548640"/>
          </a:xfrm>
          <a:prstGeom prst="ellipse">
            <a:avLst/>
          </a:prstGeom>
          <a:solidFill>
            <a:srgbClr val="C7A887"/>
          </a:solidFill>
          <a:ln w="12700">
            <a:solidFill>
              <a:srgbClr val="C7A887"/>
            </a:solidFill>
            <a:prstDash val="solid"/>
          </a:ln>
        </p:spPr>
      </p:sp>
      <p:pic>
        <p:nvPicPr>
          <p:cNvPr id="10" name="Image 0" descr="preencoded.png">    </p:cNvPr>
          <p:cNvPicPr>
            <a:picLocks noChangeAspect="1"/>
          </p:cNvPicPr>
          <p:nvPr/>
        </p:nvPicPr>
        <p:blipFill>
          <a:blip r:embed="rId1"/>
          <a:stretch>
            <a:fillRect/>
          </a:stretch>
        </p:blipFill>
        <p:spPr>
          <a:xfrm>
            <a:off x="777240" y="1554480"/>
            <a:ext cx="274320" cy="274320"/>
          </a:xfrm>
          <a:prstGeom prst="rect">
            <a:avLst/>
          </a:prstGeom>
        </p:spPr>
      </p:pic>
      <p:sp>
        <p:nvSpPr>
          <p:cNvPr id="11" name="Text 7"/>
          <p:cNvSpPr txBox="1"/>
          <p:nvPr/>
        </p:nvSpPr>
        <p:spPr>
          <a:xfrm>
            <a:off x="640080" y="210312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1. Write</a:t>
            </a:r>
            <a:endParaRPr lang="en-US" sz="1700" dirty="0"/>
          </a:p>
        </p:txBody>
      </p:sp>
      <p:sp>
        <p:nvSpPr>
          <p:cNvPr id="12" name="Text 8"/>
          <p:cNvSpPr txBox="1"/>
          <p:nvPr/>
        </p:nvSpPr>
        <p:spPr>
          <a:xfrm>
            <a:off x="640080" y="2468880"/>
            <a:ext cx="1645920" cy="320040"/>
          </a:xfrm>
          <a:prstGeom prst="rect">
            <a:avLst/>
          </a:prstGeom>
          <a:noFill/>
          <a:ln/>
        </p:spPr>
        <p:txBody>
          <a:bodyPr wrap="square" lIns="0" tIns="0" rIns="0" bIns="0" rtlCol="0" anchor="ctr"/>
          <a:lstStyle/>
          <a:p>
            <a:pPr indent="0" marL="0">
              <a:buNone/>
            </a:pPr>
            <a:r>
              <a:rPr lang="en-US" sz="1300" b="1" dirty="0">
                <a:solidFill>
                  <a:srgbClr val="7D5F3F"/>
                </a:solidFill>
                <a:latin typeface="Open Sans" pitchFamily="34" charset="0"/>
                <a:ea typeface="Open Sans" pitchFamily="34" charset="-122"/>
                <a:cs typeface="Open Sans" pitchFamily="34" charset="-120"/>
              </a:rPr>
              <a:t>35 min</a:t>
            </a:r>
            <a:endParaRPr lang="en-US" sz="1300" dirty="0"/>
          </a:p>
        </p:txBody>
      </p:sp>
      <p:sp>
        <p:nvSpPr>
          <p:cNvPr id="13" name="Text 9"/>
          <p:cNvSpPr txBox="1"/>
          <p:nvPr/>
        </p:nvSpPr>
        <p:spPr>
          <a:xfrm>
            <a:off x="640080" y="2834640"/>
            <a:ext cx="1600200" cy="109728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Answer both questions on paper. No books, no phones.</a:t>
            </a:r>
            <a:endParaRPr lang="en-US" sz="1200" dirty="0"/>
          </a:p>
        </p:txBody>
      </p:sp>
      <p:sp>
        <p:nvSpPr>
          <p:cNvPr id="14" name="Shape 10"/>
          <p:cNvSpPr/>
          <p:nvPr/>
        </p:nvSpPr>
        <p:spPr>
          <a:xfrm>
            <a:off x="2560320" y="1234440"/>
            <a:ext cx="1920240" cy="2743200"/>
          </a:xfrm>
          <a:prstGeom prst="roundRect">
            <a:avLst>
              <a:gd name="adj" fmla="val 3810"/>
            </a:avLst>
          </a:prstGeom>
          <a:solidFill>
            <a:srgbClr val="E1E6E6"/>
          </a:solidFill>
          <a:ln w="12700">
            <a:solidFill>
              <a:srgbClr val="E1E6E6"/>
            </a:solidFill>
            <a:prstDash val="solid"/>
          </a:ln>
        </p:spPr>
      </p:sp>
      <p:sp>
        <p:nvSpPr>
          <p:cNvPr id="15" name="Shape 11"/>
          <p:cNvSpPr/>
          <p:nvPr/>
        </p:nvSpPr>
        <p:spPr>
          <a:xfrm>
            <a:off x="2743200" y="1417320"/>
            <a:ext cx="548640" cy="548640"/>
          </a:xfrm>
          <a:prstGeom prst="ellipse">
            <a:avLst/>
          </a:prstGeom>
          <a:solidFill>
            <a:srgbClr val="667C7E"/>
          </a:solidFill>
          <a:ln w="12700">
            <a:solidFill>
              <a:srgbClr val="667C7E"/>
            </a:solidFill>
            <a:prstDash val="solid"/>
          </a:ln>
        </p:spPr>
      </p:sp>
      <p:pic>
        <p:nvPicPr>
          <p:cNvPr id="16" name="Image 1" descr="preencoded.png">    </p:cNvPr>
          <p:cNvPicPr>
            <a:picLocks noChangeAspect="1"/>
          </p:cNvPicPr>
          <p:nvPr/>
        </p:nvPicPr>
        <p:blipFill>
          <a:blip r:embed="rId2"/>
          <a:stretch>
            <a:fillRect/>
          </a:stretch>
        </p:blipFill>
        <p:spPr>
          <a:xfrm>
            <a:off x="2880360" y="1554480"/>
            <a:ext cx="274320" cy="274320"/>
          </a:xfrm>
          <a:prstGeom prst="rect">
            <a:avLst/>
          </a:prstGeom>
        </p:spPr>
      </p:pic>
      <p:sp>
        <p:nvSpPr>
          <p:cNvPr id="17" name="Text 12"/>
          <p:cNvSpPr txBox="1"/>
          <p:nvPr/>
        </p:nvSpPr>
        <p:spPr>
          <a:xfrm>
            <a:off x="2743200" y="210312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2. Photo</a:t>
            </a:r>
            <a:endParaRPr lang="en-US" sz="1700" dirty="0"/>
          </a:p>
        </p:txBody>
      </p:sp>
      <p:sp>
        <p:nvSpPr>
          <p:cNvPr id="18" name="Text 13"/>
          <p:cNvSpPr txBox="1"/>
          <p:nvPr/>
        </p:nvSpPr>
        <p:spPr>
          <a:xfrm>
            <a:off x="2743200" y="246888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5 min</a:t>
            </a:r>
            <a:endParaRPr lang="en-US" sz="1300" dirty="0"/>
          </a:p>
        </p:txBody>
      </p:sp>
      <p:sp>
        <p:nvSpPr>
          <p:cNvPr id="19" name="Text 14"/>
          <p:cNvSpPr txBox="1"/>
          <p:nvPr/>
        </p:nvSpPr>
        <p:spPr>
          <a:xfrm>
            <a:off x="2743200" y="2834640"/>
            <a:ext cx="1600200" cy="109728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Take clear photos of your pages. Make one PDF.</a:t>
            </a:r>
            <a:endParaRPr lang="en-US" sz="1200" dirty="0"/>
          </a:p>
        </p:txBody>
      </p:sp>
      <p:sp>
        <p:nvSpPr>
          <p:cNvPr id="20" name="Shape 15"/>
          <p:cNvSpPr/>
          <p:nvPr/>
        </p:nvSpPr>
        <p:spPr>
          <a:xfrm>
            <a:off x="4663440" y="1234440"/>
            <a:ext cx="1920240" cy="2743200"/>
          </a:xfrm>
          <a:prstGeom prst="roundRect">
            <a:avLst>
              <a:gd name="adj" fmla="val 3810"/>
            </a:avLst>
          </a:prstGeom>
          <a:solidFill>
            <a:srgbClr val="E1E6E6"/>
          </a:solidFill>
          <a:ln w="12700">
            <a:solidFill>
              <a:srgbClr val="E1E6E6"/>
            </a:solidFill>
            <a:prstDash val="solid"/>
          </a:ln>
        </p:spPr>
      </p:sp>
      <p:sp>
        <p:nvSpPr>
          <p:cNvPr id="21" name="Shape 16"/>
          <p:cNvSpPr/>
          <p:nvPr/>
        </p:nvSpPr>
        <p:spPr>
          <a:xfrm>
            <a:off x="4846320" y="1417320"/>
            <a:ext cx="548640" cy="54864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4983480" y="1554480"/>
            <a:ext cx="274320" cy="274320"/>
          </a:xfrm>
          <a:prstGeom prst="rect">
            <a:avLst/>
          </a:prstGeom>
        </p:spPr>
      </p:pic>
      <p:sp>
        <p:nvSpPr>
          <p:cNvPr id="23" name="Text 17"/>
          <p:cNvSpPr txBox="1"/>
          <p:nvPr/>
        </p:nvSpPr>
        <p:spPr>
          <a:xfrm>
            <a:off x="4846320" y="210312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3. Upload</a:t>
            </a:r>
            <a:endParaRPr lang="en-US" sz="1700" dirty="0"/>
          </a:p>
        </p:txBody>
      </p:sp>
      <p:sp>
        <p:nvSpPr>
          <p:cNvPr id="24" name="Text 18"/>
          <p:cNvSpPr txBox="1"/>
          <p:nvPr/>
        </p:nvSpPr>
        <p:spPr>
          <a:xfrm>
            <a:off x="4846320" y="246888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10 min</a:t>
            </a:r>
            <a:endParaRPr lang="en-US" sz="1300" dirty="0"/>
          </a:p>
        </p:txBody>
      </p:sp>
      <p:sp>
        <p:nvSpPr>
          <p:cNvPr id="25" name="Text 19"/>
          <p:cNvSpPr txBox="1"/>
          <p:nvPr/>
        </p:nvSpPr>
        <p:spPr>
          <a:xfrm>
            <a:off x="4846320" y="2834640"/>
            <a:ext cx="1600200" cy="109728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Upload the PDF to the LMS. Use the file name below.</a:t>
            </a:r>
            <a:endParaRPr lang="en-US" sz="1200" dirty="0"/>
          </a:p>
        </p:txBody>
      </p:sp>
      <p:sp>
        <p:nvSpPr>
          <p:cNvPr id="26" name="Shape 20"/>
          <p:cNvSpPr/>
          <p:nvPr/>
        </p:nvSpPr>
        <p:spPr>
          <a:xfrm>
            <a:off x="6766560" y="1234440"/>
            <a:ext cx="1920240" cy="2743200"/>
          </a:xfrm>
          <a:prstGeom prst="roundRect">
            <a:avLst>
              <a:gd name="adj" fmla="val 3810"/>
            </a:avLst>
          </a:prstGeom>
          <a:solidFill>
            <a:srgbClr val="E1E6E6"/>
          </a:solidFill>
          <a:ln w="12700">
            <a:solidFill>
              <a:srgbClr val="E1E6E6"/>
            </a:solidFill>
            <a:prstDash val="solid"/>
          </a:ln>
        </p:spPr>
      </p:sp>
      <p:sp>
        <p:nvSpPr>
          <p:cNvPr id="27" name="Shape 21"/>
          <p:cNvSpPr/>
          <p:nvPr/>
        </p:nvSpPr>
        <p:spPr>
          <a:xfrm>
            <a:off x="6949440" y="1417320"/>
            <a:ext cx="548640" cy="548640"/>
          </a:xfrm>
          <a:prstGeom prst="ellipse">
            <a:avLst/>
          </a:prstGeom>
          <a:solidFill>
            <a:srgbClr val="667C7E"/>
          </a:solidFill>
          <a:ln w="12700">
            <a:solidFill>
              <a:srgbClr val="667C7E"/>
            </a:solidFill>
            <a:prstDash val="solid"/>
          </a:ln>
        </p:spPr>
      </p:sp>
      <p:pic>
        <p:nvPicPr>
          <p:cNvPr id="28" name="Image 3" descr="preencoded.png">    </p:cNvPr>
          <p:cNvPicPr>
            <a:picLocks noChangeAspect="1"/>
          </p:cNvPicPr>
          <p:nvPr/>
        </p:nvPicPr>
        <p:blipFill>
          <a:blip r:embed="rId4"/>
          <a:stretch>
            <a:fillRect/>
          </a:stretch>
        </p:blipFill>
        <p:spPr>
          <a:xfrm>
            <a:off x="7086600" y="1554480"/>
            <a:ext cx="274320" cy="274320"/>
          </a:xfrm>
          <a:prstGeom prst="rect">
            <a:avLst/>
          </a:prstGeom>
        </p:spPr>
      </p:pic>
      <p:sp>
        <p:nvSpPr>
          <p:cNvPr id="29" name="Text 22"/>
          <p:cNvSpPr txBox="1"/>
          <p:nvPr/>
        </p:nvSpPr>
        <p:spPr>
          <a:xfrm>
            <a:off x="6949440" y="210312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4. Hand in</a:t>
            </a:r>
            <a:endParaRPr lang="en-US" sz="1700" dirty="0"/>
          </a:p>
        </p:txBody>
      </p:sp>
      <p:sp>
        <p:nvSpPr>
          <p:cNvPr id="30" name="Text 23"/>
          <p:cNvSpPr txBox="1"/>
          <p:nvPr/>
        </p:nvSpPr>
        <p:spPr>
          <a:xfrm>
            <a:off x="6949440" y="246888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5 min</a:t>
            </a:r>
            <a:endParaRPr lang="en-US" sz="1300" dirty="0"/>
          </a:p>
        </p:txBody>
      </p:sp>
      <p:sp>
        <p:nvSpPr>
          <p:cNvPr id="31" name="Text 24"/>
          <p:cNvSpPr txBox="1"/>
          <p:nvPr/>
        </p:nvSpPr>
        <p:spPr>
          <a:xfrm>
            <a:off x="6949440" y="2834640"/>
            <a:ext cx="1600200" cy="109728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Give your paper to the lecturer before you leave.</a:t>
            </a:r>
            <a:endParaRPr lang="en-US" sz="1200" dirty="0"/>
          </a:p>
        </p:txBody>
      </p:sp>
      <p:sp>
        <p:nvSpPr>
          <p:cNvPr id="32" name="Text 25"/>
          <p:cNvSpPr txBox="1"/>
          <p:nvPr/>
        </p:nvSpPr>
        <p:spPr>
          <a:xfrm>
            <a:off x="457200" y="4187952"/>
            <a:ext cx="8229600" cy="274320"/>
          </a:xfrm>
          <a:prstGeom prst="rect">
            <a:avLst/>
          </a:prstGeom>
          <a:noFill/>
          <a:ln/>
        </p:spPr>
        <p:txBody>
          <a:bodyPr wrap="square" lIns="0" tIns="0" rIns="0" bIns="0" rtlCol="0" anchor="ctr"/>
          <a:lstStyle/>
          <a:p>
            <a:pPr algn="ctr" indent="0" marL="0">
              <a:buNone/>
            </a:pPr>
            <a:r>
              <a:rPr lang="en-US" sz="1400" b="1" dirty="0">
                <a:solidFill>
                  <a:srgbClr val="566A6C"/>
                </a:solidFill>
                <a:latin typeface="Open Sans" pitchFamily="34" charset="0"/>
                <a:ea typeface="Open Sans" pitchFamily="34" charset="-122"/>
                <a:cs typeface="Open Sans" pitchFamily="34" charset="-120"/>
              </a:rPr>
              <a:t>File name: DBIS11_StudentID_Day2.pdf</a:t>
            </a:r>
            <a:endParaRPr lang="en-US" sz="1400" dirty="0"/>
          </a:p>
        </p:txBody>
      </p:sp>
      <p:sp>
        <p:nvSpPr>
          <p:cNvPr id="33" name="Text 26"/>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300" b="1" dirty="0">
                <a:solidFill>
                  <a:srgbClr val="262A20"/>
                </a:solidFill>
                <a:latin typeface="Open Sans" pitchFamily="34" charset="0"/>
                <a:ea typeface="Open Sans" pitchFamily="34" charset="-122"/>
                <a:cs typeface="Open Sans" pitchFamily="34" charset="-120"/>
              </a:rPr>
              <a:t>We mark your ideas, not your grammar. A clear decision with a good reason gets full marks.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Proving who you are</dc:title>
  <dc:subject>PptxGenJS Presentation</dc:subject>
  <dc:creator>NIBM SOCE</dc:creator>
  <cp:lastModifiedBy>NIBM SOCE</cp:lastModifiedBy>
  <cp:revision>1</cp:revision>
  <dcterms:created xsi:type="dcterms:W3CDTF">2026-10-02T03:59:49Z</dcterms:created>
  <dcterms:modified xsi:type="dcterms:W3CDTF">2026-10-02T03:59:49Z</dcterms:modified>
</cp:coreProperties>
</file>