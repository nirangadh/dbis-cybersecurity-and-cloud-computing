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Remind students: Test 2 at 3:00 is only about today, morning and afternoon.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Let students guess names. The point: nobody can know. We return to this in the Access Office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Still Protect: this afternoon we protect accounts.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ideas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 Idea 1. The build-up from Day 1. Teaching point for this section: authenticity and accountability are easy to mix up. Separate them by TIME: authenticity is checked NOW (the door), accountability is traced LATER (the diary). Say door and diary every time you say the two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Point at each letter and ask the class for the plain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each goal with its question AND its time. Do not rush to the definitions: the door and the diary on the next slide carry the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image. Point at the left: the door checks your ID BEFORE you come in. Point at the right: the diary records what you did, so anyone can look it up AFTER. Ask door or diary about two quick examples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NOW. Every trick this morning attacked authenticity: something fake got through the door.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LATER. Accountability is not a check at the door; it is the record we read afterwards. It also protects honest staff: the diary proves what they did NOT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along the timeline. The same morning at TeaLeaf has a door moment and a diary moment. Ask the class to call out door or diary at each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pair of rows looks similar. Cover the right column, read one situation at a time, and let the class answer. The deciding question is always: now or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deepest point of the section, and the bridge to MFA. The Access Office log named Nimal. If his password was stolen, the diary lies. Strong authenticity is what makes accountability trustworthy.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Authentication sounds like authenticity. Authentication is the CHECK at the door; authenticity is the GOAL (being sure it is real). Personal logins plus logs build the diary.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1:40. Short and focused on the one confusion. Watch the Nimal pair: the stolen password is a door problem; the argument about the log afterwards is a diary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1:47. Now mix all five goals. Section 2 starts at about 1:55; trim the password slides if you run 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1:55. Idea 2. Keep this section brisk (about 15 minutes) to protect the time given to section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common failures. Ask for a show of hands for each one, anonymously if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that swapping letters for symbols does not help: attackers try those swaps first. Length does help. Four or five random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Password managers solve the 'used everywhere' problem. Students remember one strong passphrase; the app remembers the 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2:10. Idea 3. Link back to the slide on the door and the diary needing each other: MFA makes the door stronger, which also makes the diary trustworthy.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word is DIFFERENT. Next slide shows the three kinds.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more examples of each kind. Common confusion: a PIN is something you know, not something you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code is the second key. Link back to the WhatsApp message in Phish or Legit this morning: 'send me the code you just received'.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2:22. Remind students loudly: never type a real password. Nothing leaves the phone, but it is a good habit. Try P@ssw0rd! together on the projector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Mention only. These ideas return later in the week. The Access Office game practises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2:35. Round 1 answers the hook, and its second log shows the door-and-diary link again: with accounts1, 'we cannot tell'. After personal logins, the log names Nimal. That is accountability. Rounds 2 and 3 are mention-only ideas: do not test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2:48. Full-day recap.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these to the morning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2:53. Last warm-up before the test. Watch for authentication and authorisation: the most confused pair.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3:00. Brief (5 min). Same procedure as yesterday.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1.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slideLayout" Target="../slideLayouts/slideLayout1.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slideLayout" Target="../slideLayouts/slideLayout1.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slideLayout" Target="../slideLayouts/slideLayout1.xml"/><Relationship Id="rId5"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slideLayout" Target="../slideLayouts/slideLayout1.xml"/><Relationship Id="rId6"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62A20"/>
        </a:solidFill>
      </p:bgPr>
    </p:bg>
    <p:spTree>
      <p:nvGrpSpPr>
        <p:cNvPr id="1" name=""/>
        <p:cNvGrpSpPr/>
        <p:nvPr/>
      </p:nvGrpSpPr>
      <p:grpSpPr>
        <a:xfrm>
          <a:off x="0" y="0"/>
          <a:ext cx="0" cy="0"/>
          <a:chOff x="0" y="0"/>
          <a:chExt cx="0" cy="0"/>
        </a:xfrm>
      </p:grpSpPr>
      <p:sp>
        <p:nvSpPr>
          <p:cNvPr id="2" name="Shape 0"/>
          <p:cNvSpPr/>
          <p:nvPr/>
        </p:nvSpPr>
        <p:spPr>
          <a:xfrm>
            <a:off x="457200" y="502920"/>
            <a:ext cx="731520" cy="731520"/>
          </a:xfrm>
          <a:prstGeom prst="ellipse">
            <a:avLst/>
          </a:prstGeom>
          <a:solidFill>
            <a:srgbClr val="667C7E"/>
          </a:solidFill>
          <a:ln w="12700">
            <a:solidFill>
              <a:srgbClr val="667C7E"/>
            </a:solidFill>
            <a:prstDash val="solid"/>
          </a:ln>
        </p:spPr>
      </p:sp>
      <p:pic>
        <p:nvPicPr>
          <p:cNvPr id="3" name="Image 0" descr="preencoded.png">    </p:cNvPr>
          <p:cNvPicPr>
            <a:picLocks noChangeAspect="1"/>
          </p:cNvPicPr>
          <p:nvPr/>
        </p:nvPicPr>
        <p:blipFill>
          <a:blip r:embed="rId1"/>
          <a:stretch>
            <a:fillRect/>
          </a:stretch>
        </p:blipFill>
        <p:spPr>
          <a:xfrm>
            <a:off x="640080" y="685800"/>
            <a:ext cx="365760" cy="365760"/>
          </a:xfrm>
          <a:prstGeom prst="rect">
            <a:avLst/>
          </a:prstGeom>
        </p:spPr>
      </p:pic>
      <p:sp>
        <p:nvSpPr>
          <p:cNvPr id="4" name="Text 1"/>
          <p:cNvSpPr txBox="1"/>
          <p:nvPr/>
        </p:nvSpPr>
        <p:spPr>
          <a:xfrm>
            <a:off x="457200" y="1508760"/>
            <a:ext cx="4937760" cy="320040"/>
          </a:xfrm>
          <a:prstGeom prst="rect">
            <a:avLst/>
          </a:prstGeom>
          <a:noFill/>
          <a:ln/>
        </p:spPr>
        <p:txBody>
          <a:bodyPr wrap="square" lIns="0" tIns="0" rIns="0" bIns="0" rtlCol="0" anchor="ctr"/>
          <a:lstStyle/>
          <a:p>
            <a:pPr indent="0" marL="0">
              <a:buNone/>
            </a:pPr>
            <a:r>
              <a:rPr lang="en-US" sz="1400" b="1" dirty="0">
                <a:solidFill>
                  <a:srgbClr val="C7A887"/>
                </a:solidFill>
                <a:latin typeface="Open Sans" pitchFamily="34" charset="0"/>
                <a:ea typeface="Open Sans" pitchFamily="34" charset="-122"/>
                <a:cs typeface="Open Sans" pitchFamily="34" charset="-120"/>
              </a:rPr>
              <a:t>DBIS-11  |  Day 2  |  Session 11.4  |  1:00 to 4:00</a:t>
            </a:r>
            <a:endParaRPr lang="en-US" sz="1400" dirty="0"/>
          </a:p>
        </p:txBody>
      </p:sp>
      <p:sp>
        <p:nvSpPr>
          <p:cNvPr id="5" name="Text 2"/>
          <p:cNvSpPr txBox="1"/>
          <p:nvPr/>
        </p:nvSpPr>
        <p:spPr>
          <a:xfrm>
            <a:off x="457200" y="1874520"/>
            <a:ext cx="4937760" cy="1188720"/>
          </a:xfrm>
          <a:prstGeom prst="rect">
            <a:avLst/>
          </a:prstGeom>
          <a:noFill/>
          <a:ln/>
        </p:spPr>
        <p:txBody>
          <a:bodyPr wrap="square" lIns="0" tIns="0" rIns="0" bIns="0" rtlCol="0" anchor="t"/>
          <a:lstStyle/>
          <a:p>
            <a:pPr indent="0" marL="0">
              <a:buNone/>
            </a:pPr>
            <a:r>
              <a:rPr lang="en-US" sz="3200" b="1" dirty="0">
                <a:solidFill>
                  <a:srgbClr val="FFFFFF"/>
                </a:solidFill>
                <a:latin typeface="Open Sans" pitchFamily="34" charset="0"/>
                <a:ea typeface="Open Sans" pitchFamily="34" charset="-122"/>
                <a:cs typeface="Open Sans" pitchFamily="34" charset="-120"/>
              </a:rPr>
              <a:t>Proving who you are</a:t>
            </a:r>
            <a:endParaRPr lang="en-US" sz="3200" dirty="0"/>
          </a:p>
        </p:txBody>
      </p:sp>
      <p:sp>
        <p:nvSpPr>
          <p:cNvPr id="6" name="Shape 3"/>
          <p:cNvSpPr/>
          <p:nvPr/>
        </p:nvSpPr>
        <p:spPr>
          <a:xfrm>
            <a:off x="457200" y="3154680"/>
            <a:ext cx="822960" cy="64008"/>
          </a:xfrm>
          <a:prstGeom prst="rect">
            <a:avLst/>
          </a:prstGeom>
          <a:solidFill>
            <a:srgbClr val="667C7E"/>
          </a:solidFill>
          <a:ln w="12700">
            <a:solidFill>
              <a:srgbClr val="667C7E"/>
            </a:solidFill>
            <a:prstDash val="solid"/>
          </a:ln>
        </p:spPr>
      </p:sp>
      <p:sp>
        <p:nvSpPr>
          <p:cNvPr id="7" name="Shape 4"/>
          <p:cNvSpPr/>
          <p:nvPr/>
        </p:nvSpPr>
        <p:spPr>
          <a:xfrm>
            <a:off x="1325880" y="3154680"/>
            <a:ext cx="411480" cy="64008"/>
          </a:xfrm>
          <a:prstGeom prst="rect">
            <a:avLst/>
          </a:prstGeom>
          <a:solidFill>
            <a:srgbClr val="C7A887"/>
          </a:solidFill>
          <a:ln w="12700">
            <a:solidFill>
              <a:srgbClr val="C7A887"/>
            </a:solidFill>
            <a:prstDash val="solid"/>
          </a:ln>
        </p:spPr>
      </p:sp>
      <p:sp>
        <p:nvSpPr>
          <p:cNvPr id="8" name="Text 5"/>
          <p:cNvSpPr txBox="1"/>
          <p:nvPr/>
        </p:nvSpPr>
        <p:spPr>
          <a:xfrm>
            <a:off x="457200" y="3383280"/>
            <a:ext cx="4937760" cy="822960"/>
          </a:xfrm>
          <a:prstGeom prst="rect">
            <a:avLst/>
          </a:prstGeom>
          <a:noFill/>
          <a:ln/>
        </p:spPr>
        <p:txBody>
          <a:bodyPr wrap="square" lIns="0" tIns="0" rIns="0" bIns="0" rtlCol="0" anchor="t"/>
          <a:lstStyle/>
          <a:p>
            <a:pPr indent="0" marL="0">
              <a:buNone/>
            </a:pPr>
            <a:r>
              <a:rPr lang="en-US" sz="1500" dirty="0">
                <a:solidFill>
                  <a:srgbClr val="D9D5D2"/>
                </a:solidFill>
                <a:latin typeface="Open Sans" pitchFamily="34" charset="0"/>
                <a:ea typeface="Open Sans" pitchFamily="34" charset="-122"/>
                <a:cs typeface="Open Sans" pitchFamily="34" charset="-120"/>
              </a:rPr>
              <a:t>Cybersecurity and Cloud Computing</a:t>
            </a:r>
            <a:endParaRPr lang="en-US" sz="1500" dirty="0"/>
          </a:p>
          <a:p>
            <a:pPr indent="0" marL="0">
              <a:buNone/>
            </a:pPr>
            <a:r>
              <a:rPr lang="en-US" sz="1500" dirty="0">
                <a:solidFill>
                  <a:srgbClr val="D9D5D2"/>
                </a:solidFill>
                <a:latin typeface="Open Sans" pitchFamily="34" charset="0"/>
                <a:ea typeface="Open Sans" pitchFamily="34" charset="-122"/>
                <a:cs typeface="Open Sans" pitchFamily="34" charset="-120"/>
              </a:rPr>
              <a:t>Test 2 at 3:00</a:t>
            </a:r>
            <a:endParaRPr lang="en-US" sz="1500" dirty="0"/>
          </a:p>
        </p:txBody>
      </p:sp>
      <p:sp>
        <p:nvSpPr>
          <p:cNvPr id="9" name="Shape 6"/>
          <p:cNvSpPr/>
          <p:nvPr/>
        </p:nvSpPr>
        <p:spPr>
          <a:xfrm>
            <a:off x="5440680" y="502920"/>
            <a:ext cx="3383280" cy="3931920"/>
          </a:xfrm>
          <a:prstGeom prst="ellipse">
            <a:avLst/>
          </a:prstGeom>
          <a:solidFill>
            <a:srgbClr val="3A3F33"/>
          </a:solidFill>
          <a:ln w="12700">
            <a:solidFill>
              <a:srgbClr val="3A3F33"/>
            </a:solidFill>
            <a:prstDash val="solid"/>
          </a:ln>
        </p:spPr>
      </p:sp>
      <p:pic>
        <p:nvPicPr>
          <p:cNvPr id="10" name="Image 1" descr="mfa_phone">    </p:cNvPr>
          <p:cNvPicPr>
            <a:picLocks noChangeAspect="1"/>
          </p:cNvPicPr>
          <p:nvPr/>
        </p:nvPicPr>
        <p:blipFill>
          <a:blip r:embed="rId2"/>
          <a:stretch>
            <a:fillRect/>
          </a:stretch>
        </p:blipFill>
        <p:spPr>
          <a:xfrm>
            <a:off x="5394960" y="984985"/>
            <a:ext cx="3474720" cy="2967789"/>
          </a:xfrm>
          <a:prstGeom prst="rect">
            <a:avLst/>
          </a:prstGeom>
        </p:spPr>
      </p:pic>
      <p:sp>
        <p:nvSpPr>
          <p:cNvPr id="11" name="Text 7"/>
          <p:cNvSpPr txBox="1"/>
          <p:nvPr/>
        </p:nvSpPr>
        <p:spPr>
          <a:xfrm>
            <a:off x="457200" y="4407408"/>
            <a:ext cx="8229600" cy="329184"/>
          </a:xfrm>
          <a:prstGeom prst="rect">
            <a:avLst/>
          </a:prstGeom>
          <a:noFill/>
          <a:ln/>
        </p:spPr>
        <p:txBody>
          <a:bodyPr wrap="square" lIns="0" tIns="0" rIns="0" bIns="0" rtlCol="0" anchor="t"/>
          <a:lstStyle/>
          <a:p>
            <a:pPr indent="0" marL="0">
              <a:buNone/>
            </a:pPr>
            <a:r>
              <a:rPr lang="en-US" sz="750" dirty="0">
                <a:solidFill>
                  <a:srgbClr val="A39E98"/>
                </a:solidFill>
                <a:latin typeface="Open Sans" pitchFamily="34" charset="0"/>
                <a:ea typeface="Open Sans" pitchFamily="34" charset="-122"/>
                <a:cs typeface="Open Sans" pitchFamily="34" charset="-120"/>
              </a:rPr>
              <a:t>© 2026 Niranga Dharmaratna, School of Computing &amp; Engineering, National Institute of Business Management</a:t>
            </a:r>
            <a:endParaRPr lang="en-US" sz="750" dirty="0"/>
          </a:p>
          <a:p>
            <a:pPr indent="0" marL="0">
              <a:buNone/>
            </a:pPr>
            <a:r>
              <a:rPr lang="en-US" sz="750" dirty="0">
                <a:solidFill>
                  <a:srgbClr val="A39E98"/>
                </a:solidFill>
                <a:latin typeface="Open Sans" pitchFamily="34" charset="0"/>
                <a:ea typeface="Open Sans" pitchFamily="34" charset="-122"/>
                <a:cs typeface="Open Sans" pitchFamily="34" charset="-120"/>
              </a:rPr>
              <a:t>Licensed CC BY-NC-SA 4.0. Icons: Font Awesome Free (CC BY 4.0). Illustrations: original, same licence.</a:t>
            </a:r>
            <a:endParaRPr lang="en-US" sz="750" dirty="0"/>
          </a:p>
        </p:txBody>
      </p:sp>
      <p:sp>
        <p:nvSpPr>
          <p:cNvPr id="12" name="Text 8"/>
          <p:cNvSpPr txBox="1"/>
          <p:nvPr/>
        </p:nvSpPr>
        <p:spPr>
          <a:xfrm>
            <a:off x="457200" y="4828032"/>
            <a:ext cx="6858000" cy="182880"/>
          </a:xfrm>
          <a:prstGeom prst="rect">
            <a:avLst/>
          </a:prstGeom>
          <a:noFill/>
          <a:ln/>
        </p:spPr>
        <p:txBody>
          <a:bodyPr wrap="square" lIns="0" tIns="0" rIns="0" bIns="0" rtlCol="0" anchor="ctr"/>
          <a:lstStyle/>
          <a:p>
            <a:pPr indent="0" marL="0">
              <a:buNone/>
            </a:pPr>
            <a:r>
              <a:rPr lang="en-US" sz="800" dirty="0">
                <a:solidFill>
                  <a:srgbClr val="D9D5D2"/>
                </a:solidFill>
                <a:latin typeface="Open Sans" pitchFamily="34" charset="0"/>
                <a:ea typeface="Open Sans" pitchFamily="34" charset="-122"/>
                <a:cs typeface="Open Sans" pitchFamily="34" charset="-120"/>
              </a:rPr>
              <a:t>DBIS-11 Cybersecurity and Cloud Computing  |  Day 2  |  Session 11.4</a:t>
            </a:r>
            <a:endParaRPr lang="en-US" sz="800" dirty="0"/>
          </a:p>
        </p:txBody>
      </p:sp>
      <p:sp>
        <p:nvSpPr>
          <p:cNvPr id="13" name="Text 9"/>
          <p:cNvSpPr txBox="1"/>
          <p:nvPr/>
        </p:nvSpPr>
        <p:spPr>
          <a:xfrm>
            <a:off x="8138160" y="4828032"/>
            <a:ext cx="548640" cy="182880"/>
          </a:xfrm>
          <a:prstGeom prst="rect">
            <a:avLst/>
          </a:prstGeom>
          <a:noFill/>
          <a:ln/>
        </p:spPr>
        <p:txBody>
          <a:bodyPr wrap="square" lIns="0" tIns="0" rIns="0" bIns="0" rtlCol="0" anchor="ctr"/>
          <a:lstStyle/>
          <a:p>
            <a:pPr algn="r" indent="0" marL="0">
              <a:buNone/>
            </a:pPr>
            <a:r>
              <a:rPr lang="en-US" sz="800" dirty="0">
                <a:solidFill>
                  <a:srgbClr val="D9D5D2"/>
                </a:solidFill>
                <a:latin typeface="Open Sans" pitchFamily="34" charset="0"/>
                <a:ea typeface="Open Sans" pitchFamily="34" charset="-122"/>
                <a:cs typeface="Open Sans" pitchFamily="34" charset="-120"/>
              </a:rPr>
              <a:t>1</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262A20"/>
        </a:solidFill>
      </p:bgPr>
    </p:bg>
    <p:spTree>
      <p:nvGrpSpPr>
        <p:cNvPr id="1" name=""/>
        <p:cNvGrpSpPr/>
        <p:nvPr/>
      </p:nvGrpSpPr>
      <p:grpSpPr>
        <a:xfrm>
          <a:off x="0" y="0"/>
          <a:ext cx="0" cy="0"/>
          <a:chOff x="0" y="0"/>
          <a:chExt cx="0" cy="0"/>
        </a:xfrm>
      </p:grpSpPr>
      <p:sp>
        <p:nvSpPr>
          <p:cNvPr id="2" name="Text 0"/>
          <p:cNvSpPr txBox="1"/>
          <p:nvPr/>
        </p:nvSpPr>
        <p:spPr>
          <a:xfrm>
            <a:off x="457200" y="457200"/>
            <a:ext cx="1097280" cy="1097280"/>
          </a:xfrm>
          <a:prstGeom prst="rect">
            <a:avLst/>
          </a:prstGeom>
          <a:noFill/>
          <a:ln/>
        </p:spPr>
        <p:txBody>
          <a:bodyPr wrap="square" lIns="0" tIns="0" rIns="0" bIns="0" rtlCol="0" anchor="ctr"/>
          <a:lstStyle/>
          <a:p>
            <a:pPr indent="0" marL="0">
              <a:buNone/>
            </a:pPr>
            <a:r>
              <a:rPr lang="en-US" sz="9600" b="1" dirty="0">
                <a:solidFill>
                  <a:srgbClr val="C7A887"/>
                </a:solidFill>
                <a:latin typeface="Open Sans" pitchFamily="34" charset="0"/>
                <a:ea typeface="Open Sans" pitchFamily="34" charset="-122"/>
                <a:cs typeface="Open Sans" pitchFamily="34" charset="-120"/>
              </a:rPr>
              <a:t>“</a:t>
            </a:r>
            <a:endParaRPr lang="en-US" sz="9600" dirty="0"/>
          </a:p>
        </p:txBody>
      </p:sp>
      <p:sp>
        <p:nvSpPr>
          <p:cNvPr id="3" name="Text 1"/>
          <p:cNvSpPr txBox="1"/>
          <p:nvPr/>
        </p:nvSpPr>
        <p:spPr>
          <a:xfrm>
            <a:off x="1097280" y="1188720"/>
            <a:ext cx="4572000" cy="2011680"/>
          </a:xfrm>
          <a:prstGeom prst="rect">
            <a:avLst/>
          </a:prstGeom>
          <a:noFill/>
          <a:ln/>
        </p:spPr>
        <p:txBody>
          <a:bodyPr wrap="square" lIns="0" tIns="0" rIns="0" bIns="0" rtlCol="0" anchor="ctr"/>
          <a:lstStyle/>
          <a:p>
            <a:pPr indent="0" marL="0">
              <a:buNone/>
            </a:pPr>
            <a:r>
              <a:rPr lang="en-US" sz="2400" b="1" dirty="0">
                <a:solidFill>
                  <a:srgbClr val="FFFFFF"/>
                </a:solidFill>
                <a:latin typeface="Open Sans" pitchFamily="34" charset="0"/>
                <a:ea typeface="Open Sans" pitchFamily="34" charset="-122"/>
                <a:cs typeface="Open Sans" pitchFamily="34" charset="-120"/>
              </a:rPr>
              <a:t>A customer order was deleted at 11:14 pm. Everyone in accounts uses the same login: accounts1. Who did it?</a:t>
            </a:r>
            <a:endParaRPr lang="en-US" sz="2400" dirty="0"/>
          </a:p>
        </p:txBody>
      </p:sp>
      <p:sp>
        <p:nvSpPr>
          <p:cNvPr id="4" name="Text 2"/>
          <p:cNvSpPr txBox="1"/>
          <p:nvPr/>
        </p:nvSpPr>
        <p:spPr>
          <a:xfrm>
            <a:off x="1097280" y="3383280"/>
            <a:ext cx="4572000" cy="548640"/>
          </a:xfrm>
          <a:prstGeom prst="rect">
            <a:avLst/>
          </a:prstGeom>
          <a:noFill/>
          <a:ln/>
        </p:spPr>
        <p:txBody>
          <a:bodyPr wrap="square" lIns="0" tIns="0" rIns="0" bIns="0" rtlCol="0" anchor="t"/>
          <a:lstStyle/>
          <a:p>
            <a:pPr indent="0" marL="0">
              <a:buNone/>
            </a:pPr>
            <a:r>
              <a:rPr lang="en-US" sz="1500" dirty="0">
                <a:solidFill>
                  <a:srgbClr val="C7A887"/>
                </a:solidFill>
                <a:latin typeface="Open Sans" pitchFamily="34" charset="0"/>
                <a:ea typeface="Open Sans" pitchFamily="34" charset="-122"/>
                <a:cs typeface="Open Sans" pitchFamily="34" charset="-120"/>
              </a:rPr>
              <a:t>By 3:00 you will know why nobody can answer, and how to fix it.</a:t>
            </a:r>
            <a:endParaRPr lang="en-US" sz="1500" dirty="0"/>
          </a:p>
        </p:txBody>
      </p:sp>
      <p:sp>
        <p:nvSpPr>
          <p:cNvPr id="5" name="Shape 3"/>
          <p:cNvSpPr/>
          <p:nvPr/>
        </p:nvSpPr>
        <p:spPr>
          <a:xfrm>
            <a:off x="5806440" y="548640"/>
            <a:ext cx="3017520" cy="3840480"/>
          </a:xfrm>
          <a:prstGeom prst="ellipse">
            <a:avLst/>
          </a:prstGeom>
          <a:solidFill>
            <a:srgbClr val="3A3F33"/>
          </a:solidFill>
          <a:ln w="12700">
            <a:solidFill>
              <a:srgbClr val="3A3F33"/>
            </a:solidFill>
            <a:prstDash val="solid"/>
          </a:ln>
        </p:spPr>
      </p:sp>
      <p:pic>
        <p:nvPicPr>
          <p:cNvPr id="6" name="Image 0" descr="it_server">    </p:cNvPr>
          <p:cNvPicPr>
            <a:picLocks noChangeAspect="1"/>
          </p:cNvPicPr>
          <p:nvPr/>
        </p:nvPicPr>
        <p:blipFill>
          <a:blip r:embed="rId1"/>
          <a:stretch>
            <a:fillRect/>
          </a:stretch>
        </p:blipFill>
        <p:spPr>
          <a:xfrm>
            <a:off x="5760720" y="1188551"/>
            <a:ext cx="3108960" cy="2560658"/>
          </a:xfrm>
          <a:prstGeom prst="rect">
            <a:avLst/>
          </a:prstGeom>
        </p:spPr>
      </p:pic>
      <p:sp>
        <p:nvSpPr>
          <p:cNvPr id="7" name="Text 4"/>
          <p:cNvSpPr txBox="1"/>
          <p:nvPr/>
        </p:nvSpPr>
        <p:spPr>
          <a:xfrm>
            <a:off x="457200" y="4828032"/>
            <a:ext cx="6858000" cy="182880"/>
          </a:xfrm>
          <a:prstGeom prst="rect">
            <a:avLst/>
          </a:prstGeom>
          <a:noFill/>
          <a:ln/>
        </p:spPr>
        <p:txBody>
          <a:bodyPr wrap="square" lIns="0" tIns="0" rIns="0" bIns="0" rtlCol="0" anchor="ctr"/>
          <a:lstStyle/>
          <a:p>
            <a:pPr indent="0" marL="0">
              <a:buNone/>
            </a:pPr>
            <a:r>
              <a:rPr lang="en-US" sz="800" dirty="0">
                <a:solidFill>
                  <a:srgbClr val="D9D5D2"/>
                </a:solidFill>
                <a:latin typeface="Open Sans" pitchFamily="34" charset="0"/>
                <a:ea typeface="Open Sans" pitchFamily="34" charset="-122"/>
                <a:cs typeface="Open Sans" pitchFamily="34" charset="-120"/>
              </a:rPr>
              <a:t>DBIS-11 Cybersecurity and Cloud Computing  |  Day 2  |  Session 11.4</a:t>
            </a:r>
            <a:endParaRPr lang="en-US" sz="800" dirty="0"/>
          </a:p>
        </p:txBody>
      </p:sp>
      <p:sp>
        <p:nvSpPr>
          <p:cNvPr id="8" name="Text 5"/>
          <p:cNvSpPr txBox="1"/>
          <p:nvPr/>
        </p:nvSpPr>
        <p:spPr>
          <a:xfrm>
            <a:off x="8138160" y="4828032"/>
            <a:ext cx="548640" cy="182880"/>
          </a:xfrm>
          <a:prstGeom prst="rect">
            <a:avLst/>
          </a:prstGeom>
          <a:noFill/>
          <a:ln/>
        </p:spPr>
        <p:txBody>
          <a:bodyPr wrap="square" lIns="0" tIns="0" rIns="0" bIns="0" rtlCol="0" anchor="ctr"/>
          <a:lstStyle/>
          <a:p>
            <a:pPr algn="r" indent="0" marL="0">
              <a:buNone/>
            </a:pPr>
            <a:r>
              <a:rPr lang="en-US" sz="800" dirty="0">
                <a:solidFill>
                  <a:srgbClr val="D9D5D2"/>
                </a:solidFill>
                <a:latin typeface="Open Sans" pitchFamily="34" charset="0"/>
                <a:ea typeface="Open Sans" pitchFamily="34" charset="-122"/>
                <a:cs typeface="Open Sans" pitchFamily="34" charset="-120"/>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66928"/>
          </a:xfrm>
          <a:prstGeom prst="rect">
            <a:avLst/>
          </a:prstGeom>
          <a:noFill/>
          <a:ln/>
        </p:spPr>
        <p:txBody>
          <a:bodyPr wrap="square" lIns="0" tIns="0" rIns="0" bIns="0" rtlCol="0" anchor="ctr"/>
          <a:lstStyle/>
          <a:p>
            <a:pPr indent="0" marL="0">
              <a:buNone/>
            </a:pPr>
            <a:r>
              <a:rPr lang="en-US" sz="2400" b="1" dirty="0">
                <a:solidFill>
                  <a:srgbClr val="262A20"/>
                </a:solidFill>
                <a:latin typeface="Open Sans" pitchFamily="34" charset="0"/>
                <a:ea typeface="Open Sans" pitchFamily="34" charset="-122"/>
                <a:cs typeface="Open Sans" pitchFamily="34" charset="-120"/>
              </a:rPr>
              <a:t>Where we are on the map</a:t>
            </a:r>
            <a:endParaRPr lang="en-US" sz="2400" dirty="0"/>
          </a:p>
        </p:txBody>
      </p:sp>
      <p:sp>
        <p:nvSpPr>
          <p:cNvPr id="3" name="Shape 1"/>
          <p:cNvSpPr/>
          <p:nvPr/>
        </p:nvSpPr>
        <p:spPr>
          <a:xfrm>
            <a:off x="457200" y="896112"/>
            <a:ext cx="640080" cy="54864"/>
          </a:xfrm>
          <a:prstGeom prst="rect">
            <a:avLst/>
          </a:prstGeom>
          <a:solidFill>
            <a:srgbClr val="667C7E"/>
          </a:solidFill>
          <a:ln w="12700">
            <a:solidFill>
              <a:srgbClr val="667C7E"/>
            </a:solidFill>
            <a:prstDash val="solid"/>
          </a:ln>
        </p:spPr>
      </p:sp>
      <p:sp>
        <p:nvSpPr>
          <p:cNvPr id="4" name="Shape 2"/>
          <p:cNvSpPr/>
          <p:nvPr/>
        </p:nvSpPr>
        <p:spPr>
          <a:xfrm>
            <a:off x="1143000" y="896112"/>
            <a:ext cx="320040" cy="54864"/>
          </a:xfrm>
          <a:prstGeom prst="rect">
            <a:avLst/>
          </a:prstGeom>
          <a:solidFill>
            <a:srgbClr val="C7A887"/>
          </a:solidFill>
          <a:ln w="12700">
            <a:solidFill>
              <a:srgbClr val="C7A887"/>
            </a:solidFill>
            <a:prstDash val="solid"/>
          </a:ln>
        </p:spPr>
      </p:sp>
      <p:sp>
        <p:nvSpPr>
          <p:cNvPr id="5" name="Text 3"/>
          <p:cNvSpPr txBox="1"/>
          <p:nvPr/>
        </p:nvSpPr>
        <p:spPr>
          <a:xfrm>
            <a:off x="457200" y="4828032"/>
            <a:ext cx="6858000" cy="182880"/>
          </a:xfrm>
          <a:prstGeom prst="rect">
            <a:avLst/>
          </a:prstGeom>
          <a:noFill/>
          <a:ln/>
        </p:spPr>
        <p:txBody>
          <a:bodyPr wrap="square" lIns="0" tIns="0" rIns="0" bIns="0" rtlCol="0" anchor="ctr"/>
          <a:lstStyle/>
          <a:p>
            <a:pPr indent="0" marL="0">
              <a:buNone/>
            </a:pPr>
            <a:r>
              <a:rPr lang="en-US" sz="800" dirty="0">
                <a:solidFill>
                  <a:srgbClr val="5A5F55"/>
                </a:solidFill>
                <a:latin typeface="Open Sans" pitchFamily="34" charset="0"/>
                <a:ea typeface="Open Sans" pitchFamily="34" charset="-122"/>
                <a:cs typeface="Open Sans" pitchFamily="34" charset="-120"/>
              </a:rPr>
              <a:t>DBIS-11 Cybersecurity and Cloud Computing  |  Day 2  |  Session 11.4</a:t>
            </a:r>
            <a:endParaRPr lang="en-US" sz="800" dirty="0"/>
          </a:p>
        </p:txBody>
      </p:sp>
      <p:sp>
        <p:nvSpPr>
          <p:cNvPr id="6" name="Text 4"/>
          <p:cNvSpPr txBox="1"/>
          <p:nvPr/>
        </p:nvSpPr>
        <p:spPr>
          <a:xfrm>
            <a:off x="8138160" y="4828032"/>
            <a:ext cx="548640" cy="182880"/>
          </a:xfrm>
          <a:prstGeom prst="rect">
            <a:avLst/>
          </a:prstGeom>
          <a:noFill/>
          <a:ln/>
        </p:spPr>
        <p:txBody>
          <a:bodyPr wrap="square" lIns="0" tIns="0" rIns="0" bIns="0" rtlCol="0" anchor="ctr"/>
          <a:lstStyle/>
          <a:p>
            <a:pPr algn="r" indent="0" marL="0">
              <a:buNone/>
            </a:pPr>
            <a:r>
              <a:rPr lang="en-US" sz="800" dirty="0">
                <a:solidFill>
                  <a:srgbClr val="5A5F55"/>
                </a:solidFill>
                <a:latin typeface="Open Sans" pitchFamily="34" charset="0"/>
                <a:ea typeface="Open Sans" pitchFamily="34" charset="-122"/>
                <a:cs typeface="Open Sans" pitchFamily="34" charset="-120"/>
              </a:rPr>
              <a:t>3</a:t>
            </a:r>
            <a:endParaRPr lang="en-US" sz="800" dirty="0"/>
          </a:p>
        </p:txBody>
      </p:sp>
      <p:sp>
        <p:nvSpPr>
          <p:cNvPr id="8" name="Shape 5"/>
          <p:cNvSpPr/>
          <p:nvPr/>
        </p:nvSpPr>
        <p:spPr>
          <a:xfrm>
            <a:off x="457200" y="1325880"/>
            <a:ext cx="1280160" cy="2103120"/>
          </a:xfrm>
          <a:prstGeom prst="roundRect">
            <a:avLst>
              <a:gd name="adj" fmla="val 5714"/>
            </a:avLst>
          </a:prstGeom>
          <a:solidFill>
            <a:srgbClr val="F2EFEC"/>
          </a:solidFill>
          <a:ln w="6350">
            <a:solidFill>
              <a:srgbClr val="F2EFEC"/>
            </a:solidFill>
            <a:prstDash val="solid"/>
          </a:ln>
        </p:spPr>
      </p:sp>
      <p:sp>
        <p:nvSpPr>
          <p:cNvPr id="9" name="Shape 6"/>
          <p:cNvSpPr/>
          <p:nvPr/>
        </p:nvSpPr>
        <p:spPr>
          <a:xfrm>
            <a:off x="822960" y="1554480"/>
            <a:ext cx="548640" cy="548640"/>
          </a:xfrm>
          <a:prstGeom prst="ellipse">
            <a:avLst/>
          </a:prstGeom>
          <a:solidFill>
            <a:srgbClr val="C9C4BE"/>
          </a:solidFill>
          <a:ln w="12700">
            <a:solidFill>
              <a:srgbClr val="C9C4BE"/>
            </a:solidFill>
            <a:prstDash val="solid"/>
          </a:ln>
        </p:spPr>
      </p:sp>
      <p:pic>
        <p:nvPicPr>
          <p:cNvPr id="10" name="Image 0" descr="preencoded.png">    </p:cNvPr>
          <p:cNvPicPr>
            <a:picLocks noChangeAspect="1"/>
          </p:cNvPicPr>
          <p:nvPr/>
        </p:nvPicPr>
        <p:blipFill>
          <a:blip r:embed="rId1"/>
          <a:stretch>
            <a:fillRect/>
          </a:stretch>
        </p:blipFill>
        <p:spPr>
          <a:xfrm>
            <a:off x="960120" y="1691640"/>
            <a:ext cx="274320" cy="274320"/>
          </a:xfrm>
          <a:prstGeom prst="rect">
            <a:avLst/>
          </a:prstGeom>
        </p:spPr>
      </p:pic>
      <p:sp>
        <p:nvSpPr>
          <p:cNvPr id="11" name="Text 7"/>
          <p:cNvSpPr txBox="1"/>
          <p:nvPr/>
        </p:nvSpPr>
        <p:spPr>
          <a:xfrm>
            <a:off x="502920" y="2240280"/>
            <a:ext cx="1188720" cy="365760"/>
          </a:xfrm>
          <a:prstGeom prst="rect">
            <a:avLst/>
          </a:prstGeom>
          <a:noFill/>
          <a:ln/>
        </p:spPr>
        <p:txBody>
          <a:bodyPr wrap="square" lIns="0" tIns="0" rIns="0" bIns="0" rtlCol="0" anchor="ctr"/>
          <a:lstStyle/>
          <a:p>
            <a:pPr algn="ctr" indent="0" marL="0">
              <a:buNone/>
            </a:pPr>
            <a:r>
              <a:rPr lang="en-US" sz="1500" b="1" dirty="0">
                <a:solidFill>
                  <a:srgbClr val="5A5F55"/>
                </a:solidFill>
                <a:latin typeface="Open Sans" pitchFamily="34" charset="0"/>
                <a:ea typeface="Open Sans" pitchFamily="34" charset="-122"/>
                <a:cs typeface="Open Sans" pitchFamily="34" charset="-120"/>
              </a:rPr>
              <a:t>Govern</a:t>
            </a:r>
            <a:endParaRPr lang="en-US" sz="1500" dirty="0"/>
          </a:p>
        </p:txBody>
      </p:sp>
      <p:sp>
        <p:nvSpPr>
          <p:cNvPr id="12" name="Text 8"/>
          <p:cNvSpPr txBox="1"/>
          <p:nvPr/>
        </p:nvSpPr>
        <p:spPr>
          <a:xfrm>
            <a:off x="548640" y="2606040"/>
            <a:ext cx="1097280" cy="640080"/>
          </a:xfrm>
          <a:prstGeom prst="rect">
            <a:avLst/>
          </a:prstGeom>
          <a:noFill/>
          <a:ln/>
        </p:spPr>
        <p:txBody>
          <a:bodyPr wrap="square" lIns="0" tIns="0" rIns="0" bIns="0" rtlCol="0" anchor="t"/>
          <a:lstStyle/>
          <a:p>
            <a:pPr algn="ctr" indent="0" marL="0">
              <a:buNone/>
            </a:pPr>
            <a:r>
              <a:rPr lang="en-US" sz="1200" dirty="0">
                <a:solidFill>
                  <a:srgbClr val="5A5F55"/>
                </a:solidFill>
                <a:latin typeface="Open Sans" pitchFamily="34" charset="0"/>
                <a:ea typeface="Open Sans" pitchFamily="34" charset="-122"/>
                <a:cs typeface="Open Sans" pitchFamily="34" charset="-120"/>
              </a:rPr>
              <a:t>Set the rules</a:t>
            </a:r>
            <a:endParaRPr lang="en-US" sz="1200" dirty="0"/>
          </a:p>
        </p:txBody>
      </p:sp>
      <p:sp>
        <p:nvSpPr>
          <p:cNvPr id="13" name="Shape 9"/>
          <p:cNvSpPr/>
          <p:nvPr/>
        </p:nvSpPr>
        <p:spPr>
          <a:xfrm>
            <a:off x="1847088" y="1325880"/>
            <a:ext cx="1280160" cy="2103120"/>
          </a:xfrm>
          <a:prstGeom prst="roundRect">
            <a:avLst>
              <a:gd name="adj" fmla="val 5714"/>
            </a:avLst>
          </a:prstGeom>
          <a:solidFill>
            <a:srgbClr val="F2EFEC"/>
          </a:solidFill>
          <a:ln w="6350">
            <a:solidFill>
              <a:srgbClr val="F2EFEC"/>
            </a:solidFill>
            <a:prstDash val="solid"/>
          </a:ln>
        </p:spPr>
      </p:sp>
      <p:sp>
        <p:nvSpPr>
          <p:cNvPr id="14" name="Shape 10"/>
          <p:cNvSpPr/>
          <p:nvPr/>
        </p:nvSpPr>
        <p:spPr>
          <a:xfrm>
            <a:off x="2212848" y="1554480"/>
            <a:ext cx="548640" cy="548640"/>
          </a:xfrm>
          <a:prstGeom prst="ellipse">
            <a:avLst/>
          </a:prstGeom>
          <a:solidFill>
            <a:srgbClr val="C9C4BE"/>
          </a:solidFill>
          <a:ln w="12700">
            <a:solidFill>
              <a:srgbClr val="C9C4BE"/>
            </a:solidFill>
            <a:prstDash val="solid"/>
          </a:ln>
        </p:spPr>
      </p:sp>
      <p:pic>
        <p:nvPicPr>
          <p:cNvPr id="15" name="Image 1" descr="preencoded.png">    </p:cNvPr>
          <p:cNvPicPr>
            <a:picLocks noChangeAspect="1"/>
          </p:cNvPicPr>
          <p:nvPr/>
        </p:nvPicPr>
        <p:blipFill>
          <a:blip r:embed="rId2"/>
          <a:stretch>
            <a:fillRect/>
          </a:stretch>
        </p:blipFill>
        <p:spPr>
          <a:xfrm>
            <a:off x="2350008" y="1691640"/>
            <a:ext cx="274320" cy="274320"/>
          </a:xfrm>
          <a:prstGeom prst="rect">
            <a:avLst/>
          </a:prstGeom>
        </p:spPr>
      </p:pic>
      <p:sp>
        <p:nvSpPr>
          <p:cNvPr id="16" name="Text 11"/>
          <p:cNvSpPr txBox="1"/>
          <p:nvPr/>
        </p:nvSpPr>
        <p:spPr>
          <a:xfrm>
            <a:off x="1892808" y="2240280"/>
            <a:ext cx="1188720" cy="365760"/>
          </a:xfrm>
          <a:prstGeom prst="rect">
            <a:avLst/>
          </a:prstGeom>
          <a:noFill/>
          <a:ln/>
        </p:spPr>
        <p:txBody>
          <a:bodyPr wrap="square" lIns="0" tIns="0" rIns="0" bIns="0" rtlCol="0" anchor="ctr"/>
          <a:lstStyle/>
          <a:p>
            <a:pPr algn="ctr" indent="0" marL="0">
              <a:buNone/>
            </a:pPr>
            <a:r>
              <a:rPr lang="en-US" sz="1500" b="1" dirty="0">
                <a:solidFill>
                  <a:srgbClr val="5A5F55"/>
                </a:solidFill>
                <a:latin typeface="Open Sans" pitchFamily="34" charset="0"/>
                <a:ea typeface="Open Sans" pitchFamily="34" charset="-122"/>
                <a:cs typeface="Open Sans" pitchFamily="34" charset="-120"/>
              </a:rPr>
              <a:t>Identify</a:t>
            </a:r>
            <a:endParaRPr lang="en-US" sz="1500" dirty="0"/>
          </a:p>
        </p:txBody>
      </p:sp>
      <p:sp>
        <p:nvSpPr>
          <p:cNvPr id="17" name="Text 12"/>
          <p:cNvSpPr txBox="1"/>
          <p:nvPr/>
        </p:nvSpPr>
        <p:spPr>
          <a:xfrm>
            <a:off x="1938528" y="2606040"/>
            <a:ext cx="1097280" cy="640080"/>
          </a:xfrm>
          <a:prstGeom prst="rect">
            <a:avLst/>
          </a:prstGeom>
          <a:noFill/>
          <a:ln/>
        </p:spPr>
        <p:txBody>
          <a:bodyPr wrap="square" lIns="0" tIns="0" rIns="0" bIns="0" rtlCol="0" anchor="t"/>
          <a:lstStyle/>
          <a:p>
            <a:pPr algn="ctr" indent="0" marL="0">
              <a:buNone/>
            </a:pPr>
            <a:r>
              <a:rPr lang="en-US" sz="1200" dirty="0">
                <a:solidFill>
                  <a:srgbClr val="5A5F55"/>
                </a:solidFill>
                <a:latin typeface="Open Sans" pitchFamily="34" charset="0"/>
                <a:ea typeface="Open Sans" pitchFamily="34" charset="-122"/>
                <a:cs typeface="Open Sans" pitchFamily="34" charset="-120"/>
              </a:rPr>
              <a:t>Know what you have</a:t>
            </a:r>
            <a:endParaRPr lang="en-US" sz="1200" dirty="0"/>
          </a:p>
        </p:txBody>
      </p:sp>
      <p:sp>
        <p:nvSpPr>
          <p:cNvPr id="18" name="Shape 13"/>
          <p:cNvSpPr/>
          <p:nvPr/>
        </p:nvSpPr>
        <p:spPr>
          <a:xfrm>
            <a:off x="3236976" y="1325880"/>
            <a:ext cx="1280160" cy="2103120"/>
          </a:xfrm>
          <a:prstGeom prst="roundRect">
            <a:avLst>
              <a:gd name="adj" fmla="val 5714"/>
            </a:avLst>
          </a:prstGeom>
          <a:solidFill>
            <a:srgbClr val="D9D5D2"/>
          </a:solidFill>
          <a:ln w="25400">
            <a:solidFill>
              <a:srgbClr val="566A6C"/>
            </a:solidFill>
            <a:prstDash val="solid"/>
          </a:ln>
        </p:spPr>
      </p:sp>
      <p:sp>
        <p:nvSpPr>
          <p:cNvPr id="19" name="Shape 14"/>
          <p:cNvSpPr/>
          <p:nvPr/>
        </p:nvSpPr>
        <p:spPr>
          <a:xfrm>
            <a:off x="3602736" y="1554480"/>
            <a:ext cx="548640" cy="548640"/>
          </a:xfrm>
          <a:prstGeom prst="ellipse">
            <a:avLst/>
          </a:prstGeom>
          <a:solidFill>
            <a:srgbClr val="667C7E"/>
          </a:solidFill>
          <a:ln w="12700">
            <a:solidFill>
              <a:srgbClr val="667C7E"/>
            </a:solidFill>
            <a:prstDash val="solid"/>
          </a:ln>
        </p:spPr>
      </p:sp>
      <p:pic>
        <p:nvPicPr>
          <p:cNvPr id="20" name="Image 2" descr="preencoded.png">    </p:cNvPr>
          <p:cNvPicPr>
            <a:picLocks noChangeAspect="1"/>
          </p:cNvPicPr>
          <p:nvPr/>
        </p:nvPicPr>
        <p:blipFill>
          <a:blip r:embed="rId3"/>
          <a:stretch>
            <a:fillRect/>
          </a:stretch>
        </p:blipFill>
        <p:spPr>
          <a:xfrm>
            <a:off x="3739896" y="1691640"/>
            <a:ext cx="274320" cy="274320"/>
          </a:xfrm>
          <a:prstGeom prst="rect">
            <a:avLst/>
          </a:prstGeom>
        </p:spPr>
      </p:pic>
      <p:sp>
        <p:nvSpPr>
          <p:cNvPr id="21" name="Text 15"/>
          <p:cNvSpPr txBox="1"/>
          <p:nvPr/>
        </p:nvSpPr>
        <p:spPr>
          <a:xfrm>
            <a:off x="3282696" y="2240280"/>
            <a:ext cx="1188720" cy="365760"/>
          </a:xfrm>
          <a:prstGeom prst="rect">
            <a:avLst/>
          </a:prstGeom>
          <a:noFill/>
          <a:ln/>
        </p:spPr>
        <p:txBody>
          <a:bodyPr wrap="square" lIns="0" tIns="0" rIns="0" bIns="0" rtlCol="0" anchor="ctr"/>
          <a:lstStyle/>
          <a:p>
            <a:pPr algn="ctr" indent="0" marL="0">
              <a:buNone/>
            </a:pPr>
            <a:r>
              <a:rPr lang="en-US" sz="1500" b="1" dirty="0">
                <a:solidFill>
                  <a:srgbClr val="262A20"/>
                </a:solidFill>
                <a:latin typeface="Open Sans" pitchFamily="34" charset="0"/>
                <a:ea typeface="Open Sans" pitchFamily="34" charset="-122"/>
                <a:cs typeface="Open Sans" pitchFamily="34" charset="-120"/>
              </a:rPr>
              <a:t>Protect</a:t>
            </a:r>
            <a:endParaRPr lang="en-US" sz="1500" dirty="0"/>
          </a:p>
        </p:txBody>
      </p:sp>
      <p:sp>
        <p:nvSpPr>
          <p:cNvPr id="22" name="Text 16"/>
          <p:cNvSpPr txBox="1"/>
          <p:nvPr/>
        </p:nvSpPr>
        <p:spPr>
          <a:xfrm>
            <a:off x="3328416" y="2606040"/>
            <a:ext cx="1097280" cy="640080"/>
          </a:xfrm>
          <a:prstGeom prst="rect">
            <a:avLst/>
          </a:prstGeom>
          <a:noFill/>
          <a:ln/>
        </p:spPr>
        <p:txBody>
          <a:bodyPr wrap="square" lIns="0" tIns="0" rIns="0" bIns="0" rtlCol="0" anchor="t"/>
          <a:lstStyle/>
          <a:p>
            <a:pPr algn="ctr" indent="0" marL="0">
              <a:buNone/>
            </a:pPr>
            <a:r>
              <a:rPr lang="en-US" sz="1200" dirty="0">
                <a:solidFill>
                  <a:srgbClr val="262A20"/>
                </a:solidFill>
                <a:latin typeface="Open Sans" pitchFamily="34" charset="0"/>
                <a:ea typeface="Open Sans" pitchFamily="34" charset="-122"/>
                <a:cs typeface="Open Sans" pitchFamily="34" charset="-120"/>
              </a:rPr>
              <a:t>Keep it safe</a:t>
            </a:r>
            <a:endParaRPr lang="en-US" sz="1200" dirty="0"/>
          </a:p>
        </p:txBody>
      </p:sp>
      <p:sp>
        <p:nvSpPr>
          <p:cNvPr id="23" name="Shape 17"/>
          <p:cNvSpPr/>
          <p:nvPr/>
        </p:nvSpPr>
        <p:spPr>
          <a:xfrm>
            <a:off x="4626864" y="1325880"/>
            <a:ext cx="1280160" cy="2103120"/>
          </a:xfrm>
          <a:prstGeom prst="roundRect">
            <a:avLst>
              <a:gd name="adj" fmla="val 5714"/>
            </a:avLst>
          </a:prstGeom>
          <a:solidFill>
            <a:srgbClr val="F2EFEC"/>
          </a:solidFill>
          <a:ln w="6350">
            <a:solidFill>
              <a:srgbClr val="F2EFEC"/>
            </a:solidFill>
            <a:prstDash val="solid"/>
          </a:ln>
        </p:spPr>
      </p:sp>
      <p:sp>
        <p:nvSpPr>
          <p:cNvPr id="24" name="Shape 18"/>
          <p:cNvSpPr/>
          <p:nvPr/>
        </p:nvSpPr>
        <p:spPr>
          <a:xfrm>
            <a:off x="4992624" y="1554480"/>
            <a:ext cx="548640" cy="548640"/>
          </a:xfrm>
          <a:prstGeom prst="ellipse">
            <a:avLst/>
          </a:prstGeom>
          <a:solidFill>
            <a:srgbClr val="C9C4BE"/>
          </a:solidFill>
          <a:ln w="12700">
            <a:solidFill>
              <a:srgbClr val="C9C4BE"/>
            </a:solidFill>
            <a:prstDash val="solid"/>
          </a:ln>
        </p:spPr>
      </p:sp>
      <p:pic>
        <p:nvPicPr>
          <p:cNvPr id="25" name="Image 3" descr="preencoded.png">    </p:cNvPr>
          <p:cNvPicPr>
            <a:picLocks noChangeAspect="1"/>
          </p:cNvPicPr>
          <p:nvPr/>
        </p:nvPicPr>
        <p:blipFill>
          <a:blip r:embed="rId4"/>
          <a:stretch>
            <a:fillRect/>
          </a:stretch>
        </p:blipFill>
        <p:spPr>
          <a:xfrm>
            <a:off x="5129784" y="1691640"/>
            <a:ext cx="274320" cy="274320"/>
          </a:xfrm>
          <a:prstGeom prst="rect">
            <a:avLst/>
          </a:prstGeom>
        </p:spPr>
      </p:pic>
      <p:sp>
        <p:nvSpPr>
          <p:cNvPr id="26" name="Text 19"/>
          <p:cNvSpPr txBox="1"/>
          <p:nvPr/>
        </p:nvSpPr>
        <p:spPr>
          <a:xfrm>
            <a:off x="4672584" y="2240280"/>
            <a:ext cx="1188720" cy="365760"/>
          </a:xfrm>
          <a:prstGeom prst="rect">
            <a:avLst/>
          </a:prstGeom>
          <a:noFill/>
          <a:ln/>
        </p:spPr>
        <p:txBody>
          <a:bodyPr wrap="square" lIns="0" tIns="0" rIns="0" bIns="0" rtlCol="0" anchor="ctr"/>
          <a:lstStyle/>
          <a:p>
            <a:pPr algn="ctr" indent="0" marL="0">
              <a:buNone/>
            </a:pPr>
            <a:r>
              <a:rPr lang="en-US" sz="1500" b="1" dirty="0">
                <a:solidFill>
                  <a:srgbClr val="5A5F55"/>
                </a:solidFill>
                <a:latin typeface="Open Sans" pitchFamily="34" charset="0"/>
                <a:ea typeface="Open Sans" pitchFamily="34" charset="-122"/>
                <a:cs typeface="Open Sans" pitchFamily="34" charset="-120"/>
              </a:rPr>
              <a:t>Detect</a:t>
            </a:r>
            <a:endParaRPr lang="en-US" sz="1500" dirty="0"/>
          </a:p>
        </p:txBody>
      </p:sp>
      <p:sp>
        <p:nvSpPr>
          <p:cNvPr id="27" name="Text 20"/>
          <p:cNvSpPr txBox="1"/>
          <p:nvPr/>
        </p:nvSpPr>
        <p:spPr>
          <a:xfrm>
            <a:off x="4718304" y="2606040"/>
            <a:ext cx="1097280" cy="640080"/>
          </a:xfrm>
          <a:prstGeom prst="rect">
            <a:avLst/>
          </a:prstGeom>
          <a:noFill/>
          <a:ln/>
        </p:spPr>
        <p:txBody>
          <a:bodyPr wrap="square" lIns="0" tIns="0" rIns="0" bIns="0" rtlCol="0" anchor="t"/>
          <a:lstStyle/>
          <a:p>
            <a:pPr algn="ctr" indent="0" marL="0">
              <a:buNone/>
            </a:pPr>
            <a:r>
              <a:rPr lang="en-US" sz="1200" dirty="0">
                <a:solidFill>
                  <a:srgbClr val="5A5F55"/>
                </a:solidFill>
                <a:latin typeface="Open Sans" pitchFamily="34" charset="0"/>
                <a:ea typeface="Open Sans" pitchFamily="34" charset="-122"/>
                <a:cs typeface="Open Sans" pitchFamily="34" charset="-120"/>
              </a:rPr>
              <a:t>Spot attacks</a:t>
            </a:r>
            <a:endParaRPr lang="en-US" sz="1200" dirty="0"/>
          </a:p>
        </p:txBody>
      </p:sp>
      <p:sp>
        <p:nvSpPr>
          <p:cNvPr id="28" name="Shape 21"/>
          <p:cNvSpPr/>
          <p:nvPr/>
        </p:nvSpPr>
        <p:spPr>
          <a:xfrm>
            <a:off x="6016752" y="1325880"/>
            <a:ext cx="1280160" cy="2103120"/>
          </a:xfrm>
          <a:prstGeom prst="roundRect">
            <a:avLst>
              <a:gd name="adj" fmla="val 5714"/>
            </a:avLst>
          </a:prstGeom>
          <a:solidFill>
            <a:srgbClr val="F2EFEC"/>
          </a:solidFill>
          <a:ln w="6350">
            <a:solidFill>
              <a:srgbClr val="F2EFEC"/>
            </a:solidFill>
            <a:prstDash val="solid"/>
          </a:ln>
        </p:spPr>
      </p:sp>
      <p:sp>
        <p:nvSpPr>
          <p:cNvPr id="29" name="Shape 22"/>
          <p:cNvSpPr/>
          <p:nvPr/>
        </p:nvSpPr>
        <p:spPr>
          <a:xfrm>
            <a:off x="6382512" y="1554480"/>
            <a:ext cx="548640" cy="548640"/>
          </a:xfrm>
          <a:prstGeom prst="ellipse">
            <a:avLst/>
          </a:prstGeom>
          <a:solidFill>
            <a:srgbClr val="C9C4BE"/>
          </a:solidFill>
          <a:ln w="12700">
            <a:solidFill>
              <a:srgbClr val="C9C4BE"/>
            </a:solidFill>
            <a:prstDash val="solid"/>
          </a:ln>
        </p:spPr>
      </p:sp>
      <p:pic>
        <p:nvPicPr>
          <p:cNvPr id="30" name="Image 4" descr="preencoded.png">    </p:cNvPr>
          <p:cNvPicPr>
            <a:picLocks noChangeAspect="1"/>
          </p:cNvPicPr>
          <p:nvPr/>
        </p:nvPicPr>
        <p:blipFill>
          <a:blip r:embed="rId5"/>
          <a:stretch>
            <a:fillRect/>
          </a:stretch>
        </p:blipFill>
        <p:spPr>
          <a:xfrm>
            <a:off x="6519672" y="1691640"/>
            <a:ext cx="274320" cy="274320"/>
          </a:xfrm>
          <a:prstGeom prst="rect">
            <a:avLst/>
          </a:prstGeom>
        </p:spPr>
      </p:pic>
      <p:sp>
        <p:nvSpPr>
          <p:cNvPr id="31" name="Text 23"/>
          <p:cNvSpPr txBox="1"/>
          <p:nvPr/>
        </p:nvSpPr>
        <p:spPr>
          <a:xfrm>
            <a:off x="6062472" y="2240280"/>
            <a:ext cx="1188720" cy="365760"/>
          </a:xfrm>
          <a:prstGeom prst="rect">
            <a:avLst/>
          </a:prstGeom>
          <a:noFill/>
          <a:ln/>
        </p:spPr>
        <p:txBody>
          <a:bodyPr wrap="square" lIns="0" tIns="0" rIns="0" bIns="0" rtlCol="0" anchor="ctr"/>
          <a:lstStyle/>
          <a:p>
            <a:pPr algn="ctr" indent="0" marL="0">
              <a:buNone/>
            </a:pPr>
            <a:r>
              <a:rPr lang="en-US" sz="1500" b="1" dirty="0">
                <a:solidFill>
                  <a:srgbClr val="5A5F55"/>
                </a:solidFill>
                <a:latin typeface="Open Sans" pitchFamily="34" charset="0"/>
                <a:ea typeface="Open Sans" pitchFamily="34" charset="-122"/>
                <a:cs typeface="Open Sans" pitchFamily="34" charset="-120"/>
              </a:rPr>
              <a:t>Respond</a:t>
            </a:r>
            <a:endParaRPr lang="en-US" sz="1500" dirty="0"/>
          </a:p>
        </p:txBody>
      </p:sp>
      <p:sp>
        <p:nvSpPr>
          <p:cNvPr id="32" name="Text 24"/>
          <p:cNvSpPr txBox="1"/>
          <p:nvPr/>
        </p:nvSpPr>
        <p:spPr>
          <a:xfrm>
            <a:off x="6108192" y="2606040"/>
            <a:ext cx="1097280" cy="640080"/>
          </a:xfrm>
          <a:prstGeom prst="rect">
            <a:avLst/>
          </a:prstGeom>
          <a:noFill/>
          <a:ln/>
        </p:spPr>
        <p:txBody>
          <a:bodyPr wrap="square" lIns="0" tIns="0" rIns="0" bIns="0" rtlCol="0" anchor="t"/>
          <a:lstStyle/>
          <a:p>
            <a:pPr algn="ctr" indent="0" marL="0">
              <a:buNone/>
            </a:pPr>
            <a:r>
              <a:rPr lang="en-US" sz="1200" dirty="0">
                <a:solidFill>
                  <a:srgbClr val="5A5F55"/>
                </a:solidFill>
                <a:latin typeface="Open Sans" pitchFamily="34" charset="0"/>
                <a:ea typeface="Open Sans" pitchFamily="34" charset="-122"/>
                <a:cs typeface="Open Sans" pitchFamily="34" charset="-120"/>
              </a:rPr>
              <a:t>Act fast</a:t>
            </a:r>
            <a:endParaRPr lang="en-US" sz="1200" dirty="0"/>
          </a:p>
        </p:txBody>
      </p:sp>
      <p:sp>
        <p:nvSpPr>
          <p:cNvPr id="33" name="Shape 25"/>
          <p:cNvSpPr/>
          <p:nvPr/>
        </p:nvSpPr>
        <p:spPr>
          <a:xfrm>
            <a:off x="7406640" y="1325880"/>
            <a:ext cx="1280160" cy="2103120"/>
          </a:xfrm>
          <a:prstGeom prst="roundRect">
            <a:avLst>
              <a:gd name="adj" fmla="val 5714"/>
            </a:avLst>
          </a:prstGeom>
          <a:solidFill>
            <a:srgbClr val="F2EFEC"/>
          </a:solidFill>
          <a:ln w="6350">
            <a:solidFill>
              <a:srgbClr val="F2EFEC"/>
            </a:solidFill>
            <a:prstDash val="solid"/>
          </a:ln>
        </p:spPr>
      </p:sp>
      <p:sp>
        <p:nvSpPr>
          <p:cNvPr id="34" name="Shape 26"/>
          <p:cNvSpPr/>
          <p:nvPr/>
        </p:nvSpPr>
        <p:spPr>
          <a:xfrm>
            <a:off x="7772400" y="1554480"/>
            <a:ext cx="548640" cy="548640"/>
          </a:xfrm>
          <a:prstGeom prst="ellipse">
            <a:avLst/>
          </a:prstGeom>
          <a:solidFill>
            <a:srgbClr val="C9C4BE"/>
          </a:solidFill>
          <a:ln w="12700">
            <a:solidFill>
              <a:srgbClr val="C9C4BE"/>
            </a:solidFill>
            <a:prstDash val="solid"/>
          </a:ln>
        </p:spPr>
      </p:sp>
      <p:pic>
        <p:nvPicPr>
          <p:cNvPr id="35" name="Image 5" descr="preencoded.png">    </p:cNvPr>
          <p:cNvPicPr>
            <a:picLocks noChangeAspect="1"/>
          </p:cNvPicPr>
          <p:nvPr/>
        </p:nvPicPr>
        <p:blipFill>
          <a:blip r:embed="rId6"/>
          <a:stretch>
            <a:fillRect/>
          </a:stretch>
        </p:blipFill>
        <p:spPr>
          <a:xfrm>
            <a:off x="7909560" y="1691640"/>
            <a:ext cx="274320" cy="274320"/>
          </a:xfrm>
          <a:prstGeom prst="rect">
            <a:avLst/>
          </a:prstGeom>
        </p:spPr>
      </p:pic>
      <p:sp>
        <p:nvSpPr>
          <p:cNvPr id="36" name="Text 27"/>
          <p:cNvSpPr txBox="1"/>
          <p:nvPr/>
        </p:nvSpPr>
        <p:spPr>
          <a:xfrm>
            <a:off x="7452360" y="2240280"/>
            <a:ext cx="1188720" cy="365760"/>
          </a:xfrm>
          <a:prstGeom prst="rect">
            <a:avLst/>
          </a:prstGeom>
          <a:noFill/>
          <a:ln/>
        </p:spPr>
        <p:txBody>
          <a:bodyPr wrap="square" lIns="0" tIns="0" rIns="0" bIns="0" rtlCol="0" anchor="ctr"/>
          <a:lstStyle/>
          <a:p>
            <a:pPr algn="ctr" indent="0" marL="0">
              <a:buNone/>
            </a:pPr>
            <a:r>
              <a:rPr lang="en-US" sz="1500" b="1" dirty="0">
                <a:solidFill>
                  <a:srgbClr val="5A5F55"/>
                </a:solidFill>
                <a:latin typeface="Open Sans" pitchFamily="34" charset="0"/>
                <a:ea typeface="Open Sans" pitchFamily="34" charset="-122"/>
                <a:cs typeface="Open Sans" pitchFamily="34" charset="-120"/>
              </a:rPr>
              <a:t>Recover</a:t>
            </a:r>
            <a:endParaRPr lang="en-US" sz="1500" dirty="0"/>
          </a:p>
        </p:txBody>
      </p:sp>
      <p:sp>
        <p:nvSpPr>
          <p:cNvPr id="37" name="Text 28"/>
          <p:cNvSpPr txBox="1"/>
          <p:nvPr/>
        </p:nvSpPr>
        <p:spPr>
          <a:xfrm>
            <a:off x="7498080" y="2606040"/>
            <a:ext cx="1097280" cy="640080"/>
          </a:xfrm>
          <a:prstGeom prst="rect">
            <a:avLst/>
          </a:prstGeom>
          <a:noFill/>
          <a:ln/>
        </p:spPr>
        <p:txBody>
          <a:bodyPr wrap="square" lIns="0" tIns="0" rIns="0" bIns="0" rtlCol="0" anchor="t"/>
          <a:lstStyle/>
          <a:p>
            <a:pPr algn="ctr" indent="0" marL="0">
              <a:buNone/>
            </a:pPr>
            <a:r>
              <a:rPr lang="en-US" sz="1200" dirty="0">
                <a:solidFill>
                  <a:srgbClr val="5A5F55"/>
                </a:solidFill>
                <a:latin typeface="Open Sans" pitchFamily="34" charset="0"/>
                <a:ea typeface="Open Sans" pitchFamily="34" charset="-122"/>
                <a:cs typeface="Open Sans" pitchFamily="34" charset="-120"/>
              </a:rPr>
              <a:t>Get back to work</a:t>
            </a:r>
            <a:endParaRPr lang="en-US" sz="1200" dirty="0"/>
          </a:p>
        </p:txBody>
      </p:sp>
      <p:sp>
        <p:nvSpPr>
          <p:cNvPr id="38" name="Text 29"/>
          <p:cNvSpPr txBox="1"/>
          <p:nvPr/>
        </p:nvSpPr>
        <p:spPr>
          <a:xfrm>
            <a:off x="457200" y="3749040"/>
            <a:ext cx="8229600" cy="365760"/>
          </a:xfrm>
          <a:prstGeom prst="rect">
            <a:avLst/>
          </a:prstGeom>
          <a:noFill/>
          <a:ln/>
        </p:spPr>
        <p:txBody>
          <a:bodyPr wrap="square" lIns="0" tIns="0" rIns="0" bIns="0" rtlCol="0" anchor="ctr"/>
          <a:lstStyle/>
          <a:p>
            <a:pPr algn="ctr" indent="0" marL="0">
              <a:buNone/>
            </a:pPr>
            <a:r>
              <a:rPr lang="en-US" sz="1800" b="1" dirty="0">
                <a:solidFill>
                  <a:srgbClr val="7D5F3F"/>
                </a:solidFill>
                <a:latin typeface="Open Sans" pitchFamily="34" charset="0"/>
                <a:ea typeface="Open Sans" pitchFamily="34" charset="-122"/>
                <a:cs typeface="Open Sans" pitchFamily="34" charset="-120"/>
              </a:rPr>
              <a:t>This afternoon: Protect our accounts</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66928"/>
          </a:xfrm>
          <a:prstGeom prst="rect">
            <a:avLst/>
          </a:prstGeom>
          <a:noFill/>
          <a:ln/>
        </p:spPr>
        <p:txBody>
          <a:bodyPr wrap="square" lIns="0" tIns="0" rIns="0" bIns="0" rtlCol="0" anchor="ctr"/>
          <a:lstStyle/>
          <a:p>
            <a:pPr indent="0" marL="0">
              <a:buNone/>
            </a:pPr>
            <a:r>
              <a:rPr lang="en-US" sz="2400" b="1" dirty="0">
                <a:solidFill>
                  <a:srgbClr val="262A20"/>
                </a:solidFill>
                <a:latin typeface="Open Sans" pitchFamily="34" charset="0"/>
                <a:ea typeface="Open Sans" pitchFamily="34" charset="-122"/>
                <a:cs typeface="Open Sans" pitchFamily="34" charset="-120"/>
              </a:rPr>
              <a:t>This afternoon you will learn</a:t>
            </a:r>
            <a:endParaRPr lang="en-US" sz="2400" dirty="0"/>
          </a:p>
        </p:txBody>
      </p:sp>
      <p:sp>
        <p:nvSpPr>
          <p:cNvPr id="3" name="Shape 1"/>
          <p:cNvSpPr/>
          <p:nvPr/>
        </p:nvSpPr>
        <p:spPr>
          <a:xfrm>
            <a:off x="457200" y="896112"/>
            <a:ext cx="640080" cy="54864"/>
          </a:xfrm>
          <a:prstGeom prst="rect">
            <a:avLst/>
          </a:prstGeom>
          <a:solidFill>
            <a:srgbClr val="667C7E"/>
          </a:solidFill>
          <a:ln w="12700">
            <a:solidFill>
              <a:srgbClr val="667C7E"/>
            </a:solidFill>
            <a:prstDash val="solid"/>
          </a:ln>
        </p:spPr>
      </p:sp>
      <p:sp>
        <p:nvSpPr>
          <p:cNvPr id="4" name="Shape 2"/>
          <p:cNvSpPr/>
          <p:nvPr/>
        </p:nvSpPr>
        <p:spPr>
          <a:xfrm>
            <a:off x="1143000" y="896112"/>
            <a:ext cx="320040" cy="54864"/>
          </a:xfrm>
          <a:prstGeom prst="rect">
            <a:avLst/>
          </a:prstGeom>
          <a:solidFill>
            <a:srgbClr val="C7A887"/>
          </a:solidFill>
          <a:ln w="12700">
            <a:solidFill>
              <a:srgbClr val="C7A887"/>
            </a:solidFill>
            <a:prstDash val="solid"/>
          </a:ln>
        </p:spPr>
      </p:sp>
      <p:sp>
        <p:nvSpPr>
          <p:cNvPr id="5" name="Text 3"/>
          <p:cNvSpPr txBox="1"/>
          <p:nvPr/>
        </p:nvSpPr>
        <p:spPr>
          <a:xfrm>
            <a:off x="457200" y="4828032"/>
            <a:ext cx="6858000" cy="182880"/>
          </a:xfrm>
          <a:prstGeom prst="rect">
            <a:avLst/>
          </a:prstGeom>
          <a:noFill/>
          <a:ln/>
        </p:spPr>
        <p:txBody>
          <a:bodyPr wrap="square" lIns="0" tIns="0" rIns="0" bIns="0" rtlCol="0" anchor="ctr"/>
          <a:lstStyle/>
          <a:p>
            <a:pPr indent="0" marL="0">
              <a:buNone/>
            </a:pPr>
            <a:r>
              <a:rPr lang="en-US" sz="800" dirty="0">
                <a:solidFill>
                  <a:srgbClr val="5A5F55"/>
                </a:solidFill>
                <a:latin typeface="Open Sans" pitchFamily="34" charset="0"/>
                <a:ea typeface="Open Sans" pitchFamily="34" charset="-122"/>
                <a:cs typeface="Open Sans" pitchFamily="34" charset="-120"/>
              </a:rPr>
              <a:t>DBIS-11 Cybersecurity and Cloud Computing  |  Day 2  |  Session 11.4</a:t>
            </a:r>
            <a:endParaRPr lang="en-US" sz="800" dirty="0"/>
          </a:p>
        </p:txBody>
      </p:sp>
      <p:sp>
        <p:nvSpPr>
          <p:cNvPr id="6" name="Text 4"/>
          <p:cNvSpPr txBox="1"/>
          <p:nvPr/>
        </p:nvSpPr>
        <p:spPr>
          <a:xfrm>
            <a:off x="8138160" y="4828032"/>
            <a:ext cx="548640" cy="182880"/>
          </a:xfrm>
          <a:prstGeom prst="rect">
            <a:avLst/>
          </a:prstGeom>
          <a:noFill/>
          <a:ln/>
        </p:spPr>
        <p:txBody>
          <a:bodyPr wrap="square" lIns="0" tIns="0" rIns="0" bIns="0" rtlCol="0" anchor="ctr"/>
          <a:lstStyle/>
          <a:p>
            <a:pPr algn="r" indent="0" marL="0">
              <a:buNone/>
            </a:pPr>
            <a:r>
              <a:rPr lang="en-US" sz="800" dirty="0">
                <a:solidFill>
                  <a:srgbClr val="5A5F55"/>
                </a:solidFill>
                <a:latin typeface="Open Sans" pitchFamily="34" charset="0"/>
                <a:ea typeface="Open Sans" pitchFamily="34" charset="-122"/>
                <a:cs typeface="Open Sans" pitchFamily="34" charset="-120"/>
              </a:rPr>
              <a:t>4</a:t>
            </a:r>
            <a:endParaRPr lang="en-US" sz="800" dirty="0"/>
          </a:p>
        </p:txBody>
      </p:sp>
      <p:sp>
        <p:nvSpPr>
          <p:cNvPr id="8" name="Shape 5"/>
          <p:cNvSpPr/>
          <p:nvPr/>
        </p:nvSpPr>
        <p:spPr>
          <a:xfrm>
            <a:off x="457200" y="1371600"/>
            <a:ext cx="548640" cy="548640"/>
          </a:xfrm>
          <a:prstGeom prst="ellipse">
            <a:avLst/>
          </a:prstGeom>
          <a:solidFill>
            <a:srgbClr val="667C7E"/>
          </a:solidFill>
          <a:ln w="12700">
            <a:solidFill>
              <a:srgbClr val="667C7E"/>
            </a:solidFill>
            <a:prstDash val="solid"/>
          </a:ln>
        </p:spPr>
      </p:sp>
      <p:pic>
        <p:nvPicPr>
          <p:cNvPr id="9" name="Image 0" descr="preencoded.png">    </p:cNvPr>
          <p:cNvPicPr>
            <a:picLocks noChangeAspect="1"/>
          </p:cNvPicPr>
          <p:nvPr/>
        </p:nvPicPr>
        <p:blipFill>
          <a:blip r:embed="rId1"/>
          <a:stretch>
            <a:fillRect/>
          </a:stretch>
        </p:blipFill>
        <p:spPr>
          <a:xfrm>
            <a:off x="594360" y="1508760"/>
            <a:ext cx="274320" cy="274320"/>
          </a:xfrm>
          <a:prstGeom prst="rect">
            <a:avLst/>
          </a:prstGeom>
        </p:spPr>
      </p:pic>
      <p:sp>
        <p:nvSpPr>
          <p:cNvPr id="10" name="Text 6"/>
          <p:cNvSpPr txBox="1"/>
          <p:nvPr/>
        </p:nvSpPr>
        <p:spPr>
          <a:xfrm>
            <a:off x="1188720" y="1325880"/>
            <a:ext cx="7498080" cy="310896"/>
          </a:xfrm>
          <a:prstGeom prst="rect">
            <a:avLst/>
          </a:prstGeom>
          <a:noFill/>
          <a:ln/>
        </p:spPr>
        <p:txBody>
          <a:bodyPr wrap="square" lIns="0" tIns="0" rIns="0" bIns="0" rtlCol="0" anchor="ctr"/>
          <a:lstStyle/>
          <a:p>
            <a:pPr indent="0" marL="0">
              <a:buNone/>
            </a:pPr>
            <a:r>
              <a:rPr lang="en-US" sz="1600" b="1" dirty="0">
                <a:solidFill>
                  <a:srgbClr val="262A20"/>
                </a:solidFill>
                <a:latin typeface="Open Sans" pitchFamily="34" charset="0"/>
                <a:ea typeface="Open Sans" pitchFamily="34" charset="-122"/>
                <a:cs typeface="Open Sans" pitchFamily="34" charset="-120"/>
              </a:rPr>
              <a:t>1.  Extended CIA</a:t>
            </a:r>
            <a:endParaRPr lang="en-US" sz="1600" dirty="0"/>
          </a:p>
        </p:txBody>
      </p:sp>
      <p:sp>
        <p:nvSpPr>
          <p:cNvPr id="11" name="Text 7"/>
          <p:cNvSpPr txBox="1"/>
          <p:nvPr/>
        </p:nvSpPr>
        <p:spPr>
          <a:xfrm>
            <a:off x="1188720" y="1636776"/>
            <a:ext cx="7498080" cy="594360"/>
          </a:xfrm>
          <a:prstGeom prst="rect">
            <a:avLst/>
          </a:prstGeom>
          <a:noFill/>
          <a:ln/>
        </p:spPr>
        <p:txBody>
          <a:bodyPr wrap="square" lIns="0" tIns="0" rIns="0" bIns="0" rtlCol="0" anchor="t"/>
          <a:lstStyle/>
          <a:p>
            <a:pPr indent="0" marL="0">
              <a:buNone/>
            </a:pPr>
            <a:r>
              <a:rPr lang="en-US" sz="1300" dirty="0">
                <a:solidFill>
                  <a:srgbClr val="262A20"/>
                </a:solidFill>
                <a:latin typeface="Open Sans" pitchFamily="34" charset="0"/>
                <a:ea typeface="Open Sans" pitchFamily="34" charset="-122"/>
                <a:cs typeface="Open Sans" pitchFamily="34" charset="-120"/>
              </a:rPr>
              <a:t>CIA grows: authenticity and accountability.</a:t>
            </a:r>
            <a:endParaRPr lang="en-US" sz="1300" dirty="0"/>
          </a:p>
        </p:txBody>
      </p:sp>
      <p:sp>
        <p:nvSpPr>
          <p:cNvPr id="12" name="Shape 8"/>
          <p:cNvSpPr/>
          <p:nvPr/>
        </p:nvSpPr>
        <p:spPr>
          <a:xfrm>
            <a:off x="457200" y="2331720"/>
            <a:ext cx="548640" cy="548640"/>
          </a:xfrm>
          <a:prstGeom prst="ellipse">
            <a:avLst/>
          </a:prstGeom>
          <a:solidFill>
            <a:srgbClr val="667C7E"/>
          </a:solidFill>
          <a:ln w="12700">
            <a:solidFill>
              <a:srgbClr val="667C7E"/>
            </a:solidFill>
            <a:prstDash val="solid"/>
          </a:ln>
        </p:spPr>
      </p:sp>
      <p:pic>
        <p:nvPicPr>
          <p:cNvPr id="13" name="Image 1" descr="preencoded.png">    </p:cNvPr>
          <p:cNvPicPr>
            <a:picLocks noChangeAspect="1"/>
          </p:cNvPicPr>
          <p:nvPr/>
        </p:nvPicPr>
        <p:blipFill>
          <a:blip r:embed="rId2"/>
          <a:stretch>
            <a:fillRect/>
          </a:stretch>
        </p:blipFill>
        <p:spPr>
          <a:xfrm>
            <a:off x="594360" y="2468880"/>
            <a:ext cx="274320" cy="274320"/>
          </a:xfrm>
          <a:prstGeom prst="rect">
            <a:avLst/>
          </a:prstGeom>
        </p:spPr>
      </p:pic>
      <p:sp>
        <p:nvSpPr>
          <p:cNvPr id="14" name="Text 9"/>
          <p:cNvSpPr txBox="1"/>
          <p:nvPr/>
        </p:nvSpPr>
        <p:spPr>
          <a:xfrm>
            <a:off x="1188720" y="2286000"/>
            <a:ext cx="7498080" cy="310896"/>
          </a:xfrm>
          <a:prstGeom prst="rect">
            <a:avLst/>
          </a:prstGeom>
          <a:noFill/>
          <a:ln/>
        </p:spPr>
        <p:txBody>
          <a:bodyPr wrap="square" lIns="0" tIns="0" rIns="0" bIns="0" rtlCol="0" anchor="ctr"/>
          <a:lstStyle/>
          <a:p>
            <a:pPr indent="0" marL="0">
              <a:buNone/>
            </a:pPr>
            <a:r>
              <a:rPr lang="en-US" sz="1600" b="1" dirty="0">
                <a:solidFill>
                  <a:srgbClr val="262A20"/>
                </a:solidFill>
                <a:latin typeface="Open Sans" pitchFamily="34" charset="0"/>
                <a:ea typeface="Open Sans" pitchFamily="34" charset="-122"/>
                <a:cs typeface="Open Sans" pitchFamily="34" charset="-120"/>
              </a:rPr>
              <a:t>2.  Strong passwords</a:t>
            </a:r>
            <a:endParaRPr lang="en-US" sz="1600" dirty="0"/>
          </a:p>
        </p:txBody>
      </p:sp>
      <p:sp>
        <p:nvSpPr>
          <p:cNvPr id="15" name="Text 10"/>
          <p:cNvSpPr txBox="1"/>
          <p:nvPr/>
        </p:nvSpPr>
        <p:spPr>
          <a:xfrm>
            <a:off x="1188720" y="2596896"/>
            <a:ext cx="7498080" cy="594360"/>
          </a:xfrm>
          <a:prstGeom prst="rect">
            <a:avLst/>
          </a:prstGeom>
          <a:noFill/>
          <a:ln/>
        </p:spPr>
        <p:txBody>
          <a:bodyPr wrap="square" lIns="0" tIns="0" rIns="0" bIns="0" rtlCol="0" anchor="t"/>
          <a:lstStyle/>
          <a:p>
            <a:pPr indent="0" marL="0">
              <a:buNone/>
            </a:pPr>
            <a:r>
              <a:rPr lang="en-US" sz="1300" dirty="0">
                <a:solidFill>
                  <a:srgbClr val="262A20"/>
                </a:solidFill>
                <a:latin typeface="Open Sans" pitchFamily="34" charset="0"/>
                <a:ea typeface="Open Sans" pitchFamily="34" charset="-122"/>
                <a:cs typeface="Open Sans" pitchFamily="34" charset="-120"/>
              </a:rPr>
              <a:t>Passphrases and password managers.</a:t>
            </a:r>
            <a:endParaRPr lang="en-US" sz="1300" dirty="0"/>
          </a:p>
        </p:txBody>
      </p:sp>
      <p:sp>
        <p:nvSpPr>
          <p:cNvPr id="16" name="Shape 11"/>
          <p:cNvSpPr/>
          <p:nvPr/>
        </p:nvSpPr>
        <p:spPr>
          <a:xfrm>
            <a:off x="457200" y="3291840"/>
            <a:ext cx="548640" cy="548640"/>
          </a:xfrm>
          <a:prstGeom prst="ellipse">
            <a:avLst/>
          </a:prstGeom>
          <a:solidFill>
            <a:srgbClr val="667C7E"/>
          </a:solidFill>
          <a:ln w="12700">
            <a:solidFill>
              <a:srgbClr val="667C7E"/>
            </a:solidFill>
            <a:prstDash val="solid"/>
          </a:ln>
        </p:spPr>
      </p:sp>
      <p:pic>
        <p:nvPicPr>
          <p:cNvPr id="17" name="Image 2" descr="preencoded.png">    </p:cNvPr>
          <p:cNvPicPr>
            <a:picLocks noChangeAspect="1"/>
          </p:cNvPicPr>
          <p:nvPr/>
        </p:nvPicPr>
        <p:blipFill>
          <a:blip r:embed="rId3"/>
          <a:stretch>
            <a:fillRect/>
          </a:stretch>
        </p:blipFill>
        <p:spPr>
          <a:xfrm>
            <a:off x="594360" y="3429000"/>
            <a:ext cx="274320" cy="274320"/>
          </a:xfrm>
          <a:prstGeom prst="rect">
            <a:avLst/>
          </a:prstGeom>
        </p:spPr>
      </p:pic>
      <p:sp>
        <p:nvSpPr>
          <p:cNvPr id="18" name="Text 12"/>
          <p:cNvSpPr txBox="1"/>
          <p:nvPr/>
        </p:nvSpPr>
        <p:spPr>
          <a:xfrm>
            <a:off x="1188720" y="3246120"/>
            <a:ext cx="7498080" cy="310896"/>
          </a:xfrm>
          <a:prstGeom prst="rect">
            <a:avLst/>
          </a:prstGeom>
          <a:noFill/>
          <a:ln/>
        </p:spPr>
        <p:txBody>
          <a:bodyPr wrap="square" lIns="0" tIns="0" rIns="0" bIns="0" rtlCol="0" anchor="ctr"/>
          <a:lstStyle/>
          <a:p>
            <a:pPr indent="0" marL="0">
              <a:buNone/>
            </a:pPr>
            <a:r>
              <a:rPr lang="en-US" sz="1600" b="1" dirty="0">
                <a:solidFill>
                  <a:srgbClr val="262A20"/>
                </a:solidFill>
                <a:latin typeface="Open Sans" pitchFamily="34" charset="0"/>
                <a:ea typeface="Open Sans" pitchFamily="34" charset="-122"/>
                <a:cs typeface="Open Sans" pitchFamily="34" charset="-120"/>
              </a:rPr>
              <a:t>3.  MFA</a:t>
            </a:r>
            <a:endParaRPr lang="en-US" sz="1600" dirty="0"/>
          </a:p>
        </p:txBody>
      </p:sp>
      <p:sp>
        <p:nvSpPr>
          <p:cNvPr id="19" name="Text 13"/>
          <p:cNvSpPr txBox="1"/>
          <p:nvPr/>
        </p:nvSpPr>
        <p:spPr>
          <a:xfrm>
            <a:off x="1188720" y="3557016"/>
            <a:ext cx="7498080" cy="594360"/>
          </a:xfrm>
          <a:prstGeom prst="rect">
            <a:avLst/>
          </a:prstGeom>
          <a:noFill/>
          <a:ln/>
        </p:spPr>
        <p:txBody>
          <a:bodyPr wrap="square" lIns="0" tIns="0" rIns="0" bIns="0" rtlCol="0" anchor="t"/>
          <a:lstStyle/>
          <a:p>
            <a:pPr indent="0" marL="0">
              <a:buNone/>
            </a:pPr>
            <a:r>
              <a:rPr lang="en-US" sz="1300" dirty="0">
                <a:solidFill>
                  <a:srgbClr val="262A20"/>
                </a:solidFill>
                <a:latin typeface="Open Sans" pitchFamily="34" charset="0"/>
                <a:ea typeface="Open Sans" pitchFamily="34" charset="-122"/>
                <a:cs typeface="Open Sans" pitchFamily="34" charset="-120"/>
              </a:rPr>
              <a:t>Something you know, have or are.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62A20"/>
        </a:solidFill>
      </p:bgPr>
    </p:bg>
    <p:spTree>
      <p:nvGrpSpPr>
        <p:cNvPr id="1" name=""/>
        <p:cNvGrpSpPr/>
        <p:nvPr/>
      </p:nvGrpSpPr>
      <p:grpSpPr>
        <a:xfrm>
          <a:off x="0" y="0"/>
          <a:ext cx="0" cy="0"/>
          <a:chOff x="0" y="0"/>
          <a:chExt cx="0" cy="0"/>
        </a:xfrm>
      </p:grpSpPr>
      <p:sp>
        <p:nvSpPr>
          <p:cNvPr id="2" name="Text 0"/>
          <p:cNvSpPr txBox="1"/>
          <p:nvPr/>
        </p:nvSpPr>
        <p:spPr>
          <a:xfrm>
            <a:off x="457200" y="1097280"/>
            <a:ext cx="1828800" cy="1463040"/>
          </a:xfrm>
          <a:prstGeom prst="rect">
            <a:avLst/>
          </a:prstGeom>
          <a:noFill/>
          <a:ln/>
        </p:spPr>
        <p:txBody>
          <a:bodyPr wrap="square" lIns="0" tIns="0" rIns="0" bIns="0" rtlCol="0" anchor="ctr"/>
          <a:lstStyle/>
          <a:p>
            <a:pPr indent="0" marL="0">
              <a:buNone/>
            </a:pPr>
            <a:r>
              <a:rPr lang="en-US" sz="9600" b="1" dirty="0">
                <a:solidFill>
                  <a:srgbClr val="C7A887"/>
                </a:solidFill>
                <a:latin typeface="Open Sans" pitchFamily="34" charset="0"/>
                <a:ea typeface="Open Sans" pitchFamily="34" charset="-122"/>
                <a:cs typeface="Open Sans" pitchFamily="34" charset="-120"/>
              </a:rPr>
              <a:t>1</a:t>
            </a:r>
            <a:endParaRPr lang="en-US" sz="9600" dirty="0"/>
          </a:p>
        </p:txBody>
      </p:sp>
      <p:sp>
        <p:nvSpPr>
          <p:cNvPr id="3" name="Text 1"/>
          <p:cNvSpPr txBox="1"/>
          <p:nvPr/>
        </p:nvSpPr>
        <p:spPr>
          <a:xfrm>
            <a:off x="2377440" y="914400"/>
            <a:ext cx="6309360" cy="1371600"/>
          </a:xfrm>
          <a:prstGeom prst="rect">
            <a:avLst/>
          </a:prstGeom>
          <a:noFill/>
          <a:ln/>
        </p:spPr>
        <p:txBody>
          <a:bodyPr wrap="square" lIns="0" tIns="0" rIns="0" bIns="0" rtlCol="0" anchor="b"/>
          <a:lstStyle/>
          <a:p>
            <a:pPr indent="0" marL="0">
              <a:buNone/>
            </a:pPr>
            <a:r>
              <a:rPr lang="en-US" sz="3200" b="1" dirty="0">
                <a:solidFill>
                  <a:srgbClr val="FFFFFF"/>
                </a:solidFill>
                <a:latin typeface="Open Sans" pitchFamily="34" charset="0"/>
                <a:ea typeface="Open Sans" pitchFamily="34" charset="-122"/>
                <a:cs typeface="Open Sans" pitchFamily="34" charset="-120"/>
              </a:rPr>
              <a:t>Extended CIA</a:t>
            </a:r>
            <a:endParaRPr lang="en-US" sz="3200" dirty="0"/>
          </a:p>
        </p:txBody>
      </p:sp>
      <p:sp>
        <p:nvSpPr>
          <p:cNvPr id="4" name="Text 2"/>
          <p:cNvSpPr txBox="1"/>
          <p:nvPr/>
        </p:nvSpPr>
        <p:spPr>
          <a:xfrm>
            <a:off x="2377440" y="2468880"/>
            <a:ext cx="6309360" cy="731520"/>
          </a:xfrm>
          <a:prstGeom prst="rect">
            <a:avLst/>
          </a:prstGeom>
          <a:noFill/>
          <a:ln/>
        </p:spPr>
        <p:txBody>
          <a:bodyPr wrap="square" lIns="0" tIns="0" rIns="0" bIns="0" rtlCol="0" anchor="t"/>
          <a:lstStyle/>
          <a:p>
            <a:pPr indent="0" marL="0">
              <a:buNone/>
            </a:pPr>
            <a:r>
              <a:rPr lang="en-US" sz="1600" dirty="0">
                <a:solidFill>
                  <a:srgbClr val="D9D5D2"/>
                </a:solidFill>
                <a:latin typeface="Open Sans" pitchFamily="34" charset="0"/>
                <a:ea typeface="Open Sans" pitchFamily="34" charset="-122"/>
                <a:cs typeface="Open Sans" pitchFamily="34" charset="-120"/>
              </a:rPr>
              <a:t>What we know, and what we add today.</a:t>
            </a:r>
            <a:endParaRPr lang="en-US" sz="1600" dirty="0"/>
          </a:p>
        </p:txBody>
      </p:sp>
      <p:sp>
        <p:nvSpPr>
          <p:cNvPr id="5" name="Text 3"/>
          <p:cNvSpPr txBox="1"/>
          <p:nvPr/>
        </p:nvSpPr>
        <p:spPr>
          <a:xfrm>
            <a:off x="457200" y="4828032"/>
            <a:ext cx="6858000" cy="182880"/>
          </a:xfrm>
          <a:prstGeom prst="rect">
            <a:avLst/>
          </a:prstGeom>
          <a:noFill/>
          <a:ln/>
        </p:spPr>
        <p:txBody>
          <a:bodyPr wrap="square" lIns="0" tIns="0" rIns="0" bIns="0" rtlCol="0" anchor="ctr"/>
          <a:lstStyle/>
          <a:p>
            <a:pPr indent="0" marL="0">
              <a:buNone/>
            </a:pPr>
            <a:r>
              <a:rPr lang="en-US" sz="800" dirty="0">
                <a:solidFill>
                  <a:srgbClr val="D9D5D2"/>
                </a:solidFill>
                <a:latin typeface="Open Sans" pitchFamily="34" charset="0"/>
                <a:ea typeface="Open Sans" pitchFamily="34" charset="-122"/>
                <a:cs typeface="Open Sans" pitchFamily="34" charset="-120"/>
              </a:rPr>
              <a:t>DBIS-11 Cybersecurity and Cloud Computing  |  Day 2  |  Session 11.4</a:t>
            </a:r>
            <a:endParaRPr lang="en-US" sz="800" dirty="0"/>
          </a:p>
        </p:txBody>
      </p:sp>
      <p:sp>
        <p:nvSpPr>
          <p:cNvPr id="6" name="Text 4"/>
          <p:cNvSpPr txBox="1"/>
          <p:nvPr/>
        </p:nvSpPr>
        <p:spPr>
          <a:xfrm>
            <a:off x="8138160" y="4828032"/>
            <a:ext cx="548640" cy="182880"/>
          </a:xfrm>
          <a:prstGeom prst="rect">
            <a:avLst/>
          </a:prstGeom>
          <a:noFill/>
          <a:ln/>
        </p:spPr>
        <p:txBody>
          <a:bodyPr wrap="square" lIns="0" tIns="0" rIns="0" bIns="0" rtlCol="0" anchor="ctr"/>
          <a:lstStyle/>
          <a:p>
            <a:pPr algn="r" indent="0" marL="0">
              <a:buNone/>
            </a:pPr>
            <a:r>
              <a:rPr lang="en-US" sz="800" dirty="0">
                <a:solidFill>
                  <a:srgbClr val="D9D5D2"/>
                </a:solidFill>
                <a:latin typeface="Open Sans" pitchFamily="34" charset="0"/>
                <a:ea typeface="Open Sans" pitchFamily="34" charset="-122"/>
                <a:cs typeface="Open Sans" pitchFamily="34" charset="-120"/>
              </a:rPr>
              <a:t>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66928"/>
          </a:xfrm>
          <a:prstGeom prst="rect">
            <a:avLst/>
          </a:prstGeom>
          <a:noFill/>
          <a:ln/>
        </p:spPr>
        <p:txBody>
          <a:bodyPr wrap="square" lIns="0" tIns="0" rIns="0" bIns="0" rtlCol="0" anchor="ctr"/>
          <a:lstStyle/>
          <a:p>
            <a:pPr indent="0" marL="0">
              <a:buNone/>
            </a:pPr>
            <a:r>
              <a:rPr lang="en-US" sz="2400" b="1" dirty="0">
                <a:solidFill>
                  <a:srgbClr val="262A20"/>
                </a:solidFill>
                <a:latin typeface="Open Sans" pitchFamily="34" charset="0"/>
                <a:ea typeface="Open Sans" pitchFamily="34" charset="-122"/>
                <a:cs typeface="Open Sans" pitchFamily="34" charset="-120"/>
              </a:rPr>
              <a:t>What we know: the CIA triad</a:t>
            </a:r>
            <a:endParaRPr lang="en-US" sz="2400" dirty="0"/>
          </a:p>
        </p:txBody>
      </p:sp>
      <p:sp>
        <p:nvSpPr>
          <p:cNvPr id="3" name="Shape 1"/>
          <p:cNvSpPr/>
          <p:nvPr/>
        </p:nvSpPr>
        <p:spPr>
          <a:xfrm>
            <a:off x="457200" y="896112"/>
            <a:ext cx="640080" cy="54864"/>
          </a:xfrm>
          <a:prstGeom prst="rect">
            <a:avLst/>
          </a:prstGeom>
          <a:solidFill>
            <a:srgbClr val="667C7E"/>
          </a:solidFill>
          <a:ln w="12700">
            <a:solidFill>
              <a:srgbClr val="667C7E"/>
            </a:solidFill>
            <a:prstDash val="solid"/>
          </a:ln>
        </p:spPr>
      </p:sp>
      <p:sp>
        <p:nvSpPr>
          <p:cNvPr id="4" name="Shape 2"/>
          <p:cNvSpPr/>
          <p:nvPr/>
        </p:nvSpPr>
        <p:spPr>
          <a:xfrm>
            <a:off x="1143000" y="896112"/>
            <a:ext cx="320040" cy="54864"/>
          </a:xfrm>
          <a:prstGeom prst="rect">
            <a:avLst/>
          </a:prstGeom>
          <a:solidFill>
            <a:srgbClr val="C7A887"/>
          </a:solidFill>
          <a:ln w="12700">
            <a:solidFill>
              <a:srgbClr val="C7A887"/>
            </a:solidFill>
            <a:prstDash val="solid"/>
          </a:ln>
        </p:spPr>
      </p:sp>
      <p:sp>
        <p:nvSpPr>
          <p:cNvPr id="5" name="Text 3"/>
          <p:cNvSpPr txBox="1"/>
          <p:nvPr/>
        </p:nvSpPr>
        <p:spPr>
          <a:xfrm>
            <a:off x="457200" y="4828032"/>
            <a:ext cx="6858000" cy="182880"/>
          </a:xfrm>
          <a:prstGeom prst="rect">
            <a:avLst/>
          </a:prstGeom>
          <a:noFill/>
          <a:ln/>
        </p:spPr>
        <p:txBody>
          <a:bodyPr wrap="square" lIns="0" tIns="0" rIns="0" bIns="0" rtlCol="0" anchor="ctr"/>
          <a:lstStyle/>
          <a:p>
            <a:pPr indent="0" marL="0">
              <a:buNone/>
            </a:pPr>
            <a:r>
              <a:rPr lang="en-US" sz="800" dirty="0">
                <a:solidFill>
                  <a:srgbClr val="5A5F55"/>
                </a:solidFill>
                <a:latin typeface="Open Sans" pitchFamily="34" charset="0"/>
                <a:ea typeface="Open Sans" pitchFamily="34" charset="-122"/>
                <a:cs typeface="Open Sans" pitchFamily="34" charset="-120"/>
              </a:rPr>
              <a:t>DBIS-11 Cybersecurity and Cloud Computing  |  Day 2  |  Session 11.4</a:t>
            </a:r>
            <a:endParaRPr lang="en-US" sz="800" dirty="0"/>
          </a:p>
        </p:txBody>
      </p:sp>
      <p:sp>
        <p:nvSpPr>
          <p:cNvPr id="6" name="Text 4"/>
          <p:cNvSpPr txBox="1"/>
          <p:nvPr/>
        </p:nvSpPr>
        <p:spPr>
          <a:xfrm>
            <a:off x="8138160" y="4828032"/>
            <a:ext cx="548640" cy="182880"/>
          </a:xfrm>
          <a:prstGeom prst="rect">
            <a:avLst/>
          </a:prstGeom>
          <a:noFill/>
          <a:ln/>
        </p:spPr>
        <p:txBody>
          <a:bodyPr wrap="square" lIns="0" tIns="0" rIns="0" bIns="0" rtlCol="0" anchor="ctr"/>
          <a:lstStyle/>
          <a:p>
            <a:pPr algn="r" indent="0" marL="0">
              <a:buNone/>
            </a:pPr>
            <a:r>
              <a:rPr lang="en-US" sz="800" dirty="0">
                <a:solidFill>
                  <a:srgbClr val="5A5F55"/>
                </a:solidFill>
                <a:latin typeface="Open Sans" pitchFamily="34" charset="0"/>
                <a:ea typeface="Open Sans" pitchFamily="34" charset="-122"/>
                <a:cs typeface="Open Sans" pitchFamily="34" charset="-120"/>
              </a:rPr>
              <a:t>6</a:t>
            </a:r>
            <a:endParaRPr lang="en-US" sz="800" dirty="0"/>
          </a:p>
        </p:txBody>
      </p:sp>
      <p:sp>
        <p:nvSpPr>
          <p:cNvPr id="8" name="Shape 5"/>
          <p:cNvSpPr/>
          <p:nvPr/>
        </p:nvSpPr>
        <p:spPr>
          <a:xfrm>
            <a:off x="457200" y="1188720"/>
            <a:ext cx="2590800" cy="2011680"/>
          </a:xfrm>
          <a:prstGeom prst="roundRect">
            <a:avLst>
              <a:gd name="adj" fmla="val 3636"/>
            </a:avLst>
          </a:prstGeom>
          <a:solidFill>
            <a:srgbClr val="E1E6E6"/>
          </a:solidFill>
          <a:ln w="12700">
            <a:solidFill>
              <a:srgbClr val="E1E6E6"/>
            </a:solidFill>
            <a:prstDash val="solid"/>
          </a:ln>
        </p:spPr>
      </p:sp>
      <p:sp>
        <p:nvSpPr>
          <p:cNvPr id="9" name="Text 6"/>
          <p:cNvSpPr txBox="1"/>
          <p:nvPr/>
        </p:nvSpPr>
        <p:spPr>
          <a:xfrm>
            <a:off x="640080" y="1371600"/>
            <a:ext cx="2225040" cy="365760"/>
          </a:xfrm>
          <a:prstGeom prst="rect">
            <a:avLst/>
          </a:prstGeom>
          <a:noFill/>
          <a:ln/>
        </p:spPr>
        <p:txBody>
          <a:bodyPr wrap="square" lIns="0" tIns="0" rIns="0" bIns="0" rtlCol="0" anchor="t"/>
          <a:lstStyle/>
          <a:p>
            <a:pPr indent="0" marL="0">
              <a:buNone/>
            </a:pPr>
            <a:r>
              <a:rPr lang="en-US" sz="1600" b="1" dirty="0">
                <a:solidFill>
                  <a:srgbClr val="262A20"/>
                </a:solidFill>
                <a:latin typeface="Open Sans" pitchFamily="34" charset="0"/>
                <a:ea typeface="Open Sans" pitchFamily="34" charset="-122"/>
                <a:cs typeface="Open Sans" pitchFamily="34" charset="-120"/>
              </a:rPr>
              <a:t>C: Confidentiality</a:t>
            </a:r>
            <a:endParaRPr lang="en-US" sz="1600" dirty="0"/>
          </a:p>
        </p:txBody>
      </p:sp>
      <p:sp>
        <p:nvSpPr>
          <p:cNvPr id="10" name="Text 7"/>
          <p:cNvSpPr txBox="1"/>
          <p:nvPr/>
        </p:nvSpPr>
        <p:spPr>
          <a:xfrm>
            <a:off x="640080" y="1755648"/>
            <a:ext cx="2225040" cy="1325880"/>
          </a:xfrm>
          <a:prstGeom prst="rect">
            <a:avLst/>
          </a:prstGeom>
          <a:noFill/>
          <a:ln/>
        </p:spPr>
        <p:txBody>
          <a:bodyPr wrap="square" lIns="0" tIns="0" rIns="0" bIns="0" rtlCol="0" anchor="t"/>
          <a:lstStyle/>
          <a:p>
            <a:pPr indent="0" marL="0">
              <a:buNone/>
            </a:pPr>
            <a:r>
              <a:rPr lang="en-US" sz="1400" dirty="0">
                <a:solidFill>
                  <a:srgbClr val="262A20"/>
                </a:solidFill>
                <a:latin typeface="Open Sans" pitchFamily="34" charset="0"/>
                <a:ea typeface="Open Sans" pitchFamily="34" charset="-122"/>
                <a:cs typeface="Open Sans" pitchFamily="34" charset="-120"/>
              </a:rPr>
              <a:t>Keep it secret. Was it SEEN by the wrong person?</a:t>
            </a:r>
            <a:endParaRPr lang="en-US" sz="1400" dirty="0"/>
          </a:p>
        </p:txBody>
      </p:sp>
      <p:sp>
        <p:nvSpPr>
          <p:cNvPr id="11" name="Shape 8"/>
          <p:cNvSpPr/>
          <p:nvPr/>
        </p:nvSpPr>
        <p:spPr>
          <a:xfrm>
            <a:off x="3276600" y="1188720"/>
            <a:ext cx="2590800" cy="2011680"/>
          </a:xfrm>
          <a:prstGeom prst="roundRect">
            <a:avLst>
              <a:gd name="adj" fmla="val 3636"/>
            </a:avLst>
          </a:prstGeom>
          <a:solidFill>
            <a:srgbClr val="D9D5D2"/>
          </a:solidFill>
          <a:ln w="12700">
            <a:solidFill>
              <a:srgbClr val="D9D5D2"/>
            </a:solidFill>
            <a:prstDash val="solid"/>
          </a:ln>
        </p:spPr>
      </p:sp>
      <p:sp>
        <p:nvSpPr>
          <p:cNvPr id="12" name="Text 9"/>
          <p:cNvSpPr txBox="1"/>
          <p:nvPr/>
        </p:nvSpPr>
        <p:spPr>
          <a:xfrm>
            <a:off x="3459480" y="1371600"/>
            <a:ext cx="2225040" cy="365760"/>
          </a:xfrm>
          <a:prstGeom prst="rect">
            <a:avLst/>
          </a:prstGeom>
          <a:noFill/>
          <a:ln/>
        </p:spPr>
        <p:txBody>
          <a:bodyPr wrap="square" lIns="0" tIns="0" rIns="0" bIns="0" rtlCol="0" anchor="t"/>
          <a:lstStyle/>
          <a:p>
            <a:pPr indent="0" marL="0">
              <a:buNone/>
            </a:pPr>
            <a:r>
              <a:rPr lang="en-US" sz="1600" b="1" dirty="0">
                <a:solidFill>
                  <a:srgbClr val="262A20"/>
                </a:solidFill>
                <a:latin typeface="Open Sans" pitchFamily="34" charset="0"/>
                <a:ea typeface="Open Sans" pitchFamily="34" charset="-122"/>
                <a:cs typeface="Open Sans" pitchFamily="34" charset="-120"/>
              </a:rPr>
              <a:t>I: Integrity</a:t>
            </a:r>
            <a:endParaRPr lang="en-US" sz="1600" dirty="0"/>
          </a:p>
        </p:txBody>
      </p:sp>
      <p:sp>
        <p:nvSpPr>
          <p:cNvPr id="13" name="Text 10"/>
          <p:cNvSpPr txBox="1"/>
          <p:nvPr/>
        </p:nvSpPr>
        <p:spPr>
          <a:xfrm>
            <a:off x="3459480" y="1755648"/>
            <a:ext cx="2225040" cy="1325880"/>
          </a:xfrm>
          <a:prstGeom prst="rect">
            <a:avLst/>
          </a:prstGeom>
          <a:noFill/>
          <a:ln/>
        </p:spPr>
        <p:txBody>
          <a:bodyPr wrap="square" lIns="0" tIns="0" rIns="0" bIns="0" rtlCol="0" anchor="t"/>
          <a:lstStyle/>
          <a:p>
            <a:pPr indent="0" marL="0">
              <a:buNone/>
            </a:pPr>
            <a:r>
              <a:rPr lang="en-US" sz="1400" dirty="0">
                <a:solidFill>
                  <a:srgbClr val="262A20"/>
                </a:solidFill>
                <a:latin typeface="Open Sans" pitchFamily="34" charset="0"/>
                <a:ea typeface="Open Sans" pitchFamily="34" charset="-122"/>
                <a:cs typeface="Open Sans" pitchFamily="34" charset="-120"/>
              </a:rPr>
              <a:t>Keep it correct. Was it CHANGED wrongly?</a:t>
            </a:r>
            <a:endParaRPr lang="en-US" sz="1400" dirty="0"/>
          </a:p>
        </p:txBody>
      </p:sp>
      <p:sp>
        <p:nvSpPr>
          <p:cNvPr id="14" name="Shape 11"/>
          <p:cNvSpPr/>
          <p:nvPr/>
        </p:nvSpPr>
        <p:spPr>
          <a:xfrm>
            <a:off x="6096000" y="1188720"/>
            <a:ext cx="2590800" cy="2011680"/>
          </a:xfrm>
          <a:prstGeom prst="roundRect">
            <a:avLst>
              <a:gd name="adj" fmla="val 3636"/>
            </a:avLst>
          </a:prstGeom>
          <a:solidFill>
            <a:srgbClr val="EDDDCD"/>
          </a:solidFill>
          <a:ln w="12700">
            <a:solidFill>
              <a:srgbClr val="EDDDCD"/>
            </a:solidFill>
            <a:prstDash val="solid"/>
          </a:ln>
        </p:spPr>
      </p:sp>
      <p:sp>
        <p:nvSpPr>
          <p:cNvPr id="15" name="Text 12"/>
          <p:cNvSpPr txBox="1"/>
          <p:nvPr/>
        </p:nvSpPr>
        <p:spPr>
          <a:xfrm>
            <a:off x="6278880" y="1371600"/>
            <a:ext cx="2225040" cy="365760"/>
          </a:xfrm>
          <a:prstGeom prst="rect">
            <a:avLst/>
          </a:prstGeom>
          <a:noFill/>
          <a:ln/>
        </p:spPr>
        <p:txBody>
          <a:bodyPr wrap="square" lIns="0" tIns="0" rIns="0" bIns="0" rtlCol="0" anchor="t"/>
          <a:lstStyle/>
          <a:p>
            <a:pPr indent="0" marL="0">
              <a:buNone/>
            </a:pPr>
            <a:r>
              <a:rPr lang="en-US" sz="1600" b="1" dirty="0">
                <a:solidFill>
                  <a:srgbClr val="262A20"/>
                </a:solidFill>
                <a:latin typeface="Open Sans" pitchFamily="34" charset="0"/>
                <a:ea typeface="Open Sans" pitchFamily="34" charset="-122"/>
                <a:cs typeface="Open Sans" pitchFamily="34" charset="-120"/>
              </a:rPr>
              <a:t>A: Availability</a:t>
            </a:r>
            <a:endParaRPr lang="en-US" sz="1600" dirty="0"/>
          </a:p>
        </p:txBody>
      </p:sp>
      <p:sp>
        <p:nvSpPr>
          <p:cNvPr id="16" name="Text 13"/>
          <p:cNvSpPr txBox="1"/>
          <p:nvPr/>
        </p:nvSpPr>
        <p:spPr>
          <a:xfrm>
            <a:off x="6278880" y="1755648"/>
            <a:ext cx="2225040" cy="1325880"/>
          </a:xfrm>
          <a:prstGeom prst="rect">
            <a:avLst/>
          </a:prstGeom>
          <a:noFill/>
          <a:ln/>
        </p:spPr>
        <p:txBody>
          <a:bodyPr wrap="square" lIns="0" tIns="0" rIns="0" bIns="0" rtlCol="0" anchor="t"/>
          <a:lstStyle/>
          <a:p>
            <a:pPr indent="0" marL="0">
              <a:buNone/>
            </a:pPr>
            <a:r>
              <a:rPr lang="en-US" sz="1400" dirty="0">
                <a:solidFill>
                  <a:srgbClr val="262A20"/>
                </a:solidFill>
                <a:latin typeface="Open Sans" pitchFamily="34" charset="0"/>
                <a:ea typeface="Open Sans" pitchFamily="34" charset="-122"/>
                <a:cs typeface="Open Sans" pitchFamily="34" charset="-120"/>
              </a:rPr>
              <a:t>Keep it available. Could we NOT USE it?</a:t>
            </a:r>
            <a:endParaRPr lang="en-US" sz="1400" dirty="0"/>
          </a:p>
        </p:txBody>
      </p:sp>
      <p:sp>
        <p:nvSpPr>
          <p:cNvPr id="17" name="Text 14"/>
          <p:cNvSpPr txBox="1"/>
          <p:nvPr/>
        </p:nvSpPr>
        <p:spPr>
          <a:xfrm>
            <a:off x="457200" y="3657600"/>
            <a:ext cx="8229600" cy="457200"/>
          </a:xfrm>
          <a:prstGeom prst="rect">
            <a:avLst/>
          </a:prstGeom>
          <a:noFill/>
          <a:ln/>
        </p:spPr>
        <p:txBody>
          <a:bodyPr wrap="square" lIns="0" tIns="0" rIns="0" bIns="0" rtlCol="0" anchor="ctr"/>
          <a:lstStyle/>
          <a:p>
            <a:pPr algn="ctr" indent="0" marL="0">
              <a:buNone/>
            </a:pPr>
            <a:r>
              <a:rPr lang="en-US" sz="1700" b="1" dirty="0">
                <a:solidFill>
                  <a:srgbClr val="7D5F3F"/>
                </a:solidFill>
                <a:latin typeface="Open Sans" pitchFamily="34" charset="0"/>
                <a:ea typeface="Open Sans" pitchFamily="34" charset="-122"/>
                <a:cs typeface="Open Sans" pitchFamily="34" charset="-120"/>
              </a:rPr>
              <a:t>This morning's tricks showed us two problems CIA does not name...</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66928"/>
          </a:xfrm>
          <a:prstGeom prst="rect">
            <a:avLst/>
          </a:prstGeom>
          <a:noFill/>
          <a:ln/>
        </p:spPr>
        <p:txBody>
          <a:bodyPr wrap="square" lIns="0" tIns="0" rIns="0" bIns="0" rtlCol="0" anchor="ctr"/>
          <a:lstStyle/>
          <a:p>
            <a:pPr indent="0" marL="0">
              <a:buNone/>
            </a:pPr>
            <a:r>
              <a:rPr lang="en-US" sz="2400" b="1" dirty="0">
                <a:solidFill>
                  <a:srgbClr val="262A20"/>
                </a:solidFill>
                <a:latin typeface="Open Sans" pitchFamily="34" charset="0"/>
                <a:ea typeface="Open Sans" pitchFamily="34" charset="-122"/>
                <a:cs typeface="Open Sans" pitchFamily="34" charset="-120"/>
              </a:rPr>
              <a:t>What we add today: two new goals</a:t>
            </a:r>
            <a:endParaRPr lang="en-US" sz="2400" dirty="0"/>
          </a:p>
        </p:txBody>
      </p:sp>
      <p:sp>
        <p:nvSpPr>
          <p:cNvPr id="3" name="Shape 1"/>
          <p:cNvSpPr/>
          <p:nvPr/>
        </p:nvSpPr>
        <p:spPr>
          <a:xfrm>
            <a:off x="457200" y="896112"/>
            <a:ext cx="640080" cy="54864"/>
          </a:xfrm>
          <a:prstGeom prst="rect">
            <a:avLst/>
          </a:prstGeom>
          <a:solidFill>
            <a:srgbClr val="667C7E"/>
          </a:solidFill>
          <a:ln w="12700">
            <a:solidFill>
              <a:srgbClr val="667C7E"/>
            </a:solidFill>
            <a:prstDash val="solid"/>
          </a:ln>
        </p:spPr>
      </p:sp>
      <p:sp>
        <p:nvSpPr>
          <p:cNvPr id="4" name="Shape 2"/>
          <p:cNvSpPr/>
          <p:nvPr/>
        </p:nvSpPr>
        <p:spPr>
          <a:xfrm>
            <a:off x="1143000" y="896112"/>
            <a:ext cx="320040" cy="54864"/>
          </a:xfrm>
          <a:prstGeom prst="rect">
            <a:avLst/>
          </a:prstGeom>
          <a:solidFill>
            <a:srgbClr val="C7A887"/>
          </a:solidFill>
          <a:ln w="12700">
            <a:solidFill>
              <a:srgbClr val="C7A887"/>
            </a:solidFill>
            <a:prstDash val="solid"/>
          </a:ln>
        </p:spPr>
      </p:sp>
      <p:sp>
        <p:nvSpPr>
          <p:cNvPr id="5" name="Text 3"/>
          <p:cNvSpPr txBox="1"/>
          <p:nvPr/>
        </p:nvSpPr>
        <p:spPr>
          <a:xfrm>
            <a:off x="457200" y="4828032"/>
            <a:ext cx="6858000" cy="182880"/>
          </a:xfrm>
          <a:prstGeom prst="rect">
            <a:avLst/>
          </a:prstGeom>
          <a:noFill/>
          <a:ln/>
        </p:spPr>
        <p:txBody>
          <a:bodyPr wrap="square" lIns="0" tIns="0" rIns="0" bIns="0" rtlCol="0" anchor="ctr"/>
          <a:lstStyle/>
          <a:p>
            <a:pPr indent="0" marL="0">
              <a:buNone/>
            </a:pPr>
            <a:r>
              <a:rPr lang="en-US" sz="800" dirty="0">
                <a:solidFill>
                  <a:srgbClr val="5A5F55"/>
                </a:solidFill>
                <a:latin typeface="Open Sans" pitchFamily="34" charset="0"/>
                <a:ea typeface="Open Sans" pitchFamily="34" charset="-122"/>
                <a:cs typeface="Open Sans" pitchFamily="34" charset="-120"/>
              </a:rPr>
              <a:t>DBIS-11 Cybersecurity and Cloud Computing  |  Day 2  |  Session 11.4</a:t>
            </a:r>
            <a:endParaRPr lang="en-US" sz="800" dirty="0"/>
          </a:p>
        </p:txBody>
      </p:sp>
      <p:sp>
        <p:nvSpPr>
          <p:cNvPr id="6" name="Text 4"/>
          <p:cNvSpPr txBox="1"/>
          <p:nvPr/>
        </p:nvSpPr>
        <p:spPr>
          <a:xfrm>
            <a:off x="8138160" y="4828032"/>
            <a:ext cx="548640" cy="182880"/>
          </a:xfrm>
          <a:prstGeom prst="rect">
            <a:avLst/>
          </a:prstGeom>
          <a:noFill/>
          <a:ln/>
        </p:spPr>
        <p:txBody>
          <a:bodyPr wrap="square" lIns="0" tIns="0" rIns="0" bIns="0" rtlCol="0" anchor="ctr"/>
          <a:lstStyle/>
          <a:p>
            <a:pPr algn="r" indent="0" marL="0">
              <a:buNone/>
            </a:pPr>
            <a:r>
              <a:rPr lang="en-US" sz="800" dirty="0">
                <a:solidFill>
                  <a:srgbClr val="5A5F55"/>
                </a:solidFill>
                <a:latin typeface="Open Sans" pitchFamily="34" charset="0"/>
                <a:ea typeface="Open Sans" pitchFamily="34" charset="-122"/>
                <a:cs typeface="Open Sans" pitchFamily="34" charset="-120"/>
              </a:rPr>
              <a:t>7</a:t>
            </a:r>
            <a:endParaRPr lang="en-US" sz="800" dirty="0"/>
          </a:p>
        </p:txBody>
      </p:sp>
      <p:sp>
        <p:nvSpPr>
          <p:cNvPr id="8" name="Shape 5"/>
          <p:cNvSpPr/>
          <p:nvPr/>
        </p:nvSpPr>
        <p:spPr>
          <a:xfrm>
            <a:off x="457200" y="1188720"/>
            <a:ext cx="4000500" cy="2377440"/>
          </a:xfrm>
          <a:prstGeom prst="roundRect">
            <a:avLst>
              <a:gd name="adj" fmla="val 3077"/>
            </a:avLst>
          </a:prstGeom>
          <a:solidFill>
            <a:srgbClr val="EDDDCD"/>
          </a:solidFill>
          <a:ln w="12700">
            <a:solidFill>
              <a:srgbClr val="EDDDCD"/>
            </a:solidFill>
            <a:prstDash val="solid"/>
          </a:ln>
        </p:spPr>
      </p:sp>
      <p:sp>
        <p:nvSpPr>
          <p:cNvPr id="9" name="Shape 6"/>
          <p:cNvSpPr/>
          <p:nvPr/>
        </p:nvSpPr>
        <p:spPr>
          <a:xfrm>
            <a:off x="640080" y="1371600"/>
            <a:ext cx="502920" cy="502920"/>
          </a:xfrm>
          <a:prstGeom prst="ellipse">
            <a:avLst/>
          </a:prstGeom>
          <a:solidFill>
            <a:srgbClr val="7D5F3F"/>
          </a:solidFill>
          <a:ln w="12700">
            <a:solidFill>
              <a:srgbClr val="7D5F3F"/>
            </a:solidFill>
            <a:prstDash val="solid"/>
          </a:ln>
        </p:spPr>
      </p:sp>
      <p:pic>
        <p:nvPicPr>
          <p:cNvPr id="10" name="Image 0" descr="preencoded.png">    </p:cNvPr>
          <p:cNvPicPr>
            <a:picLocks noChangeAspect="1"/>
          </p:cNvPicPr>
          <p:nvPr/>
        </p:nvPicPr>
        <p:blipFill>
          <a:blip r:embed="rId1"/>
          <a:stretch>
            <a:fillRect/>
          </a:stretch>
        </p:blipFill>
        <p:spPr>
          <a:xfrm>
            <a:off x="765810" y="1497330"/>
            <a:ext cx="251460" cy="251460"/>
          </a:xfrm>
          <a:prstGeom prst="rect">
            <a:avLst/>
          </a:prstGeom>
        </p:spPr>
      </p:pic>
      <p:sp>
        <p:nvSpPr>
          <p:cNvPr id="11" name="Text 7"/>
          <p:cNvSpPr txBox="1"/>
          <p:nvPr/>
        </p:nvSpPr>
        <p:spPr>
          <a:xfrm>
            <a:off x="640080" y="2011680"/>
            <a:ext cx="3634740" cy="411480"/>
          </a:xfrm>
          <a:prstGeom prst="rect">
            <a:avLst/>
          </a:prstGeom>
          <a:noFill/>
          <a:ln/>
        </p:spPr>
        <p:txBody>
          <a:bodyPr wrap="square" lIns="0" tIns="0" rIns="0" bIns="0" rtlCol="0" anchor="t"/>
          <a:lstStyle/>
          <a:p>
            <a:pPr indent="0" marL="0">
              <a:buNone/>
            </a:pPr>
            <a:r>
              <a:rPr lang="en-US" sz="1500" b="1" dirty="0">
                <a:solidFill>
                  <a:srgbClr val="262A20"/>
                </a:solidFill>
                <a:latin typeface="Open Sans" pitchFamily="34" charset="0"/>
                <a:ea typeface="Open Sans" pitchFamily="34" charset="-122"/>
                <a:cs typeface="Open Sans" pitchFamily="34" charset="-120"/>
              </a:rPr>
              <a:t>Authenticity: is it REAL?</a:t>
            </a:r>
            <a:endParaRPr lang="en-US" sz="1500" dirty="0"/>
          </a:p>
        </p:txBody>
      </p:sp>
      <p:sp>
        <p:nvSpPr>
          <p:cNvPr id="12" name="Text 8"/>
          <p:cNvSpPr txBox="1"/>
          <p:nvPr/>
        </p:nvSpPr>
        <p:spPr>
          <a:xfrm>
            <a:off x="640080" y="2441448"/>
            <a:ext cx="3634740" cy="1005840"/>
          </a:xfrm>
          <a:prstGeom prst="rect">
            <a:avLst/>
          </a:prstGeom>
          <a:noFill/>
          <a:ln/>
        </p:spPr>
        <p:txBody>
          <a:bodyPr wrap="square" lIns="0" tIns="0" rIns="0" bIns="0" rtlCol="0" anchor="t"/>
          <a:lstStyle/>
          <a:p>
            <a:pPr indent="0" marL="0">
              <a:buNone/>
            </a:pPr>
            <a:r>
              <a:rPr lang="en-US" sz="1400" dirty="0">
                <a:solidFill>
                  <a:srgbClr val="262A20"/>
                </a:solidFill>
                <a:latin typeface="Open Sans" pitchFamily="34" charset="0"/>
                <a:ea typeface="Open Sans" pitchFamily="34" charset="-122"/>
                <a:cs typeface="Open Sans" pitchFamily="34" charset="-120"/>
              </a:rPr>
              <a:t>Checked NOW, when a message arrives or someone logs in.</a:t>
            </a:r>
            <a:endParaRPr lang="en-US" sz="1400" dirty="0"/>
          </a:p>
          <a:p>
            <a:pPr indent="0" marL="0">
              <a:buNone/>
            </a:pPr>
            <a:r>
              <a:rPr lang="en-US" sz="1400" dirty="0">
                <a:solidFill>
                  <a:srgbClr val="262A20"/>
                </a:solidFill>
                <a:latin typeface="Open Sans" pitchFamily="34" charset="0"/>
                <a:ea typeface="Open Sans" pitchFamily="34" charset="-122"/>
                <a:cs typeface="Open Sans" pitchFamily="34" charset="-120"/>
              </a:rPr>
              <a:t>This morning: the fake supplier email, the fake MD voice.</a:t>
            </a:r>
            <a:endParaRPr lang="en-US" sz="1400" dirty="0"/>
          </a:p>
        </p:txBody>
      </p:sp>
      <p:sp>
        <p:nvSpPr>
          <p:cNvPr id="13" name="Shape 9"/>
          <p:cNvSpPr/>
          <p:nvPr/>
        </p:nvSpPr>
        <p:spPr>
          <a:xfrm>
            <a:off x="4686300" y="1188720"/>
            <a:ext cx="4000500" cy="2377440"/>
          </a:xfrm>
          <a:prstGeom prst="roundRect">
            <a:avLst>
              <a:gd name="adj" fmla="val 3077"/>
            </a:avLst>
          </a:prstGeom>
          <a:solidFill>
            <a:srgbClr val="D9D5D2"/>
          </a:solidFill>
          <a:ln w="12700">
            <a:solidFill>
              <a:srgbClr val="D9D5D2"/>
            </a:solidFill>
            <a:prstDash val="solid"/>
          </a:ln>
        </p:spPr>
      </p:sp>
      <p:sp>
        <p:nvSpPr>
          <p:cNvPr id="14" name="Shape 10"/>
          <p:cNvSpPr/>
          <p:nvPr/>
        </p:nvSpPr>
        <p:spPr>
          <a:xfrm>
            <a:off x="4869180" y="1371600"/>
            <a:ext cx="502920" cy="502920"/>
          </a:xfrm>
          <a:prstGeom prst="ellipse">
            <a:avLst/>
          </a:prstGeom>
          <a:solidFill>
            <a:srgbClr val="262A20"/>
          </a:solidFill>
          <a:ln w="12700">
            <a:solidFill>
              <a:srgbClr val="262A20"/>
            </a:solidFill>
            <a:prstDash val="solid"/>
          </a:ln>
        </p:spPr>
      </p:sp>
      <p:pic>
        <p:nvPicPr>
          <p:cNvPr id="15" name="Image 1" descr="preencoded.png">    </p:cNvPr>
          <p:cNvPicPr>
            <a:picLocks noChangeAspect="1"/>
          </p:cNvPicPr>
          <p:nvPr/>
        </p:nvPicPr>
        <p:blipFill>
          <a:blip r:embed="rId2"/>
          <a:stretch>
            <a:fillRect/>
          </a:stretch>
        </p:blipFill>
        <p:spPr>
          <a:xfrm>
            <a:off x="4994910" y="1497330"/>
            <a:ext cx="251460" cy="251460"/>
          </a:xfrm>
          <a:prstGeom prst="rect">
            <a:avLst/>
          </a:prstGeom>
        </p:spPr>
      </p:pic>
      <p:sp>
        <p:nvSpPr>
          <p:cNvPr id="16" name="Text 11"/>
          <p:cNvSpPr txBox="1"/>
          <p:nvPr/>
        </p:nvSpPr>
        <p:spPr>
          <a:xfrm>
            <a:off x="4869180" y="2011680"/>
            <a:ext cx="3634740" cy="411480"/>
          </a:xfrm>
          <a:prstGeom prst="rect">
            <a:avLst/>
          </a:prstGeom>
          <a:noFill/>
          <a:ln/>
        </p:spPr>
        <p:txBody>
          <a:bodyPr wrap="square" lIns="0" tIns="0" rIns="0" bIns="0" rtlCol="0" anchor="t"/>
          <a:lstStyle/>
          <a:p>
            <a:pPr indent="0" marL="0">
              <a:buNone/>
            </a:pPr>
            <a:r>
              <a:rPr lang="en-US" sz="1500" b="1" dirty="0">
                <a:solidFill>
                  <a:srgbClr val="262A20"/>
                </a:solidFill>
                <a:latin typeface="Open Sans" pitchFamily="34" charset="0"/>
                <a:ea typeface="Open Sans" pitchFamily="34" charset="-122"/>
                <a:cs typeface="Open Sans" pitchFamily="34" charset="-120"/>
              </a:rPr>
              <a:t>Accountability: WHO did it?</a:t>
            </a:r>
            <a:endParaRPr lang="en-US" sz="1500" dirty="0"/>
          </a:p>
        </p:txBody>
      </p:sp>
      <p:sp>
        <p:nvSpPr>
          <p:cNvPr id="17" name="Text 12"/>
          <p:cNvSpPr txBox="1"/>
          <p:nvPr/>
        </p:nvSpPr>
        <p:spPr>
          <a:xfrm>
            <a:off x="4869180" y="2441448"/>
            <a:ext cx="3634740" cy="1005840"/>
          </a:xfrm>
          <a:prstGeom prst="rect">
            <a:avLst/>
          </a:prstGeom>
          <a:noFill/>
          <a:ln/>
        </p:spPr>
        <p:txBody>
          <a:bodyPr wrap="square" lIns="0" tIns="0" rIns="0" bIns="0" rtlCol="0" anchor="t"/>
          <a:lstStyle/>
          <a:p>
            <a:pPr indent="0" marL="0">
              <a:buNone/>
            </a:pPr>
            <a:r>
              <a:rPr lang="en-US" sz="1400" dirty="0">
                <a:solidFill>
                  <a:srgbClr val="262A20"/>
                </a:solidFill>
                <a:latin typeface="Open Sans" pitchFamily="34" charset="0"/>
                <a:ea typeface="Open Sans" pitchFamily="34" charset="-122"/>
                <a:cs typeface="Open Sans" pitchFamily="34" charset="-120"/>
              </a:rPr>
              <a:t>Traced LATER, from records such as logs.</a:t>
            </a:r>
            <a:endParaRPr lang="en-US" sz="1400" dirty="0"/>
          </a:p>
          <a:p>
            <a:pPr indent="0" marL="0">
              <a:buNone/>
            </a:pPr>
            <a:r>
              <a:rPr lang="en-US" sz="1400" dirty="0">
                <a:solidFill>
                  <a:srgbClr val="262A20"/>
                </a:solidFill>
                <a:latin typeface="Open Sans" pitchFamily="34" charset="0"/>
                <a:ea typeface="Open Sans" pitchFamily="34" charset="-122"/>
                <a:cs typeface="Open Sans" pitchFamily="34" charset="-120"/>
              </a:rPr>
              <a:t>This afternoon: the deleted order nobody can trace.</a:t>
            </a:r>
            <a:endParaRPr lang="en-US" sz="1400" dirty="0"/>
          </a:p>
        </p:txBody>
      </p:sp>
      <p:sp>
        <p:nvSpPr>
          <p:cNvPr id="18" name="Text 13"/>
          <p:cNvSpPr txBox="1"/>
          <p:nvPr/>
        </p:nvSpPr>
        <p:spPr>
          <a:xfrm>
            <a:off x="457200" y="3840480"/>
            <a:ext cx="8229600" cy="457200"/>
          </a:xfrm>
          <a:prstGeom prst="rect">
            <a:avLst/>
          </a:prstGeom>
          <a:noFill/>
          <a:ln/>
        </p:spPr>
        <p:txBody>
          <a:bodyPr wrap="square" lIns="0" tIns="0" rIns="0" bIns="0" rtlCol="0" anchor="ctr"/>
          <a:lstStyle/>
          <a:p>
            <a:pPr algn="ctr" indent="0" marL="0">
              <a:buNone/>
            </a:pPr>
            <a:r>
              <a:rPr lang="en-US" sz="1800" b="1" dirty="0">
                <a:solidFill>
                  <a:srgbClr val="566A6C"/>
                </a:solidFill>
                <a:latin typeface="Open Sans" pitchFamily="34" charset="0"/>
                <a:ea typeface="Open Sans" pitchFamily="34" charset="-122"/>
                <a:cs typeface="Open Sans" pitchFamily="34" charset="-120"/>
              </a:rPr>
              <a:t>CIA + Authenticity + Accountability = extended CIA</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66928"/>
          </a:xfrm>
          <a:prstGeom prst="rect">
            <a:avLst/>
          </a:prstGeom>
          <a:noFill/>
          <a:ln/>
        </p:spPr>
        <p:txBody>
          <a:bodyPr wrap="square" lIns="0" tIns="0" rIns="0" bIns="0" rtlCol="0" anchor="ctr"/>
          <a:lstStyle/>
          <a:p>
            <a:pPr indent="0" marL="0">
              <a:buNone/>
            </a:pPr>
            <a:r>
              <a:rPr lang="en-US" sz="2400" b="1" dirty="0">
                <a:solidFill>
                  <a:srgbClr val="262A20"/>
                </a:solidFill>
                <a:latin typeface="Open Sans" pitchFamily="34" charset="0"/>
                <a:ea typeface="Open Sans" pitchFamily="34" charset="-122"/>
                <a:cs typeface="Open Sans" pitchFamily="34" charset="-120"/>
              </a:rPr>
              <a:t>The door and the diary</a:t>
            </a:r>
            <a:endParaRPr lang="en-US" sz="2400" dirty="0"/>
          </a:p>
        </p:txBody>
      </p:sp>
      <p:sp>
        <p:nvSpPr>
          <p:cNvPr id="3" name="Shape 1"/>
          <p:cNvSpPr/>
          <p:nvPr/>
        </p:nvSpPr>
        <p:spPr>
          <a:xfrm>
            <a:off x="457200" y="896112"/>
            <a:ext cx="640080" cy="54864"/>
          </a:xfrm>
          <a:prstGeom prst="rect">
            <a:avLst/>
          </a:prstGeom>
          <a:solidFill>
            <a:srgbClr val="667C7E"/>
          </a:solidFill>
          <a:ln w="12700">
            <a:solidFill>
              <a:srgbClr val="667C7E"/>
            </a:solidFill>
            <a:prstDash val="solid"/>
          </a:ln>
        </p:spPr>
      </p:sp>
      <p:sp>
        <p:nvSpPr>
          <p:cNvPr id="4" name="Shape 2"/>
          <p:cNvSpPr/>
          <p:nvPr/>
        </p:nvSpPr>
        <p:spPr>
          <a:xfrm>
            <a:off x="1143000" y="896112"/>
            <a:ext cx="320040" cy="54864"/>
          </a:xfrm>
          <a:prstGeom prst="rect">
            <a:avLst/>
          </a:prstGeom>
          <a:solidFill>
            <a:srgbClr val="C7A887"/>
          </a:solidFill>
          <a:ln w="12700">
            <a:solidFill>
              <a:srgbClr val="C7A887"/>
            </a:solidFill>
            <a:prstDash val="solid"/>
          </a:ln>
        </p:spPr>
      </p:sp>
      <p:sp>
        <p:nvSpPr>
          <p:cNvPr id="5" name="Text 3"/>
          <p:cNvSpPr txBox="1"/>
          <p:nvPr/>
        </p:nvSpPr>
        <p:spPr>
          <a:xfrm>
            <a:off x="457200" y="4828032"/>
            <a:ext cx="6858000" cy="182880"/>
          </a:xfrm>
          <a:prstGeom prst="rect">
            <a:avLst/>
          </a:prstGeom>
          <a:noFill/>
          <a:ln/>
        </p:spPr>
        <p:txBody>
          <a:bodyPr wrap="square" lIns="0" tIns="0" rIns="0" bIns="0" rtlCol="0" anchor="ctr"/>
          <a:lstStyle/>
          <a:p>
            <a:pPr indent="0" marL="0">
              <a:buNone/>
            </a:pPr>
            <a:r>
              <a:rPr lang="en-US" sz="800" dirty="0">
                <a:solidFill>
                  <a:srgbClr val="5A5F55"/>
                </a:solidFill>
                <a:latin typeface="Open Sans" pitchFamily="34" charset="0"/>
                <a:ea typeface="Open Sans" pitchFamily="34" charset="-122"/>
                <a:cs typeface="Open Sans" pitchFamily="34" charset="-120"/>
              </a:rPr>
              <a:t>DBIS-11 Cybersecurity and Cloud Computing  |  Day 2  |  Session 11.4</a:t>
            </a:r>
            <a:endParaRPr lang="en-US" sz="800" dirty="0"/>
          </a:p>
        </p:txBody>
      </p:sp>
      <p:sp>
        <p:nvSpPr>
          <p:cNvPr id="6" name="Text 4"/>
          <p:cNvSpPr txBox="1"/>
          <p:nvPr/>
        </p:nvSpPr>
        <p:spPr>
          <a:xfrm>
            <a:off x="8138160" y="4828032"/>
            <a:ext cx="548640" cy="182880"/>
          </a:xfrm>
          <a:prstGeom prst="rect">
            <a:avLst/>
          </a:prstGeom>
          <a:noFill/>
          <a:ln/>
        </p:spPr>
        <p:txBody>
          <a:bodyPr wrap="square" lIns="0" tIns="0" rIns="0" bIns="0" rtlCol="0" anchor="ctr"/>
          <a:lstStyle/>
          <a:p>
            <a:pPr algn="r" indent="0" marL="0">
              <a:buNone/>
            </a:pPr>
            <a:r>
              <a:rPr lang="en-US" sz="800" dirty="0">
                <a:solidFill>
                  <a:srgbClr val="5A5F55"/>
                </a:solidFill>
                <a:latin typeface="Open Sans" pitchFamily="34" charset="0"/>
                <a:ea typeface="Open Sans" pitchFamily="34" charset="-122"/>
                <a:cs typeface="Open Sans" pitchFamily="34" charset="-120"/>
              </a:rPr>
              <a:t>8</a:t>
            </a:r>
            <a:endParaRPr lang="en-US" sz="800" dirty="0"/>
          </a:p>
        </p:txBody>
      </p:sp>
      <p:pic>
        <p:nvPicPr>
          <p:cNvPr id="8" name="Image 0" descr="door_diary">    </p:cNvPr>
          <p:cNvPicPr>
            <a:picLocks noChangeAspect="1"/>
          </p:cNvPicPr>
          <p:nvPr/>
        </p:nvPicPr>
        <p:blipFill>
          <a:blip r:embed="rId1"/>
          <a:stretch>
            <a:fillRect/>
          </a:stretch>
        </p:blipFill>
        <p:spPr>
          <a:xfrm>
            <a:off x="365760" y="1488492"/>
            <a:ext cx="4663440" cy="2600856"/>
          </a:xfrm>
          <a:prstGeom prst="rect">
            <a:avLst/>
          </a:prstGeom>
        </p:spPr>
      </p:pic>
      <p:sp>
        <p:nvSpPr>
          <p:cNvPr id="9" name="Shape 5"/>
          <p:cNvSpPr/>
          <p:nvPr/>
        </p:nvSpPr>
        <p:spPr>
          <a:xfrm>
            <a:off x="5166360" y="1280160"/>
            <a:ext cx="548640" cy="548640"/>
          </a:xfrm>
          <a:prstGeom prst="ellipse">
            <a:avLst/>
          </a:prstGeom>
          <a:solidFill>
            <a:srgbClr val="7D5F3F"/>
          </a:solidFill>
          <a:ln w="12700">
            <a:solidFill>
              <a:srgbClr val="7D5F3F"/>
            </a:solidFill>
            <a:prstDash val="solid"/>
          </a:ln>
        </p:spPr>
      </p:sp>
      <p:pic>
        <p:nvPicPr>
          <p:cNvPr id="10" name="Image 1" descr="preencoded.png">    </p:cNvPr>
          <p:cNvPicPr>
            <a:picLocks noChangeAspect="1"/>
          </p:cNvPicPr>
          <p:nvPr/>
        </p:nvPicPr>
        <p:blipFill>
          <a:blip r:embed="rId2"/>
          <a:stretch>
            <a:fillRect/>
          </a:stretch>
        </p:blipFill>
        <p:spPr>
          <a:xfrm>
            <a:off x="5303520" y="1417320"/>
            <a:ext cx="274320" cy="274320"/>
          </a:xfrm>
          <a:prstGeom prst="rect">
            <a:avLst/>
          </a:prstGeom>
        </p:spPr>
      </p:pic>
      <p:sp>
        <p:nvSpPr>
          <p:cNvPr id="11" name="Text 6"/>
          <p:cNvSpPr txBox="1"/>
          <p:nvPr/>
        </p:nvSpPr>
        <p:spPr>
          <a:xfrm>
            <a:off x="5897880" y="1234440"/>
            <a:ext cx="2834640" cy="310896"/>
          </a:xfrm>
          <a:prstGeom prst="rect">
            <a:avLst/>
          </a:prstGeom>
          <a:noFill/>
          <a:ln/>
        </p:spPr>
        <p:txBody>
          <a:bodyPr wrap="square" lIns="0" tIns="0" rIns="0" bIns="0" rtlCol="0" anchor="ctr"/>
          <a:lstStyle/>
          <a:p>
            <a:pPr indent="0" marL="0">
              <a:buNone/>
            </a:pPr>
            <a:r>
              <a:rPr lang="en-US" sz="1600" b="1" dirty="0">
                <a:solidFill>
                  <a:srgbClr val="262A20"/>
                </a:solidFill>
                <a:latin typeface="Open Sans" pitchFamily="34" charset="0"/>
                <a:ea typeface="Open Sans" pitchFamily="34" charset="-122"/>
                <a:cs typeface="Open Sans" pitchFamily="34" charset="-120"/>
              </a:rPr>
              <a:t>Door: Authenticity</a:t>
            </a:r>
            <a:endParaRPr lang="en-US" sz="1600" dirty="0"/>
          </a:p>
        </p:txBody>
      </p:sp>
      <p:sp>
        <p:nvSpPr>
          <p:cNvPr id="12" name="Text 7"/>
          <p:cNvSpPr txBox="1"/>
          <p:nvPr/>
        </p:nvSpPr>
        <p:spPr>
          <a:xfrm>
            <a:off x="5897880" y="1545336"/>
            <a:ext cx="2834640" cy="685800"/>
          </a:xfrm>
          <a:prstGeom prst="rect">
            <a:avLst/>
          </a:prstGeom>
          <a:noFill/>
          <a:ln/>
        </p:spPr>
        <p:txBody>
          <a:bodyPr wrap="square" lIns="0" tIns="0" rIns="0" bIns="0" rtlCol="0" anchor="t"/>
          <a:lstStyle/>
          <a:p>
            <a:pPr indent="0" marL="0">
              <a:buNone/>
            </a:pPr>
            <a:r>
              <a:rPr lang="en-US" sz="1300" dirty="0">
                <a:solidFill>
                  <a:srgbClr val="262A20"/>
                </a:solidFill>
                <a:latin typeface="Open Sans" pitchFamily="34" charset="0"/>
                <a:ea typeface="Open Sans" pitchFamily="34" charset="-122"/>
                <a:cs typeface="Open Sans" pitchFamily="34" charset="-120"/>
              </a:rPr>
              <a:t>Is it real? Checked NOW.</a:t>
            </a:r>
            <a:endParaRPr lang="en-US" sz="1300" dirty="0"/>
          </a:p>
        </p:txBody>
      </p:sp>
      <p:sp>
        <p:nvSpPr>
          <p:cNvPr id="13" name="Shape 8"/>
          <p:cNvSpPr/>
          <p:nvPr/>
        </p:nvSpPr>
        <p:spPr>
          <a:xfrm>
            <a:off x="5166360" y="2331720"/>
            <a:ext cx="548640" cy="548640"/>
          </a:xfrm>
          <a:prstGeom prst="ellipse">
            <a:avLst/>
          </a:prstGeom>
          <a:solidFill>
            <a:srgbClr val="262A20"/>
          </a:solidFill>
          <a:ln w="12700">
            <a:solidFill>
              <a:srgbClr val="262A20"/>
            </a:solidFill>
            <a:prstDash val="solid"/>
          </a:ln>
        </p:spPr>
      </p:sp>
      <p:pic>
        <p:nvPicPr>
          <p:cNvPr id="14" name="Image 2" descr="preencoded.png">    </p:cNvPr>
          <p:cNvPicPr>
            <a:picLocks noChangeAspect="1"/>
          </p:cNvPicPr>
          <p:nvPr/>
        </p:nvPicPr>
        <p:blipFill>
          <a:blip r:embed="rId3"/>
          <a:stretch>
            <a:fillRect/>
          </a:stretch>
        </p:blipFill>
        <p:spPr>
          <a:xfrm>
            <a:off x="5303520" y="2468880"/>
            <a:ext cx="274320" cy="274320"/>
          </a:xfrm>
          <a:prstGeom prst="rect">
            <a:avLst/>
          </a:prstGeom>
        </p:spPr>
      </p:pic>
      <p:sp>
        <p:nvSpPr>
          <p:cNvPr id="15" name="Text 9"/>
          <p:cNvSpPr txBox="1"/>
          <p:nvPr/>
        </p:nvSpPr>
        <p:spPr>
          <a:xfrm>
            <a:off x="5897880" y="2286000"/>
            <a:ext cx="2834640" cy="310896"/>
          </a:xfrm>
          <a:prstGeom prst="rect">
            <a:avLst/>
          </a:prstGeom>
          <a:noFill/>
          <a:ln/>
        </p:spPr>
        <p:txBody>
          <a:bodyPr wrap="square" lIns="0" tIns="0" rIns="0" bIns="0" rtlCol="0" anchor="ctr"/>
          <a:lstStyle/>
          <a:p>
            <a:pPr indent="0" marL="0">
              <a:buNone/>
            </a:pPr>
            <a:r>
              <a:rPr lang="en-US" sz="1600" b="1" dirty="0">
                <a:solidFill>
                  <a:srgbClr val="262A20"/>
                </a:solidFill>
                <a:latin typeface="Open Sans" pitchFamily="34" charset="0"/>
                <a:ea typeface="Open Sans" pitchFamily="34" charset="-122"/>
                <a:cs typeface="Open Sans" pitchFamily="34" charset="-120"/>
              </a:rPr>
              <a:t>Diary: Accountability</a:t>
            </a:r>
            <a:endParaRPr lang="en-US" sz="1600" dirty="0"/>
          </a:p>
        </p:txBody>
      </p:sp>
      <p:sp>
        <p:nvSpPr>
          <p:cNvPr id="16" name="Text 10"/>
          <p:cNvSpPr txBox="1"/>
          <p:nvPr/>
        </p:nvSpPr>
        <p:spPr>
          <a:xfrm>
            <a:off x="5897880" y="2596896"/>
            <a:ext cx="2834640" cy="685800"/>
          </a:xfrm>
          <a:prstGeom prst="rect">
            <a:avLst/>
          </a:prstGeom>
          <a:noFill/>
          <a:ln/>
        </p:spPr>
        <p:txBody>
          <a:bodyPr wrap="square" lIns="0" tIns="0" rIns="0" bIns="0" rtlCol="0" anchor="t"/>
          <a:lstStyle/>
          <a:p>
            <a:pPr indent="0" marL="0">
              <a:buNone/>
            </a:pPr>
            <a:r>
              <a:rPr lang="en-US" sz="1300" dirty="0">
                <a:solidFill>
                  <a:srgbClr val="262A20"/>
                </a:solidFill>
                <a:latin typeface="Open Sans" pitchFamily="34" charset="0"/>
                <a:ea typeface="Open Sans" pitchFamily="34" charset="-122"/>
                <a:cs typeface="Open Sans" pitchFamily="34" charset="-120"/>
              </a:rPr>
              <a:t>Who did it? Traced LATER.</a:t>
            </a:r>
            <a:endParaRPr lang="en-US" sz="1300" dirty="0"/>
          </a:p>
        </p:txBody>
      </p:sp>
      <p:sp>
        <p:nvSpPr>
          <p:cNvPr id="17" name="Shape 11"/>
          <p:cNvSpPr/>
          <p:nvPr/>
        </p:nvSpPr>
        <p:spPr>
          <a:xfrm>
            <a:off x="5166360" y="3383280"/>
            <a:ext cx="548640" cy="548640"/>
          </a:xfrm>
          <a:prstGeom prst="ellipse">
            <a:avLst/>
          </a:prstGeom>
          <a:solidFill>
            <a:srgbClr val="667C7E"/>
          </a:solidFill>
          <a:ln w="12700">
            <a:solidFill>
              <a:srgbClr val="667C7E"/>
            </a:solidFill>
            <a:prstDash val="solid"/>
          </a:ln>
        </p:spPr>
      </p:sp>
      <p:pic>
        <p:nvPicPr>
          <p:cNvPr id="18" name="Image 3" descr="preencoded.png">    </p:cNvPr>
          <p:cNvPicPr>
            <a:picLocks noChangeAspect="1"/>
          </p:cNvPicPr>
          <p:nvPr/>
        </p:nvPicPr>
        <p:blipFill>
          <a:blip r:embed="rId4"/>
          <a:stretch>
            <a:fillRect/>
          </a:stretch>
        </p:blipFill>
        <p:spPr>
          <a:xfrm>
            <a:off x="5303520" y="3520440"/>
            <a:ext cx="274320" cy="274320"/>
          </a:xfrm>
          <a:prstGeom prst="rect">
            <a:avLst/>
          </a:prstGeom>
        </p:spPr>
      </p:pic>
      <p:sp>
        <p:nvSpPr>
          <p:cNvPr id="19" name="Text 12"/>
          <p:cNvSpPr txBox="1"/>
          <p:nvPr/>
        </p:nvSpPr>
        <p:spPr>
          <a:xfrm>
            <a:off x="5897880" y="3337560"/>
            <a:ext cx="2834640" cy="310896"/>
          </a:xfrm>
          <a:prstGeom prst="rect">
            <a:avLst/>
          </a:prstGeom>
          <a:noFill/>
          <a:ln/>
        </p:spPr>
        <p:txBody>
          <a:bodyPr wrap="square" lIns="0" tIns="0" rIns="0" bIns="0" rtlCol="0" anchor="ctr"/>
          <a:lstStyle/>
          <a:p>
            <a:pPr indent="0" marL="0">
              <a:buNone/>
            </a:pPr>
            <a:r>
              <a:rPr lang="en-US" sz="1600" b="1" dirty="0">
                <a:solidFill>
                  <a:srgbClr val="262A20"/>
                </a:solidFill>
                <a:latin typeface="Open Sans" pitchFamily="34" charset="0"/>
                <a:ea typeface="Open Sans" pitchFamily="34" charset="-122"/>
                <a:cs typeface="Open Sans" pitchFamily="34" charset="-120"/>
              </a:rPr>
              <a:t>One question decides</a:t>
            </a:r>
            <a:endParaRPr lang="en-US" sz="1600" dirty="0"/>
          </a:p>
        </p:txBody>
      </p:sp>
      <p:sp>
        <p:nvSpPr>
          <p:cNvPr id="20" name="Text 13"/>
          <p:cNvSpPr txBox="1"/>
          <p:nvPr/>
        </p:nvSpPr>
        <p:spPr>
          <a:xfrm>
            <a:off x="5897880" y="3648456"/>
            <a:ext cx="2834640" cy="685800"/>
          </a:xfrm>
          <a:prstGeom prst="rect">
            <a:avLst/>
          </a:prstGeom>
          <a:noFill/>
          <a:ln/>
        </p:spPr>
        <p:txBody>
          <a:bodyPr wrap="square" lIns="0" tIns="0" rIns="0" bIns="0" rtlCol="0" anchor="t"/>
          <a:lstStyle/>
          <a:p>
            <a:pPr indent="0" marL="0">
              <a:buNone/>
            </a:pPr>
            <a:r>
              <a:rPr lang="en-US" sz="1300" dirty="0">
                <a:solidFill>
                  <a:srgbClr val="262A20"/>
                </a:solidFill>
                <a:latin typeface="Open Sans" pitchFamily="34" charset="0"/>
                <a:ea typeface="Open Sans" pitchFamily="34" charset="-122"/>
                <a:cs typeface="Open Sans" pitchFamily="34" charset="-120"/>
              </a:rPr>
              <a:t>Are we checking now, or tracing later?</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66928"/>
          </a:xfrm>
          <a:prstGeom prst="rect">
            <a:avLst/>
          </a:prstGeom>
          <a:noFill/>
          <a:ln/>
        </p:spPr>
        <p:txBody>
          <a:bodyPr wrap="square" lIns="0" tIns="0" rIns="0" bIns="0" rtlCol="0" anchor="ctr"/>
          <a:lstStyle/>
          <a:p>
            <a:pPr indent="0" marL="0">
              <a:buNone/>
            </a:pPr>
            <a:r>
              <a:rPr lang="en-US" sz="2400" b="1" dirty="0">
                <a:solidFill>
                  <a:srgbClr val="262A20"/>
                </a:solidFill>
                <a:latin typeface="Open Sans" pitchFamily="34" charset="0"/>
                <a:ea typeface="Open Sans" pitchFamily="34" charset="-122"/>
                <a:cs typeface="Open Sans" pitchFamily="34" charset="-120"/>
              </a:rPr>
              <a:t>Authenticity: the door</a:t>
            </a:r>
            <a:endParaRPr lang="en-US" sz="2400" dirty="0"/>
          </a:p>
        </p:txBody>
      </p:sp>
      <p:sp>
        <p:nvSpPr>
          <p:cNvPr id="3" name="Shape 1"/>
          <p:cNvSpPr/>
          <p:nvPr/>
        </p:nvSpPr>
        <p:spPr>
          <a:xfrm>
            <a:off x="457200" y="896112"/>
            <a:ext cx="640080" cy="54864"/>
          </a:xfrm>
          <a:prstGeom prst="rect">
            <a:avLst/>
          </a:prstGeom>
          <a:solidFill>
            <a:srgbClr val="667C7E"/>
          </a:solidFill>
          <a:ln w="12700">
            <a:solidFill>
              <a:srgbClr val="667C7E"/>
            </a:solidFill>
            <a:prstDash val="solid"/>
          </a:ln>
        </p:spPr>
      </p:sp>
      <p:sp>
        <p:nvSpPr>
          <p:cNvPr id="4" name="Shape 2"/>
          <p:cNvSpPr/>
          <p:nvPr/>
        </p:nvSpPr>
        <p:spPr>
          <a:xfrm>
            <a:off x="1143000" y="896112"/>
            <a:ext cx="320040" cy="54864"/>
          </a:xfrm>
          <a:prstGeom prst="rect">
            <a:avLst/>
          </a:prstGeom>
          <a:solidFill>
            <a:srgbClr val="C7A887"/>
          </a:solidFill>
          <a:ln w="12700">
            <a:solidFill>
              <a:srgbClr val="C7A887"/>
            </a:solidFill>
            <a:prstDash val="solid"/>
          </a:ln>
        </p:spPr>
      </p:sp>
      <p:sp>
        <p:nvSpPr>
          <p:cNvPr id="5" name="Text 3"/>
          <p:cNvSpPr txBox="1"/>
          <p:nvPr/>
        </p:nvSpPr>
        <p:spPr>
          <a:xfrm>
            <a:off x="457200" y="4828032"/>
            <a:ext cx="6858000" cy="182880"/>
          </a:xfrm>
          <a:prstGeom prst="rect">
            <a:avLst/>
          </a:prstGeom>
          <a:noFill/>
          <a:ln/>
        </p:spPr>
        <p:txBody>
          <a:bodyPr wrap="square" lIns="0" tIns="0" rIns="0" bIns="0" rtlCol="0" anchor="ctr"/>
          <a:lstStyle/>
          <a:p>
            <a:pPr indent="0" marL="0">
              <a:buNone/>
            </a:pPr>
            <a:r>
              <a:rPr lang="en-US" sz="800" dirty="0">
                <a:solidFill>
                  <a:srgbClr val="5A5F55"/>
                </a:solidFill>
                <a:latin typeface="Open Sans" pitchFamily="34" charset="0"/>
                <a:ea typeface="Open Sans" pitchFamily="34" charset="-122"/>
                <a:cs typeface="Open Sans" pitchFamily="34" charset="-120"/>
              </a:rPr>
              <a:t>DBIS-11 Cybersecurity and Cloud Computing  |  Day 2  |  Session 11.4</a:t>
            </a:r>
            <a:endParaRPr lang="en-US" sz="800" dirty="0"/>
          </a:p>
        </p:txBody>
      </p:sp>
      <p:sp>
        <p:nvSpPr>
          <p:cNvPr id="6" name="Text 4"/>
          <p:cNvSpPr txBox="1"/>
          <p:nvPr/>
        </p:nvSpPr>
        <p:spPr>
          <a:xfrm>
            <a:off x="8138160" y="4828032"/>
            <a:ext cx="548640" cy="182880"/>
          </a:xfrm>
          <a:prstGeom prst="rect">
            <a:avLst/>
          </a:prstGeom>
          <a:noFill/>
          <a:ln/>
        </p:spPr>
        <p:txBody>
          <a:bodyPr wrap="square" lIns="0" tIns="0" rIns="0" bIns="0" rtlCol="0" anchor="ctr"/>
          <a:lstStyle/>
          <a:p>
            <a:pPr algn="r" indent="0" marL="0">
              <a:buNone/>
            </a:pPr>
            <a:r>
              <a:rPr lang="en-US" sz="800" dirty="0">
                <a:solidFill>
                  <a:srgbClr val="5A5F55"/>
                </a:solidFill>
                <a:latin typeface="Open Sans" pitchFamily="34" charset="0"/>
                <a:ea typeface="Open Sans" pitchFamily="34" charset="-122"/>
                <a:cs typeface="Open Sans" pitchFamily="34" charset="-120"/>
              </a:rPr>
              <a:t>9</a:t>
            </a:r>
            <a:endParaRPr lang="en-US" sz="800" dirty="0"/>
          </a:p>
        </p:txBody>
      </p:sp>
      <p:sp>
        <p:nvSpPr>
          <p:cNvPr id="8" name="Shape 5"/>
          <p:cNvSpPr/>
          <p:nvPr/>
        </p:nvSpPr>
        <p:spPr>
          <a:xfrm>
            <a:off x="457200" y="1234440"/>
            <a:ext cx="1005840" cy="1005840"/>
          </a:xfrm>
          <a:prstGeom prst="ellipse">
            <a:avLst/>
          </a:prstGeom>
          <a:solidFill>
            <a:srgbClr val="667C7E"/>
          </a:solidFill>
          <a:ln w="12700">
            <a:solidFill>
              <a:srgbClr val="667C7E"/>
            </a:solidFill>
            <a:prstDash val="solid"/>
          </a:ln>
        </p:spPr>
      </p:sp>
      <p:pic>
        <p:nvPicPr>
          <p:cNvPr id="9" name="Image 0" descr="preencoded.png">    </p:cNvPr>
          <p:cNvPicPr>
            <a:picLocks noChangeAspect="1"/>
          </p:cNvPicPr>
          <p:nvPr/>
        </p:nvPicPr>
        <p:blipFill>
          <a:blip r:embed="rId1"/>
          <a:stretch>
            <a:fillRect/>
          </a:stretch>
        </p:blipFill>
        <p:spPr>
          <a:xfrm>
            <a:off x="708660" y="1485900"/>
            <a:ext cx="502920" cy="502920"/>
          </a:xfrm>
          <a:prstGeom prst="rect">
            <a:avLst/>
          </a:prstGeom>
        </p:spPr>
      </p:pic>
      <p:sp>
        <p:nvSpPr>
          <p:cNvPr id="10" name="Text 6"/>
          <p:cNvSpPr txBox="1"/>
          <p:nvPr/>
        </p:nvSpPr>
        <p:spPr>
          <a:xfrm>
            <a:off x="1691640" y="1234440"/>
            <a:ext cx="6949440" cy="457200"/>
          </a:xfrm>
          <a:prstGeom prst="rect">
            <a:avLst/>
          </a:prstGeom>
          <a:noFill/>
          <a:ln/>
        </p:spPr>
        <p:txBody>
          <a:bodyPr wrap="square" lIns="0" tIns="0" rIns="0" bIns="0" rtlCol="0" anchor="ctr"/>
          <a:lstStyle/>
          <a:p>
            <a:pPr indent="0" marL="0">
              <a:buNone/>
            </a:pPr>
            <a:r>
              <a:rPr lang="en-US" sz="2600" b="1" dirty="0">
                <a:solidFill>
                  <a:srgbClr val="566A6C"/>
                </a:solidFill>
                <a:latin typeface="Open Sans" pitchFamily="34" charset="0"/>
                <a:ea typeface="Open Sans" pitchFamily="34" charset="-122"/>
                <a:cs typeface="Open Sans" pitchFamily="34" charset="-120"/>
              </a:rPr>
              <a:t>Authenticity</a:t>
            </a:r>
            <a:endParaRPr lang="en-US" sz="2600" dirty="0"/>
          </a:p>
        </p:txBody>
      </p:sp>
      <p:sp>
        <p:nvSpPr>
          <p:cNvPr id="11" name="Text 7"/>
          <p:cNvSpPr txBox="1"/>
          <p:nvPr/>
        </p:nvSpPr>
        <p:spPr>
          <a:xfrm>
            <a:off x="1691640" y="1691640"/>
            <a:ext cx="6949440" cy="640080"/>
          </a:xfrm>
          <a:prstGeom prst="rect">
            <a:avLst/>
          </a:prstGeom>
          <a:noFill/>
          <a:ln/>
        </p:spPr>
        <p:txBody>
          <a:bodyPr wrap="square" lIns="0" tIns="0" rIns="0" bIns="0" rtlCol="0" anchor="t"/>
          <a:lstStyle/>
          <a:p>
            <a:pPr indent="0" marL="0">
              <a:buNone/>
            </a:pPr>
            <a:r>
              <a:rPr lang="en-US" sz="1700" dirty="0">
                <a:solidFill>
                  <a:srgbClr val="262A20"/>
                </a:solidFill>
                <a:latin typeface="Open Sans" pitchFamily="34" charset="0"/>
                <a:ea typeface="Open Sans" pitchFamily="34" charset="-122"/>
                <a:cs typeface="Open Sans" pitchFamily="34" charset="-120"/>
              </a:rPr>
              <a:t>Checking that something is real, at the moment it happens: it is really you, or really from them.</a:t>
            </a:r>
            <a:endParaRPr lang="en-US" sz="1700" dirty="0"/>
          </a:p>
        </p:txBody>
      </p:sp>
      <p:sp>
        <p:nvSpPr>
          <p:cNvPr id="12" name="Shape 8"/>
          <p:cNvSpPr/>
          <p:nvPr/>
        </p:nvSpPr>
        <p:spPr>
          <a:xfrm>
            <a:off x="457200" y="2606040"/>
            <a:ext cx="3977640" cy="1920240"/>
          </a:xfrm>
          <a:prstGeom prst="roundRect">
            <a:avLst>
              <a:gd name="adj" fmla="val 3810"/>
            </a:avLst>
          </a:prstGeom>
          <a:solidFill>
            <a:srgbClr val="E1E6E6"/>
          </a:solidFill>
          <a:ln w="12700">
            <a:solidFill>
              <a:srgbClr val="E1E6E6"/>
            </a:solidFill>
            <a:prstDash val="solid"/>
          </a:ln>
        </p:spPr>
      </p:sp>
      <p:sp>
        <p:nvSpPr>
          <p:cNvPr id="13" name="Text 9"/>
          <p:cNvSpPr txBox="1"/>
          <p:nvPr/>
        </p:nvSpPr>
        <p:spPr>
          <a:xfrm>
            <a:off x="640080" y="2743200"/>
            <a:ext cx="3657600" cy="320040"/>
          </a:xfrm>
          <a:prstGeom prst="rect">
            <a:avLst/>
          </a:prstGeom>
          <a:noFill/>
          <a:ln/>
        </p:spPr>
        <p:txBody>
          <a:bodyPr wrap="square" lIns="0" tIns="0" rIns="0" bIns="0" rtlCol="0" anchor="ctr"/>
          <a:lstStyle/>
          <a:p>
            <a:pPr indent="0" marL="0">
              <a:buNone/>
            </a:pPr>
            <a:r>
              <a:rPr lang="en-US" sz="1400" b="1" dirty="0">
                <a:solidFill>
                  <a:srgbClr val="566A6C"/>
                </a:solidFill>
                <a:latin typeface="Open Sans" pitchFamily="34" charset="0"/>
                <a:ea typeface="Open Sans" pitchFamily="34" charset="-122"/>
                <a:cs typeface="Open Sans" pitchFamily="34" charset="-120"/>
              </a:rPr>
              <a:t>At TeaLeaf</a:t>
            </a:r>
            <a:endParaRPr lang="en-US" sz="1400" dirty="0"/>
          </a:p>
        </p:txBody>
      </p:sp>
      <p:sp>
        <p:nvSpPr>
          <p:cNvPr id="14" name="Text 10"/>
          <p:cNvSpPr txBox="1"/>
          <p:nvPr/>
        </p:nvSpPr>
        <p:spPr>
          <a:xfrm>
            <a:off x="640080" y="3108960"/>
            <a:ext cx="3611880" cy="1325880"/>
          </a:xfrm>
          <a:prstGeom prst="rect">
            <a:avLst/>
          </a:prstGeom>
          <a:noFill/>
          <a:ln/>
        </p:spPr>
        <p:txBody>
          <a:bodyPr wrap="square" lIns="0" tIns="0" rIns="0" bIns="0" rtlCol="0" anchor="t"/>
          <a:lstStyle/>
          <a:p>
            <a:pPr indent="0" marL="0">
              <a:buNone/>
            </a:pPr>
            <a:r>
              <a:rPr lang="en-US" sz="1400" dirty="0">
                <a:solidFill>
                  <a:srgbClr val="262A20"/>
                </a:solidFill>
                <a:latin typeface="Open Sans" pitchFamily="34" charset="0"/>
                <a:ea typeface="Open Sans" pitchFamily="34" charset="-122"/>
                <a:cs typeface="Open Sans" pitchFamily="34" charset="-120"/>
              </a:rPr>
              <a:t>Before paying, Kasun checks that the email really comes from the supplier. The login asks for a password and a code.</a:t>
            </a:r>
            <a:endParaRPr lang="en-US" sz="1400" dirty="0"/>
          </a:p>
        </p:txBody>
      </p:sp>
      <p:sp>
        <p:nvSpPr>
          <p:cNvPr id="15" name="Shape 11"/>
          <p:cNvSpPr/>
          <p:nvPr/>
        </p:nvSpPr>
        <p:spPr>
          <a:xfrm>
            <a:off x="4709160" y="2606040"/>
            <a:ext cx="3977640" cy="1920240"/>
          </a:xfrm>
          <a:prstGeom prst="roundRect">
            <a:avLst>
              <a:gd name="adj" fmla="val 3810"/>
            </a:avLst>
          </a:prstGeom>
          <a:solidFill>
            <a:srgbClr val="EDDDCD"/>
          </a:solidFill>
          <a:ln w="12700">
            <a:solidFill>
              <a:srgbClr val="EDDDCD"/>
            </a:solidFill>
            <a:prstDash val="solid"/>
          </a:ln>
        </p:spPr>
      </p:sp>
      <p:sp>
        <p:nvSpPr>
          <p:cNvPr id="16" name="Text 12"/>
          <p:cNvSpPr txBox="1"/>
          <p:nvPr/>
        </p:nvSpPr>
        <p:spPr>
          <a:xfrm>
            <a:off x="4892040" y="2743200"/>
            <a:ext cx="3657600" cy="320040"/>
          </a:xfrm>
          <a:prstGeom prst="rect">
            <a:avLst/>
          </a:prstGeom>
          <a:noFill/>
          <a:ln/>
        </p:spPr>
        <p:txBody>
          <a:bodyPr wrap="square" lIns="0" tIns="0" rIns="0" bIns="0" rtlCol="0" anchor="ctr"/>
          <a:lstStyle/>
          <a:p>
            <a:pPr indent="0" marL="0">
              <a:buNone/>
            </a:pPr>
            <a:r>
              <a:rPr lang="en-US" sz="1400" b="1" dirty="0">
                <a:solidFill>
                  <a:srgbClr val="7D5F3F"/>
                </a:solidFill>
                <a:latin typeface="Open Sans" pitchFamily="34" charset="0"/>
                <a:ea typeface="Open Sans" pitchFamily="34" charset="-122"/>
                <a:cs typeface="Open Sans" pitchFamily="34" charset="-120"/>
              </a:rPr>
              <a:t>When it goes wrong</a:t>
            </a:r>
            <a:endParaRPr lang="en-US" sz="1400" dirty="0"/>
          </a:p>
        </p:txBody>
      </p:sp>
      <p:sp>
        <p:nvSpPr>
          <p:cNvPr id="17" name="Text 13"/>
          <p:cNvSpPr txBox="1"/>
          <p:nvPr/>
        </p:nvSpPr>
        <p:spPr>
          <a:xfrm>
            <a:off x="4892040" y="3108960"/>
            <a:ext cx="3611880" cy="1325880"/>
          </a:xfrm>
          <a:prstGeom prst="rect">
            <a:avLst/>
          </a:prstGeom>
          <a:noFill/>
          <a:ln/>
        </p:spPr>
        <p:txBody>
          <a:bodyPr wrap="square" lIns="0" tIns="0" rIns="0" bIns="0" rtlCol="0" anchor="t"/>
          <a:lstStyle/>
          <a:p>
            <a:pPr indent="0" marL="0">
              <a:buNone/>
            </a:pPr>
            <a:r>
              <a:rPr lang="en-US" sz="1400" dirty="0">
                <a:solidFill>
                  <a:srgbClr val="262A20"/>
                </a:solidFill>
                <a:latin typeface="Open Sans" pitchFamily="34" charset="0"/>
                <a:ea typeface="Open Sans" pitchFamily="34" charset="-122"/>
                <a:cs typeface="Open Sans" pitchFamily="34" charset="-120"/>
              </a:rPr>
              <a:t>A fake supplier email is believed. A deepfake call in the MD's voice is obeyed. A criminal logs in with Kasun's stolen password.</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66928"/>
          </a:xfrm>
          <a:prstGeom prst="rect">
            <a:avLst/>
          </a:prstGeom>
          <a:noFill/>
          <a:ln/>
        </p:spPr>
        <p:txBody>
          <a:bodyPr wrap="square" lIns="0" tIns="0" rIns="0" bIns="0" rtlCol="0" anchor="ctr"/>
          <a:lstStyle/>
          <a:p>
            <a:pPr indent="0" marL="0">
              <a:buNone/>
            </a:pPr>
            <a:r>
              <a:rPr lang="en-US" sz="2400" b="1" dirty="0">
                <a:solidFill>
                  <a:srgbClr val="262A20"/>
                </a:solidFill>
                <a:latin typeface="Open Sans" pitchFamily="34" charset="0"/>
                <a:ea typeface="Open Sans" pitchFamily="34" charset="-122"/>
                <a:cs typeface="Open Sans" pitchFamily="34" charset="-120"/>
              </a:rPr>
              <a:t>Accountability: the diary</a:t>
            </a:r>
            <a:endParaRPr lang="en-US" sz="2400" dirty="0"/>
          </a:p>
        </p:txBody>
      </p:sp>
      <p:sp>
        <p:nvSpPr>
          <p:cNvPr id="3" name="Shape 1"/>
          <p:cNvSpPr/>
          <p:nvPr/>
        </p:nvSpPr>
        <p:spPr>
          <a:xfrm>
            <a:off x="457200" y="896112"/>
            <a:ext cx="640080" cy="54864"/>
          </a:xfrm>
          <a:prstGeom prst="rect">
            <a:avLst/>
          </a:prstGeom>
          <a:solidFill>
            <a:srgbClr val="667C7E"/>
          </a:solidFill>
          <a:ln w="12700">
            <a:solidFill>
              <a:srgbClr val="667C7E"/>
            </a:solidFill>
            <a:prstDash val="solid"/>
          </a:ln>
        </p:spPr>
      </p:sp>
      <p:sp>
        <p:nvSpPr>
          <p:cNvPr id="4" name="Shape 2"/>
          <p:cNvSpPr/>
          <p:nvPr/>
        </p:nvSpPr>
        <p:spPr>
          <a:xfrm>
            <a:off x="1143000" y="896112"/>
            <a:ext cx="320040" cy="54864"/>
          </a:xfrm>
          <a:prstGeom prst="rect">
            <a:avLst/>
          </a:prstGeom>
          <a:solidFill>
            <a:srgbClr val="C7A887"/>
          </a:solidFill>
          <a:ln w="12700">
            <a:solidFill>
              <a:srgbClr val="C7A887"/>
            </a:solidFill>
            <a:prstDash val="solid"/>
          </a:ln>
        </p:spPr>
      </p:sp>
      <p:sp>
        <p:nvSpPr>
          <p:cNvPr id="5" name="Text 3"/>
          <p:cNvSpPr txBox="1"/>
          <p:nvPr/>
        </p:nvSpPr>
        <p:spPr>
          <a:xfrm>
            <a:off x="457200" y="4828032"/>
            <a:ext cx="6858000" cy="182880"/>
          </a:xfrm>
          <a:prstGeom prst="rect">
            <a:avLst/>
          </a:prstGeom>
          <a:noFill/>
          <a:ln/>
        </p:spPr>
        <p:txBody>
          <a:bodyPr wrap="square" lIns="0" tIns="0" rIns="0" bIns="0" rtlCol="0" anchor="ctr"/>
          <a:lstStyle/>
          <a:p>
            <a:pPr indent="0" marL="0">
              <a:buNone/>
            </a:pPr>
            <a:r>
              <a:rPr lang="en-US" sz="800" dirty="0">
                <a:solidFill>
                  <a:srgbClr val="5A5F55"/>
                </a:solidFill>
                <a:latin typeface="Open Sans" pitchFamily="34" charset="0"/>
                <a:ea typeface="Open Sans" pitchFamily="34" charset="-122"/>
                <a:cs typeface="Open Sans" pitchFamily="34" charset="-120"/>
              </a:rPr>
              <a:t>DBIS-11 Cybersecurity and Cloud Computing  |  Day 2  |  Session 11.4</a:t>
            </a:r>
            <a:endParaRPr lang="en-US" sz="800" dirty="0"/>
          </a:p>
        </p:txBody>
      </p:sp>
      <p:sp>
        <p:nvSpPr>
          <p:cNvPr id="6" name="Text 4"/>
          <p:cNvSpPr txBox="1"/>
          <p:nvPr/>
        </p:nvSpPr>
        <p:spPr>
          <a:xfrm>
            <a:off x="8138160" y="4828032"/>
            <a:ext cx="548640" cy="182880"/>
          </a:xfrm>
          <a:prstGeom prst="rect">
            <a:avLst/>
          </a:prstGeom>
          <a:noFill/>
          <a:ln/>
        </p:spPr>
        <p:txBody>
          <a:bodyPr wrap="square" lIns="0" tIns="0" rIns="0" bIns="0" rtlCol="0" anchor="ctr"/>
          <a:lstStyle/>
          <a:p>
            <a:pPr algn="r" indent="0" marL="0">
              <a:buNone/>
            </a:pPr>
            <a:r>
              <a:rPr lang="en-US" sz="800" dirty="0">
                <a:solidFill>
                  <a:srgbClr val="5A5F55"/>
                </a:solidFill>
                <a:latin typeface="Open Sans" pitchFamily="34" charset="0"/>
                <a:ea typeface="Open Sans" pitchFamily="34" charset="-122"/>
                <a:cs typeface="Open Sans" pitchFamily="34" charset="-120"/>
              </a:rPr>
              <a:t>10</a:t>
            </a:r>
            <a:endParaRPr lang="en-US" sz="800" dirty="0"/>
          </a:p>
        </p:txBody>
      </p:sp>
      <p:sp>
        <p:nvSpPr>
          <p:cNvPr id="8" name="Shape 5"/>
          <p:cNvSpPr/>
          <p:nvPr/>
        </p:nvSpPr>
        <p:spPr>
          <a:xfrm>
            <a:off x="457200" y="1234440"/>
            <a:ext cx="1005840" cy="1005840"/>
          </a:xfrm>
          <a:prstGeom prst="ellipse">
            <a:avLst/>
          </a:prstGeom>
          <a:solidFill>
            <a:srgbClr val="667C7E"/>
          </a:solidFill>
          <a:ln w="12700">
            <a:solidFill>
              <a:srgbClr val="667C7E"/>
            </a:solidFill>
            <a:prstDash val="solid"/>
          </a:ln>
        </p:spPr>
      </p:sp>
      <p:pic>
        <p:nvPicPr>
          <p:cNvPr id="9" name="Image 0" descr="preencoded.png">    </p:cNvPr>
          <p:cNvPicPr>
            <a:picLocks noChangeAspect="1"/>
          </p:cNvPicPr>
          <p:nvPr/>
        </p:nvPicPr>
        <p:blipFill>
          <a:blip r:embed="rId1"/>
          <a:stretch>
            <a:fillRect/>
          </a:stretch>
        </p:blipFill>
        <p:spPr>
          <a:xfrm>
            <a:off x="708660" y="1485900"/>
            <a:ext cx="502920" cy="502920"/>
          </a:xfrm>
          <a:prstGeom prst="rect">
            <a:avLst/>
          </a:prstGeom>
        </p:spPr>
      </p:pic>
      <p:sp>
        <p:nvSpPr>
          <p:cNvPr id="10" name="Text 6"/>
          <p:cNvSpPr txBox="1"/>
          <p:nvPr/>
        </p:nvSpPr>
        <p:spPr>
          <a:xfrm>
            <a:off x="1691640" y="1234440"/>
            <a:ext cx="6949440" cy="457200"/>
          </a:xfrm>
          <a:prstGeom prst="rect">
            <a:avLst/>
          </a:prstGeom>
          <a:noFill/>
          <a:ln/>
        </p:spPr>
        <p:txBody>
          <a:bodyPr wrap="square" lIns="0" tIns="0" rIns="0" bIns="0" rtlCol="0" anchor="ctr"/>
          <a:lstStyle/>
          <a:p>
            <a:pPr indent="0" marL="0">
              <a:buNone/>
            </a:pPr>
            <a:r>
              <a:rPr lang="en-US" sz="2600" b="1" dirty="0">
                <a:solidFill>
                  <a:srgbClr val="566A6C"/>
                </a:solidFill>
                <a:latin typeface="Open Sans" pitchFamily="34" charset="0"/>
                <a:ea typeface="Open Sans" pitchFamily="34" charset="-122"/>
                <a:cs typeface="Open Sans" pitchFamily="34" charset="-120"/>
              </a:rPr>
              <a:t>Accountability</a:t>
            </a:r>
            <a:endParaRPr lang="en-US" sz="2600" dirty="0"/>
          </a:p>
        </p:txBody>
      </p:sp>
      <p:sp>
        <p:nvSpPr>
          <p:cNvPr id="11" name="Text 7"/>
          <p:cNvSpPr txBox="1"/>
          <p:nvPr/>
        </p:nvSpPr>
        <p:spPr>
          <a:xfrm>
            <a:off x="1691640" y="1691640"/>
            <a:ext cx="6949440" cy="640080"/>
          </a:xfrm>
          <a:prstGeom prst="rect">
            <a:avLst/>
          </a:prstGeom>
          <a:noFill/>
          <a:ln/>
        </p:spPr>
        <p:txBody>
          <a:bodyPr wrap="square" lIns="0" tIns="0" rIns="0" bIns="0" rtlCol="0" anchor="t"/>
          <a:lstStyle/>
          <a:p>
            <a:pPr indent="0" marL="0">
              <a:buNone/>
            </a:pPr>
            <a:r>
              <a:rPr lang="en-US" sz="1700" dirty="0">
                <a:solidFill>
                  <a:srgbClr val="262A20"/>
                </a:solidFill>
                <a:latin typeface="Open Sans" pitchFamily="34" charset="0"/>
                <a:ea typeface="Open Sans" pitchFamily="34" charset="-122"/>
                <a:cs typeface="Open Sans" pitchFamily="34" charset="-120"/>
              </a:rPr>
              <a:t>Being able to trace an action to the person who did it, later, from records.</a:t>
            </a:r>
            <a:endParaRPr lang="en-US" sz="1700" dirty="0"/>
          </a:p>
        </p:txBody>
      </p:sp>
      <p:sp>
        <p:nvSpPr>
          <p:cNvPr id="12" name="Shape 8"/>
          <p:cNvSpPr/>
          <p:nvPr/>
        </p:nvSpPr>
        <p:spPr>
          <a:xfrm>
            <a:off x="457200" y="2606040"/>
            <a:ext cx="3977640" cy="1920240"/>
          </a:xfrm>
          <a:prstGeom prst="roundRect">
            <a:avLst>
              <a:gd name="adj" fmla="val 3810"/>
            </a:avLst>
          </a:prstGeom>
          <a:solidFill>
            <a:srgbClr val="E1E6E6"/>
          </a:solidFill>
          <a:ln w="12700">
            <a:solidFill>
              <a:srgbClr val="E1E6E6"/>
            </a:solidFill>
            <a:prstDash val="solid"/>
          </a:ln>
        </p:spPr>
      </p:sp>
      <p:sp>
        <p:nvSpPr>
          <p:cNvPr id="13" name="Text 9"/>
          <p:cNvSpPr txBox="1"/>
          <p:nvPr/>
        </p:nvSpPr>
        <p:spPr>
          <a:xfrm>
            <a:off x="640080" y="2743200"/>
            <a:ext cx="3657600" cy="320040"/>
          </a:xfrm>
          <a:prstGeom prst="rect">
            <a:avLst/>
          </a:prstGeom>
          <a:noFill/>
          <a:ln/>
        </p:spPr>
        <p:txBody>
          <a:bodyPr wrap="square" lIns="0" tIns="0" rIns="0" bIns="0" rtlCol="0" anchor="ctr"/>
          <a:lstStyle/>
          <a:p>
            <a:pPr indent="0" marL="0">
              <a:buNone/>
            </a:pPr>
            <a:r>
              <a:rPr lang="en-US" sz="1400" b="1" dirty="0">
                <a:solidFill>
                  <a:srgbClr val="566A6C"/>
                </a:solidFill>
                <a:latin typeface="Open Sans" pitchFamily="34" charset="0"/>
                <a:ea typeface="Open Sans" pitchFamily="34" charset="-122"/>
                <a:cs typeface="Open Sans" pitchFamily="34" charset="-120"/>
              </a:rPr>
              <a:t>At TeaLeaf</a:t>
            </a:r>
            <a:endParaRPr lang="en-US" sz="1400" dirty="0"/>
          </a:p>
        </p:txBody>
      </p:sp>
      <p:sp>
        <p:nvSpPr>
          <p:cNvPr id="14" name="Text 10"/>
          <p:cNvSpPr txBox="1"/>
          <p:nvPr/>
        </p:nvSpPr>
        <p:spPr>
          <a:xfrm>
            <a:off x="640080" y="3108960"/>
            <a:ext cx="3611880" cy="1325880"/>
          </a:xfrm>
          <a:prstGeom prst="rect">
            <a:avLst/>
          </a:prstGeom>
          <a:noFill/>
          <a:ln/>
        </p:spPr>
        <p:txBody>
          <a:bodyPr wrap="square" lIns="0" tIns="0" rIns="0" bIns="0" rtlCol="0" anchor="t"/>
          <a:lstStyle/>
          <a:p>
            <a:pPr indent="0" marL="0">
              <a:buNone/>
            </a:pPr>
            <a:r>
              <a:rPr lang="en-US" sz="1400" dirty="0">
                <a:solidFill>
                  <a:srgbClr val="262A20"/>
                </a:solidFill>
                <a:latin typeface="Open Sans" pitchFamily="34" charset="0"/>
                <a:ea typeface="Open Sans" pitchFamily="34" charset="-122"/>
                <a:cs typeface="Open Sans" pitchFamily="34" charset="-120"/>
              </a:rPr>
              <a:t>Every staff member has their own login. The log shows who changed each price, so a manager can check next week.</a:t>
            </a:r>
            <a:endParaRPr lang="en-US" sz="1400" dirty="0"/>
          </a:p>
        </p:txBody>
      </p:sp>
      <p:sp>
        <p:nvSpPr>
          <p:cNvPr id="15" name="Shape 11"/>
          <p:cNvSpPr/>
          <p:nvPr/>
        </p:nvSpPr>
        <p:spPr>
          <a:xfrm>
            <a:off x="4709160" y="2606040"/>
            <a:ext cx="3977640" cy="1920240"/>
          </a:xfrm>
          <a:prstGeom prst="roundRect">
            <a:avLst>
              <a:gd name="adj" fmla="val 3810"/>
            </a:avLst>
          </a:prstGeom>
          <a:solidFill>
            <a:srgbClr val="EDDDCD"/>
          </a:solidFill>
          <a:ln w="12700">
            <a:solidFill>
              <a:srgbClr val="EDDDCD"/>
            </a:solidFill>
            <a:prstDash val="solid"/>
          </a:ln>
        </p:spPr>
      </p:sp>
      <p:sp>
        <p:nvSpPr>
          <p:cNvPr id="16" name="Text 12"/>
          <p:cNvSpPr txBox="1"/>
          <p:nvPr/>
        </p:nvSpPr>
        <p:spPr>
          <a:xfrm>
            <a:off x="4892040" y="2743200"/>
            <a:ext cx="3657600" cy="320040"/>
          </a:xfrm>
          <a:prstGeom prst="rect">
            <a:avLst/>
          </a:prstGeom>
          <a:noFill/>
          <a:ln/>
        </p:spPr>
        <p:txBody>
          <a:bodyPr wrap="square" lIns="0" tIns="0" rIns="0" bIns="0" rtlCol="0" anchor="ctr"/>
          <a:lstStyle/>
          <a:p>
            <a:pPr indent="0" marL="0">
              <a:buNone/>
            </a:pPr>
            <a:r>
              <a:rPr lang="en-US" sz="1400" b="1" dirty="0">
                <a:solidFill>
                  <a:srgbClr val="7D5F3F"/>
                </a:solidFill>
                <a:latin typeface="Open Sans" pitchFamily="34" charset="0"/>
                <a:ea typeface="Open Sans" pitchFamily="34" charset="-122"/>
                <a:cs typeface="Open Sans" pitchFamily="34" charset="-120"/>
              </a:rPr>
              <a:t>When it goes wrong</a:t>
            </a:r>
            <a:endParaRPr lang="en-US" sz="1400" dirty="0"/>
          </a:p>
        </p:txBody>
      </p:sp>
      <p:sp>
        <p:nvSpPr>
          <p:cNvPr id="17" name="Text 13"/>
          <p:cNvSpPr txBox="1"/>
          <p:nvPr/>
        </p:nvSpPr>
        <p:spPr>
          <a:xfrm>
            <a:off x="4892040" y="3108960"/>
            <a:ext cx="3611880" cy="1325880"/>
          </a:xfrm>
          <a:prstGeom prst="rect">
            <a:avLst/>
          </a:prstGeom>
          <a:noFill/>
          <a:ln/>
        </p:spPr>
        <p:txBody>
          <a:bodyPr wrap="square" lIns="0" tIns="0" rIns="0" bIns="0" rtlCol="0" anchor="t"/>
          <a:lstStyle/>
          <a:p>
            <a:pPr indent="0" marL="0">
              <a:buNone/>
            </a:pPr>
            <a:r>
              <a:rPr lang="en-US" sz="1400" dirty="0">
                <a:solidFill>
                  <a:srgbClr val="262A20"/>
                </a:solidFill>
                <a:latin typeface="Open Sans" pitchFamily="34" charset="0"/>
                <a:ea typeface="Open Sans" pitchFamily="34" charset="-122"/>
                <a:cs typeface="Open Sans" pitchFamily="34" charset="-120"/>
              </a:rPr>
              <a:t>Everyone uses accounts1, so nobody knows who deleted the order. The log was switched off.</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66928"/>
          </a:xfrm>
          <a:prstGeom prst="rect">
            <a:avLst/>
          </a:prstGeom>
          <a:noFill/>
          <a:ln/>
        </p:spPr>
        <p:txBody>
          <a:bodyPr wrap="square" lIns="0" tIns="0" rIns="0" bIns="0" rtlCol="0" anchor="ctr"/>
          <a:lstStyle/>
          <a:p>
            <a:pPr indent="0" marL="0">
              <a:buNone/>
            </a:pPr>
            <a:r>
              <a:rPr lang="en-US" sz="2400" b="1" dirty="0">
                <a:solidFill>
                  <a:srgbClr val="262A20"/>
                </a:solidFill>
                <a:latin typeface="Open Sans" pitchFamily="34" charset="0"/>
                <a:ea typeface="Open Sans" pitchFamily="34" charset="-122"/>
                <a:cs typeface="Open Sans" pitchFamily="34" charset="-120"/>
              </a:rPr>
              <a:t>One story, before and after</a:t>
            </a:r>
            <a:endParaRPr lang="en-US" sz="2400" dirty="0"/>
          </a:p>
        </p:txBody>
      </p:sp>
      <p:sp>
        <p:nvSpPr>
          <p:cNvPr id="3" name="Shape 1"/>
          <p:cNvSpPr/>
          <p:nvPr/>
        </p:nvSpPr>
        <p:spPr>
          <a:xfrm>
            <a:off x="457200" y="896112"/>
            <a:ext cx="640080" cy="54864"/>
          </a:xfrm>
          <a:prstGeom prst="rect">
            <a:avLst/>
          </a:prstGeom>
          <a:solidFill>
            <a:srgbClr val="667C7E"/>
          </a:solidFill>
          <a:ln w="12700">
            <a:solidFill>
              <a:srgbClr val="667C7E"/>
            </a:solidFill>
            <a:prstDash val="solid"/>
          </a:ln>
        </p:spPr>
      </p:sp>
      <p:sp>
        <p:nvSpPr>
          <p:cNvPr id="4" name="Shape 2"/>
          <p:cNvSpPr/>
          <p:nvPr/>
        </p:nvSpPr>
        <p:spPr>
          <a:xfrm>
            <a:off x="1143000" y="896112"/>
            <a:ext cx="320040" cy="54864"/>
          </a:xfrm>
          <a:prstGeom prst="rect">
            <a:avLst/>
          </a:prstGeom>
          <a:solidFill>
            <a:srgbClr val="C7A887"/>
          </a:solidFill>
          <a:ln w="12700">
            <a:solidFill>
              <a:srgbClr val="C7A887"/>
            </a:solidFill>
            <a:prstDash val="solid"/>
          </a:ln>
        </p:spPr>
      </p:sp>
      <p:sp>
        <p:nvSpPr>
          <p:cNvPr id="5" name="Text 3"/>
          <p:cNvSpPr txBox="1"/>
          <p:nvPr/>
        </p:nvSpPr>
        <p:spPr>
          <a:xfrm>
            <a:off x="457200" y="4828032"/>
            <a:ext cx="6858000" cy="182880"/>
          </a:xfrm>
          <a:prstGeom prst="rect">
            <a:avLst/>
          </a:prstGeom>
          <a:noFill/>
          <a:ln/>
        </p:spPr>
        <p:txBody>
          <a:bodyPr wrap="square" lIns="0" tIns="0" rIns="0" bIns="0" rtlCol="0" anchor="ctr"/>
          <a:lstStyle/>
          <a:p>
            <a:pPr indent="0" marL="0">
              <a:buNone/>
            </a:pPr>
            <a:r>
              <a:rPr lang="en-US" sz="800" dirty="0">
                <a:solidFill>
                  <a:srgbClr val="5A5F55"/>
                </a:solidFill>
                <a:latin typeface="Open Sans" pitchFamily="34" charset="0"/>
                <a:ea typeface="Open Sans" pitchFamily="34" charset="-122"/>
                <a:cs typeface="Open Sans" pitchFamily="34" charset="-120"/>
              </a:rPr>
              <a:t>DBIS-11 Cybersecurity and Cloud Computing  |  Day 2  |  Session 11.4</a:t>
            </a:r>
            <a:endParaRPr lang="en-US" sz="800" dirty="0"/>
          </a:p>
        </p:txBody>
      </p:sp>
      <p:sp>
        <p:nvSpPr>
          <p:cNvPr id="6" name="Text 4"/>
          <p:cNvSpPr txBox="1"/>
          <p:nvPr/>
        </p:nvSpPr>
        <p:spPr>
          <a:xfrm>
            <a:off x="8138160" y="4828032"/>
            <a:ext cx="548640" cy="182880"/>
          </a:xfrm>
          <a:prstGeom prst="rect">
            <a:avLst/>
          </a:prstGeom>
          <a:noFill/>
          <a:ln/>
        </p:spPr>
        <p:txBody>
          <a:bodyPr wrap="square" lIns="0" tIns="0" rIns="0" bIns="0" rtlCol="0" anchor="ctr"/>
          <a:lstStyle/>
          <a:p>
            <a:pPr algn="r" indent="0" marL="0">
              <a:buNone/>
            </a:pPr>
            <a:r>
              <a:rPr lang="en-US" sz="800" dirty="0">
                <a:solidFill>
                  <a:srgbClr val="5A5F55"/>
                </a:solidFill>
                <a:latin typeface="Open Sans" pitchFamily="34" charset="0"/>
                <a:ea typeface="Open Sans" pitchFamily="34" charset="-122"/>
                <a:cs typeface="Open Sans" pitchFamily="34" charset="-120"/>
              </a:rPr>
              <a:t>11</a:t>
            </a:r>
            <a:endParaRPr lang="en-US" sz="800" dirty="0"/>
          </a:p>
        </p:txBody>
      </p:sp>
      <p:sp>
        <p:nvSpPr>
          <p:cNvPr id="8" name="Shape 5"/>
          <p:cNvSpPr/>
          <p:nvPr/>
        </p:nvSpPr>
        <p:spPr>
          <a:xfrm>
            <a:off x="731520" y="1600200"/>
            <a:ext cx="7680960" cy="0"/>
          </a:xfrm>
          <a:prstGeom prst="line">
            <a:avLst/>
          </a:prstGeom>
          <a:noFill/>
          <a:ln w="25400">
            <a:solidFill>
              <a:srgbClr val="5A5F55"/>
            </a:solidFill>
            <a:prstDash val="solid"/>
            <a:tailEnd type="triangle"/>
          </a:ln>
        </p:spPr>
      </p:sp>
      <p:sp>
        <p:nvSpPr>
          <p:cNvPr id="9" name="Shape 6"/>
          <p:cNvSpPr/>
          <p:nvPr/>
        </p:nvSpPr>
        <p:spPr>
          <a:xfrm>
            <a:off x="1600200" y="1463040"/>
            <a:ext cx="274320" cy="274320"/>
          </a:xfrm>
          <a:prstGeom prst="ellipse">
            <a:avLst/>
          </a:prstGeom>
          <a:solidFill>
            <a:srgbClr val="7D5F3F"/>
          </a:solidFill>
          <a:ln w="12700">
            <a:solidFill>
              <a:srgbClr val="7D5F3F"/>
            </a:solidFill>
            <a:prstDash val="solid"/>
          </a:ln>
        </p:spPr>
      </p:sp>
      <p:sp>
        <p:nvSpPr>
          <p:cNvPr id="10" name="Shape 7"/>
          <p:cNvSpPr/>
          <p:nvPr/>
        </p:nvSpPr>
        <p:spPr>
          <a:xfrm>
            <a:off x="457200" y="1920240"/>
            <a:ext cx="2560320" cy="2377440"/>
          </a:xfrm>
          <a:prstGeom prst="roundRect">
            <a:avLst>
              <a:gd name="adj" fmla="val 3077"/>
            </a:avLst>
          </a:prstGeom>
          <a:solidFill>
            <a:srgbClr val="EDDDCD"/>
          </a:solidFill>
          <a:ln w="12700">
            <a:solidFill>
              <a:srgbClr val="EDDDCD"/>
            </a:solidFill>
            <a:prstDash val="solid"/>
          </a:ln>
        </p:spPr>
      </p:sp>
      <p:sp>
        <p:nvSpPr>
          <p:cNvPr id="11" name="Text 8"/>
          <p:cNvSpPr txBox="1"/>
          <p:nvPr/>
        </p:nvSpPr>
        <p:spPr>
          <a:xfrm>
            <a:off x="594360" y="2011680"/>
            <a:ext cx="2286000" cy="365760"/>
          </a:xfrm>
          <a:prstGeom prst="rect">
            <a:avLst/>
          </a:prstGeom>
          <a:noFill/>
          <a:ln/>
        </p:spPr>
        <p:txBody>
          <a:bodyPr wrap="square" lIns="0" tIns="0" rIns="0" bIns="0" rtlCol="0" anchor="ctr"/>
          <a:lstStyle/>
          <a:p>
            <a:pPr indent="0" marL="0">
              <a:buNone/>
            </a:pPr>
            <a:r>
              <a:rPr lang="en-US" sz="1800" b="1" dirty="0">
                <a:solidFill>
                  <a:srgbClr val="262A20"/>
                </a:solidFill>
                <a:latin typeface="Open Sans" pitchFamily="34" charset="0"/>
                <a:ea typeface="Open Sans" pitchFamily="34" charset="-122"/>
                <a:cs typeface="Open Sans" pitchFamily="34" charset="-120"/>
              </a:rPr>
              <a:t>9:05 am</a:t>
            </a:r>
            <a:endParaRPr lang="en-US" sz="1800" dirty="0"/>
          </a:p>
        </p:txBody>
      </p:sp>
      <p:sp>
        <p:nvSpPr>
          <p:cNvPr id="12" name="Text 9"/>
          <p:cNvSpPr txBox="1"/>
          <p:nvPr/>
        </p:nvSpPr>
        <p:spPr>
          <a:xfrm>
            <a:off x="594360" y="2423160"/>
            <a:ext cx="2286000" cy="914400"/>
          </a:xfrm>
          <a:prstGeom prst="rect">
            <a:avLst/>
          </a:prstGeom>
          <a:noFill/>
          <a:ln/>
        </p:spPr>
        <p:txBody>
          <a:bodyPr wrap="square" lIns="0" tIns="0" rIns="0" bIns="0" rtlCol="0" anchor="t"/>
          <a:lstStyle/>
          <a:p>
            <a:pPr indent="0" marL="0">
              <a:buNone/>
            </a:pPr>
            <a:r>
              <a:rPr lang="en-US" sz="1400" dirty="0">
                <a:solidFill>
                  <a:srgbClr val="262A20"/>
                </a:solidFill>
                <a:latin typeface="Open Sans" pitchFamily="34" charset="0"/>
                <a:ea typeface="Open Sans" pitchFamily="34" charset="-122"/>
                <a:cs typeface="Open Sans" pitchFamily="34" charset="-120"/>
              </a:rPr>
              <a:t>Kasun logs in with his password and a phone code.</a:t>
            </a:r>
            <a:endParaRPr lang="en-US" sz="1400" dirty="0"/>
          </a:p>
        </p:txBody>
      </p:sp>
      <p:sp>
        <p:nvSpPr>
          <p:cNvPr id="13" name="Text 10"/>
          <p:cNvSpPr txBox="1"/>
          <p:nvPr/>
        </p:nvSpPr>
        <p:spPr>
          <a:xfrm>
            <a:off x="594360" y="3429000"/>
            <a:ext cx="2286000" cy="731520"/>
          </a:xfrm>
          <a:prstGeom prst="rect">
            <a:avLst/>
          </a:prstGeom>
          <a:noFill/>
          <a:ln/>
        </p:spPr>
        <p:txBody>
          <a:bodyPr wrap="square" lIns="0" tIns="0" rIns="0" bIns="0" rtlCol="0" anchor="t"/>
          <a:lstStyle/>
          <a:p>
            <a:pPr indent="0" marL="0">
              <a:buNone/>
            </a:pPr>
            <a:r>
              <a:rPr lang="en-US" sz="1400" b="1" dirty="0">
                <a:solidFill>
                  <a:srgbClr val="7D5F3F"/>
                </a:solidFill>
                <a:latin typeface="Open Sans" pitchFamily="34" charset="0"/>
                <a:ea typeface="Open Sans" pitchFamily="34" charset="-122"/>
                <a:cs typeface="Open Sans" pitchFamily="34" charset="-120"/>
              </a:rPr>
              <a:t>Door: is it really Kasun?</a:t>
            </a:r>
            <a:endParaRPr lang="en-US" sz="1400" dirty="0"/>
          </a:p>
        </p:txBody>
      </p:sp>
      <p:sp>
        <p:nvSpPr>
          <p:cNvPr id="14" name="Shape 11"/>
          <p:cNvSpPr/>
          <p:nvPr/>
        </p:nvSpPr>
        <p:spPr>
          <a:xfrm>
            <a:off x="4434840" y="1463040"/>
            <a:ext cx="274320" cy="274320"/>
          </a:xfrm>
          <a:prstGeom prst="ellipse">
            <a:avLst/>
          </a:prstGeom>
          <a:solidFill>
            <a:srgbClr val="5A5F55"/>
          </a:solidFill>
          <a:ln w="12700">
            <a:solidFill>
              <a:srgbClr val="5A5F55"/>
            </a:solidFill>
            <a:prstDash val="solid"/>
          </a:ln>
        </p:spPr>
      </p:sp>
      <p:sp>
        <p:nvSpPr>
          <p:cNvPr id="15" name="Shape 12"/>
          <p:cNvSpPr/>
          <p:nvPr/>
        </p:nvSpPr>
        <p:spPr>
          <a:xfrm>
            <a:off x="3291840" y="1920240"/>
            <a:ext cx="2560320" cy="2377440"/>
          </a:xfrm>
          <a:prstGeom prst="roundRect">
            <a:avLst>
              <a:gd name="adj" fmla="val 3077"/>
            </a:avLst>
          </a:prstGeom>
          <a:solidFill>
            <a:srgbClr val="F2EFEC"/>
          </a:solidFill>
          <a:ln w="12700">
            <a:solidFill>
              <a:srgbClr val="F2EFEC"/>
            </a:solidFill>
            <a:prstDash val="solid"/>
          </a:ln>
        </p:spPr>
      </p:sp>
      <p:sp>
        <p:nvSpPr>
          <p:cNvPr id="16" name="Text 13"/>
          <p:cNvSpPr txBox="1"/>
          <p:nvPr/>
        </p:nvSpPr>
        <p:spPr>
          <a:xfrm>
            <a:off x="3429000" y="2011680"/>
            <a:ext cx="2286000" cy="365760"/>
          </a:xfrm>
          <a:prstGeom prst="rect">
            <a:avLst/>
          </a:prstGeom>
          <a:noFill/>
          <a:ln/>
        </p:spPr>
        <p:txBody>
          <a:bodyPr wrap="square" lIns="0" tIns="0" rIns="0" bIns="0" rtlCol="0" anchor="ctr"/>
          <a:lstStyle/>
          <a:p>
            <a:pPr indent="0" marL="0">
              <a:buNone/>
            </a:pPr>
            <a:r>
              <a:rPr lang="en-US" sz="1800" b="1" dirty="0">
                <a:solidFill>
                  <a:srgbClr val="262A20"/>
                </a:solidFill>
                <a:latin typeface="Open Sans" pitchFamily="34" charset="0"/>
                <a:ea typeface="Open Sans" pitchFamily="34" charset="-122"/>
                <a:cs typeface="Open Sans" pitchFamily="34" charset="-120"/>
              </a:rPr>
              <a:t>9:20 am</a:t>
            </a:r>
            <a:endParaRPr lang="en-US" sz="1800" dirty="0"/>
          </a:p>
        </p:txBody>
      </p:sp>
      <p:sp>
        <p:nvSpPr>
          <p:cNvPr id="17" name="Text 14"/>
          <p:cNvSpPr txBox="1"/>
          <p:nvPr/>
        </p:nvSpPr>
        <p:spPr>
          <a:xfrm>
            <a:off x="3429000" y="2423160"/>
            <a:ext cx="2286000" cy="914400"/>
          </a:xfrm>
          <a:prstGeom prst="rect">
            <a:avLst/>
          </a:prstGeom>
          <a:noFill/>
          <a:ln/>
        </p:spPr>
        <p:txBody>
          <a:bodyPr wrap="square" lIns="0" tIns="0" rIns="0" bIns="0" rtlCol="0" anchor="t"/>
          <a:lstStyle/>
          <a:p>
            <a:pPr indent="0" marL="0">
              <a:buNone/>
            </a:pPr>
            <a:r>
              <a:rPr lang="en-US" sz="1400" dirty="0">
                <a:solidFill>
                  <a:srgbClr val="262A20"/>
                </a:solidFill>
                <a:latin typeface="Open Sans" pitchFamily="34" charset="0"/>
                <a:ea typeface="Open Sans" pitchFamily="34" charset="-122"/>
                <a:cs typeface="Open Sans" pitchFamily="34" charset="-120"/>
              </a:rPr>
              <a:t>Kasun changes the price of order 4470.</a:t>
            </a:r>
            <a:endParaRPr lang="en-US" sz="1400" dirty="0"/>
          </a:p>
        </p:txBody>
      </p:sp>
      <p:sp>
        <p:nvSpPr>
          <p:cNvPr id="18" name="Text 15"/>
          <p:cNvSpPr txBox="1"/>
          <p:nvPr/>
        </p:nvSpPr>
        <p:spPr>
          <a:xfrm>
            <a:off x="3429000" y="3429000"/>
            <a:ext cx="2286000" cy="731520"/>
          </a:xfrm>
          <a:prstGeom prst="rect">
            <a:avLst/>
          </a:prstGeom>
          <a:noFill/>
          <a:ln/>
        </p:spPr>
        <p:txBody>
          <a:bodyPr wrap="square" lIns="0" tIns="0" rIns="0" bIns="0" rtlCol="0" anchor="t"/>
          <a:lstStyle/>
          <a:p>
            <a:pPr indent="0" marL="0">
              <a:buNone/>
            </a:pPr>
            <a:r>
              <a:rPr lang="en-US" sz="1400" b="1" dirty="0">
                <a:solidFill>
                  <a:srgbClr val="5A5F55"/>
                </a:solidFill>
                <a:latin typeface="Open Sans" pitchFamily="34" charset="0"/>
                <a:ea typeface="Open Sans" pitchFamily="34" charset="-122"/>
                <a:cs typeface="Open Sans" pitchFamily="34" charset="-120"/>
              </a:rPr>
              <a:t>The system writes it in the log.</a:t>
            </a:r>
            <a:endParaRPr lang="en-US" sz="1400" dirty="0"/>
          </a:p>
        </p:txBody>
      </p:sp>
      <p:sp>
        <p:nvSpPr>
          <p:cNvPr id="19" name="Shape 16"/>
          <p:cNvSpPr/>
          <p:nvPr/>
        </p:nvSpPr>
        <p:spPr>
          <a:xfrm>
            <a:off x="7269480" y="1463040"/>
            <a:ext cx="274320" cy="274320"/>
          </a:xfrm>
          <a:prstGeom prst="ellipse">
            <a:avLst/>
          </a:prstGeom>
          <a:solidFill>
            <a:srgbClr val="262A20"/>
          </a:solidFill>
          <a:ln w="12700">
            <a:solidFill>
              <a:srgbClr val="262A20"/>
            </a:solidFill>
            <a:prstDash val="solid"/>
          </a:ln>
        </p:spPr>
      </p:sp>
      <p:sp>
        <p:nvSpPr>
          <p:cNvPr id="20" name="Shape 17"/>
          <p:cNvSpPr/>
          <p:nvPr/>
        </p:nvSpPr>
        <p:spPr>
          <a:xfrm>
            <a:off x="6126480" y="1920240"/>
            <a:ext cx="2560320" cy="2377440"/>
          </a:xfrm>
          <a:prstGeom prst="roundRect">
            <a:avLst>
              <a:gd name="adj" fmla="val 3077"/>
            </a:avLst>
          </a:prstGeom>
          <a:solidFill>
            <a:srgbClr val="D9D5D2"/>
          </a:solidFill>
          <a:ln w="12700">
            <a:solidFill>
              <a:srgbClr val="D9D5D2"/>
            </a:solidFill>
            <a:prstDash val="solid"/>
          </a:ln>
        </p:spPr>
      </p:sp>
      <p:sp>
        <p:nvSpPr>
          <p:cNvPr id="21" name="Text 18"/>
          <p:cNvSpPr txBox="1"/>
          <p:nvPr/>
        </p:nvSpPr>
        <p:spPr>
          <a:xfrm>
            <a:off x="6263640" y="2011680"/>
            <a:ext cx="2286000" cy="365760"/>
          </a:xfrm>
          <a:prstGeom prst="rect">
            <a:avLst/>
          </a:prstGeom>
          <a:noFill/>
          <a:ln/>
        </p:spPr>
        <p:txBody>
          <a:bodyPr wrap="square" lIns="0" tIns="0" rIns="0" bIns="0" rtlCol="0" anchor="ctr"/>
          <a:lstStyle/>
          <a:p>
            <a:pPr indent="0" marL="0">
              <a:buNone/>
            </a:pPr>
            <a:r>
              <a:rPr lang="en-US" sz="1800" b="1" dirty="0">
                <a:solidFill>
                  <a:srgbClr val="262A20"/>
                </a:solidFill>
                <a:latin typeface="Open Sans" pitchFamily="34" charset="0"/>
                <a:ea typeface="Open Sans" pitchFamily="34" charset="-122"/>
                <a:cs typeface="Open Sans" pitchFamily="34" charset="-120"/>
              </a:rPr>
              <a:t>Friday</a:t>
            </a:r>
            <a:endParaRPr lang="en-US" sz="1800" dirty="0"/>
          </a:p>
        </p:txBody>
      </p:sp>
      <p:sp>
        <p:nvSpPr>
          <p:cNvPr id="22" name="Text 19"/>
          <p:cNvSpPr txBox="1"/>
          <p:nvPr/>
        </p:nvSpPr>
        <p:spPr>
          <a:xfrm>
            <a:off x="6263640" y="2423160"/>
            <a:ext cx="2286000" cy="914400"/>
          </a:xfrm>
          <a:prstGeom prst="rect">
            <a:avLst/>
          </a:prstGeom>
          <a:noFill/>
          <a:ln/>
        </p:spPr>
        <p:txBody>
          <a:bodyPr wrap="square" lIns="0" tIns="0" rIns="0" bIns="0" rtlCol="0" anchor="t"/>
          <a:lstStyle/>
          <a:p>
            <a:pPr indent="0" marL="0">
              <a:buNone/>
            </a:pPr>
            <a:r>
              <a:rPr lang="en-US" sz="1400" dirty="0">
                <a:solidFill>
                  <a:srgbClr val="262A20"/>
                </a:solidFill>
                <a:latin typeface="Open Sans" pitchFamily="34" charset="0"/>
                <a:ea typeface="Open Sans" pitchFamily="34" charset="-122"/>
                <a:cs typeface="Open Sans" pitchFamily="34" charset="-120"/>
              </a:rPr>
              <a:t>The MD asks: who changed that price?</a:t>
            </a:r>
            <a:endParaRPr lang="en-US" sz="1400" dirty="0"/>
          </a:p>
        </p:txBody>
      </p:sp>
      <p:sp>
        <p:nvSpPr>
          <p:cNvPr id="23" name="Text 20"/>
          <p:cNvSpPr txBox="1"/>
          <p:nvPr/>
        </p:nvSpPr>
        <p:spPr>
          <a:xfrm>
            <a:off x="6263640" y="3429000"/>
            <a:ext cx="2286000" cy="731520"/>
          </a:xfrm>
          <a:prstGeom prst="rect">
            <a:avLst/>
          </a:prstGeom>
          <a:noFill/>
          <a:ln/>
        </p:spPr>
        <p:txBody>
          <a:bodyPr wrap="square" lIns="0" tIns="0" rIns="0" bIns="0" rtlCol="0" anchor="t"/>
          <a:lstStyle/>
          <a:p>
            <a:pPr indent="0" marL="0">
              <a:buNone/>
            </a:pPr>
            <a:r>
              <a:rPr lang="en-US" sz="1400" b="1" dirty="0">
                <a:solidFill>
                  <a:srgbClr val="262A20"/>
                </a:solidFill>
                <a:latin typeface="Open Sans" pitchFamily="34" charset="0"/>
                <a:ea typeface="Open Sans" pitchFamily="34" charset="-122"/>
                <a:cs typeface="Open Sans" pitchFamily="34" charset="-120"/>
              </a:rPr>
              <a:t>Diary: the log says kasun.p.</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66928"/>
          </a:xfrm>
          <a:prstGeom prst="rect">
            <a:avLst/>
          </a:prstGeom>
          <a:noFill/>
          <a:ln/>
        </p:spPr>
        <p:txBody>
          <a:bodyPr wrap="square" lIns="0" tIns="0" rIns="0" bIns="0" rtlCol="0" anchor="ctr"/>
          <a:lstStyle/>
          <a:p>
            <a:pPr indent="0" marL="0">
              <a:buNone/>
            </a:pPr>
            <a:r>
              <a:rPr lang="en-US" sz="2400" b="1" dirty="0">
                <a:solidFill>
                  <a:srgbClr val="262A20"/>
                </a:solidFill>
                <a:latin typeface="Open Sans" pitchFamily="34" charset="0"/>
                <a:ea typeface="Open Sans" pitchFamily="34" charset="-122"/>
                <a:cs typeface="Open Sans" pitchFamily="34" charset="-120"/>
              </a:rPr>
              <a:t>Door or diary? Look-alike pairs</a:t>
            </a:r>
            <a:endParaRPr lang="en-US" sz="2400" dirty="0"/>
          </a:p>
        </p:txBody>
      </p:sp>
      <p:sp>
        <p:nvSpPr>
          <p:cNvPr id="3" name="Shape 1"/>
          <p:cNvSpPr/>
          <p:nvPr/>
        </p:nvSpPr>
        <p:spPr>
          <a:xfrm>
            <a:off x="457200" y="896112"/>
            <a:ext cx="640080" cy="54864"/>
          </a:xfrm>
          <a:prstGeom prst="rect">
            <a:avLst/>
          </a:prstGeom>
          <a:solidFill>
            <a:srgbClr val="667C7E"/>
          </a:solidFill>
          <a:ln w="12700">
            <a:solidFill>
              <a:srgbClr val="667C7E"/>
            </a:solidFill>
            <a:prstDash val="solid"/>
          </a:ln>
        </p:spPr>
      </p:sp>
      <p:sp>
        <p:nvSpPr>
          <p:cNvPr id="4" name="Shape 2"/>
          <p:cNvSpPr/>
          <p:nvPr/>
        </p:nvSpPr>
        <p:spPr>
          <a:xfrm>
            <a:off x="1143000" y="896112"/>
            <a:ext cx="320040" cy="54864"/>
          </a:xfrm>
          <a:prstGeom prst="rect">
            <a:avLst/>
          </a:prstGeom>
          <a:solidFill>
            <a:srgbClr val="C7A887"/>
          </a:solidFill>
          <a:ln w="12700">
            <a:solidFill>
              <a:srgbClr val="C7A887"/>
            </a:solidFill>
            <a:prstDash val="solid"/>
          </a:ln>
        </p:spPr>
      </p:sp>
      <p:sp>
        <p:nvSpPr>
          <p:cNvPr id="5" name="Text 3"/>
          <p:cNvSpPr txBox="1"/>
          <p:nvPr/>
        </p:nvSpPr>
        <p:spPr>
          <a:xfrm>
            <a:off x="457200" y="4828032"/>
            <a:ext cx="6858000" cy="182880"/>
          </a:xfrm>
          <a:prstGeom prst="rect">
            <a:avLst/>
          </a:prstGeom>
          <a:noFill/>
          <a:ln/>
        </p:spPr>
        <p:txBody>
          <a:bodyPr wrap="square" lIns="0" tIns="0" rIns="0" bIns="0" rtlCol="0" anchor="ctr"/>
          <a:lstStyle/>
          <a:p>
            <a:pPr indent="0" marL="0">
              <a:buNone/>
            </a:pPr>
            <a:r>
              <a:rPr lang="en-US" sz="800" dirty="0">
                <a:solidFill>
                  <a:srgbClr val="5A5F55"/>
                </a:solidFill>
                <a:latin typeface="Open Sans" pitchFamily="34" charset="0"/>
                <a:ea typeface="Open Sans" pitchFamily="34" charset="-122"/>
                <a:cs typeface="Open Sans" pitchFamily="34" charset="-120"/>
              </a:rPr>
              <a:t>DBIS-11 Cybersecurity and Cloud Computing  |  Day 2  |  Session 11.4</a:t>
            </a:r>
            <a:endParaRPr lang="en-US" sz="800" dirty="0"/>
          </a:p>
        </p:txBody>
      </p:sp>
      <p:sp>
        <p:nvSpPr>
          <p:cNvPr id="6" name="Text 4"/>
          <p:cNvSpPr txBox="1"/>
          <p:nvPr/>
        </p:nvSpPr>
        <p:spPr>
          <a:xfrm>
            <a:off x="8138160" y="4828032"/>
            <a:ext cx="548640" cy="182880"/>
          </a:xfrm>
          <a:prstGeom prst="rect">
            <a:avLst/>
          </a:prstGeom>
          <a:noFill/>
          <a:ln/>
        </p:spPr>
        <p:txBody>
          <a:bodyPr wrap="square" lIns="0" tIns="0" rIns="0" bIns="0" rtlCol="0" anchor="ctr"/>
          <a:lstStyle/>
          <a:p>
            <a:pPr algn="r" indent="0" marL="0">
              <a:buNone/>
            </a:pPr>
            <a:r>
              <a:rPr lang="en-US" sz="800" dirty="0">
                <a:solidFill>
                  <a:srgbClr val="5A5F55"/>
                </a:solidFill>
                <a:latin typeface="Open Sans" pitchFamily="34" charset="0"/>
                <a:ea typeface="Open Sans" pitchFamily="34" charset="-122"/>
                <a:cs typeface="Open Sans" pitchFamily="34" charset="-120"/>
              </a:rPr>
              <a:t>12</a:t>
            </a:r>
            <a:endParaRPr lang="en-US" sz="8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5394960"/>
                <a:gridCol w="2834640"/>
              </a:tblGrid>
              <a:tr h="475488">
                <a:tc>
                  <a:txBody>
                    <a:bodyPr/>
                    <a:lstStyle/>
                    <a:p>
                      <a:pPr indent="0" marL="0">
                        <a:buNone/>
                      </a:pPr>
                      <a:r>
                        <a:rPr lang="en-US" sz="1300" b="1" dirty="0">
                          <a:solidFill>
                            <a:srgbClr val="FFFFFF"/>
                          </a:solidFill>
                          <a:latin typeface="Open Sans" pitchFamily="34" charset="0"/>
                          <a:ea typeface="Open Sans" pitchFamily="34" charset="-122"/>
                          <a:cs typeface="Open Sans" pitchFamily="34" charset="-120"/>
                        </a:rPr>
                        <a:t>Situation</a:t>
                      </a:r>
                      <a:endParaRPr lang="en-US" sz="130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262A20"/>
                    </a:solidFill>
                  </a:tcPr>
                </a:tc>
                <a:tc>
                  <a:txBody>
                    <a:bodyPr/>
                    <a:lstStyle/>
                    <a:p>
                      <a:pPr indent="0" marL="0">
                        <a:buNone/>
                      </a:pPr>
                      <a:r>
                        <a:rPr lang="en-US" sz="1300" b="1" dirty="0">
                          <a:solidFill>
                            <a:srgbClr val="FFFFFF"/>
                          </a:solidFill>
                          <a:latin typeface="Open Sans" pitchFamily="34" charset="0"/>
                          <a:ea typeface="Open Sans" pitchFamily="34" charset="-122"/>
                          <a:cs typeface="Open Sans" pitchFamily="34" charset="-120"/>
                        </a:rPr>
                        <a:t>Door or diary?</a:t>
                      </a:r>
                      <a:endParaRPr lang="en-US" sz="130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262A20"/>
                    </a:solidFill>
                  </a:tcPr>
                </a:tc>
              </a:tr>
              <a:tr h="475488">
                <a:tc>
                  <a:txBody>
                    <a:bodyPr/>
                    <a:lstStyle/>
                    <a:p>
                      <a:pPr indent="0" marL="0">
                        <a:buNone/>
                      </a:pPr>
                      <a:r>
                        <a:rPr lang="en-US" sz="1300" dirty="0">
                          <a:solidFill>
                            <a:srgbClr val="262A20"/>
                          </a:solidFill>
                          <a:latin typeface="Open Sans" pitchFamily="34" charset="0"/>
                          <a:ea typeface="Open Sans" pitchFamily="34" charset="-122"/>
                          <a:cs typeface="Open Sans" pitchFamily="34" charset="-120"/>
                        </a:rPr>
                        <a:t>A fake email pretends to be from TeaLeaf's bank.</a:t>
                      </a:r>
                      <a:endParaRPr lang="en-US" sz="130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300" dirty="0">
                          <a:solidFill>
                            <a:srgbClr val="262A20"/>
                          </a:solidFill>
                          <a:latin typeface="Open Sans" pitchFamily="34" charset="0"/>
                          <a:ea typeface="Open Sans" pitchFamily="34" charset="-122"/>
                          <a:cs typeface="Open Sans" pitchFamily="34" charset="-120"/>
                        </a:rPr>
                        <a:t>Door: authenticity (is it real?)</a:t>
                      </a:r>
                      <a:endParaRPr lang="en-US" sz="130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475488">
                <a:tc>
                  <a:txBody>
                    <a:bodyPr/>
                    <a:lstStyle/>
                    <a:p>
                      <a:pPr indent="0" marL="0">
                        <a:buNone/>
                      </a:pPr>
                      <a:r>
                        <a:rPr lang="en-US" sz="1300" dirty="0">
                          <a:solidFill>
                            <a:srgbClr val="262A20"/>
                          </a:solidFill>
                          <a:latin typeface="Open Sans" pitchFamily="34" charset="0"/>
                          <a:ea typeface="Open Sans" pitchFamily="34" charset="-122"/>
                          <a:cs typeface="Open Sans" pitchFamily="34" charset="-120"/>
                        </a:rPr>
                        <a:t>Nobody can find out who sent the price list to a rival.</a:t>
                      </a:r>
                      <a:endParaRPr lang="en-US" sz="130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2EFEC"/>
                    </a:solidFill>
                  </a:tcPr>
                </a:tc>
                <a:tc>
                  <a:txBody>
                    <a:bodyPr/>
                    <a:lstStyle/>
                    <a:p>
                      <a:pPr indent="0" marL="0">
                        <a:buNone/>
                      </a:pPr>
                      <a:r>
                        <a:rPr lang="en-US" sz="1300" dirty="0">
                          <a:solidFill>
                            <a:srgbClr val="262A20"/>
                          </a:solidFill>
                          <a:latin typeface="Open Sans" pitchFamily="34" charset="0"/>
                          <a:ea typeface="Open Sans" pitchFamily="34" charset="-122"/>
                          <a:cs typeface="Open Sans" pitchFamily="34" charset="-120"/>
                        </a:rPr>
                        <a:t>Diary: accountability (who did it?)</a:t>
                      </a:r>
                      <a:endParaRPr lang="en-US" sz="130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2EFEC"/>
                    </a:solidFill>
                  </a:tcPr>
                </a:tc>
              </a:tr>
              <a:tr h="475488">
                <a:tc>
                  <a:txBody>
                    <a:bodyPr/>
                    <a:lstStyle/>
                    <a:p>
                      <a:pPr indent="0" marL="0">
                        <a:buNone/>
                      </a:pPr>
                      <a:r>
                        <a:rPr lang="en-US" sz="1300" dirty="0">
                          <a:solidFill>
                            <a:srgbClr val="262A20"/>
                          </a:solidFill>
                          <a:latin typeface="Open Sans" pitchFamily="34" charset="0"/>
                          <a:ea typeface="Open Sans" pitchFamily="34" charset="-122"/>
                          <a:cs typeface="Open Sans" pitchFamily="34" charset="-120"/>
                        </a:rPr>
                        <a:t>A criminal logs in with Kasun's stolen password.</a:t>
                      </a:r>
                      <a:endParaRPr lang="en-US" sz="130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300" dirty="0">
                          <a:solidFill>
                            <a:srgbClr val="262A20"/>
                          </a:solidFill>
                          <a:latin typeface="Open Sans" pitchFamily="34" charset="0"/>
                          <a:ea typeface="Open Sans" pitchFamily="34" charset="-122"/>
                          <a:cs typeface="Open Sans" pitchFamily="34" charset="-120"/>
                        </a:rPr>
                        <a:t>Door: authenticity (not really Kasun)</a:t>
                      </a:r>
                      <a:endParaRPr lang="en-US" sz="130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475488">
                <a:tc>
                  <a:txBody>
                    <a:bodyPr/>
                    <a:lstStyle/>
                    <a:p>
                      <a:pPr indent="0" marL="0">
                        <a:buNone/>
                      </a:pPr>
                      <a:r>
                        <a:rPr lang="en-US" sz="1300" dirty="0">
                          <a:solidFill>
                            <a:srgbClr val="262A20"/>
                          </a:solidFill>
                          <a:latin typeface="Open Sans" pitchFamily="34" charset="0"/>
                          <a:ea typeface="Open Sans" pitchFamily="34" charset="-122"/>
                          <a:cs typeface="Open Sans" pitchFamily="34" charset="-120"/>
                        </a:rPr>
                        <a:t>The log shows kasun.p changed the price last week.</a:t>
                      </a:r>
                      <a:endParaRPr lang="en-US" sz="130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2EFEC"/>
                    </a:solidFill>
                  </a:tcPr>
                </a:tc>
                <a:tc>
                  <a:txBody>
                    <a:bodyPr/>
                    <a:lstStyle/>
                    <a:p>
                      <a:pPr indent="0" marL="0">
                        <a:buNone/>
                      </a:pPr>
                      <a:r>
                        <a:rPr lang="en-US" sz="1300" dirty="0">
                          <a:solidFill>
                            <a:srgbClr val="262A20"/>
                          </a:solidFill>
                          <a:latin typeface="Open Sans" pitchFamily="34" charset="0"/>
                          <a:ea typeface="Open Sans" pitchFamily="34" charset="-122"/>
                          <a:cs typeface="Open Sans" pitchFamily="34" charset="-120"/>
                        </a:rPr>
                        <a:t>Diary: accountability (traced later)</a:t>
                      </a:r>
                      <a:endParaRPr lang="en-US" sz="130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2EFEC"/>
                    </a:solidFill>
                  </a:tcPr>
                </a:tc>
              </a:tr>
              <a:tr h="475488">
                <a:tc>
                  <a:txBody>
                    <a:bodyPr/>
                    <a:lstStyle/>
                    <a:p>
                      <a:pPr indent="0" marL="0">
                        <a:buNone/>
                      </a:pPr>
                      <a:r>
                        <a:rPr lang="en-US" sz="1300" dirty="0">
                          <a:solidFill>
                            <a:srgbClr val="262A20"/>
                          </a:solidFill>
                          <a:latin typeface="Open Sans" pitchFamily="34" charset="0"/>
                          <a:ea typeface="Open Sans" pitchFamily="34" charset="-122"/>
                          <a:cs typeface="Open Sans" pitchFamily="34" charset="-120"/>
                        </a:rPr>
                        <a:t>A caller copies the MD's voice.</a:t>
                      </a:r>
                      <a:endParaRPr lang="en-US" sz="130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300" dirty="0">
                          <a:solidFill>
                            <a:srgbClr val="262A20"/>
                          </a:solidFill>
                          <a:latin typeface="Open Sans" pitchFamily="34" charset="0"/>
                          <a:ea typeface="Open Sans" pitchFamily="34" charset="-122"/>
                          <a:cs typeface="Open Sans" pitchFamily="34" charset="-120"/>
                        </a:rPr>
                        <a:t>Door: authenticity (not really the MD)</a:t>
                      </a:r>
                      <a:endParaRPr lang="en-US" sz="130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475488">
                <a:tc>
                  <a:txBody>
                    <a:bodyPr/>
                    <a:lstStyle/>
                    <a:p>
                      <a:pPr indent="0" marL="0">
                        <a:buNone/>
                      </a:pPr>
                      <a:r>
                        <a:rPr lang="en-US" sz="1300" dirty="0">
                          <a:solidFill>
                            <a:srgbClr val="262A20"/>
                          </a:solidFill>
                          <a:latin typeface="Open Sans" pitchFamily="34" charset="0"/>
                          <a:ea typeface="Open Sans" pitchFamily="34" charset="-122"/>
                          <a:cs typeface="Open Sans" pitchFamily="34" charset="-120"/>
                        </a:rPr>
                        <a:t>Everyone uses accounts1, so nobody knows who deleted the order.</a:t>
                      </a:r>
                      <a:endParaRPr lang="en-US" sz="130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2EFEC"/>
                    </a:solidFill>
                  </a:tcPr>
                </a:tc>
                <a:tc>
                  <a:txBody>
                    <a:bodyPr/>
                    <a:lstStyle/>
                    <a:p>
                      <a:pPr indent="0" marL="0">
                        <a:buNone/>
                      </a:pPr>
                      <a:r>
                        <a:rPr lang="en-US" sz="1300" dirty="0">
                          <a:solidFill>
                            <a:srgbClr val="262A20"/>
                          </a:solidFill>
                          <a:latin typeface="Open Sans" pitchFamily="34" charset="0"/>
                          <a:ea typeface="Open Sans" pitchFamily="34" charset="-122"/>
                          <a:cs typeface="Open Sans" pitchFamily="34" charset="-120"/>
                        </a:rPr>
                        <a:t>Diary: accountability (no names to trace)</a:t>
                      </a:r>
                      <a:endParaRPr lang="en-US" sz="130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2EFEC"/>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66928"/>
          </a:xfrm>
          <a:prstGeom prst="rect">
            <a:avLst/>
          </a:prstGeom>
          <a:noFill/>
          <a:ln/>
        </p:spPr>
        <p:txBody>
          <a:bodyPr wrap="square" lIns="0" tIns="0" rIns="0" bIns="0" rtlCol="0" anchor="ctr"/>
          <a:lstStyle/>
          <a:p>
            <a:pPr indent="0" marL="0">
              <a:buNone/>
            </a:pPr>
            <a:r>
              <a:rPr lang="en-US" sz="2400" b="1" dirty="0">
                <a:solidFill>
                  <a:srgbClr val="262A20"/>
                </a:solidFill>
                <a:latin typeface="Open Sans" pitchFamily="34" charset="0"/>
                <a:ea typeface="Open Sans" pitchFamily="34" charset="-122"/>
                <a:cs typeface="Open Sans" pitchFamily="34" charset="-120"/>
              </a:rPr>
              <a:t>The door and the diary need each other</a:t>
            </a:r>
            <a:endParaRPr lang="en-US" sz="2400" dirty="0"/>
          </a:p>
        </p:txBody>
      </p:sp>
      <p:sp>
        <p:nvSpPr>
          <p:cNvPr id="3" name="Shape 1"/>
          <p:cNvSpPr/>
          <p:nvPr/>
        </p:nvSpPr>
        <p:spPr>
          <a:xfrm>
            <a:off x="457200" y="896112"/>
            <a:ext cx="640080" cy="54864"/>
          </a:xfrm>
          <a:prstGeom prst="rect">
            <a:avLst/>
          </a:prstGeom>
          <a:solidFill>
            <a:srgbClr val="667C7E"/>
          </a:solidFill>
          <a:ln w="12700">
            <a:solidFill>
              <a:srgbClr val="667C7E"/>
            </a:solidFill>
            <a:prstDash val="solid"/>
          </a:ln>
        </p:spPr>
      </p:sp>
      <p:sp>
        <p:nvSpPr>
          <p:cNvPr id="4" name="Shape 2"/>
          <p:cNvSpPr/>
          <p:nvPr/>
        </p:nvSpPr>
        <p:spPr>
          <a:xfrm>
            <a:off x="1143000" y="896112"/>
            <a:ext cx="320040" cy="54864"/>
          </a:xfrm>
          <a:prstGeom prst="rect">
            <a:avLst/>
          </a:prstGeom>
          <a:solidFill>
            <a:srgbClr val="C7A887"/>
          </a:solidFill>
          <a:ln w="12700">
            <a:solidFill>
              <a:srgbClr val="C7A887"/>
            </a:solidFill>
            <a:prstDash val="solid"/>
          </a:ln>
        </p:spPr>
      </p:sp>
      <p:sp>
        <p:nvSpPr>
          <p:cNvPr id="5" name="Text 3"/>
          <p:cNvSpPr txBox="1"/>
          <p:nvPr/>
        </p:nvSpPr>
        <p:spPr>
          <a:xfrm>
            <a:off x="457200" y="4828032"/>
            <a:ext cx="6858000" cy="182880"/>
          </a:xfrm>
          <a:prstGeom prst="rect">
            <a:avLst/>
          </a:prstGeom>
          <a:noFill/>
          <a:ln/>
        </p:spPr>
        <p:txBody>
          <a:bodyPr wrap="square" lIns="0" tIns="0" rIns="0" bIns="0" rtlCol="0" anchor="ctr"/>
          <a:lstStyle/>
          <a:p>
            <a:pPr indent="0" marL="0">
              <a:buNone/>
            </a:pPr>
            <a:r>
              <a:rPr lang="en-US" sz="800" dirty="0">
                <a:solidFill>
                  <a:srgbClr val="5A5F55"/>
                </a:solidFill>
                <a:latin typeface="Open Sans" pitchFamily="34" charset="0"/>
                <a:ea typeface="Open Sans" pitchFamily="34" charset="-122"/>
                <a:cs typeface="Open Sans" pitchFamily="34" charset="-120"/>
              </a:rPr>
              <a:t>DBIS-11 Cybersecurity and Cloud Computing  |  Day 2  |  Session 11.4</a:t>
            </a:r>
            <a:endParaRPr lang="en-US" sz="800" dirty="0"/>
          </a:p>
        </p:txBody>
      </p:sp>
      <p:sp>
        <p:nvSpPr>
          <p:cNvPr id="6" name="Text 4"/>
          <p:cNvSpPr txBox="1"/>
          <p:nvPr/>
        </p:nvSpPr>
        <p:spPr>
          <a:xfrm>
            <a:off x="8138160" y="4828032"/>
            <a:ext cx="548640" cy="182880"/>
          </a:xfrm>
          <a:prstGeom prst="rect">
            <a:avLst/>
          </a:prstGeom>
          <a:noFill/>
          <a:ln/>
        </p:spPr>
        <p:txBody>
          <a:bodyPr wrap="square" lIns="0" tIns="0" rIns="0" bIns="0" rtlCol="0" anchor="ctr"/>
          <a:lstStyle/>
          <a:p>
            <a:pPr algn="r" indent="0" marL="0">
              <a:buNone/>
            </a:pPr>
            <a:r>
              <a:rPr lang="en-US" sz="800" dirty="0">
                <a:solidFill>
                  <a:srgbClr val="5A5F55"/>
                </a:solidFill>
                <a:latin typeface="Open Sans" pitchFamily="34" charset="0"/>
                <a:ea typeface="Open Sans" pitchFamily="34" charset="-122"/>
                <a:cs typeface="Open Sans" pitchFamily="34" charset="-120"/>
              </a:rPr>
              <a:t>13</a:t>
            </a:r>
            <a:endParaRPr lang="en-US" sz="800" dirty="0"/>
          </a:p>
        </p:txBody>
      </p:sp>
      <p:sp>
        <p:nvSpPr>
          <p:cNvPr id="8" name="Shape 5"/>
          <p:cNvSpPr/>
          <p:nvPr/>
        </p:nvSpPr>
        <p:spPr>
          <a:xfrm>
            <a:off x="457200" y="1234440"/>
            <a:ext cx="8229600" cy="914400"/>
          </a:xfrm>
          <a:prstGeom prst="roundRect">
            <a:avLst>
              <a:gd name="adj" fmla="val 8000"/>
            </a:avLst>
          </a:prstGeom>
          <a:solidFill>
            <a:srgbClr val="D9D5D2"/>
          </a:solidFill>
          <a:ln w="12700">
            <a:solidFill>
              <a:srgbClr val="D9D5D2"/>
            </a:solidFill>
            <a:prstDash val="solid"/>
          </a:ln>
        </p:spPr>
      </p:sp>
      <p:sp>
        <p:nvSpPr>
          <p:cNvPr id="9" name="Text 6"/>
          <p:cNvSpPr txBox="1"/>
          <p:nvPr/>
        </p:nvSpPr>
        <p:spPr>
          <a:xfrm>
            <a:off x="640080" y="1280160"/>
            <a:ext cx="7863840" cy="822960"/>
          </a:xfrm>
          <a:prstGeom prst="rect">
            <a:avLst/>
          </a:prstGeom>
          <a:noFill/>
          <a:ln/>
        </p:spPr>
        <p:txBody>
          <a:bodyPr wrap="square" lIns="0" tIns="0" rIns="0" bIns="0" rtlCol="0" anchor="ctr"/>
          <a:lstStyle/>
          <a:p>
            <a:pPr indent="0" marL="0">
              <a:buNone/>
            </a:pPr>
            <a:r>
              <a:rPr lang="en-US" sz="1800" b="1" dirty="0">
                <a:solidFill>
                  <a:srgbClr val="262A20"/>
                </a:solidFill>
                <a:latin typeface="Courier New" pitchFamily="34" charset="0"/>
                <a:ea typeface="Courier New" pitchFamily="34" charset="-122"/>
                <a:cs typeface="Courier New" pitchFamily="34" charset="-120"/>
              </a:rPr>
              <a:t>The log says: 23:14  nimal.f  DELETED order 4471</a:t>
            </a:r>
            <a:endParaRPr lang="en-US" sz="1800" dirty="0"/>
          </a:p>
        </p:txBody>
      </p:sp>
      <p:sp>
        <p:nvSpPr>
          <p:cNvPr id="10" name="Shape 7"/>
          <p:cNvSpPr/>
          <p:nvPr/>
        </p:nvSpPr>
        <p:spPr>
          <a:xfrm>
            <a:off x="457200" y="2377440"/>
            <a:ext cx="4000500" cy="1280160"/>
          </a:xfrm>
          <a:prstGeom prst="roundRect">
            <a:avLst>
              <a:gd name="adj" fmla="val 5714"/>
            </a:avLst>
          </a:prstGeom>
          <a:solidFill>
            <a:srgbClr val="E1E6E6"/>
          </a:solidFill>
          <a:ln w="12700">
            <a:solidFill>
              <a:srgbClr val="E1E6E6"/>
            </a:solidFill>
            <a:prstDash val="solid"/>
          </a:ln>
        </p:spPr>
      </p:sp>
      <p:sp>
        <p:nvSpPr>
          <p:cNvPr id="11" name="Text 8"/>
          <p:cNvSpPr txBox="1"/>
          <p:nvPr/>
        </p:nvSpPr>
        <p:spPr>
          <a:xfrm>
            <a:off x="640080" y="2560320"/>
            <a:ext cx="3634740" cy="365760"/>
          </a:xfrm>
          <a:prstGeom prst="rect">
            <a:avLst/>
          </a:prstGeom>
          <a:noFill/>
          <a:ln/>
        </p:spPr>
        <p:txBody>
          <a:bodyPr wrap="square" lIns="0" tIns="0" rIns="0" bIns="0" rtlCol="0" anchor="t"/>
          <a:lstStyle/>
          <a:p>
            <a:pPr indent="0" marL="0">
              <a:buNone/>
            </a:pPr>
            <a:r>
              <a:rPr lang="en-US" sz="1500" b="1" dirty="0">
                <a:solidFill>
                  <a:srgbClr val="262A20"/>
                </a:solidFill>
                <a:latin typeface="Open Sans" pitchFamily="34" charset="0"/>
                <a:ea typeface="Open Sans" pitchFamily="34" charset="-122"/>
                <a:cs typeface="Open Sans" pitchFamily="34" charset="-120"/>
              </a:rPr>
              <a:t>If the door worked</a:t>
            </a:r>
            <a:endParaRPr lang="en-US" sz="1500" dirty="0"/>
          </a:p>
        </p:txBody>
      </p:sp>
      <p:sp>
        <p:nvSpPr>
          <p:cNvPr id="12" name="Text 9"/>
          <p:cNvSpPr txBox="1"/>
          <p:nvPr/>
        </p:nvSpPr>
        <p:spPr>
          <a:xfrm>
            <a:off x="640080" y="2944368"/>
            <a:ext cx="3634740" cy="594360"/>
          </a:xfrm>
          <a:prstGeom prst="rect">
            <a:avLst/>
          </a:prstGeom>
          <a:noFill/>
          <a:ln/>
        </p:spPr>
        <p:txBody>
          <a:bodyPr wrap="square" lIns="0" tIns="0" rIns="0" bIns="0" rtlCol="0" anchor="t"/>
          <a:lstStyle/>
          <a:p>
            <a:pPr indent="0" marL="0">
              <a:buNone/>
            </a:pPr>
            <a:r>
              <a:rPr lang="en-US" sz="1400" dirty="0">
                <a:solidFill>
                  <a:srgbClr val="262A20"/>
                </a:solidFill>
                <a:latin typeface="Open Sans" pitchFamily="34" charset="0"/>
                <a:ea typeface="Open Sans" pitchFamily="34" charset="-122"/>
                <a:cs typeface="Open Sans" pitchFamily="34" charset="-120"/>
              </a:rPr>
              <a:t>It really was Nimal. The diary is true. Accountability works.</a:t>
            </a:r>
            <a:endParaRPr lang="en-US" sz="1400" dirty="0"/>
          </a:p>
        </p:txBody>
      </p:sp>
      <p:sp>
        <p:nvSpPr>
          <p:cNvPr id="13" name="Shape 10"/>
          <p:cNvSpPr/>
          <p:nvPr/>
        </p:nvSpPr>
        <p:spPr>
          <a:xfrm>
            <a:off x="4686300" y="2377440"/>
            <a:ext cx="4000500" cy="1280160"/>
          </a:xfrm>
          <a:prstGeom prst="roundRect">
            <a:avLst>
              <a:gd name="adj" fmla="val 5714"/>
            </a:avLst>
          </a:prstGeom>
          <a:solidFill>
            <a:srgbClr val="EDDDCD"/>
          </a:solidFill>
          <a:ln w="12700">
            <a:solidFill>
              <a:srgbClr val="EDDDCD"/>
            </a:solidFill>
            <a:prstDash val="solid"/>
          </a:ln>
        </p:spPr>
      </p:sp>
      <p:sp>
        <p:nvSpPr>
          <p:cNvPr id="14" name="Text 11"/>
          <p:cNvSpPr txBox="1"/>
          <p:nvPr/>
        </p:nvSpPr>
        <p:spPr>
          <a:xfrm>
            <a:off x="4869180" y="2560320"/>
            <a:ext cx="3634740" cy="365760"/>
          </a:xfrm>
          <a:prstGeom prst="rect">
            <a:avLst/>
          </a:prstGeom>
          <a:noFill/>
          <a:ln/>
        </p:spPr>
        <p:txBody>
          <a:bodyPr wrap="square" lIns="0" tIns="0" rIns="0" bIns="0" rtlCol="0" anchor="t"/>
          <a:lstStyle/>
          <a:p>
            <a:pPr indent="0" marL="0">
              <a:buNone/>
            </a:pPr>
            <a:r>
              <a:rPr lang="en-US" sz="1500" b="1" dirty="0">
                <a:solidFill>
                  <a:srgbClr val="262A20"/>
                </a:solidFill>
                <a:latin typeface="Open Sans" pitchFamily="34" charset="0"/>
                <a:ea typeface="Open Sans" pitchFamily="34" charset="-122"/>
                <a:cs typeface="Open Sans" pitchFamily="34" charset="-120"/>
              </a:rPr>
              <a:t>If the door failed</a:t>
            </a:r>
            <a:endParaRPr lang="en-US" sz="1500" dirty="0"/>
          </a:p>
        </p:txBody>
      </p:sp>
      <p:sp>
        <p:nvSpPr>
          <p:cNvPr id="15" name="Text 12"/>
          <p:cNvSpPr txBox="1"/>
          <p:nvPr/>
        </p:nvSpPr>
        <p:spPr>
          <a:xfrm>
            <a:off x="4869180" y="2944368"/>
            <a:ext cx="3634740" cy="594360"/>
          </a:xfrm>
          <a:prstGeom prst="rect">
            <a:avLst/>
          </a:prstGeom>
          <a:noFill/>
          <a:ln/>
        </p:spPr>
        <p:txBody>
          <a:bodyPr wrap="square" lIns="0" tIns="0" rIns="0" bIns="0" rtlCol="0" anchor="t"/>
          <a:lstStyle/>
          <a:p>
            <a:pPr indent="0" marL="0">
              <a:buNone/>
            </a:pPr>
            <a:r>
              <a:rPr lang="en-US" sz="1400" dirty="0">
                <a:solidFill>
                  <a:srgbClr val="262A20"/>
                </a:solidFill>
                <a:latin typeface="Open Sans" pitchFamily="34" charset="0"/>
                <a:ea typeface="Open Sans" pitchFamily="34" charset="-122"/>
                <a:cs typeface="Open Sans" pitchFamily="34" charset="-120"/>
              </a:rPr>
              <a:t>A criminal used Nimal's stolen password. The diary blames the wrong person.</a:t>
            </a:r>
            <a:endParaRPr lang="en-US" sz="1400" dirty="0"/>
          </a:p>
        </p:txBody>
      </p:sp>
      <p:sp>
        <p:nvSpPr>
          <p:cNvPr id="16" name="Text 13"/>
          <p:cNvSpPr txBox="1"/>
          <p:nvPr/>
        </p:nvSpPr>
        <p:spPr>
          <a:xfrm>
            <a:off x="457200" y="3840480"/>
            <a:ext cx="8229600" cy="457200"/>
          </a:xfrm>
          <a:prstGeom prst="rect">
            <a:avLst/>
          </a:prstGeom>
          <a:noFill/>
          <a:ln/>
        </p:spPr>
        <p:txBody>
          <a:bodyPr wrap="square" lIns="0" tIns="0" rIns="0" bIns="0" rtlCol="0" anchor="ctr"/>
          <a:lstStyle/>
          <a:p>
            <a:pPr algn="ctr" indent="0" marL="0">
              <a:buNone/>
            </a:pPr>
            <a:r>
              <a:rPr lang="en-US" sz="1600" b="1" dirty="0">
                <a:solidFill>
                  <a:srgbClr val="7D5F3F"/>
                </a:solidFill>
                <a:latin typeface="Open Sans" pitchFamily="34" charset="0"/>
                <a:ea typeface="Open Sans" pitchFamily="34" charset="-122"/>
                <a:cs typeface="Open Sans" pitchFamily="34" charset="-120"/>
              </a:rPr>
              <a:t>Weak authenticity breaks accountability. MFA helps both (section 3).</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66928"/>
          </a:xfrm>
          <a:prstGeom prst="rect">
            <a:avLst/>
          </a:prstGeom>
          <a:noFill/>
          <a:ln/>
        </p:spPr>
        <p:txBody>
          <a:bodyPr wrap="square" lIns="0" tIns="0" rIns="0" bIns="0" rtlCol="0" anchor="ctr"/>
          <a:lstStyle/>
          <a:p>
            <a:pPr indent="0" marL="0">
              <a:buNone/>
            </a:pPr>
            <a:r>
              <a:rPr lang="en-US" sz="2400" b="1" dirty="0">
                <a:solidFill>
                  <a:srgbClr val="262A20"/>
                </a:solidFill>
                <a:latin typeface="Open Sans" pitchFamily="34" charset="0"/>
                <a:ea typeface="Open Sans" pitchFamily="34" charset="-122"/>
                <a:cs typeface="Open Sans" pitchFamily="34" charset="-120"/>
              </a:rPr>
              <a:t>How we get them</a:t>
            </a:r>
            <a:endParaRPr lang="en-US" sz="2400" dirty="0"/>
          </a:p>
        </p:txBody>
      </p:sp>
      <p:sp>
        <p:nvSpPr>
          <p:cNvPr id="3" name="Shape 1"/>
          <p:cNvSpPr/>
          <p:nvPr/>
        </p:nvSpPr>
        <p:spPr>
          <a:xfrm>
            <a:off x="457200" y="896112"/>
            <a:ext cx="640080" cy="54864"/>
          </a:xfrm>
          <a:prstGeom prst="rect">
            <a:avLst/>
          </a:prstGeom>
          <a:solidFill>
            <a:srgbClr val="667C7E"/>
          </a:solidFill>
          <a:ln w="12700">
            <a:solidFill>
              <a:srgbClr val="667C7E"/>
            </a:solidFill>
            <a:prstDash val="solid"/>
          </a:ln>
        </p:spPr>
      </p:sp>
      <p:sp>
        <p:nvSpPr>
          <p:cNvPr id="4" name="Shape 2"/>
          <p:cNvSpPr/>
          <p:nvPr/>
        </p:nvSpPr>
        <p:spPr>
          <a:xfrm>
            <a:off x="1143000" y="896112"/>
            <a:ext cx="320040" cy="54864"/>
          </a:xfrm>
          <a:prstGeom prst="rect">
            <a:avLst/>
          </a:prstGeom>
          <a:solidFill>
            <a:srgbClr val="C7A887"/>
          </a:solidFill>
          <a:ln w="12700">
            <a:solidFill>
              <a:srgbClr val="C7A887"/>
            </a:solidFill>
            <a:prstDash val="solid"/>
          </a:ln>
        </p:spPr>
      </p:sp>
      <p:sp>
        <p:nvSpPr>
          <p:cNvPr id="5" name="Text 3"/>
          <p:cNvSpPr txBox="1"/>
          <p:nvPr/>
        </p:nvSpPr>
        <p:spPr>
          <a:xfrm>
            <a:off x="457200" y="4828032"/>
            <a:ext cx="6858000" cy="182880"/>
          </a:xfrm>
          <a:prstGeom prst="rect">
            <a:avLst/>
          </a:prstGeom>
          <a:noFill/>
          <a:ln/>
        </p:spPr>
        <p:txBody>
          <a:bodyPr wrap="square" lIns="0" tIns="0" rIns="0" bIns="0" rtlCol="0" anchor="ctr"/>
          <a:lstStyle/>
          <a:p>
            <a:pPr indent="0" marL="0">
              <a:buNone/>
            </a:pPr>
            <a:r>
              <a:rPr lang="en-US" sz="800" dirty="0">
                <a:solidFill>
                  <a:srgbClr val="5A5F55"/>
                </a:solidFill>
                <a:latin typeface="Open Sans" pitchFamily="34" charset="0"/>
                <a:ea typeface="Open Sans" pitchFamily="34" charset="-122"/>
                <a:cs typeface="Open Sans" pitchFamily="34" charset="-120"/>
              </a:rPr>
              <a:t>DBIS-11 Cybersecurity and Cloud Computing  |  Day 2  |  Session 11.4</a:t>
            </a:r>
            <a:endParaRPr lang="en-US" sz="800" dirty="0"/>
          </a:p>
        </p:txBody>
      </p:sp>
      <p:sp>
        <p:nvSpPr>
          <p:cNvPr id="6" name="Text 4"/>
          <p:cNvSpPr txBox="1"/>
          <p:nvPr/>
        </p:nvSpPr>
        <p:spPr>
          <a:xfrm>
            <a:off x="8138160" y="4828032"/>
            <a:ext cx="548640" cy="182880"/>
          </a:xfrm>
          <a:prstGeom prst="rect">
            <a:avLst/>
          </a:prstGeom>
          <a:noFill/>
          <a:ln/>
        </p:spPr>
        <p:txBody>
          <a:bodyPr wrap="square" lIns="0" tIns="0" rIns="0" bIns="0" rtlCol="0" anchor="ctr"/>
          <a:lstStyle/>
          <a:p>
            <a:pPr algn="r" indent="0" marL="0">
              <a:buNone/>
            </a:pPr>
            <a:r>
              <a:rPr lang="en-US" sz="800" dirty="0">
                <a:solidFill>
                  <a:srgbClr val="5A5F55"/>
                </a:solidFill>
                <a:latin typeface="Open Sans" pitchFamily="34" charset="0"/>
                <a:ea typeface="Open Sans" pitchFamily="34" charset="-122"/>
                <a:cs typeface="Open Sans" pitchFamily="34" charset="-120"/>
              </a:rPr>
              <a:t>14</a:t>
            </a:r>
            <a:endParaRPr lang="en-US" sz="800" dirty="0"/>
          </a:p>
        </p:txBody>
      </p:sp>
      <p:sp>
        <p:nvSpPr>
          <p:cNvPr id="8" name="Shape 5"/>
          <p:cNvSpPr/>
          <p:nvPr/>
        </p:nvSpPr>
        <p:spPr>
          <a:xfrm>
            <a:off x="457200" y="1234440"/>
            <a:ext cx="2560320" cy="3017520"/>
          </a:xfrm>
          <a:prstGeom prst="roundRect">
            <a:avLst>
              <a:gd name="adj" fmla="val 2857"/>
            </a:avLst>
          </a:prstGeom>
          <a:solidFill>
            <a:srgbClr val="EDDDCD"/>
          </a:solidFill>
          <a:ln w="12700">
            <a:solidFill>
              <a:srgbClr val="EDDDCD"/>
            </a:solidFill>
            <a:prstDash val="solid"/>
          </a:ln>
        </p:spPr>
      </p:sp>
      <p:sp>
        <p:nvSpPr>
          <p:cNvPr id="9" name="Shape 6"/>
          <p:cNvSpPr/>
          <p:nvPr/>
        </p:nvSpPr>
        <p:spPr>
          <a:xfrm>
            <a:off x="1417320" y="1371600"/>
            <a:ext cx="640080" cy="640080"/>
          </a:xfrm>
          <a:prstGeom prst="ellipse">
            <a:avLst/>
          </a:prstGeom>
          <a:solidFill>
            <a:srgbClr val="667C7E"/>
          </a:solidFill>
          <a:ln w="12700">
            <a:solidFill>
              <a:srgbClr val="667C7E"/>
            </a:solidFill>
            <a:prstDash val="solid"/>
          </a:ln>
        </p:spPr>
      </p:sp>
      <p:pic>
        <p:nvPicPr>
          <p:cNvPr id="10" name="Image 0" descr="preencoded.png">    </p:cNvPr>
          <p:cNvPicPr>
            <a:picLocks noChangeAspect="1"/>
          </p:cNvPicPr>
          <p:nvPr/>
        </p:nvPicPr>
        <p:blipFill>
          <a:blip r:embed="rId1"/>
          <a:stretch>
            <a:fillRect/>
          </a:stretch>
        </p:blipFill>
        <p:spPr>
          <a:xfrm>
            <a:off x="1577340" y="1531620"/>
            <a:ext cx="320040" cy="320040"/>
          </a:xfrm>
          <a:prstGeom prst="rect">
            <a:avLst/>
          </a:prstGeom>
        </p:spPr>
      </p:pic>
      <p:sp>
        <p:nvSpPr>
          <p:cNvPr id="11" name="Text 7"/>
          <p:cNvSpPr txBox="1"/>
          <p:nvPr/>
        </p:nvSpPr>
        <p:spPr>
          <a:xfrm>
            <a:off x="548640" y="2103120"/>
            <a:ext cx="2377440" cy="365760"/>
          </a:xfrm>
          <a:prstGeom prst="rect">
            <a:avLst/>
          </a:prstGeom>
          <a:noFill/>
          <a:ln/>
        </p:spPr>
        <p:txBody>
          <a:bodyPr wrap="square" lIns="0" tIns="0" rIns="0" bIns="0" rtlCol="0" anchor="ctr"/>
          <a:lstStyle/>
          <a:p>
            <a:pPr algn="ctr" indent="0" marL="0">
              <a:buNone/>
            </a:pPr>
            <a:r>
              <a:rPr lang="en-US" sz="1600" b="1" dirty="0">
                <a:solidFill>
                  <a:srgbClr val="262A20"/>
                </a:solidFill>
                <a:latin typeface="Open Sans" pitchFamily="34" charset="0"/>
                <a:ea typeface="Open Sans" pitchFamily="34" charset="-122"/>
                <a:cs typeface="Open Sans" pitchFamily="34" charset="-120"/>
              </a:rPr>
              <a:t>Authentication</a:t>
            </a:r>
            <a:endParaRPr lang="en-US" sz="1600" dirty="0"/>
          </a:p>
        </p:txBody>
      </p:sp>
      <p:sp>
        <p:nvSpPr>
          <p:cNvPr id="12" name="Text 8"/>
          <p:cNvSpPr txBox="1"/>
          <p:nvPr/>
        </p:nvSpPr>
        <p:spPr>
          <a:xfrm>
            <a:off x="548640" y="2468880"/>
            <a:ext cx="2377440" cy="320040"/>
          </a:xfrm>
          <a:prstGeom prst="rect">
            <a:avLst/>
          </a:prstGeom>
          <a:noFill/>
          <a:ln/>
        </p:spPr>
        <p:txBody>
          <a:bodyPr wrap="square" lIns="0" tIns="0" rIns="0" bIns="0" rtlCol="0" anchor="ctr"/>
          <a:lstStyle/>
          <a:p>
            <a:pPr algn="ctr" indent="0" marL="0">
              <a:buNone/>
            </a:pPr>
            <a:r>
              <a:rPr lang="en-US" sz="1400" b="1" dirty="0">
                <a:solidFill>
                  <a:srgbClr val="262A20"/>
                </a:solidFill>
                <a:latin typeface="Open Sans" pitchFamily="34" charset="0"/>
                <a:ea typeface="Open Sans" pitchFamily="34" charset="-122"/>
                <a:cs typeface="Open Sans" pitchFamily="34" charset="-120"/>
              </a:rPr>
              <a:t>Who are you?</a:t>
            </a:r>
            <a:endParaRPr lang="en-US" sz="1400" dirty="0"/>
          </a:p>
        </p:txBody>
      </p:sp>
      <p:sp>
        <p:nvSpPr>
          <p:cNvPr id="13" name="Text 9"/>
          <p:cNvSpPr txBox="1"/>
          <p:nvPr/>
        </p:nvSpPr>
        <p:spPr>
          <a:xfrm>
            <a:off x="640080" y="2834640"/>
            <a:ext cx="2194560" cy="731520"/>
          </a:xfrm>
          <a:prstGeom prst="rect">
            <a:avLst/>
          </a:prstGeom>
          <a:noFill/>
          <a:ln/>
        </p:spPr>
        <p:txBody>
          <a:bodyPr wrap="square" lIns="0" tIns="0" rIns="0" bIns="0" rtlCol="0" anchor="t"/>
          <a:lstStyle/>
          <a:p>
            <a:pPr algn="ctr" indent="0" marL="0">
              <a:buNone/>
            </a:pPr>
            <a:r>
              <a:rPr lang="en-US" sz="1250" dirty="0">
                <a:solidFill>
                  <a:srgbClr val="262A20"/>
                </a:solidFill>
                <a:latin typeface="Open Sans" pitchFamily="34" charset="0"/>
                <a:ea typeface="Open Sans" pitchFamily="34" charset="-122"/>
                <a:cs typeface="Open Sans" pitchFamily="34" charset="-120"/>
              </a:rPr>
              <a:t>Password and a code prove it is really you.</a:t>
            </a:r>
            <a:endParaRPr lang="en-US" sz="1250" dirty="0"/>
          </a:p>
        </p:txBody>
      </p:sp>
      <p:sp>
        <p:nvSpPr>
          <p:cNvPr id="14" name="Text 10"/>
          <p:cNvSpPr txBox="1"/>
          <p:nvPr/>
        </p:nvSpPr>
        <p:spPr>
          <a:xfrm>
            <a:off x="548640" y="3611880"/>
            <a:ext cx="2377440" cy="502920"/>
          </a:xfrm>
          <a:prstGeom prst="rect">
            <a:avLst/>
          </a:prstGeom>
          <a:noFill/>
          <a:ln/>
        </p:spPr>
        <p:txBody>
          <a:bodyPr wrap="square" lIns="0" tIns="0" rIns="0" bIns="0" rtlCol="0" anchor="t"/>
          <a:lstStyle/>
          <a:p>
            <a:pPr algn="ctr" indent="0" marL="0">
              <a:buNone/>
            </a:pPr>
            <a:r>
              <a:rPr lang="en-US" sz="1250" b="1" dirty="0">
                <a:solidFill>
                  <a:srgbClr val="7D5F3F"/>
                </a:solidFill>
                <a:latin typeface="Open Sans" pitchFamily="34" charset="0"/>
                <a:ea typeface="Open Sans" pitchFamily="34" charset="-122"/>
                <a:cs typeface="Open Sans" pitchFamily="34" charset="-120"/>
              </a:rPr>
              <a:t>Gives authenticity (the door)</a:t>
            </a:r>
            <a:endParaRPr lang="en-US" sz="1250" dirty="0"/>
          </a:p>
        </p:txBody>
      </p:sp>
      <p:sp>
        <p:nvSpPr>
          <p:cNvPr id="15" name="Shape 11"/>
          <p:cNvSpPr/>
          <p:nvPr/>
        </p:nvSpPr>
        <p:spPr>
          <a:xfrm>
            <a:off x="3035808" y="2743200"/>
            <a:ext cx="237744" cy="0"/>
          </a:xfrm>
          <a:prstGeom prst="line">
            <a:avLst/>
          </a:prstGeom>
          <a:noFill/>
          <a:ln w="25400">
            <a:solidFill>
              <a:srgbClr val="5A5F55"/>
            </a:solidFill>
            <a:prstDash val="solid"/>
            <a:tailEnd type="triangle"/>
          </a:ln>
        </p:spPr>
      </p:sp>
      <p:sp>
        <p:nvSpPr>
          <p:cNvPr id="16" name="Shape 12"/>
          <p:cNvSpPr/>
          <p:nvPr/>
        </p:nvSpPr>
        <p:spPr>
          <a:xfrm>
            <a:off x="3291840" y="1234440"/>
            <a:ext cx="2560320" cy="3017520"/>
          </a:xfrm>
          <a:prstGeom prst="roundRect">
            <a:avLst>
              <a:gd name="adj" fmla="val 2857"/>
            </a:avLst>
          </a:prstGeom>
          <a:solidFill>
            <a:srgbClr val="F2EFEC"/>
          </a:solidFill>
          <a:ln w="12700">
            <a:solidFill>
              <a:srgbClr val="F2EFEC"/>
            </a:solidFill>
            <a:prstDash val="solid"/>
          </a:ln>
        </p:spPr>
      </p:sp>
      <p:sp>
        <p:nvSpPr>
          <p:cNvPr id="17" name="Shape 13"/>
          <p:cNvSpPr/>
          <p:nvPr/>
        </p:nvSpPr>
        <p:spPr>
          <a:xfrm>
            <a:off x="4251960" y="1371600"/>
            <a:ext cx="640080" cy="640080"/>
          </a:xfrm>
          <a:prstGeom prst="ellipse">
            <a:avLst/>
          </a:prstGeom>
          <a:solidFill>
            <a:srgbClr val="667C7E"/>
          </a:solidFill>
          <a:ln w="12700">
            <a:solidFill>
              <a:srgbClr val="667C7E"/>
            </a:solidFill>
            <a:prstDash val="solid"/>
          </a:ln>
        </p:spPr>
      </p:sp>
      <p:pic>
        <p:nvPicPr>
          <p:cNvPr id="18" name="Image 1" descr="preencoded.png">    </p:cNvPr>
          <p:cNvPicPr>
            <a:picLocks noChangeAspect="1"/>
          </p:cNvPicPr>
          <p:nvPr/>
        </p:nvPicPr>
        <p:blipFill>
          <a:blip r:embed="rId2"/>
          <a:stretch>
            <a:fillRect/>
          </a:stretch>
        </p:blipFill>
        <p:spPr>
          <a:xfrm>
            <a:off x="4411980" y="1531620"/>
            <a:ext cx="320040" cy="320040"/>
          </a:xfrm>
          <a:prstGeom prst="rect">
            <a:avLst/>
          </a:prstGeom>
        </p:spPr>
      </p:pic>
      <p:sp>
        <p:nvSpPr>
          <p:cNvPr id="19" name="Text 14"/>
          <p:cNvSpPr txBox="1"/>
          <p:nvPr/>
        </p:nvSpPr>
        <p:spPr>
          <a:xfrm>
            <a:off x="3383280" y="2103120"/>
            <a:ext cx="2377440" cy="365760"/>
          </a:xfrm>
          <a:prstGeom prst="rect">
            <a:avLst/>
          </a:prstGeom>
          <a:noFill/>
          <a:ln/>
        </p:spPr>
        <p:txBody>
          <a:bodyPr wrap="square" lIns="0" tIns="0" rIns="0" bIns="0" rtlCol="0" anchor="ctr"/>
          <a:lstStyle/>
          <a:p>
            <a:pPr algn="ctr" indent="0" marL="0">
              <a:buNone/>
            </a:pPr>
            <a:r>
              <a:rPr lang="en-US" sz="1600" b="1" dirty="0">
                <a:solidFill>
                  <a:srgbClr val="262A20"/>
                </a:solidFill>
                <a:latin typeface="Open Sans" pitchFamily="34" charset="0"/>
                <a:ea typeface="Open Sans" pitchFamily="34" charset="-122"/>
                <a:cs typeface="Open Sans" pitchFamily="34" charset="-120"/>
              </a:rPr>
              <a:t>Authorisation</a:t>
            </a:r>
            <a:endParaRPr lang="en-US" sz="1600" dirty="0"/>
          </a:p>
        </p:txBody>
      </p:sp>
      <p:sp>
        <p:nvSpPr>
          <p:cNvPr id="20" name="Text 15"/>
          <p:cNvSpPr txBox="1"/>
          <p:nvPr/>
        </p:nvSpPr>
        <p:spPr>
          <a:xfrm>
            <a:off x="3383280" y="2468880"/>
            <a:ext cx="2377440" cy="320040"/>
          </a:xfrm>
          <a:prstGeom prst="rect">
            <a:avLst/>
          </a:prstGeom>
          <a:noFill/>
          <a:ln/>
        </p:spPr>
        <p:txBody>
          <a:bodyPr wrap="square" lIns="0" tIns="0" rIns="0" bIns="0" rtlCol="0" anchor="ctr"/>
          <a:lstStyle/>
          <a:p>
            <a:pPr algn="ctr" indent="0" marL="0">
              <a:buNone/>
            </a:pPr>
            <a:r>
              <a:rPr lang="en-US" sz="1400" b="1" dirty="0">
                <a:solidFill>
                  <a:srgbClr val="262A20"/>
                </a:solidFill>
                <a:latin typeface="Open Sans" pitchFamily="34" charset="0"/>
                <a:ea typeface="Open Sans" pitchFamily="34" charset="-122"/>
                <a:cs typeface="Open Sans" pitchFamily="34" charset="-120"/>
              </a:rPr>
              <a:t>What may you do?</a:t>
            </a:r>
            <a:endParaRPr lang="en-US" sz="1400" dirty="0"/>
          </a:p>
        </p:txBody>
      </p:sp>
      <p:sp>
        <p:nvSpPr>
          <p:cNvPr id="21" name="Text 16"/>
          <p:cNvSpPr txBox="1"/>
          <p:nvPr/>
        </p:nvSpPr>
        <p:spPr>
          <a:xfrm>
            <a:off x="3474720" y="2834640"/>
            <a:ext cx="2194560" cy="731520"/>
          </a:xfrm>
          <a:prstGeom prst="rect">
            <a:avLst/>
          </a:prstGeom>
          <a:noFill/>
          <a:ln/>
        </p:spPr>
        <p:txBody>
          <a:bodyPr wrap="square" lIns="0" tIns="0" rIns="0" bIns="0" rtlCol="0" anchor="t"/>
          <a:lstStyle/>
          <a:p>
            <a:pPr algn="ctr" indent="0" marL="0">
              <a:buNone/>
            </a:pPr>
            <a:r>
              <a:rPr lang="en-US" sz="1250" dirty="0">
                <a:solidFill>
                  <a:srgbClr val="262A20"/>
                </a:solidFill>
                <a:latin typeface="Open Sans" pitchFamily="34" charset="0"/>
                <a:ea typeface="Open Sans" pitchFamily="34" charset="-122"/>
                <a:cs typeface="Open Sans" pitchFamily="34" charset="-120"/>
              </a:rPr>
              <a:t>Kasun may open Accounts, not Payroll.</a:t>
            </a:r>
            <a:endParaRPr lang="en-US" sz="1250" dirty="0"/>
          </a:p>
        </p:txBody>
      </p:sp>
      <p:sp>
        <p:nvSpPr>
          <p:cNvPr id="22" name="Text 17"/>
          <p:cNvSpPr txBox="1"/>
          <p:nvPr/>
        </p:nvSpPr>
        <p:spPr>
          <a:xfrm>
            <a:off x="3383280" y="3611880"/>
            <a:ext cx="2377440" cy="502920"/>
          </a:xfrm>
          <a:prstGeom prst="rect">
            <a:avLst/>
          </a:prstGeom>
          <a:noFill/>
          <a:ln/>
        </p:spPr>
        <p:txBody>
          <a:bodyPr wrap="square" lIns="0" tIns="0" rIns="0" bIns="0" rtlCol="0" anchor="t"/>
          <a:lstStyle/>
          <a:p>
            <a:pPr algn="ctr" indent="0" marL="0">
              <a:buNone/>
            </a:pPr>
            <a:r>
              <a:rPr lang="en-US" sz="1250" b="1" dirty="0">
                <a:solidFill>
                  <a:srgbClr val="7D5F3F"/>
                </a:solidFill>
                <a:latin typeface="Open Sans" pitchFamily="34" charset="0"/>
                <a:ea typeface="Open Sans" pitchFamily="34" charset="-122"/>
                <a:cs typeface="Open Sans" pitchFamily="34" charset="-120"/>
              </a:rPr>
              <a:t>Limits the harm</a:t>
            </a:r>
            <a:endParaRPr lang="en-US" sz="1250" dirty="0"/>
          </a:p>
        </p:txBody>
      </p:sp>
      <p:sp>
        <p:nvSpPr>
          <p:cNvPr id="23" name="Shape 18"/>
          <p:cNvSpPr/>
          <p:nvPr/>
        </p:nvSpPr>
        <p:spPr>
          <a:xfrm>
            <a:off x="5870448" y="2743200"/>
            <a:ext cx="237744" cy="0"/>
          </a:xfrm>
          <a:prstGeom prst="line">
            <a:avLst/>
          </a:prstGeom>
          <a:noFill/>
          <a:ln w="25400">
            <a:solidFill>
              <a:srgbClr val="5A5F55"/>
            </a:solidFill>
            <a:prstDash val="solid"/>
            <a:tailEnd type="triangle"/>
          </a:ln>
        </p:spPr>
      </p:sp>
      <p:sp>
        <p:nvSpPr>
          <p:cNvPr id="24" name="Shape 19"/>
          <p:cNvSpPr/>
          <p:nvPr/>
        </p:nvSpPr>
        <p:spPr>
          <a:xfrm>
            <a:off x="6126480" y="1234440"/>
            <a:ext cx="2560320" cy="3017520"/>
          </a:xfrm>
          <a:prstGeom prst="roundRect">
            <a:avLst>
              <a:gd name="adj" fmla="val 2857"/>
            </a:avLst>
          </a:prstGeom>
          <a:solidFill>
            <a:srgbClr val="D9D5D2"/>
          </a:solidFill>
          <a:ln w="12700">
            <a:solidFill>
              <a:srgbClr val="D9D5D2"/>
            </a:solidFill>
            <a:prstDash val="solid"/>
          </a:ln>
        </p:spPr>
      </p:sp>
      <p:sp>
        <p:nvSpPr>
          <p:cNvPr id="25" name="Shape 20"/>
          <p:cNvSpPr/>
          <p:nvPr/>
        </p:nvSpPr>
        <p:spPr>
          <a:xfrm>
            <a:off x="7086600" y="1371600"/>
            <a:ext cx="640080" cy="640080"/>
          </a:xfrm>
          <a:prstGeom prst="ellipse">
            <a:avLst/>
          </a:prstGeom>
          <a:solidFill>
            <a:srgbClr val="667C7E"/>
          </a:solidFill>
          <a:ln w="12700">
            <a:solidFill>
              <a:srgbClr val="667C7E"/>
            </a:solidFill>
            <a:prstDash val="solid"/>
          </a:ln>
        </p:spPr>
      </p:sp>
      <p:pic>
        <p:nvPicPr>
          <p:cNvPr id="26" name="Image 2" descr="preencoded.png">    </p:cNvPr>
          <p:cNvPicPr>
            <a:picLocks noChangeAspect="1"/>
          </p:cNvPicPr>
          <p:nvPr/>
        </p:nvPicPr>
        <p:blipFill>
          <a:blip r:embed="rId3"/>
          <a:stretch>
            <a:fillRect/>
          </a:stretch>
        </p:blipFill>
        <p:spPr>
          <a:xfrm>
            <a:off x="7246620" y="1531620"/>
            <a:ext cx="320040" cy="320040"/>
          </a:xfrm>
          <a:prstGeom prst="rect">
            <a:avLst/>
          </a:prstGeom>
        </p:spPr>
      </p:pic>
      <p:sp>
        <p:nvSpPr>
          <p:cNvPr id="27" name="Text 21"/>
          <p:cNvSpPr txBox="1"/>
          <p:nvPr/>
        </p:nvSpPr>
        <p:spPr>
          <a:xfrm>
            <a:off x="6217920" y="2103120"/>
            <a:ext cx="2377440" cy="365760"/>
          </a:xfrm>
          <a:prstGeom prst="rect">
            <a:avLst/>
          </a:prstGeom>
          <a:noFill/>
          <a:ln/>
        </p:spPr>
        <p:txBody>
          <a:bodyPr wrap="square" lIns="0" tIns="0" rIns="0" bIns="0" rtlCol="0" anchor="ctr"/>
          <a:lstStyle/>
          <a:p>
            <a:pPr algn="ctr" indent="0" marL="0">
              <a:buNone/>
            </a:pPr>
            <a:r>
              <a:rPr lang="en-US" sz="1600" b="1" dirty="0">
                <a:solidFill>
                  <a:srgbClr val="262A20"/>
                </a:solidFill>
                <a:latin typeface="Open Sans" pitchFamily="34" charset="0"/>
                <a:ea typeface="Open Sans" pitchFamily="34" charset="-122"/>
                <a:cs typeface="Open Sans" pitchFamily="34" charset="-120"/>
              </a:rPr>
              <a:t>Personal login + log</a:t>
            </a:r>
            <a:endParaRPr lang="en-US" sz="1600" dirty="0"/>
          </a:p>
        </p:txBody>
      </p:sp>
      <p:sp>
        <p:nvSpPr>
          <p:cNvPr id="28" name="Text 22"/>
          <p:cNvSpPr txBox="1"/>
          <p:nvPr/>
        </p:nvSpPr>
        <p:spPr>
          <a:xfrm>
            <a:off x="6217920" y="2468880"/>
            <a:ext cx="2377440" cy="320040"/>
          </a:xfrm>
          <a:prstGeom prst="rect">
            <a:avLst/>
          </a:prstGeom>
          <a:noFill/>
          <a:ln/>
        </p:spPr>
        <p:txBody>
          <a:bodyPr wrap="square" lIns="0" tIns="0" rIns="0" bIns="0" rtlCol="0" anchor="ctr"/>
          <a:lstStyle/>
          <a:p>
            <a:pPr algn="ctr" indent="0" marL="0">
              <a:buNone/>
            </a:pPr>
            <a:r>
              <a:rPr lang="en-US" sz="1400" b="1" dirty="0">
                <a:solidFill>
                  <a:srgbClr val="262A20"/>
                </a:solidFill>
                <a:latin typeface="Open Sans" pitchFamily="34" charset="0"/>
                <a:ea typeface="Open Sans" pitchFamily="34" charset="-122"/>
                <a:cs typeface="Open Sans" pitchFamily="34" charset="-120"/>
              </a:rPr>
              <a:t>Who did it?</a:t>
            </a:r>
            <a:endParaRPr lang="en-US" sz="1400" dirty="0"/>
          </a:p>
        </p:txBody>
      </p:sp>
      <p:sp>
        <p:nvSpPr>
          <p:cNvPr id="29" name="Text 23"/>
          <p:cNvSpPr txBox="1"/>
          <p:nvPr/>
        </p:nvSpPr>
        <p:spPr>
          <a:xfrm>
            <a:off x="6309360" y="2834640"/>
            <a:ext cx="2194560" cy="731520"/>
          </a:xfrm>
          <a:prstGeom prst="rect">
            <a:avLst/>
          </a:prstGeom>
          <a:noFill/>
          <a:ln/>
        </p:spPr>
        <p:txBody>
          <a:bodyPr wrap="square" lIns="0" tIns="0" rIns="0" bIns="0" rtlCol="0" anchor="t"/>
          <a:lstStyle/>
          <a:p>
            <a:pPr algn="ctr" indent="0" marL="0">
              <a:buNone/>
            </a:pPr>
            <a:r>
              <a:rPr lang="en-US" sz="1250" dirty="0">
                <a:solidFill>
                  <a:srgbClr val="262A20"/>
                </a:solidFill>
                <a:latin typeface="Open Sans" pitchFamily="34" charset="0"/>
                <a:ea typeface="Open Sans" pitchFamily="34" charset="-122"/>
                <a:cs typeface="Open Sans" pitchFamily="34" charset="-120"/>
              </a:rPr>
              <a:t>Every action is recorded with a name.</a:t>
            </a:r>
            <a:endParaRPr lang="en-US" sz="1250" dirty="0"/>
          </a:p>
        </p:txBody>
      </p:sp>
      <p:sp>
        <p:nvSpPr>
          <p:cNvPr id="30" name="Text 24"/>
          <p:cNvSpPr txBox="1"/>
          <p:nvPr/>
        </p:nvSpPr>
        <p:spPr>
          <a:xfrm>
            <a:off x="6217920" y="3611880"/>
            <a:ext cx="2377440" cy="502920"/>
          </a:xfrm>
          <a:prstGeom prst="rect">
            <a:avLst/>
          </a:prstGeom>
          <a:noFill/>
          <a:ln/>
        </p:spPr>
        <p:txBody>
          <a:bodyPr wrap="square" lIns="0" tIns="0" rIns="0" bIns="0" rtlCol="0" anchor="t"/>
          <a:lstStyle/>
          <a:p>
            <a:pPr algn="ctr" indent="0" marL="0">
              <a:buNone/>
            </a:pPr>
            <a:r>
              <a:rPr lang="en-US" sz="1250" b="1" dirty="0">
                <a:solidFill>
                  <a:srgbClr val="7D5F3F"/>
                </a:solidFill>
                <a:latin typeface="Open Sans" pitchFamily="34" charset="0"/>
                <a:ea typeface="Open Sans" pitchFamily="34" charset="-122"/>
                <a:cs typeface="Open Sans" pitchFamily="34" charset="-120"/>
              </a:rPr>
              <a:t>Gives accountability (the diary)</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566A6C"/>
        </a:solidFill>
      </p:bgPr>
    </p:bg>
    <p:spTree>
      <p:nvGrpSpPr>
        <p:cNvPr id="1" name=""/>
        <p:cNvGrpSpPr/>
        <p:nvPr/>
      </p:nvGrpSpPr>
      <p:grpSpPr>
        <a:xfrm>
          <a:off x="0" y="0"/>
          <a:ext cx="0" cy="0"/>
          <a:chOff x="0" y="0"/>
          <a:chExt cx="0" cy="0"/>
        </a:xfrm>
      </p:grpSpPr>
      <p:sp>
        <p:nvSpPr>
          <p:cNvPr id="2" name="Shape 0"/>
          <p:cNvSpPr/>
          <p:nvPr/>
        </p:nvSpPr>
        <p:spPr>
          <a:xfrm>
            <a:off x="457200" y="411480"/>
            <a:ext cx="731520" cy="731520"/>
          </a:xfrm>
          <a:prstGeom prst="ellipse">
            <a:avLst/>
          </a:prstGeom>
          <a:solidFill>
            <a:srgbClr val="262A20"/>
          </a:solidFill>
          <a:ln w="12700">
            <a:solidFill>
              <a:srgbClr val="262A20"/>
            </a:solidFill>
            <a:prstDash val="solid"/>
          </a:ln>
        </p:spPr>
      </p:sp>
      <p:pic>
        <p:nvPicPr>
          <p:cNvPr id="3" name="Image 0" descr="preencoded.png">    </p:cNvPr>
          <p:cNvPicPr>
            <a:picLocks noChangeAspect="1"/>
          </p:cNvPicPr>
          <p:nvPr/>
        </p:nvPicPr>
        <p:blipFill>
          <a:blip r:embed="rId1"/>
          <a:stretch>
            <a:fillRect/>
          </a:stretch>
        </p:blipFill>
        <p:spPr>
          <a:xfrm>
            <a:off x="640080" y="594360"/>
            <a:ext cx="365760" cy="365760"/>
          </a:xfrm>
          <a:prstGeom prst="rect">
            <a:avLst/>
          </a:prstGeom>
        </p:spPr>
      </p:pic>
      <p:sp>
        <p:nvSpPr>
          <p:cNvPr id="4" name="Text 1"/>
          <p:cNvSpPr txBox="1"/>
          <p:nvPr/>
        </p:nvSpPr>
        <p:spPr>
          <a:xfrm>
            <a:off x="1371600" y="411480"/>
            <a:ext cx="4572000" cy="320040"/>
          </a:xfrm>
          <a:prstGeom prst="rect">
            <a:avLst/>
          </a:prstGeom>
          <a:noFill/>
          <a:ln/>
        </p:spPr>
        <p:txBody>
          <a:bodyPr wrap="square" lIns="0" tIns="0" rIns="0" bIns="0" rtlCol="0" anchor="ctr"/>
          <a:lstStyle/>
          <a:p>
            <a:pPr indent="0" marL="0">
              <a:buNone/>
            </a:pPr>
            <a:r>
              <a:rPr lang="en-US" sz="1400" b="1" dirty="0">
                <a:solidFill>
                  <a:srgbClr val="EDDDCD"/>
                </a:solidFill>
                <a:latin typeface="Open Sans" pitchFamily="34" charset="0"/>
                <a:ea typeface="Open Sans" pitchFamily="34" charset="-122"/>
                <a:cs typeface="Open Sans" pitchFamily="34" charset="-120"/>
              </a:rPr>
              <a:t>Play: A2.7</a:t>
            </a:r>
            <a:endParaRPr lang="en-US" sz="1400" dirty="0"/>
          </a:p>
        </p:txBody>
      </p:sp>
      <p:sp>
        <p:nvSpPr>
          <p:cNvPr id="5" name="Text 2"/>
          <p:cNvSpPr txBox="1"/>
          <p:nvPr/>
        </p:nvSpPr>
        <p:spPr>
          <a:xfrm>
            <a:off x="1371600" y="731520"/>
            <a:ext cx="7315200" cy="502920"/>
          </a:xfrm>
          <a:prstGeom prst="rect">
            <a:avLst/>
          </a:prstGeom>
          <a:noFill/>
          <a:ln/>
        </p:spPr>
        <p:txBody>
          <a:bodyPr wrap="square" lIns="0" tIns="0" rIns="0" bIns="0" rtlCol="0" anchor="ctr"/>
          <a:lstStyle/>
          <a:p>
            <a:pPr indent="0" marL="0">
              <a:buNone/>
            </a:pPr>
            <a:r>
              <a:rPr lang="en-US" sz="2800" b="1" dirty="0">
                <a:solidFill>
                  <a:srgbClr val="FFFFFF"/>
                </a:solidFill>
                <a:latin typeface="Open Sans" pitchFamily="34" charset="0"/>
                <a:ea typeface="Open Sans" pitchFamily="34" charset="-122"/>
                <a:cs typeface="Open Sans" pitchFamily="34" charset="-120"/>
              </a:rPr>
              <a:t>Door or Diary?</a:t>
            </a:r>
            <a:endParaRPr lang="en-US" sz="2800" dirty="0"/>
          </a:p>
        </p:txBody>
      </p:sp>
      <p:sp>
        <p:nvSpPr>
          <p:cNvPr id="6" name="Text 3"/>
          <p:cNvSpPr txBox="1"/>
          <p:nvPr/>
        </p:nvSpPr>
        <p:spPr>
          <a:xfrm>
            <a:off x="457200" y="1508760"/>
            <a:ext cx="6035040" cy="2011680"/>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700" dirty="0">
                <a:solidFill>
                  <a:srgbClr val="FFFFFF"/>
                </a:solidFill>
                <a:latin typeface="Open Sans" pitchFamily="34" charset="0"/>
                <a:ea typeface="Open Sans" pitchFamily="34" charset="-122"/>
                <a:cs typeface="Open Sans" pitchFamily="34" charset="-120"/>
              </a:rPr>
              <a:t>Read each situation.</a:t>
            </a:r>
            <a:endParaRPr lang="en-US" sz="1700" dirty="0"/>
          </a:p>
          <a:p>
            <a:pPr marL="342900" indent="-342900">
              <a:spcAft>
                <a:spcPts val="600"/>
              </a:spcAft>
              <a:buSzPct val="100000"/>
              <a:buFont typeface="+mj-lt"/>
              <a:buAutoNum type="arabicPeriod" startAt="1"/>
            </a:pPr>
            <a:r>
              <a:rPr lang="en-US" sz="1700" dirty="0">
                <a:solidFill>
                  <a:srgbClr val="FFFFFF"/>
                </a:solidFill>
                <a:latin typeface="Open Sans" pitchFamily="34" charset="0"/>
                <a:ea typeface="Open Sans" pitchFamily="34" charset="-122"/>
                <a:cs typeface="Open Sans" pitchFamily="34" charset="-120"/>
              </a:rPr>
              <a:t>Door (is it real, now) or diary (who did it, later)?</a:t>
            </a:r>
            <a:endParaRPr lang="en-US" sz="1700" dirty="0"/>
          </a:p>
          <a:p>
            <a:pPr marL="342900" indent="-342900">
              <a:spcAft>
                <a:spcPts val="600"/>
              </a:spcAft>
              <a:buSzPct val="100000"/>
              <a:buFont typeface="+mj-lt"/>
              <a:buAutoNum type="arabicPeriod" startAt="1"/>
            </a:pPr>
            <a:r>
              <a:rPr lang="en-US" sz="1700" dirty="0">
                <a:solidFill>
                  <a:srgbClr val="FFFFFF"/>
                </a:solidFill>
                <a:latin typeface="Open Sans" pitchFamily="34" charset="0"/>
                <a:ea typeface="Open Sans" pitchFamily="34" charset="-122"/>
                <a:cs typeface="Open Sans" pitchFamily="34" charset="-120"/>
              </a:rPr>
              <a:t>The situations come in look-alike pairs.</a:t>
            </a:r>
            <a:endParaRPr lang="en-US" sz="1700" dirty="0"/>
          </a:p>
        </p:txBody>
      </p:sp>
      <p:sp>
        <p:nvSpPr>
          <p:cNvPr id="7" name="Text 4"/>
          <p:cNvSpPr txBox="1"/>
          <p:nvPr/>
        </p:nvSpPr>
        <p:spPr>
          <a:xfrm>
            <a:off x="457200" y="3703320"/>
            <a:ext cx="6217920" cy="320040"/>
          </a:xfrm>
          <a:prstGeom prst="rect">
            <a:avLst/>
          </a:prstGeom>
          <a:noFill/>
          <a:ln/>
        </p:spPr>
        <p:txBody>
          <a:bodyPr wrap="square" lIns="0" tIns="0" rIns="0" bIns="0" rtlCol="0" anchor="ctr"/>
          <a:lstStyle/>
          <a:p>
            <a:pPr indent="0" marL="0">
              <a:buNone/>
            </a:pPr>
            <a:r>
              <a:rPr lang="en-US" sz="1300" b="1" dirty="0">
                <a:solidFill>
                  <a:srgbClr val="FFFFFF"/>
                </a:solidFill>
                <a:latin typeface="Open Sans" pitchFamily="34" charset="0"/>
                <a:ea typeface="Open Sans" pitchFamily="34" charset="-122"/>
                <a:cs typeface="Open Sans" pitchFamily="34" charset="-120"/>
              </a:rPr>
              <a:t>Open it: course site &gt; Day 2 &gt; Door or Diary?</a:t>
            </a:r>
            <a:endParaRPr lang="en-US" sz="1300" dirty="0"/>
          </a:p>
        </p:txBody>
      </p:sp>
      <p:sp>
        <p:nvSpPr>
          <p:cNvPr id="8" name="Text 5"/>
          <p:cNvSpPr txBox="1"/>
          <p:nvPr/>
        </p:nvSpPr>
        <p:spPr>
          <a:xfrm>
            <a:off x="457200" y="4069080"/>
            <a:ext cx="6217920" cy="320040"/>
          </a:xfrm>
          <a:prstGeom prst="rect">
            <a:avLst/>
          </a:prstGeom>
          <a:noFill/>
          <a:ln/>
        </p:spPr>
        <p:txBody>
          <a:bodyPr wrap="square" lIns="0" tIns="0" rIns="0" bIns="0" rtlCol="0" anchor="ctr"/>
          <a:lstStyle/>
          <a:p>
            <a:pPr indent="0" marL="0">
              <a:buNone/>
            </a:pPr>
            <a:r>
              <a:rPr lang="en-US" sz="1300" dirty="0">
                <a:solidFill>
                  <a:srgbClr val="EDDDCD"/>
                </a:solidFill>
                <a:latin typeface="Open Sans" pitchFamily="34" charset="0"/>
                <a:ea typeface="Open Sans" pitchFamily="34" charset="-122"/>
                <a:cs typeface="Open Sans" pitchFamily="34" charset="-120"/>
              </a:rPr>
              <a:t>Practises: telling authenticity from accountability</a:t>
            </a:r>
            <a:endParaRPr lang="en-US" sz="1300" dirty="0"/>
          </a:p>
        </p:txBody>
      </p:sp>
      <p:sp>
        <p:nvSpPr>
          <p:cNvPr id="9" name="Shape 6"/>
          <p:cNvSpPr/>
          <p:nvPr/>
        </p:nvSpPr>
        <p:spPr>
          <a:xfrm>
            <a:off x="6949440" y="1554480"/>
            <a:ext cx="1737360" cy="1005840"/>
          </a:xfrm>
          <a:prstGeom prst="roundRect">
            <a:avLst>
              <a:gd name="adj" fmla="val 9091"/>
            </a:avLst>
          </a:prstGeom>
          <a:solidFill>
            <a:srgbClr val="262A20"/>
          </a:solidFill>
          <a:ln w="12700">
            <a:solidFill>
              <a:srgbClr val="262A20"/>
            </a:solidFill>
            <a:prstDash val="solid"/>
          </a:ln>
        </p:spPr>
      </p:sp>
      <p:sp>
        <p:nvSpPr>
          <p:cNvPr id="10" name="Text 7"/>
          <p:cNvSpPr txBox="1"/>
          <p:nvPr/>
        </p:nvSpPr>
        <p:spPr>
          <a:xfrm>
            <a:off x="6949440" y="1554480"/>
            <a:ext cx="1737360" cy="1005840"/>
          </a:xfrm>
          <a:prstGeom prst="rect">
            <a:avLst/>
          </a:prstGeom>
          <a:noFill/>
          <a:ln/>
        </p:spPr>
        <p:txBody>
          <a:bodyPr wrap="square" lIns="0" tIns="0" rIns="0" bIns="0" rtlCol="0" anchor="ctr"/>
          <a:lstStyle/>
          <a:p>
            <a:pPr algn="ctr" indent="0" marL="0">
              <a:buNone/>
            </a:pPr>
            <a:r>
              <a:rPr lang="en-US" sz="2600" b="1" dirty="0">
                <a:solidFill>
                  <a:srgbClr val="FFFFFF"/>
                </a:solidFill>
                <a:latin typeface="Open Sans" pitchFamily="34" charset="0"/>
                <a:ea typeface="Open Sans" pitchFamily="34" charset="-122"/>
                <a:cs typeface="Open Sans" pitchFamily="34" charset="-120"/>
              </a:rPr>
              <a:t>6 min</a:t>
            </a:r>
            <a:endParaRPr lang="en-US" sz="2600" dirty="0"/>
          </a:p>
        </p:txBody>
      </p:sp>
      <p:sp>
        <p:nvSpPr>
          <p:cNvPr id="11" name="Shape 8"/>
          <p:cNvSpPr/>
          <p:nvPr/>
        </p:nvSpPr>
        <p:spPr>
          <a:xfrm>
            <a:off x="6949440" y="2697480"/>
            <a:ext cx="1737360" cy="1965960"/>
          </a:xfrm>
          <a:prstGeom prst="roundRect">
            <a:avLst>
              <a:gd name="adj" fmla="val 4211"/>
            </a:avLst>
          </a:prstGeom>
          <a:solidFill>
            <a:srgbClr val="FFFFFF"/>
          </a:solidFill>
          <a:ln w="12700">
            <a:solidFill>
              <a:srgbClr val="FFFFFF"/>
            </a:solidFill>
            <a:prstDash val="solid"/>
          </a:ln>
        </p:spPr>
      </p:sp>
      <p:pic>
        <p:nvPicPr>
          <p:cNvPr id="12" name="Image 1" descr="QR code for Door or Diary?">    </p:cNvPr>
          <p:cNvPicPr>
            <a:picLocks noChangeAspect="1"/>
          </p:cNvPicPr>
          <p:nvPr/>
        </p:nvPicPr>
        <p:blipFill>
          <a:blip r:embed="rId2"/>
          <a:stretch>
            <a:fillRect/>
          </a:stretch>
        </p:blipFill>
        <p:spPr>
          <a:xfrm>
            <a:off x="7059168" y="2770632"/>
            <a:ext cx="1517904" cy="1517904"/>
          </a:xfrm>
          <a:prstGeom prst="rect">
            <a:avLst/>
          </a:prstGeom>
        </p:spPr>
      </p:pic>
      <p:sp>
        <p:nvSpPr>
          <p:cNvPr id="13" name="Text 9"/>
          <p:cNvSpPr txBox="1"/>
          <p:nvPr/>
        </p:nvSpPr>
        <p:spPr>
          <a:xfrm>
            <a:off x="6949440" y="4315968"/>
            <a:ext cx="1737360" cy="256032"/>
          </a:xfrm>
          <a:prstGeom prst="rect">
            <a:avLst/>
          </a:prstGeom>
          <a:noFill/>
          <a:ln/>
        </p:spPr>
        <p:txBody>
          <a:bodyPr wrap="square" lIns="0" tIns="0" rIns="0" bIns="0" rtlCol="0" anchor="ctr"/>
          <a:lstStyle/>
          <a:p>
            <a:pPr algn="ctr" indent="0" marL="0">
              <a:buNone/>
            </a:pPr>
            <a:r>
              <a:rPr lang="en-US" sz="1100" b="1" dirty="0">
                <a:solidFill>
                  <a:srgbClr val="262A20"/>
                </a:solidFill>
                <a:latin typeface="Open Sans" pitchFamily="34" charset="0"/>
                <a:ea typeface="Open Sans" pitchFamily="34" charset="-122"/>
                <a:cs typeface="Open Sans" pitchFamily="34" charset="-120"/>
              </a:rPr>
              <a:t>Scan to play</a:t>
            </a:r>
            <a:endParaRPr lang="en-US" sz="1100" dirty="0"/>
          </a:p>
        </p:txBody>
      </p:sp>
      <p:sp>
        <p:nvSpPr>
          <p:cNvPr id="14" name="Text 10"/>
          <p:cNvSpPr txBox="1"/>
          <p:nvPr/>
        </p:nvSpPr>
        <p:spPr>
          <a:xfrm>
            <a:off x="457200" y="4828032"/>
            <a:ext cx="6858000" cy="182880"/>
          </a:xfrm>
          <a:prstGeom prst="rect">
            <a:avLst/>
          </a:prstGeom>
          <a:noFill/>
          <a:ln/>
        </p:spPr>
        <p:txBody>
          <a:bodyPr wrap="square" lIns="0" tIns="0" rIns="0" bIns="0" rtlCol="0" anchor="ctr"/>
          <a:lstStyle/>
          <a:p>
            <a:pPr indent="0" marL="0">
              <a:buNone/>
            </a:pPr>
            <a:r>
              <a:rPr lang="en-US" sz="800" dirty="0">
                <a:solidFill>
                  <a:srgbClr val="D9D5D2"/>
                </a:solidFill>
                <a:latin typeface="Open Sans" pitchFamily="34" charset="0"/>
                <a:ea typeface="Open Sans" pitchFamily="34" charset="-122"/>
                <a:cs typeface="Open Sans" pitchFamily="34" charset="-120"/>
              </a:rPr>
              <a:t>DBIS-11 Cybersecurity and Cloud Computing  |  Day 2  |  Session 11.4</a:t>
            </a:r>
            <a:endParaRPr lang="en-US" sz="800" dirty="0"/>
          </a:p>
        </p:txBody>
      </p:sp>
      <p:sp>
        <p:nvSpPr>
          <p:cNvPr id="15" name="Text 11"/>
          <p:cNvSpPr txBox="1"/>
          <p:nvPr/>
        </p:nvSpPr>
        <p:spPr>
          <a:xfrm>
            <a:off x="8138160" y="4828032"/>
            <a:ext cx="548640" cy="182880"/>
          </a:xfrm>
          <a:prstGeom prst="rect">
            <a:avLst/>
          </a:prstGeom>
          <a:noFill/>
          <a:ln/>
        </p:spPr>
        <p:txBody>
          <a:bodyPr wrap="square" lIns="0" tIns="0" rIns="0" bIns="0" rtlCol="0" anchor="ctr"/>
          <a:lstStyle/>
          <a:p>
            <a:pPr algn="r" indent="0" marL="0">
              <a:buNone/>
            </a:pPr>
            <a:r>
              <a:rPr lang="en-US" sz="800" dirty="0">
                <a:solidFill>
                  <a:srgbClr val="D9D5D2"/>
                </a:solidFill>
                <a:latin typeface="Open Sans" pitchFamily="34" charset="0"/>
                <a:ea typeface="Open Sans" pitchFamily="34" charset="-122"/>
                <a:cs typeface="Open Sans" pitchFamily="34" charset="-120"/>
              </a:rPr>
              <a:t>15</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566A6C"/>
        </a:solidFill>
      </p:bgPr>
    </p:bg>
    <p:spTree>
      <p:nvGrpSpPr>
        <p:cNvPr id="1" name=""/>
        <p:cNvGrpSpPr/>
        <p:nvPr/>
      </p:nvGrpSpPr>
      <p:grpSpPr>
        <a:xfrm>
          <a:off x="0" y="0"/>
          <a:ext cx="0" cy="0"/>
          <a:chOff x="0" y="0"/>
          <a:chExt cx="0" cy="0"/>
        </a:xfrm>
      </p:grpSpPr>
      <p:sp>
        <p:nvSpPr>
          <p:cNvPr id="2" name="Shape 0"/>
          <p:cNvSpPr/>
          <p:nvPr/>
        </p:nvSpPr>
        <p:spPr>
          <a:xfrm>
            <a:off x="457200" y="411480"/>
            <a:ext cx="731520" cy="731520"/>
          </a:xfrm>
          <a:prstGeom prst="ellipse">
            <a:avLst/>
          </a:prstGeom>
          <a:solidFill>
            <a:srgbClr val="262A20"/>
          </a:solidFill>
          <a:ln w="12700">
            <a:solidFill>
              <a:srgbClr val="262A20"/>
            </a:solidFill>
            <a:prstDash val="solid"/>
          </a:ln>
        </p:spPr>
      </p:sp>
      <p:pic>
        <p:nvPicPr>
          <p:cNvPr id="3" name="Image 0" descr="preencoded.png">    </p:cNvPr>
          <p:cNvPicPr>
            <a:picLocks noChangeAspect="1"/>
          </p:cNvPicPr>
          <p:nvPr/>
        </p:nvPicPr>
        <p:blipFill>
          <a:blip r:embed="rId1"/>
          <a:stretch>
            <a:fillRect/>
          </a:stretch>
        </p:blipFill>
        <p:spPr>
          <a:xfrm>
            <a:off x="640080" y="594360"/>
            <a:ext cx="365760" cy="365760"/>
          </a:xfrm>
          <a:prstGeom prst="rect">
            <a:avLst/>
          </a:prstGeom>
        </p:spPr>
      </p:pic>
      <p:sp>
        <p:nvSpPr>
          <p:cNvPr id="4" name="Text 1"/>
          <p:cNvSpPr txBox="1"/>
          <p:nvPr/>
        </p:nvSpPr>
        <p:spPr>
          <a:xfrm>
            <a:off x="1371600" y="411480"/>
            <a:ext cx="4572000" cy="320040"/>
          </a:xfrm>
          <a:prstGeom prst="rect">
            <a:avLst/>
          </a:prstGeom>
          <a:noFill/>
          <a:ln/>
        </p:spPr>
        <p:txBody>
          <a:bodyPr wrap="square" lIns="0" tIns="0" rIns="0" bIns="0" rtlCol="0" anchor="ctr"/>
          <a:lstStyle/>
          <a:p>
            <a:pPr indent="0" marL="0">
              <a:buNone/>
            </a:pPr>
            <a:r>
              <a:rPr lang="en-US" sz="1400" b="1" dirty="0">
                <a:solidFill>
                  <a:srgbClr val="EDDDCD"/>
                </a:solidFill>
                <a:latin typeface="Open Sans" pitchFamily="34" charset="0"/>
                <a:ea typeface="Open Sans" pitchFamily="34" charset="-122"/>
                <a:cs typeface="Open Sans" pitchFamily="34" charset="-120"/>
              </a:rPr>
              <a:t>Play: A1.1+</a:t>
            </a:r>
            <a:endParaRPr lang="en-US" sz="1400" dirty="0"/>
          </a:p>
        </p:txBody>
      </p:sp>
      <p:sp>
        <p:nvSpPr>
          <p:cNvPr id="5" name="Text 2"/>
          <p:cNvSpPr txBox="1"/>
          <p:nvPr/>
        </p:nvSpPr>
        <p:spPr>
          <a:xfrm>
            <a:off x="1371600" y="731520"/>
            <a:ext cx="7315200" cy="502920"/>
          </a:xfrm>
          <a:prstGeom prst="rect">
            <a:avLst/>
          </a:prstGeom>
          <a:noFill/>
          <a:ln/>
        </p:spPr>
        <p:txBody>
          <a:bodyPr wrap="square" lIns="0" tIns="0" rIns="0" bIns="0" rtlCol="0" anchor="ctr"/>
          <a:lstStyle/>
          <a:p>
            <a:pPr indent="0" marL="0">
              <a:buNone/>
            </a:pPr>
            <a:r>
              <a:rPr lang="en-US" sz="2800" b="1" dirty="0">
                <a:solidFill>
                  <a:srgbClr val="FFFFFF"/>
                </a:solidFill>
                <a:latin typeface="Open Sans" pitchFamily="34" charset="0"/>
                <a:ea typeface="Open Sans" pitchFamily="34" charset="-122"/>
                <a:cs typeface="Open Sans" pitchFamily="34" charset="-120"/>
              </a:rPr>
              <a:t>Extended CIA Triage</a:t>
            </a:r>
            <a:endParaRPr lang="en-US" sz="2800" dirty="0"/>
          </a:p>
        </p:txBody>
      </p:sp>
      <p:sp>
        <p:nvSpPr>
          <p:cNvPr id="6" name="Text 3"/>
          <p:cNvSpPr txBox="1"/>
          <p:nvPr/>
        </p:nvSpPr>
        <p:spPr>
          <a:xfrm>
            <a:off x="457200" y="1508760"/>
            <a:ext cx="6035040" cy="2011680"/>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700" dirty="0">
                <a:solidFill>
                  <a:srgbClr val="FFFFFF"/>
                </a:solidFill>
                <a:latin typeface="Open Sans" pitchFamily="34" charset="0"/>
                <a:ea typeface="Open Sans" pitchFamily="34" charset="-122"/>
                <a:cs typeface="Open Sans" pitchFamily="34" charset="-120"/>
              </a:rPr>
              <a:t>The Day 1 game, with two new buttons.</a:t>
            </a:r>
            <a:endParaRPr lang="en-US" sz="1700" dirty="0"/>
          </a:p>
          <a:p>
            <a:pPr marL="342900" indent="-342900">
              <a:spcAft>
                <a:spcPts val="600"/>
              </a:spcAft>
              <a:buSzPct val="100000"/>
              <a:buFont typeface="+mj-lt"/>
              <a:buAutoNum type="arabicPeriod" startAt="1"/>
            </a:pPr>
            <a:r>
              <a:rPr lang="en-US" sz="1700" dirty="0">
                <a:solidFill>
                  <a:srgbClr val="FFFFFF"/>
                </a:solidFill>
                <a:latin typeface="Open Sans" pitchFamily="34" charset="0"/>
                <a:ea typeface="Open Sans" pitchFamily="34" charset="-122"/>
                <a:cs typeface="Open Sans" pitchFamily="34" charset="-120"/>
              </a:rPr>
              <a:t>Tap C, I, A, Au (door) or Ac (diary).</a:t>
            </a:r>
            <a:endParaRPr lang="en-US" sz="1700" dirty="0"/>
          </a:p>
          <a:p>
            <a:pPr marL="342900" indent="-342900">
              <a:spcAft>
                <a:spcPts val="600"/>
              </a:spcAft>
              <a:buSzPct val="100000"/>
              <a:buFont typeface="+mj-lt"/>
              <a:buAutoNum type="arabicPeriod" startAt="1"/>
            </a:pPr>
            <a:r>
              <a:rPr lang="en-US" sz="1700" dirty="0">
                <a:solidFill>
                  <a:srgbClr val="FFFFFF"/>
                </a:solidFill>
                <a:latin typeface="Open Sans" pitchFamily="34" charset="0"/>
                <a:ea typeface="Open Sans" pitchFamily="34" charset="-122"/>
                <a:cs typeface="Open Sans" pitchFamily="34" charset="-120"/>
              </a:rPr>
              <a:t>Ask: seen, changed, cannot use, real, or who?</a:t>
            </a:r>
            <a:endParaRPr lang="en-US" sz="1700" dirty="0"/>
          </a:p>
        </p:txBody>
      </p:sp>
      <p:sp>
        <p:nvSpPr>
          <p:cNvPr id="7" name="Text 4"/>
          <p:cNvSpPr txBox="1"/>
          <p:nvPr/>
        </p:nvSpPr>
        <p:spPr>
          <a:xfrm>
            <a:off x="457200" y="3703320"/>
            <a:ext cx="6217920" cy="320040"/>
          </a:xfrm>
          <a:prstGeom prst="rect">
            <a:avLst/>
          </a:prstGeom>
          <a:noFill/>
          <a:ln/>
        </p:spPr>
        <p:txBody>
          <a:bodyPr wrap="square" lIns="0" tIns="0" rIns="0" bIns="0" rtlCol="0" anchor="ctr"/>
          <a:lstStyle/>
          <a:p>
            <a:pPr indent="0" marL="0">
              <a:buNone/>
            </a:pPr>
            <a:r>
              <a:rPr lang="en-US" sz="1300" b="1" dirty="0">
                <a:solidFill>
                  <a:srgbClr val="FFFFFF"/>
                </a:solidFill>
                <a:latin typeface="Open Sans" pitchFamily="34" charset="0"/>
                <a:ea typeface="Open Sans" pitchFamily="34" charset="-122"/>
                <a:cs typeface="Open Sans" pitchFamily="34" charset="-120"/>
              </a:rPr>
              <a:t>Open it: course site &gt; Day 2 &gt; Extended CIA Triage</a:t>
            </a:r>
            <a:endParaRPr lang="en-US" sz="1300" dirty="0"/>
          </a:p>
        </p:txBody>
      </p:sp>
      <p:sp>
        <p:nvSpPr>
          <p:cNvPr id="8" name="Text 5"/>
          <p:cNvSpPr txBox="1"/>
          <p:nvPr/>
        </p:nvSpPr>
        <p:spPr>
          <a:xfrm>
            <a:off x="457200" y="4069080"/>
            <a:ext cx="6217920" cy="320040"/>
          </a:xfrm>
          <a:prstGeom prst="rect">
            <a:avLst/>
          </a:prstGeom>
          <a:noFill/>
          <a:ln/>
        </p:spPr>
        <p:txBody>
          <a:bodyPr wrap="square" lIns="0" tIns="0" rIns="0" bIns="0" rtlCol="0" anchor="ctr"/>
          <a:lstStyle/>
          <a:p>
            <a:pPr indent="0" marL="0">
              <a:buNone/>
            </a:pPr>
            <a:r>
              <a:rPr lang="en-US" sz="1300" dirty="0">
                <a:solidFill>
                  <a:srgbClr val="EDDDCD"/>
                </a:solidFill>
                <a:latin typeface="Open Sans" pitchFamily="34" charset="0"/>
                <a:ea typeface="Open Sans" pitchFamily="34" charset="-122"/>
                <a:cs typeface="Open Sans" pitchFamily="34" charset="-120"/>
              </a:rPr>
              <a:t>Practises: the five goals of extended CIA</a:t>
            </a:r>
            <a:endParaRPr lang="en-US" sz="1300" dirty="0"/>
          </a:p>
        </p:txBody>
      </p:sp>
      <p:sp>
        <p:nvSpPr>
          <p:cNvPr id="9" name="Shape 6"/>
          <p:cNvSpPr/>
          <p:nvPr/>
        </p:nvSpPr>
        <p:spPr>
          <a:xfrm>
            <a:off x="6949440" y="1554480"/>
            <a:ext cx="1737360" cy="1005840"/>
          </a:xfrm>
          <a:prstGeom prst="roundRect">
            <a:avLst>
              <a:gd name="adj" fmla="val 9091"/>
            </a:avLst>
          </a:prstGeom>
          <a:solidFill>
            <a:srgbClr val="262A20"/>
          </a:solidFill>
          <a:ln w="12700">
            <a:solidFill>
              <a:srgbClr val="262A20"/>
            </a:solidFill>
            <a:prstDash val="solid"/>
          </a:ln>
        </p:spPr>
      </p:sp>
      <p:sp>
        <p:nvSpPr>
          <p:cNvPr id="10" name="Text 7"/>
          <p:cNvSpPr txBox="1"/>
          <p:nvPr/>
        </p:nvSpPr>
        <p:spPr>
          <a:xfrm>
            <a:off x="6949440" y="1554480"/>
            <a:ext cx="1737360" cy="1005840"/>
          </a:xfrm>
          <a:prstGeom prst="rect">
            <a:avLst/>
          </a:prstGeom>
          <a:noFill/>
          <a:ln/>
        </p:spPr>
        <p:txBody>
          <a:bodyPr wrap="square" lIns="0" tIns="0" rIns="0" bIns="0" rtlCol="0" anchor="ctr"/>
          <a:lstStyle/>
          <a:p>
            <a:pPr algn="ctr" indent="0" marL="0">
              <a:buNone/>
            </a:pPr>
            <a:r>
              <a:rPr lang="en-US" sz="2600" b="1" dirty="0">
                <a:solidFill>
                  <a:srgbClr val="FFFFFF"/>
                </a:solidFill>
                <a:latin typeface="Open Sans" pitchFamily="34" charset="0"/>
                <a:ea typeface="Open Sans" pitchFamily="34" charset="-122"/>
                <a:cs typeface="Open Sans" pitchFamily="34" charset="-120"/>
              </a:rPr>
              <a:t>7 min</a:t>
            </a:r>
            <a:endParaRPr lang="en-US" sz="2600" dirty="0"/>
          </a:p>
        </p:txBody>
      </p:sp>
      <p:sp>
        <p:nvSpPr>
          <p:cNvPr id="11" name="Shape 8"/>
          <p:cNvSpPr/>
          <p:nvPr/>
        </p:nvSpPr>
        <p:spPr>
          <a:xfrm>
            <a:off x="6949440" y="2697480"/>
            <a:ext cx="1737360" cy="1965960"/>
          </a:xfrm>
          <a:prstGeom prst="roundRect">
            <a:avLst>
              <a:gd name="adj" fmla="val 4211"/>
            </a:avLst>
          </a:prstGeom>
          <a:solidFill>
            <a:srgbClr val="FFFFFF"/>
          </a:solidFill>
          <a:ln w="12700">
            <a:solidFill>
              <a:srgbClr val="FFFFFF"/>
            </a:solidFill>
            <a:prstDash val="solid"/>
          </a:ln>
        </p:spPr>
      </p:sp>
      <p:pic>
        <p:nvPicPr>
          <p:cNvPr id="12" name="Image 1" descr="QR code for Extended CIA Triage">    </p:cNvPr>
          <p:cNvPicPr>
            <a:picLocks noChangeAspect="1"/>
          </p:cNvPicPr>
          <p:nvPr/>
        </p:nvPicPr>
        <p:blipFill>
          <a:blip r:embed="rId2"/>
          <a:stretch>
            <a:fillRect/>
          </a:stretch>
        </p:blipFill>
        <p:spPr>
          <a:xfrm>
            <a:off x="7059168" y="2770632"/>
            <a:ext cx="1517904" cy="1517904"/>
          </a:xfrm>
          <a:prstGeom prst="rect">
            <a:avLst/>
          </a:prstGeom>
        </p:spPr>
      </p:pic>
      <p:sp>
        <p:nvSpPr>
          <p:cNvPr id="13" name="Text 9"/>
          <p:cNvSpPr txBox="1"/>
          <p:nvPr/>
        </p:nvSpPr>
        <p:spPr>
          <a:xfrm>
            <a:off x="6949440" y="4315968"/>
            <a:ext cx="1737360" cy="256032"/>
          </a:xfrm>
          <a:prstGeom prst="rect">
            <a:avLst/>
          </a:prstGeom>
          <a:noFill/>
          <a:ln/>
        </p:spPr>
        <p:txBody>
          <a:bodyPr wrap="square" lIns="0" tIns="0" rIns="0" bIns="0" rtlCol="0" anchor="ctr"/>
          <a:lstStyle/>
          <a:p>
            <a:pPr algn="ctr" indent="0" marL="0">
              <a:buNone/>
            </a:pPr>
            <a:r>
              <a:rPr lang="en-US" sz="1100" b="1" dirty="0">
                <a:solidFill>
                  <a:srgbClr val="262A20"/>
                </a:solidFill>
                <a:latin typeface="Open Sans" pitchFamily="34" charset="0"/>
                <a:ea typeface="Open Sans" pitchFamily="34" charset="-122"/>
                <a:cs typeface="Open Sans" pitchFamily="34" charset="-120"/>
              </a:rPr>
              <a:t>Scan to play</a:t>
            </a:r>
            <a:endParaRPr lang="en-US" sz="1100" dirty="0"/>
          </a:p>
        </p:txBody>
      </p:sp>
      <p:sp>
        <p:nvSpPr>
          <p:cNvPr id="14" name="Text 10"/>
          <p:cNvSpPr txBox="1"/>
          <p:nvPr/>
        </p:nvSpPr>
        <p:spPr>
          <a:xfrm>
            <a:off x="457200" y="4828032"/>
            <a:ext cx="6858000" cy="182880"/>
          </a:xfrm>
          <a:prstGeom prst="rect">
            <a:avLst/>
          </a:prstGeom>
          <a:noFill/>
          <a:ln/>
        </p:spPr>
        <p:txBody>
          <a:bodyPr wrap="square" lIns="0" tIns="0" rIns="0" bIns="0" rtlCol="0" anchor="ctr"/>
          <a:lstStyle/>
          <a:p>
            <a:pPr indent="0" marL="0">
              <a:buNone/>
            </a:pPr>
            <a:r>
              <a:rPr lang="en-US" sz="800" dirty="0">
                <a:solidFill>
                  <a:srgbClr val="D9D5D2"/>
                </a:solidFill>
                <a:latin typeface="Open Sans" pitchFamily="34" charset="0"/>
                <a:ea typeface="Open Sans" pitchFamily="34" charset="-122"/>
                <a:cs typeface="Open Sans" pitchFamily="34" charset="-120"/>
              </a:rPr>
              <a:t>DBIS-11 Cybersecurity and Cloud Computing  |  Day 2  |  Session 11.4</a:t>
            </a:r>
            <a:endParaRPr lang="en-US" sz="800" dirty="0"/>
          </a:p>
        </p:txBody>
      </p:sp>
      <p:sp>
        <p:nvSpPr>
          <p:cNvPr id="15" name="Text 11"/>
          <p:cNvSpPr txBox="1"/>
          <p:nvPr/>
        </p:nvSpPr>
        <p:spPr>
          <a:xfrm>
            <a:off x="8138160" y="4828032"/>
            <a:ext cx="548640" cy="182880"/>
          </a:xfrm>
          <a:prstGeom prst="rect">
            <a:avLst/>
          </a:prstGeom>
          <a:noFill/>
          <a:ln/>
        </p:spPr>
        <p:txBody>
          <a:bodyPr wrap="square" lIns="0" tIns="0" rIns="0" bIns="0" rtlCol="0" anchor="ctr"/>
          <a:lstStyle/>
          <a:p>
            <a:pPr algn="r" indent="0" marL="0">
              <a:buNone/>
            </a:pPr>
            <a:r>
              <a:rPr lang="en-US" sz="800" dirty="0">
                <a:solidFill>
                  <a:srgbClr val="D9D5D2"/>
                </a:solidFill>
                <a:latin typeface="Open Sans" pitchFamily="34" charset="0"/>
                <a:ea typeface="Open Sans" pitchFamily="34" charset="-122"/>
                <a:cs typeface="Open Sans" pitchFamily="34" charset="-120"/>
              </a:rPr>
              <a:t>16</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262A20"/>
        </a:solidFill>
      </p:bgPr>
    </p:bg>
    <p:spTree>
      <p:nvGrpSpPr>
        <p:cNvPr id="1" name=""/>
        <p:cNvGrpSpPr/>
        <p:nvPr/>
      </p:nvGrpSpPr>
      <p:grpSpPr>
        <a:xfrm>
          <a:off x="0" y="0"/>
          <a:ext cx="0" cy="0"/>
          <a:chOff x="0" y="0"/>
          <a:chExt cx="0" cy="0"/>
        </a:xfrm>
      </p:grpSpPr>
      <p:sp>
        <p:nvSpPr>
          <p:cNvPr id="2" name="Text 0"/>
          <p:cNvSpPr txBox="1"/>
          <p:nvPr/>
        </p:nvSpPr>
        <p:spPr>
          <a:xfrm>
            <a:off x="457200" y="1097280"/>
            <a:ext cx="1828800" cy="1463040"/>
          </a:xfrm>
          <a:prstGeom prst="rect">
            <a:avLst/>
          </a:prstGeom>
          <a:noFill/>
          <a:ln/>
        </p:spPr>
        <p:txBody>
          <a:bodyPr wrap="square" lIns="0" tIns="0" rIns="0" bIns="0" rtlCol="0" anchor="ctr"/>
          <a:lstStyle/>
          <a:p>
            <a:pPr indent="0" marL="0">
              <a:buNone/>
            </a:pPr>
            <a:r>
              <a:rPr lang="en-US" sz="9600" b="1" dirty="0">
                <a:solidFill>
                  <a:srgbClr val="C7A887"/>
                </a:solidFill>
                <a:latin typeface="Open Sans" pitchFamily="34" charset="0"/>
                <a:ea typeface="Open Sans" pitchFamily="34" charset="-122"/>
                <a:cs typeface="Open Sans" pitchFamily="34" charset="-120"/>
              </a:rPr>
              <a:t>2</a:t>
            </a:r>
            <a:endParaRPr lang="en-US" sz="9600" dirty="0"/>
          </a:p>
        </p:txBody>
      </p:sp>
      <p:sp>
        <p:nvSpPr>
          <p:cNvPr id="3" name="Text 1"/>
          <p:cNvSpPr txBox="1"/>
          <p:nvPr/>
        </p:nvSpPr>
        <p:spPr>
          <a:xfrm>
            <a:off x="2377440" y="914400"/>
            <a:ext cx="6309360" cy="1371600"/>
          </a:xfrm>
          <a:prstGeom prst="rect">
            <a:avLst/>
          </a:prstGeom>
          <a:noFill/>
          <a:ln/>
        </p:spPr>
        <p:txBody>
          <a:bodyPr wrap="square" lIns="0" tIns="0" rIns="0" bIns="0" rtlCol="0" anchor="b"/>
          <a:lstStyle/>
          <a:p>
            <a:pPr indent="0" marL="0">
              <a:buNone/>
            </a:pPr>
            <a:r>
              <a:rPr lang="en-US" sz="3200" b="1" dirty="0">
                <a:solidFill>
                  <a:srgbClr val="FFFFFF"/>
                </a:solidFill>
                <a:latin typeface="Open Sans" pitchFamily="34" charset="0"/>
                <a:ea typeface="Open Sans" pitchFamily="34" charset="-122"/>
                <a:cs typeface="Open Sans" pitchFamily="34" charset="-120"/>
              </a:rPr>
              <a:t>Strong passwords</a:t>
            </a:r>
            <a:endParaRPr lang="en-US" sz="3200" dirty="0"/>
          </a:p>
        </p:txBody>
      </p:sp>
      <p:sp>
        <p:nvSpPr>
          <p:cNvPr id="4" name="Text 2"/>
          <p:cNvSpPr txBox="1"/>
          <p:nvPr/>
        </p:nvSpPr>
        <p:spPr>
          <a:xfrm>
            <a:off x="2377440" y="2468880"/>
            <a:ext cx="6309360" cy="731520"/>
          </a:xfrm>
          <a:prstGeom prst="rect">
            <a:avLst/>
          </a:prstGeom>
          <a:noFill/>
          <a:ln/>
        </p:spPr>
        <p:txBody>
          <a:bodyPr wrap="square" lIns="0" tIns="0" rIns="0" bIns="0" rtlCol="0" anchor="t"/>
          <a:lstStyle/>
          <a:p>
            <a:pPr indent="0" marL="0">
              <a:buNone/>
            </a:pPr>
            <a:r>
              <a:rPr lang="en-US" sz="1600" dirty="0">
                <a:solidFill>
                  <a:srgbClr val="D9D5D2"/>
                </a:solidFill>
                <a:latin typeface="Open Sans" pitchFamily="34" charset="0"/>
                <a:ea typeface="Open Sans" pitchFamily="34" charset="-122"/>
                <a:cs typeface="Open Sans" pitchFamily="34" charset="-120"/>
              </a:rPr>
              <a:t>Length beats tricks.</a:t>
            </a:r>
            <a:endParaRPr lang="en-US" sz="1600" dirty="0"/>
          </a:p>
        </p:txBody>
      </p:sp>
      <p:sp>
        <p:nvSpPr>
          <p:cNvPr id="5" name="Text 3"/>
          <p:cNvSpPr txBox="1"/>
          <p:nvPr/>
        </p:nvSpPr>
        <p:spPr>
          <a:xfrm>
            <a:off x="457200" y="4828032"/>
            <a:ext cx="6858000" cy="182880"/>
          </a:xfrm>
          <a:prstGeom prst="rect">
            <a:avLst/>
          </a:prstGeom>
          <a:noFill/>
          <a:ln/>
        </p:spPr>
        <p:txBody>
          <a:bodyPr wrap="square" lIns="0" tIns="0" rIns="0" bIns="0" rtlCol="0" anchor="ctr"/>
          <a:lstStyle/>
          <a:p>
            <a:pPr indent="0" marL="0">
              <a:buNone/>
            </a:pPr>
            <a:r>
              <a:rPr lang="en-US" sz="800" dirty="0">
                <a:solidFill>
                  <a:srgbClr val="D9D5D2"/>
                </a:solidFill>
                <a:latin typeface="Open Sans" pitchFamily="34" charset="0"/>
                <a:ea typeface="Open Sans" pitchFamily="34" charset="-122"/>
                <a:cs typeface="Open Sans" pitchFamily="34" charset="-120"/>
              </a:rPr>
              <a:t>DBIS-11 Cybersecurity and Cloud Computing  |  Day 2  |  Session 11.4</a:t>
            </a:r>
            <a:endParaRPr lang="en-US" sz="800" dirty="0"/>
          </a:p>
        </p:txBody>
      </p:sp>
      <p:sp>
        <p:nvSpPr>
          <p:cNvPr id="6" name="Text 4"/>
          <p:cNvSpPr txBox="1"/>
          <p:nvPr/>
        </p:nvSpPr>
        <p:spPr>
          <a:xfrm>
            <a:off x="8138160" y="4828032"/>
            <a:ext cx="548640" cy="182880"/>
          </a:xfrm>
          <a:prstGeom prst="rect">
            <a:avLst/>
          </a:prstGeom>
          <a:noFill/>
          <a:ln/>
        </p:spPr>
        <p:txBody>
          <a:bodyPr wrap="square" lIns="0" tIns="0" rIns="0" bIns="0" rtlCol="0" anchor="ctr"/>
          <a:lstStyle/>
          <a:p>
            <a:pPr algn="r" indent="0" marL="0">
              <a:buNone/>
            </a:pPr>
            <a:r>
              <a:rPr lang="en-US" sz="800" dirty="0">
                <a:solidFill>
                  <a:srgbClr val="D9D5D2"/>
                </a:solidFill>
                <a:latin typeface="Open Sans" pitchFamily="34" charset="0"/>
                <a:ea typeface="Open Sans" pitchFamily="34" charset="-122"/>
                <a:cs typeface="Open Sans" pitchFamily="34" charset="-120"/>
              </a:rPr>
              <a:t>17</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66928"/>
          </a:xfrm>
          <a:prstGeom prst="rect">
            <a:avLst/>
          </a:prstGeom>
          <a:noFill/>
          <a:ln/>
        </p:spPr>
        <p:txBody>
          <a:bodyPr wrap="square" lIns="0" tIns="0" rIns="0" bIns="0" rtlCol="0" anchor="ctr"/>
          <a:lstStyle/>
          <a:p>
            <a:pPr indent="0" marL="0">
              <a:buNone/>
            </a:pPr>
            <a:r>
              <a:rPr lang="en-US" sz="2400" b="1" dirty="0">
                <a:solidFill>
                  <a:srgbClr val="262A20"/>
                </a:solidFill>
                <a:latin typeface="Open Sans" pitchFamily="34" charset="0"/>
                <a:ea typeface="Open Sans" pitchFamily="34" charset="-122"/>
                <a:cs typeface="Open Sans" pitchFamily="34" charset="-120"/>
              </a:rPr>
              <a:t>Why passwords fail</a:t>
            </a:r>
            <a:endParaRPr lang="en-US" sz="2400" dirty="0"/>
          </a:p>
        </p:txBody>
      </p:sp>
      <p:sp>
        <p:nvSpPr>
          <p:cNvPr id="3" name="Shape 1"/>
          <p:cNvSpPr/>
          <p:nvPr/>
        </p:nvSpPr>
        <p:spPr>
          <a:xfrm>
            <a:off x="457200" y="896112"/>
            <a:ext cx="640080" cy="54864"/>
          </a:xfrm>
          <a:prstGeom prst="rect">
            <a:avLst/>
          </a:prstGeom>
          <a:solidFill>
            <a:srgbClr val="667C7E"/>
          </a:solidFill>
          <a:ln w="12700">
            <a:solidFill>
              <a:srgbClr val="667C7E"/>
            </a:solidFill>
            <a:prstDash val="solid"/>
          </a:ln>
        </p:spPr>
      </p:sp>
      <p:sp>
        <p:nvSpPr>
          <p:cNvPr id="4" name="Shape 2"/>
          <p:cNvSpPr/>
          <p:nvPr/>
        </p:nvSpPr>
        <p:spPr>
          <a:xfrm>
            <a:off x="1143000" y="896112"/>
            <a:ext cx="320040" cy="54864"/>
          </a:xfrm>
          <a:prstGeom prst="rect">
            <a:avLst/>
          </a:prstGeom>
          <a:solidFill>
            <a:srgbClr val="C7A887"/>
          </a:solidFill>
          <a:ln w="12700">
            <a:solidFill>
              <a:srgbClr val="C7A887"/>
            </a:solidFill>
            <a:prstDash val="solid"/>
          </a:ln>
        </p:spPr>
      </p:sp>
      <p:sp>
        <p:nvSpPr>
          <p:cNvPr id="5" name="Text 3"/>
          <p:cNvSpPr txBox="1"/>
          <p:nvPr/>
        </p:nvSpPr>
        <p:spPr>
          <a:xfrm>
            <a:off x="457200" y="4828032"/>
            <a:ext cx="6858000" cy="182880"/>
          </a:xfrm>
          <a:prstGeom prst="rect">
            <a:avLst/>
          </a:prstGeom>
          <a:noFill/>
          <a:ln/>
        </p:spPr>
        <p:txBody>
          <a:bodyPr wrap="square" lIns="0" tIns="0" rIns="0" bIns="0" rtlCol="0" anchor="ctr"/>
          <a:lstStyle/>
          <a:p>
            <a:pPr indent="0" marL="0">
              <a:buNone/>
            </a:pPr>
            <a:r>
              <a:rPr lang="en-US" sz="800" dirty="0">
                <a:solidFill>
                  <a:srgbClr val="5A5F55"/>
                </a:solidFill>
                <a:latin typeface="Open Sans" pitchFamily="34" charset="0"/>
                <a:ea typeface="Open Sans" pitchFamily="34" charset="-122"/>
                <a:cs typeface="Open Sans" pitchFamily="34" charset="-120"/>
              </a:rPr>
              <a:t>DBIS-11 Cybersecurity and Cloud Computing  |  Day 2  |  Session 11.4</a:t>
            </a:r>
            <a:endParaRPr lang="en-US" sz="800" dirty="0"/>
          </a:p>
        </p:txBody>
      </p:sp>
      <p:sp>
        <p:nvSpPr>
          <p:cNvPr id="6" name="Text 4"/>
          <p:cNvSpPr txBox="1"/>
          <p:nvPr/>
        </p:nvSpPr>
        <p:spPr>
          <a:xfrm>
            <a:off x="8138160" y="4828032"/>
            <a:ext cx="548640" cy="182880"/>
          </a:xfrm>
          <a:prstGeom prst="rect">
            <a:avLst/>
          </a:prstGeom>
          <a:noFill/>
          <a:ln/>
        </p:spPr>
        <p:txBody>
          <a:bodyPr wrap="square" lIns="0" tIns="0" rIns="0" bIns="0" rtlCol="0" anchor="ctr"/>
          <a:lstStyle/>
          <a:p>
            <a:pPr algn="r" indent="0" marL="0">
              <a:buNone/>
            </a:pPr>
            <a:r>
              <a:rPr lang="en-US" sz="800" dirty="0">
                <a:solidFill>
                  <a:srgbClr val="5A5F55"/>
                </a:solidFill>
                <a:latin typeface="Open Sans" pitchFamily="34" charset="0"/>
                <a:ea typeface="Open Sans" pitchFamily="34" charset="-122"/>
                <a:cs typeface="Open Sans" pitchFamily="34" charset="-120"/>
              </a:rPr>
              <a:t>18</a:t>
            </a:r>
            <a:endParaRPr lang="en-US" sz="800" dirty="0"/>
          </a:p>
        </p:txBody>
      </p:sp>
      <p:sp>
        <p:nvSpPr>
          <p:cNvPr id="8" name="Shape 5"/>
          <p:cNvSpPr/>
          <p:nvPr/>
        </p:nvSpPr>
        <p:spPr>
          <a:xfrm>
            <a:off x="457200" y="1188720"/>
            <a:ext cx="1885950" cy="2651760"/>
          </a:xfrm>
          <a:prstGeom prst="roundRect">
            <a:avLst>
              <a:gd name="adj" fmla="val 3879"/>
            </a:avLst>
          </a:prstGeom>
          <a:solidFill>
            <a:srgbClr val="E1E6E6"/>
          </a:solidFill>
          <a:ln w="12700">
            <a:solidFill>
              <a:srgbClr val="E1E6E6"/>
            </a:solidFill>
            <a:prstDash val="solid"/>
          </a:ln>
        </p:spPr>
      </p:sp>
      <p:sp>
        <p:nvSpPr>
          <p:cNvPr id="9" name="Shape 6"/>
          <p:cNvSpPr/>
          <p:nvPr/>
        </p:nvSpPr>
        <p:spPr>
          <a:xfrm>
            <a:off x="640080" y="1371600"/>
            <a:ext cx="502920" cy="502920"/>
          </a:xfrm>
          <a:prstGeom prst="ellipse">
            <a:avLst/>
          </a:prstGeom>
          <a:solidFill>
            <a:srgbClr val="667C7E"/>
          </a:solidFill>
          <a:ln w="12700">
            <a:solidFill>
              <a:srgbClr val="667C7E"/>
            </a:solidFill>
            <a:prstDash val="solid"/>
          </a:ln>
        </p:spPr>
      </p:sp>
      <p:pic>
        <p:nvPicPr>
          <p:cNvPr id="10" name="Image 0" descr="preencoded.png">    </p:cNvPr>
          <p:cNvPicPr>
            <a:picLocks noChangeAspect="1"/>
          </p:cNvPicPr>
          <p:nvPr/>
        </p:nvPicPr>
        <p:blipFill>
          <a:blip r:embed="rId1"/>
          <a:stretch>
            <a:fillRect/>
          </a:stretch>
        </p:blipFill>
        <p:spPr>
          <a:xfrm>
            <a:off x="765810" y="1497330"/>
            <a:ext cx="251460" cy="251460"/>
          </a:xfrm>
          <a:prstGeom prst="rect">
            <a:avLst/>
          </a:prstGeom>
        </p:spPr>
      </p:pic>
      <p:sp>
        <p:nvSpPr>
          <p:cNvPr id="11" name="Text 7"/>
          <p:cNvSpPr txBox="1"/>
          <p:nvPr/>
        </p:nvSpPr>
        <p:spPr>
          <a:xfrm>
            <a:off x="640080" y="2011680"/>
            <a:ext cx="1520190" cy="640080"/>
          </a:xfrm>
          <a:prstGeom prst="rect">
            <a:avLst/>
          </a:prstGeom>
          <a:noFill/>
          <a:ln/>
        </p:spPr>
        <p:txBody>
          <a:bodyPr wrap="square" lIns="0" tIns="0" rIns="0" bIns="0" rtlCol="0" anchor="t"/>
          <a:lstStyle/>
          <a:p>
            <a:pPr indent="0" marL="0">
              <a:buNone/>
            </a:pPr>
            <a:r>
              <a:rPr lang="en-US" sz="1500" b="1" dirty="0">
                <a:solidFill>
                  <a:srgbClr val="262A20"/>
                </a:solidFill>
                <a:latin typeface="Open Sans" pitchFamily="34" charset="0"/>
                <a:ea typeface="Open Sans" pitchFamily="34" charset="-122"/>
                <a:cs typeface="Open Sans" pitchFamily="34" charset="-120"/>
              </a:rPr>
              <a:t>Used everywhere</a:t>
            </a:r>
            <a:endParaRPr lang="en-US" sz="1500" dirty="0"/>
          </a:p>
        </p:txBody>
      </p:sp>
      <p:sp>
        <p:nvSpPr>
          <p:cNvPr id="12" name="Text 8"/>
          <p:cNvSpPr txBox="1"/>
          <p:nvPr/>
        </p:nvSpPr>
        <p:spPr>
          <a:xfrm>
            <a:off x="640080" y="2670048"/>
            <a:ext cx="1520190" cy="1051560"/>
          </a:xfrm>
          <a:prstGeom prst="rect">
            <a:avLst/>
          </a:prstGeom>
          <a:noFill/>
          <a:ln/>
        </p:spPr>
        <p:txBody>
          <a:bodyPr wrap="square" lIns="0" tIns="0" rIns="0" bIns="0" rtlCol="0" anchor="t"/>
          <a:lstStyle/>
          <a:p>
            <a:pPr indent="0" marL="0">
              <a:buNone/>
            </a:pPr>
            <a:r>
              <a:rPr lang="en-US" sz="1250" dirty="0">
                <a:solidFill>
                  <a:srgbClr val="262A20"/>
                </a:solidFill>
                <a:latin typeface="Open Sans" pitchFamily="34" charset="0"/>
                <a:ea typeface="Open Sans" pitchFamily="34" charset="-122"/>
                <a:cs typeface="Open Sans" pitchFamily="34" charset="-120"/>
              </a:rPr>
              <a:t>One website is hacked, and the same password opens all your accounts.</a:t>
            </a:r>
            <a:endParaRPr lang="en-US" sz="1250" dirty="0"/>
          </a:p>
        </p:txBody>
      </p:sp>
      <p:sp>
        <p:nvSpPr>
          <p:cNvPr id="13" name="Shape 9"/>
          <p:cNvSpPr/>
          <p:nvPr/>
        </p:nvSpPr>
        <p:spPr>
          <a:xfrm>
            <a:off x="2571750" y="1188720"/>
            <a:ext cx="1885950" cy="2651760"/>
          </a:xfrm>
          <a:prstGeom prst="roundRect">
            <a:avLst>
              <a:gd name="adj" fmla="val 3879"/>
            </a:avLst>
          </a:prstGeom>
          <a:solidFill>
            <a:srgbClr val="E1E6E6"/>
          </a:solidFill>
          <a:ln w="12700">
            <a:solidFill>
              <a:srgbClr val="E1E6E6"/>
            </a:solidFill>
            <a:prstDash val="solid"/>
          </a:ln>
        </p:spPr>
      </p:sp>
      <p:sp>
        <p:nvSpPr>
          <p:cNvPr id="14" name="Shape 10"/>
          <p:cNvSpPr/>
          <p:nvPr/>
        </p:nvSpPr>
        <p:spPr>
          <a:xfrm>
            <a:off x="2754630" y="1371600"/>
            <a:ext cx="502920" cy="502920"/>
          </a:xfrm>
          <a:prstGeom prst="ellipse">
            <a:avLst/>
          </a:prstGeom>
          <a:solidFill>
            <a:srgbClr val="667C7E"/>
          </a:solidFill>
          <a:ln w="12700">
            <a:solidFill>
              <a:srgbClr val="667C7E"/>
            </a:solidFill>
            <a:prstDash val="solid"/>
          </a:ln>
        </p:spPr>
      </p:sp>
      <p:pic>
        <p:nvPicPr>
          <p:cNvPr id="15" name="Image 1" descr="preencoded.png">    </p:cNvPr>
          <p:cNvPicPr>
            <a:picLocks noChangeAspect="1"/>
          </p:cNvPicPr>
          <p:nvPr/>
        </p:nvPicPr>
        <p:blipFill>
          <a:blip r:embed="rId2"/>
          <a:stretch>
            <a:fillRect/>
          </a:stretch>
        </p:blipFill>
        <p:spPr>
          <a:xfrm>
            <a:off x="2880360" y="1497330"/>
            <a:ext cx="251460" cy="251460"/>
          </a:xfrm>
          <a:prstGeom prst="rect">
            <a:avLst/>
          </a:prstGeom>
        </p:spPr>
      </p:pic>
      <p:sp>
        <p:nvSpPr>
          <p:cNvPr id="16" name="Text 11"/>
          <p:cNvSpPr txBox="1"/>
          <p:nvPr/>
        </p:nvSpPr>
        <p:spPr>
          <a:xfrm>
            <a:off x="2754630" y="2011680"/>
            <a:ext cx="1520190" cy="640080"/>
          </a:xfrm>
          <a:prstGeom prst="rect">
            <a:avLst/>
          </a:prstGeom>
          <a:noFill/>
          <a:ln/>
        </p:spPr>
        <p:txBody>
          <a:bodyPr wrap="square" lIns="0" tIns="0" rIns="0" bIns="0" rtlCol="0" anchor="t"/>
          <a:lstStyle/>
          <a:p>
            <a:pPr indent="0" marL="0">
              <a:buNone/>
            </a:pPr>
            <a:r>
              <a:rPr lang="en-US" sz="1500" b="1" dirty="0">
                <a:solidFill>
                  <a:srgbClr val="262A20"/>
                </a:solidFill>
                <a:latin typeface="Open Sans" pitchFamily="34" charset="0"/>
                <a:ea typeface="Open Sans" pitchFamily="34" charset="-122"/>
                <a:cs typeface="Open Sans" pitchFamily="34" charset="-120"/>
              </a:rPr>
              <a:t>Easy to guess</a:t>
            </a:r>
            <a:endParaRPr lang="en-US" sz="1500" dirty="0"/>
          </a:p>
        </p:txBody>
      </p:sp>
      <p:sp>
        <p:nvSpPr>
          <p:cNvPr id="17" name="Text 12"/>
          <p:cNvSpPr txBox="1"/>
          <p:nvPr/>
        </p:nvSpPr>
        <p:spPr>
          <a:xfrm>
            <a:off x="2754630" y="2670048"/>
            <a:ext cx="1520190" cy="1051560"/>
          </a:xfrm>
          <a:prstGeom prst="rect">
            <a:avLst/>
          </a:prstGeom>
          <a:noFill/>
          <a:ln/>
        </p:spPr>
        <p:txBody>
          <a:bodyPr wrap="square" lIns="0" tIns="0" rIns="0" bIns="0" rtlCol="0" anchor="t"/>
          <a:lstStyle/>
          <a:p>
            <a:pPr indent="0" marL="0">
              <a:buNone/>
            </a:pPr>
            <a:r>
              <a:rPr lang="en-US" sz="1250" dirty="0">
                <a:solidFill>
                  <a:srgbClr val="262A20"/>
                </a:solidFill>
                <a:latin typeface="Open Sans" pitchFamily="34" charset="0"/>
                <a:ea typeface="Open Sans" pitchFamily="34" charset="-122"/>
                <a:cs typeface="Open Sans" pitchFamily="34" charset="-120"/>
              </a:rPr>
              <a:t>Names, birthdays, "123456", "tealeaf123".</a:t>
            </a:r>
            <a:endParaRPr lang="en-US" sz="1250" dirty="0"/>
          </a:p>
        </p:txBody>
      </p:sp>
      <p:sp>
        <p:nvSpPr>
          <p:cNvPr id="18" name="Shape 13"/>
          <p:cNvSpPr/>
          <p:nvPr/>
        </p:nvSpPr>
        <p:spPr>
          <a:xfrm>
            <a:off x="4686300" y="1188720"/>
            <a:ext cx="1885950" cy="2651760"/>
          </a:xfrm>
          <a:prstGeom prst="roundRect">
            <a:avLst>
              <a:gd name="adj" fmla="val 3879"/>
            </a:avLst>
          </a:prstGeom>
          <a:solidFill>
            <a:srgbClr val="E1E6E6"/>
          </a:solidFill>
          <a:ln w="12700">
            <a:solidFill>
              <a:srgbClr val="E1E6E6"/>
            </a:solidFill>
            <a:prstDash val="solid"/>
          </a:ln>
        </p:spPr>
      </p:sp>
      <p:sp>
        <p:nvSpPr>
          <p:cNvPr id="19" name="Shape 14"/>
          <p:cNvSpPr/>
          <p:nvPr/>
        </p:nvSpPr>
        <p:spPr>
          <a:xfrm>
            <a:off x="4869180" y="1371600"/>
            <a:ext cx="502920" cy="502920"/>
          </a:xfrm>
          <a:prstGeom prst="ellipse">
            <a:avLst/>
          </a:prstGeom>
          <a:solidFill>
            <a:srgbClr val="667C7E"/>
          </a:solidFill>
          <a:ln w="12700">
            <a:solidFill>
              <a:srgbClr val="667C7E"/>
            </a:solidFill>
            <a:prstDash val="solid"/>
          </a:ln>
        </p:spPr>
      </p:sp>
      <p:pic>
        <p:nvPicPr>
          <p:cNvPr id="20" name="Image 2" descr="preencoded.png">    </p:cNvPr>
          <p:cNvPicPr>
            <a:picLocks noChangeAspect="1"/>
          </p:cNvPicPr>
          <p:nvPr/>
        </p:nvPicPr>
        <p:blipFill>
          <a:blip r:embed="rId3"/>
          <a:stretch>
            <a:fillRect/>
          </a:stretch>
        </p:blipFill>
        <p:spPr>
          <a:xfrm>
            <a:off x="4994910" y="1497330"/>
            <a:ext cx="251460" cy="251460"/>
          </a:xfrm>
          <a:prstGeom prst="rect">
            <a:avLst/>
          </a:prstGeom>
        </p:spPr>
      </p:pic>
      <p:sp>
        <p:nvSpPr>
          <p:cNvPr id="21" name="Text 15"/>
          <p:cNvSpPr txBox="1"/>
          <p:nvPr/>
        </p:nvSpPr>
        <p:spPr>
          <a:xfrm>
            <a:off x="4869180" y="2011680"/>
            <a:ext cx="1520190" cy="640080"/>
          </a:xfrm>
          <a:prstGeom prst="rect">
            <a:avLst/>
          </a:prstGeom>
          <a:noFill/>
          <a:ln/>
        </p:spPr>
        <p:txBody>
          <a:bodyPr wrap="square" lIns="0" tIns="0" rIns="0" bIns="0" rtlCol="0" anchor="t"/>
          <a:lstStyle/>
          <a:p>
            <a:pPr indent="0" marL="0">
              <a:buNone/>
            </a:pPr>
            <a:r>
              <a:rPr lang="en-US" sz="1500" b="1" dirty="0">
                <a:solidFill>
                  <a:srgbClr val="262A20"/>
                </a:solidFill>
                <a:latin typeface="Open Sans" pitchFamily="34" charset="0"/>
                <a:ea typeface="Open Sans" pitchFamily="34" charset="-122"/>
                <a:cs typeface="Open Sans" pitchFamily="34" charset="-120"/>
              </a:rPr>
              <a:t>Shared</a:t>
            </a:r>
            <a:endParaRPr lang="en-US" sz="1500" dirty="0"/>
          </a:p>
        </p:txBody>
      </p:sp>
      <p:sp>
        <p:nvSpPr>
          <p:cNvPr id="22" name="Text 16"/>
          <p:cNvSpPr txBox="1"/>
          <p:nvPr/>
        </p:nvSpPr>
        <p:spPr>
          <a:xfrm>
            <a:off x="4869180" y="2670048"/>
            <a:ext cx="1520190" cy="1051560"/>
          </a:xfrm>
          <a:prstGeom prst="rect">
            <a:avLst/>
          </a:prstGeom>
          <a:noFill/>
          <a:ln/>
        </p:spPr>
        <p:txBody>
          <a:bodyPr wrap="square" lIns="0" tIns="0" rIns="0" bIns="0" rtlCol="0" anchor="t"/>
          <a:lstStyle/>
          <a:p>
            <a:pPr indent="0" marL="0">
              <a:buNone/>
            </a:pPr>
            <a:r>
              <a:rPr lang="en-US" sz="1250" dirty="0">
                <a:solidFill>
                  <a:srgbClr val="262A20"/>
                </a:solidFill>
                <a:latin typeface="Open Sans" pitchFamily="34" charset="0"/>
                <a:ea typeface="Open Sans" pitchFamily="34" charset="-122"/>
                <a:cs typeface="Open Sans" pitchFamily="34" charset="-120"/>
              </a:rPr>
              <a:t>Shared passwords break accountability.</a:t>
            </a:r>
            <a:endParaRPr lang="en-US" sz="1250" dirty="0"/>
          </a:p>
        </p:txBody>
      </p:sp>
      <p:sp>
        <p:nvSpPr>
          <p:cNvPr id="23" name="Shape 17"/>
          <p:cNvSpPr/>
          <p:nvPr/>
        </p:nvSpPr>
        <p:spPr>
          <a:xfrm>
            <a:off x="6800850" y="1188720"/>
            <a:ext cx="1885950" cy="2651760"/>
          </a:xfrm>
          <a:prstGeom prst="roundRect">
            <a:avLst>
              <a:gd name="adj" fmla="val 3879"/>
            </a:avLst>
          </a:prstGeom>
          <a:solidFill>
            <a:srgbClr val="E1E6E6"/>
          </a:solidFill>
          <a:ln w="12700">
            <a:solidFill>
              <a:srgbClr val="E1E6E6"/>
            </a:solidFill>
            <a:prstDash val="solid"/>
          </a:ln>
        </p:spPr>
      </p:sp>
      <p:sp>
        <p:nvSpPr>
          <p:cNvPr id="24" name="Shape 18"/>
          <p:cNvSpPr/>
          <p:nvPr/>
        </p:nvSpPr>
        <p:spPr>
          <a:xfrm>
            <a:off x="6983730" y="1371600"/>
            <a:ext cx="502920" cy="502920"/>
          </a:xfrm>
          <a:prstGeom prst="ellipse">
            <a:avLst/>
          </a:prstGeom>
          <a:solidFill>
            <a:srgbClr val="667C7E"/>
          </a:solidFill>
          <a:ln w="12700">
            <a:solidFill>
              <a:srgbClr val="667C7E"/>
            </a:solidFill>
            <a:prstDash val="solid"/>
          </a:ln>
        </p:spPr>
      </p:sp>
      <p:pic>
        <p:nvPicPr>
          <p:cNvPr id="25" name="Image 3" descr="preencoded.png">    </p:cNvPr>
          <p:cNvPicPr>
            <a:picLocks noChangeAspect="1"/>
          </p:cNvPicPr>
          <p:nvPr/>
        </p:nvPicPr>
        <p:blipFill>
          <a:blip r:embed="rId4"/>
          <a:stretch>
            <a:fillRect/>
          </a:stretch>
        </p:blipFill>
        <p:spPr>
          <a:xfrm>
            <a:off x="7109460" y="1497330"/>
            <a:ext cx="251460" cy="251460"/>
          </a:xfrm>
          <a:prstGeom prst="rect">
            <a:avLst/>
          </a:prstGeom>
        </p:spPr>
      </p:pic>
      <p:sp>
        <p:nvSpPr>
          <p:cNvPr id="26" name="Text 19"/>
          <p:cNvSpPr txBox="1"/>
          <p:nvPr/>
        </p:nvSpPr>
        <p:spPr>
          <a:xfrm>
            <a:off x="6983730" y="2011680"/>
            <a:ext cx="1520190" cy="640080"/>
          </a:xfrm>
          <a:prstGeom prst="rect">
            <a:avLst/>
          </a:prstGeom>
          <a:noFill/>
          <a:ln/>
        </p:spPr>
        <p:txBody>
          <a:bodyPr wrap="square" lIns="0" tIns="0" rIns="0" bIns="0" rtlCol="0" anchor="t"/>
          <a:lstStyle/>
          <a:p>
            <a:pPr indent="0" marL="0">
              <a:buNone/>
            </a:pPr>
            <a:r>
              <a:rPr lang="en-US" sz="1500" b="1" dirty="0">
                <a:solidFill>
                  <a:srgbClr val="262A20"/>
                </a:solidFill>
                <a:latin typeface="Open Sans" pitchFamily="34" charset="0"/>
                <a:ea typeface="Open Sans" pitchFamily="34" charset="-122"/>
                <a:cs typeface="Open Sans" pitchFamily="34" charset="-120"/>
              </a:rPr>
              <a:t>Written down</a:t>
            </a:r>
            <a:endParaRPr lang="en-US" sz="1500" dirty="0"/>
          </a:p>
        </p:txBody>
      </p:sp>
      <p:sp>
        <p:nvSpPr>
          <p:cNvPr id="27" name="Text 20"/>
          <p:cNvSpPr txBox="1"/>
          <p:nvPr/>
        </p:nvSpPr>
        <p:spPr>
          <a:xfrm>
            <a:off x="6983730" y="2670048"/>
            <a:ext cx="1520190" cy="1051560"/>
          </a:xfrm>
          <a:prstGeom prst="rect">
            <a:avLst/>
          </a:prstGeom>
          <a:noFill/>
          <a:ln/>
        </p:spPr>
        <p:txBody>
          <a:bodyPr wrap="square" lIns="0" tIns="0" rIns="0" bIns="0" rtlCol="0" anchor="t"/>
          <a:lstStyle/>
          <a:p>
            <a:pPr indent="0" marL="0">
              <a:buNone/>
            </a:pPr>
            <a:r>
              <a:rPr lang="en-US" sz="1250" dirty="0">
                <a:solidFill>
                  <a:srgbClr val="262A20"/>
                </a:solidFill>
                <a:latin typeface="Open Sans" pitchFamily="34" charset="0"/>
                <a:ea typeface="Open Sans" pitchFamily="34" charset="-122"/>
                <a:cs typeface="Open Sans" pitchFamily="34" charset="-120"/>
              </a:rPr>
              <a:t>A sticky note on the screen is not a secret.</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66928"/>
          </a:xfrm>
          <a:prstGeom prst="rect">
            <a:avLst/>
          </a:prstGeom>
          <a:noFill/>
          <a:ln/>
        </p:spPr>
        <p:txBody>
          <a:bodyPr wrap="square" lIns="0" tIns="0" rIns="0" bIns="0" rtlCol="0" anchor="ctr"/>
          <a:lstStyle/>
          <a:p>
            <a:pPr indent="0" marL="0">
              <a:buNone/>
            </a:pPr>
            <a:r>
              <a:rPr lang="en-US" sz="2400" b="1" dirty="0">
                <a:solidFill>
                  <a:srgbClr val="262A20"/>
                </a:solidFill>
                <a:latin typeface="Open Sans" pitchFamily="34" charset="0"/>
                <a:ea typeface="Open Sans" pitchFamily="34" charset="-122"/>
                <a:cs typeface="Open Sans" pitchFamily="34" charset="-120"/>
              </a:rPr>
              <a:t>A passphrase: long, and easy to remember</a:t>
            </a:r>
            <a:endParaRPr lang="en-US" sz="2400" dirty="0"/>
          </a:p>
        </p:txBody>
      </p:sp>
      <p:sp>
        <p:nvSpPr>
          <p:cNvPr id="3" name="Shape 1"/>
          <p:cNvSpPr/>
          <p:nvPr/>
        </p:nvSpPr>
        <p:spPr>
          <a:xfrm>
            <a:off x="457200" y="896112"/>
            <a:ext cx="640080" cy="54864"/>
          </a:xfrm>
          <a:prstGeom prst="rect">
            <a:avLst/>
          </a:prstGeom>
          <a:solidFill>
            <a:srgbClr val="667C7E"/>
          </a:solidFill>
          <a:ln w="12700">
            <a:solidFill>
              <a:srgbClr val="667C7E"/>
            </a:solidFill>
            <a:prstDash val="solid"/>
          </a:ln>
        </p:spPr>
      </p:sp>
      <p:sp>
        <p:nvSpPr>
          <p:cNvPr id="4" name="Shape 2"/>
          <p:cNvSpPr/>
          <p:nvPr/>
        </p:nvSpPr>
        <p:spPr>
          <a:xfrm>
            <a:off x="1143000" y="896112"/>
            <a:ext cx="320040" cy="54864"/>
          </a:xfrm>
          <a:prstGeom prst="rect">
            <a:avLst/>
          </a:prstGeom>
          <a:solidFill>
            <a:srgbClr val="C7A887"/>
          </a:solidFill>
          <a:ln w="12700">
            <a:solidFill>
              <a:srgbClr val="C7A887"/>
            </a:solidFill>
            <a:prstDash val="solid"/>
          </a:ln>
        </p:spPr>
      </p:sp>
      <p:sp>
        <p:nvSpPr>
          <p:cNvPr id="5" name="Text 3"/>
          <p:cNvSpPr txBox="1"/>
          <p:nvPr/>
        </p:nvSpPr>
        <p:spPr>
          <a:xfrm>
            <a:off x="457200" y="4828032"/>
            <a:ext cx="6858000" cy="182880"/>
          </a:xfrm>
          <a:prstGeom prst="rect">
            <a:avLst/>
          </a:prstGeom>
          <a:noFill/>
          <a:ln/>
        </p:spPr>
        <p:txBody>
          <a:bodyPr wrap="square" lIns="0" tIns="0" rIns="0" bIns="0" rtlCol="0" anchor="ctr"/>
          <a:lstStyle/>
          <a:p>
            <a:pPr indent="0" marL="0">
              <a:buNone/>
            </a:pPr>
            <a:r>
              <a:rPr lang="en-US" sz="800" dirty="0">
                <a:solidFill>
                  <a:srgbClr val="5A5F55"/>
                </a:solidFill>
                <a:latin typeface="Open Sans" pitchFamily="34" charset="0"/>
                <a:ea typeface="Open Sans" pitchFamily="34" charset="-122"/>
                <a:cs typeface="Open Sans" pitchFamily="34" charset="-120"/>
              </a:rPr>
              <a:t>DBIS-11 Cybersecurity and Cloud Computing  |  Day 2  |  Session 11.4</a:t>
            </a:r>
            <a:endParaRPr lang="en-US" sz="800" dirty="0"/>
          </a:p>
        </p:txBody>
      </p:sp>
      <p:sp>
        <p:nvSpPr>
          <p:cNvPr id="6" name="Text 4"/>
          <p:cNvSpPr txBox="1"/>
          <p:nvPr/>
        </p:nvSpPr>
        <p:spPr>
          <a:xfrm>
            <a:off x="8138160" y="4828032"/>
            <a:ext cx="548640" cy="182880"/>
          </a:xfrm>
          <a:prstGeom prst="rect">
            <a:avLst/>
          </a:prstGeom>
          <a:noFill/>
          <a:ln/>
        </p:spPr>
        <p:txBody>
          <a:bodyPr wrap="square" lIns="0" tIns="0" rIns="0" bIns="0" rtlCol="0" anchor="ctr"/>
          <a:lstStyle/>
          <a:p>
            <a:pPr algn="r" indent="0" marL="0">
              <a:buNone/>
            </a:pPr>
            <a:r>
              <a:rPr lang="en-US" sz="800" dirty="0">
                <a:solidFill>
                  <a:srgbClr val="5A5F55"/>
                </a:solidFill>
                <a:latin typeface="Open Sans" pitchFamily="34" charset="0"/>
                <a:ea typeface="Open Sans" pitchFamily="34" charset="-122"/>
                <a:cs typeface="Open Sans" pitchFamily="34" charset="-120"/>
              </a:rPr>
              <a:t>19</a:t>
            </a:r>
            <a:endParaRPr lang="en-US" sz="8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914400"/>
        </p:xfrm>
        <a:graphic>
          <a:graphicData uri="http://schemas.openxmlformats.org/drawingml/2006/table">
            <a:tbl>
              <a:tblPr/>
              <a:tblGrid>
                <a:gridCol w="3108960"/>
                <a:gridCol w="3017520"/>
                <a:gridCol w="2103120"/>
              </a:tblGrid>
              <a:tr h="502920">
                <a:tc>
                  <a:txBody>
                    <a:bodyPr/>
                    <a:lstStyle/>
                    <a:p>
                      <a:pPr indent="0" marL="0">
                        <a:buNone/>
                      </a:pPr>
                      <a:r>
                        <a:rPr lang="en-US" sz="1350" b="1" dirty="0">
                          <a:solidFill>
                            <a:srgbClr val="FFFFFF"/>
                          </a:solidFill>
                          <a:latin typeface="Open Sans" pitchFamily="34" charset="0"/>
                          <a:ea typeface="Open Sans" pitchFamily="34" charset="-122"/>
                          <a:cs typeface="Open Sans" pitchFamily="34" charset="-120"/>
                        </a:rPr>
                        <a:t>Password</a:t>
                      </a:r>
                      <a:endParaRPr lang="en-US" sz="135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262A20"/>
                    </a:solidFill>
                  </a:tcPr>
                </a:tc>
                <a:tc>
                  <a:txBody>
                    <a:bodyPr/>
                    <a:lstStyle/>
                    <a:p>
                      <a:pPr indent="0" marL="0">
                        <a:buNone/>
                      </a:pPr>
                      <a:r>
                        <a:rPr lang="en-US" sz="1350" b="1" dirty="0">
                          <a:solidFill>
                            <a:srgbClr val="FFFFFF"/>
                          </a:solidFill>
                          <a:latin typeface="Open Sans" pitchFamily="34" charset="0"/>
                          <a:ea typeface="Open Sans" pitchFamily="34" charset="-122"/>
                          <a:cs typeface="Open Sans" pitchFamily="34" charset="-120"/>
                        </a:rPr>
                        <a:t>Why</a:t>
                      </a:r>
                      <a:endParaRPr lang="en-US" sz="135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262A20"/>
                    </a:solidFill>
                  </a:tcPr>
                </a:tc>
                <a:tc>
                  <a:txBody>
                    <a:bodyPr/>
                    <a:lstStyle/>
                    <a:p>
                      <a:pPr indent="0" marL="0">
                        <a:buNone/>
                      </a:pPr>
                      <a:r>
                        <a:rPr lang="en-US" sz="1350" b="1" dirty="0">
                          <a:solidFill>
                            <a:srgbClr val="FFFFFF"/>
                          </a:solidFill>
                          <a:latin typeface="Open Sans" pitchFamily="34" charset="0"/>
                          <a:ea typeface="Open Sans" pitchFamily="34" charset="-122"/>
                          <a:cs typeface="Open Sans" pitchFamily="34" charset="-120"/>
                        </a:rPr>
                        <a:t>Time to guess (estimate)</a:t>
                      </a:r>
                      <a:endParaRPr lang="en-US" sz="135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262A20"/>
                    </a:solidFill>
                  </a:tcPr>
                </a:tc>
              </a:tr>
              <a:tr h="502920">
                <a:tc>
                  <a:txBody>
                    <a:bodyPr/>
                    <a:lstStyle/>
                    <a:p>
                      <a:pPr indent="0" marL="0">
                        <a:buNone/>
                      </a:pPr>
                      <a:r>
                        <a:rPr lang="en-US" sz="1350" dirty="0">
                          <a:solidFill>
                            <a:srgbClr val="262A20"/>
                          </a:solidFill>
                          <a:latin typeface="Open Sans" pitchFamily="34" charset="0"/>
                          <a:ea typeface="Open Sans" pitchFamily="34" charset="-122"/>
                          <a:cs typeface="Open Sans" pitchFamily="34" charset="-120"/>
                        </a:rPr>
                        <a:t>tealeaf123</a:t>
                      </a:r>
                      <a:endParaRPr lang="en-US" sz="135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350" dirty="0">
                          <a:solidFill>
                            <a:srgbClr val="262A20"/>
                          </a:solidFill>
                          <a:latin typeface="Open Sans" pitchFamily="34" charset="0"/>
                          <a:ea typeface="Open Sans" pitchFamily="34" charset="-122"/>
                          <a:cs typeface="Open Sans" pitchFamily="34" charset="-120"/>
                        </a:rPr>
                        <a:t>Common and short</a:t>
                      </a:r>
                      <a:endParaRPr lang="en-US" sz="135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350" dirty="0">
                          <a:solidFill>
                            <a:srgbClr val="262A20"/>
                          </a:solidFill>
                          <a:latin typeface="Open Sans" pitchFamily="34" charset="0"/>
                          <a:ea typeface="Open Sans" pitchFamily="34" charset="-122"/>
                          <a:cs typeface="Open Sans" pitchFamily="34" charset="-120"/>
                        </a:rPr>
                        <a:t>Less than a second</a:t>
                      </a:r>
                      <a:endParaRPr lang="en-US" sz="135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502920">
                <a:tc>
                  <a:txBody>
                    <a:bodyPr/>
                    <a:lstStyle/>
                    <a:p>
                      <a:pPr indent="0" marL="0">
                        <a:buNone/>
                      </a:pPr>
                      <a:r>
                        <a:rPr lang="en-US" sz="1350" dirty="0">
                          <a:solidFill>
                            <a:srgbClr val="262A20"/>
                          </a:solidFill>
                          <a:latin typeface="Open Sans" pitchFamily="34" charset="0"/>
                          <a:ea typeface="Open Sans" pitchFamily="34" charset="-122"/>
                          <a:cs typeface="Open Sans" pitchFamily="34" charset="-120"/>
                        </a:rPr>
                        <a:t>P@ssw0rd!</a:t>
                      </a:r>
                      <a:endParaRPr lang="en-US" sz="135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2EFEC"/>
                    </a:solidFill>
                  </a:tcPr>
                </a:tc>
                <a:tc>
                  <a:txBody>
                    <a:bodyPr/>
                    <a:lstStyle/>
                    <a:p>
                      <a:pPr indent="0" marL="0">
                        <a:buNone/>
                      </a:pPr>
                      <a:r>
                        <a:rPr lang="en-US" sz="1350" dirty="0">
                          <a:solidFill>
                            <a:srgbClr val="262A20"/>
                          </a:solidFill>
                          <a:latin typeface="Open Sans" pitchFamily="34" charset="0"/>
                          <a:ea typeface="Open Sans" pitchFamily="34" charset="-122"/>
                          <a:cs typeface="Open Sans" pitchFamily="34" charset="-120"/>
                        </a:rPr>
                        <a:t>Symbols swapped into a common word</a:t>
                      </a:r>
                      <a:endParaRPr lang="en-US" sz="135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2EFEC"/>
                    </a:solidFill>
                  </a:tcPr>
                </a:tc>
                <a:tc>
                  <a:txBody>
                    <a:bodyPr/>
                    <a:lstStyle/>
                    <a:p>
                      <a:pPr indent="0" marL="0">
                        <a:buNone/>
                      </a:pPr>
                      <a:r>
                        <a:rPr lang="en-US" sz="1350" dirty="0">
                          <a:solidFill>
                            <a:srgbClr val="262A20"/>
                          </a:solidFill>
                          <a:latin typeface="Open Sans" pitchFamily="34" charset="0"/>
                          <a:ea typeface="Open Sans" pitchFamily="34" charset="-122"/>
                          <a:cs typeface="Open Sans" pitchFamily="34" charset="-120"/>
                        </a:rPr>
                        <a:t>Less than a second</a:t>
                      </a:r>
                      <a:endParaRPr lang="en-US" sz="135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2EFEC"/>
                    </a:solidFill>
                  </a:tcPr>
                </a:tc>
              </a:tr>
              <a:tr h="502920">
                <a:tc>
                  <a:txBody>
                    <a:bodyPr/>
                    <a:lstStyle/>
                    <a:p>
                      <a:pPr indent="0" marL="0">
                        <a:buNone/>
                      </a:pPr>
                      <a:r>
                        <a:rPr lang="en-US" sz="1350" dirty="0">
                          <a:solidFill>
                            <a:srgbClr val="262A20"/>
                          </a:solidFill>
                          <a:latin typeface="Open Sans" pitchFamily="34" charset="0"/>
                          <a:ea typeface="Open Sans" pitchFamily="34" charset="-122"/>
                          <a:cs typeface="Open Sans" pitchFamily="34" charset="-120"/>
                        </a:rPr>
                        <a:t>river-lamp-cloud-seven</a:t>
                      </a:r>
                      <a:endParaRPr lang="en-US" sz="135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350" dirty="0">
                          <a:solidFill>
                            <a:srgbClr val="262A20"/>
                          </a:solidFill>
                          <a:latin typeface="Open Sans" pitchFamily="34" charset="0"/>
                          <a:ea typeface="Open Sans" pitchFamily="34" charset="-122"/>
                          <a:cs typeface="Open Sans" pitchFamily="34" charset="-120"/>
                        </a:rPr>
                        <a:t>Four random words</a:t>
                      </a:r>
                      <a:endParaRPr lang="en-US" sz="135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350" dirty="0">
                          <a:solidFill>
                            <a:srgbClr val="262A20"/>
                          </a:solidFill>
                          <a:latin typeface="Open Sans" pitchFamily="34" charset="0"/>
                          <a:ea typeface="Open Sans" pitchFamily="34" charset="-122"/>
                          <a:cs typeface="Open Sans" pitchFamily="34" charset="-120"/>
                        </a:rPr>
                        <a:t>Years</a:t>
                      </a:r>
                      <a:endParaRPr lang="en-US" sz="135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502920">
                <a:tc>
                  <a:txBody>
                    <a:bodyPr/>
                    <a:lstStyle/>
                    <a:p>
                      <a:pPr indent="0" marL="0">
                        <a:buNone/>
                      </a:pPr>
                      <a:r>
                        <a:rPr lang="en-US" sz="1350" dirty="0">
                          <a:solidFill>
                            <a:srgbClr val="262A20"/>
                          </a:solidFill>
                          <a:latin typeface="Open Sans" pitchFamily="34" charset="0"/>
                          <a:ea typeface="Open Sans" pitchFamily="34" charset="-122"/>
                          <a:cs typeface="Open Sans" pitchFamily="34" charset="-120"/>
                        </a:rPr>
                        <a:t>river-lamp-cloud-seven-mango</a:t>
                      </a:r>
                      <a:endParaRPr lang="en-US" sz="135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2EFEC"/>
                    </a:solidFill>
                  </a:tcPr>
                </a:tc>
                <a:tc>
                  <a:txBody>
                    <a:bodyPr/>
                    <a:lstStyle/>
                    <a:p>
                      <a:pPr indent="0" marL="0">
                        <a:buNone/>
                      </a:pPr>
                      <a:r>
                        <a:rPr lang="en-US" sz="1350" dirty="0">
                          <a:solidFill>
                            <a:srgbClr val="262A20"/>
                          </a:solidFill>
                          <a:latin typeface="Open Sans" pitchFamily="34" charset="0"/>
                          <a:ea typeface="Open Sans" pitchFamily="34" charset="-122"/>
                          <a:cs typeface="Open Sans" pitchFamily="34" charset="-120"/>
                        </a:rPr>
                        <a:t>Five random words</a:t>
                      </a:r>
                      <a:endParaRPr lang="en-US" sz="135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2EFEC"/>
                    </a:solidFill>
                  </a:tcPr>
                </a:tc>
                <a:tc>
                  <a:txBody>
                    <a:bodyPr/>
                    <a:lstStyle/>
                    <a:p>
                      <a:pPr indent="0" marL="0">
                        <a:buNone/>
                      </a:pPr>
                      <a:r>
                        <a:rPr lang="en-US" sz="1350" dirty="0">
                          <a:solidFill>
                            <a:srgbClr val="262A20"/>
                          </a:solidFill>
                          <a:latin typeface="Open Sans" pitchFamily="34" charset="0"/>
                          <a:ea typeface="Open Sans" pitchFamily="34" charset="-122"/>
                          <a:cs typeface="Open Sans" pitchFamily="34" charset="-120"/>
                        </a:rPr>
                        <a:t>Hundreds of thousands of years</a:t>
                      </a:r>
                      <a:endParaRPr lang="en-US" sz="135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2EFEC"/>
                    </a:solidFill>
                  </a:tcPr>
                </a:tc>
              </a:tr>
            </a:tbl>
          </a:graphicData>
        </a:graphic>
      </p:graphicFrame>
      <p:sp>
        <p:nvSpPr>
          <p:cNvPr id="9" name="Text 5"/>
          <p:cNvSpPr txBox="1"/>
          <p:nvPr/>
        </p:nvSpPr>
        <p:spPr>
          <a:xfrm>
            <a:off x="457200" y="3977640"/>
            <a:ext cx="8229600" cy="320040"/>
          </a:xfrm>
          <a:prstGeom prst="rect">
            <a:avLst/>
          </a:prstGeom>
          <a:noFill/>
          <a:ln/>
        </p:spPr>
        <p:txBody>
          <a:bodyPr wrap="square" lIns="0" tIns="0" rIns="0" bIns="0" rtlCol="0" anchor="ctr"/>
          <a:lstStyle/>
          <a:p>
            <a:pPr indent="0" marL="0">
              <a:buNone/>
            </a:pPr>
            <a:r>
              <a:rPr lang="en-US" sz="1100" dirty="0">
                <a:solidFill>
                  <a:srgbClr val="5A5F55"/>
                </a:solidFill>
                <a:latin typeface="Open Sans" pitchFamily="34" charset="0"/>
                <a:ea typeface="Open Sans" pitchFamily="34" charset="-122"/>
                <a:cs typeface="Open Sans" pitchFamily="34" charset="-120"/>
              </a:rPr>
              <a:t>Estimates from the Password Lab: a fast computer guessing 10 billion a second.</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66928"/>
          </a:xfrm>
          <a:prstGeom prst="rect">
            <a:avLst/>
          </a:prstGeom>
          <a:noFill/>
          <a:ln/>
        </p:spPr>
        <p:txBody>
          <a:bodyPr wrap="square" lIns="0" tIns="0" rIns="0" bIns="0" rtlCol="0" anchor="ctr"/>
          <a:lstStyle/>
          <a:p>
            <a:pPr indent="0" marL="0">
              <a:buNone/>
            </a:pPr>
            <a:r>
              <a:rPr lang="en-US" sz="2400" b="1" dirty="0">
                <a:solidFill>
                  <a:srgbClr val="262A20"/>
                </a:solidFill>
                <a:latin typeface="Open Sans" pitchFamily="34" charset="0"/>
                <a:ea typeface="Open Sans" pitchFamily="34" charset="-122"/>
                <a:cs typeface="Open Sans" pitchFamily="34" charset="-120"/>
              </a:rPr>
              <a:t>A password manager remembers for you</a:t>
            </a:r>
            <a:endParaRPr lang="en-US" sz="2400" dirty="0"/>
          </a:p>
        </p:txBody>
      </p:sp>
      <p:sp>
        <p:nvSpPr>
          <p:cNvPr id="3" name="Shape 1"/>
          <p:cNvSpPr/>
          <p:nvPr/>
        </p:nvSpPr>
        <p:spPr>
          <a:xfrm>
            <a:off x="457200" y="896112"/>
            <a:ext cx="640080" cy="54864"/>
          </a:xfrm>
          <a:prstGeom prst="rect">
            <a:avLst/>
          </a:prstGeom>
          <a:solidFill>
            <a:srgbClr val="667C7E"/>
          </a:solidFill>
          <a:ln w="12700">
            <a:solidFill>
              <a:srgbClr val="667C7E"/>
            </a:solidFill>
            <a:prstDash val="solid"/>
          </a:ln>
        </p:spPr>
      </p:sp>
      <p:sp>
        <p:nvSpPr>
          <p:cNvPr id="4" name="Shape 2"/>
          <p:cNvSpPr/>
          <p:nvPr/>
        </p:nvSpPr>
        <p:spPr>
          <a:xfrm>
            <a:off x="1143000" y="896112"/>
            <a:ext cx="320040" cy="54864"/>
          </a:xfrm>
          <a:prstGeom prst="rect">
            <a:avLst/>
          </a:prstGeom>
          <a:solidFill>
            <a:srgbClr val="C7A887"/>
          </a:solidFill>
          <a:ln w="12700">
            <a:solidFill>
              <a:srgbClr val="C7A887"/>
            </a:solidFill>
            <a:prstDash val="solid"/>
          </a:ln>
        </p:spPr>
      </p:sp>
      <p:sp>
        <p:nvSpPr>
          <p:cNvPr id="5" name="Text 3"/>
          <p:cNvSpPr txBox="1"/>
          <p:nvPr/>
        </p:nvSpPr>
        <p:spPr>
          <a:xfrm>
            <a:off x="457200" y="4828032"/>
            <a:ext cx="6858000" cy="182880"/>
          </a:xfrm>
          <a:prstGeom prst="rect">
            <a:avLst/>
          </a:prstGeom>
          <a:noFill/>
          <a:ln/>
        </p:spPr>
        <p:txBody>
          <a:bodyPr wrap="square" lIns="0" tIns="0" rIns="0" bIns="0" rtlCol="0" anchor="ctr"/>
          <a:lstStyle/>
          <a:p>
            <a:pPr indent="0" marL="0">
              <a:buNone/>
            </a:pPr>
            <a:r>
              <a:rPr lang="en-US" sz="800" dirty="0">
                <a:solidFill>
                  <a:srgbClr val="5A5F55"/>
                </a:solidFill>
                <a:latin typeface="Open Sans" pitchFamily="34" charset="0"/>
                <a:ea typeface="Open Sans" pitchFamily="34" charset="-122"/>
                <a:cs typeface="Open Sans" pitchFamily="34" charset="-120"/>
              </a:rPr>
              <a:t>DBIS-11 Cybersecurity and Cloud Computing  |  Day 2  |  Session 11.4</a:t>
            </a:r>
            <a:endParaRPr lang="en-US" sz="800" dirty="0"/>
          </a:p>
        </p:txBody>
      </p:sp>
      <p:sp>
        <p:nvSpPr>
          <p:cNvPr id="6" name="Text 4"/>
          <p:cNvSpPr txBox="1"/>
          <p:nvPr/>
        </p:nvSpPr>
        <p:spPr>
          <a:xfrm>
            <a:off x="8138160" y="4828032"/>
            <a:ext cx="548640" cy="182880"/>
          </a:xfrm>
          <a:prstGeom prst="rect">
            <a:avLst/>
          </a:prstGeom>
          <a:noFill/>
          <a:ln/>
        </p:spPr>
        <p:txBody>
          <a:bodyPr wrap="square" lIns="0" tIns="0" rIns="0" bIns="0" rtlCol="0" anchor="ctr"/>
          <a:lstStyle/>
          <a:p>
            <a:pPr algn="r" indent="0" marL="0">
              <a:buNone/>
            </a:pPr>
            <a:r>
              <a:rPr lang="en-US" sz="800" dirty="0">
                <a:solidFill>
                  <a:srgbClr val="5A5F55"/>
                </a:solidFill>
                <a:latin typeface="Open Sans" pitchFamily="34" charset="0"/>
                <a:ea typeface="Open Sans" pitchFamily="34" charset="-122"/>
                <a:cs typeface="Open Sans" pitchFamily="34" charset="-120"/>
              </a:rPr>
              <a:t>20</a:t>
            </a:r>
            <a:endParaRPr lang="en-US" sz="800" dirty="0"/>
          </a:p>
        </p:txBody>
      </p:sp>
      <p:sp>
        <p:nvSpPr>
          <p:cNvPr id="8" name="Shape 5"/>
          <p:cNvSpPr/>
          <p:nvPr/>
        </p:nvSpPr>
        <p:spPr>
          <a:xfrm>
            <a:off x="457200" y="1325880"/>
            <a:ext cx="548640" cy="548640"/>
          </a:xfrm>
          <a:prstGeom prst="ellipse">
            <a:avLst/>
          </a:prstGeom>
          <a:solidFill>
            <a:srgbClr val="667C7E"/>
          </a:solidFill>
          <a:ln w="12700">
            <a:solidFill>
              <a:srgbClr val="667C7E"/>
            </a:solidFill>
            <a:prstDash val="solid"/>
          </a:ln>
        </p:spPr>
      </p:sp>
      <p:pic>
        <p:nvPicPr>
          <p:cNvPr id="9" name="Image 0" descr="preencoded.png">    </p:cNvPr>
          <p:cNvPicPr>
            <a:picLocks noChangeAspect="1"/>
          </p:cNvPicPr>
          <p:nvPr/>
        </p:nvPicPr>
        <p:blipFill>
          <a:blip r:embed="rId1"/>
          <a:stretch>
            <a:fillRect/>
          </a:stretch>
        </p:blipFill>
        <p:spPr>
          <a:xfrm>
            <a:off x="594360" y="1463040"/>
            <a:ext cx="274320" cy="274320"/>
          </a:xfrm>
          <a:prstGeom prst="rect">
            <a:avLst/>
          </a:prstGeom>
        </p:spPr>
      </p:pic>
      <p:sp>
        <p:nvSpPr>
          <p:cNvPr id="10" name="Text 6"/>
          <p:cNvSpPr txBox="1"/>
          <p:nvPr/>
        </p:nvSpPr>
        <p:spPr>
          <a:xfrm>
            <a:off x="1188720" y="1280160"/>
            <a:ext cx="4572000" cy="310896"/>
          </a:xfrm>
          <a:prstGeom prst="rect">
            <a:avLst/>
          </a:prstGeom>
          <a:noFill/>
          <a:ln/>
        </p:spPr>
        <p:txBody>
          <a:bodyPr wrap="square" lIns="0" tIns="0" rIns="0" bIns="0" rtlCol="0" anchor="ctr"/>
          <a:lstStyle/>
          <a:p>
            <a:pPr indent="0" marL="0">
              <a:buNone/>
            </a:pPr>
            <a:r>
              <a:rPr lang="en-US" sz="1600" b="1" dirty="0">
                <a:solidFill>
                  <a:srgbClr val="262A20"/>
                </a:solidFill>
                <a:latin typeface="Open Sans" pitchFamily="34" charset="0"/>
                <a:ea typeface="Open Sans" pitchFamily="34" charset="-122"/>
                <a:cs typeface="Open Sans" pitchFamily="34" charset="-120"/>
              </a:rPr>
              <a:t>One master passphrase</a:t>
            </a:r>
            <a:endParaRPr lang="en-US" sz="1600" dirty="0"/>
          </a:p>
        </p:txBody>
      </p:sp>
      <p:sp>
        <p:nvSpPr>
          <p:cNvPr id="11" name="Text 7"/>
          <p:cNvSpPr txBox="1"/>
          <p:nvPr/>
        </p:nvSpPr>
        <p:spPr>
          <a:xfrm>
            <a:off x="1188720" y="1591056"/>
            <a:ext cx="4572000" cy="594360"/>
          </a:xfrm>
          <a:prstGeom prst="rect">
            <a:avLst/>
          </a:prstGeom>
          <a:noFill/>
          <a:ln/>
        </p:spPr>
        <p:txBody>
          <a:bodyPr wrap="square" lIns="0" tIns="0" rIns="0" bIns="0" rtlCol="0" anchor="t"/>
          <a:lstStyle/>
          <a:p>
            <a:pPr indent="0" marL="0">
              <a:buNone/>
            </a:pPr>
            <a:r>
              <a:rPr lang="en-US" sz="1300" dirty="0">
                <a:solidFill>
                  <a:srgbClr val="262A20"/>
                </a:solidFill>
                <a:latin typeface="Open Sans" pitchFamily="34" charset="0"/>
                <a:ea typeface="Open Sans" pitchFamily="34" charset="-122"/>
                <a:cs typeface="Open Sans" pitchFamily="34" charset="-120"/>
              </a:rPr>
              <a:t>You remember one long passphrase.</a:t>
            </a:r>
            <a:endParaRPr lang="en-US" sz="1300" dirty="0"/>
          </a:p>
        </p:txBody>
      </p:sp>
      <p:sp>
        <p:nvSpPr>
          <p:cNvPr id="12" name="Shape 8"/>
          <p:cNvSpPr/>
          <p:nvPr/>
        </p:nvSpPr>
        <p:spPr>
          <a:xfrm>
            <a:off x="457200" y="2286000"/>
            <a:ext cx="548640" cy="548640"/>
          </a:xfrm>
          <a:prstGeom prst="ellipse">
            <a:avLst/>
          </a:prstGeom>
          <a:solidFill>
            <a:srgbClr val="667C7E"/>
          </a:solidFill>
          <a:ln w="12700">
            <a:solidFill>
              <a:srgbClr val="667C7E"/>
            </a:solidFill>
            <a:prstDash val="solid"/>
          </a:ln>
        </p:spPr>
      </p:sp>
      <p:pic>
        <p:nvPicPr>
          <p:cNvPr id="13" name="Image 1" descr="preencoded.png">    </p:cNvPr>
          <p:cNvPicPr>
            <a:picLocks noChangeAspect="1"/>
          </p:cNvPicPr>
          <p:nvPr/>
        </p:nvPicPr>
        <p:blipFill>
          <a:blip r:embed="rId2"/>
          <a:stretch>
            <a:fillRect/>
          </a:stretch>
        </p:blipFill>
        <p:spPr>
          <a:xfrm>
            <a:off x="594360" y="2423160"/>
            <a:ext cx="274320" cy="274320"/>
          </a:xfrm>
          <a:prstGeom prst="rect">
            <a:avLst/>
          </a:prstGeom>
        </p:spPr>
      </p:pic>
      <p:sp>
        <p:nvSpPr>
          <p:cNvPr id="14" name="Text 9"/>
          <p:cNvSpPr txBox="1"/>
          <p:nvPr/>
        </p:nvSpPr>
        <p:spPr>
          <a:xfrm>
            <a:off x="1188720" y="2240280"/>
            <a:ext cx="4572000" cy="310896"/>
          </a:xfrm>
          <a:prstGeom prst="rect">
            <a:avLst/>
          </a:prstGeom>
          <a:noFill/>
          <a:ln/>
        </p:spPr>
        <p:txBody>
          <a:bodyPr wrap="square" lIns="0" tIns="0" rIns="0" bIns="0" rtlCol="0" anchor="ctr"/>
          <a:lstStyle/>
          <a:p>
            <a:pPr indent="0" marL="0">
              <a:buNone/>
            </a:pPr>
            <a:r>
              <a:rPr lang="en-US" sz="1600" b="1" dirty="0">
                <a:solidFill>
                  <a:srgbClr val="262A20"/>
                </a:solidFill>
                <a:latin typeface="Open Sans" pitchFamily="34" charset="0"/>
                <a:ea typeface="Open Sans" pitchFamily="34" charset="-122"/>
                <a:cs typeface="Open Sans" pitchFamily="34" charset="-120"/>
              </a:rPr>
              <a:t>A different password everywhere</a:t>
            </a:r>
            <a:endParaRPr lang="en-US" sz="1600" dirty="0"/>
          </a:p>
        </p:txBody>
      </p:sp>
      <p:sp>
        <p:nvSpPr>
          <p:cNvPr id="15" name="Text 10"/>
          <p:cNvSpPr txBox="1"/>
          <p:nvPr/>
        </p:nvSpPr>
        <p:spPr>
          <a:xfrm>
            <a:off x="1188720" y="2551176"/>
            <a:ext cx="4572000" cy="594360"/>
          </a:xfrm>
          <a:prstGeom prst="rect">
            <a:avLst/>
          </a:prstGeom>
          <a:noFill/>
          <a:ln/>
        </p:spPr>
        <p:txBody>
          <a:bodyPr wrap="square" lIns="0" tIns="0" rIns="0" bIns="0" rtlCol="0" anchor="t"/>
          <a:lstStyle/>
          <a:p>
            <a:pPr indent="0" marL="0">
              <a:buNone/>
            </a:pPr>
            <a:r>
              <a:rPr lang="en-US" sz="1300" dirty="0">
                <a:solidFill>
                  <a:srgbClr val="262A20"/>
                </a:solidFill>
                <a:latin typeface="Open Sans" pitchFamily="34" charset="0"/>
                <a:ea typeface="Open Sans" pitchFamily="34" charset="-122"/>
                <a:cs typeface="Open Sans" pitchFamily="34" charset="-120"/>
              </a:rPr>
              <a:t>The app makes a strong, different password for every site.</a:t>
            </a:r>
            <a:endParaRPr lang="en-US" sz="1300" dirty="0"/>
          </a:p>
        </p:txBody>
      </p:sp>
      <p:sp>
        <p:nvSpPr>
          <p:cNvPr id="16" name="Shape 11"/>
          <p:cNvSpPr/>
          <p:nvPr/>
        </p:nvSpPr>
        <p:spPr>
          <a:xfrm>
            <a:off x="457200" y="3246120"/>
            <a:ext cx="548640" cy="548640"/>
          </a:xfrm>
          <a:prstGeom prst="ellipse">
            <a:avLst/>
          </a:prstGeom>
          <a:solidFill>
            <a:srgbClr val="667C7E"/>
          </a:solidFill>
          <a:ln w="12700">
            <a:solidFill>
              <a:srgbClr val="667C7E"/>
            </a:solidFill>
            <a:prstDash val="solid"/>
          </a:ln>
        </p:spPr>
      </p:sp>
      <p:pic>
        <p:nvPicPr>
          <p:cNvPr id="17" name="Image 2" descr="preencoded.png">    </p:cNvPr>
          <p:cNvPicPr>
            <a:picLocks noChangeAspect="1"/>
          </p:cNvPicPr>
          <p:nvPr/>
        </p:nvPicPr>
        <p:blipFill>
          <a:blip r:embed="rId3"/>
          <a:stretch>
            <a:fillRect/>
          </a:stretch>
        </p:blipFill>
        <p:spPr>
          <a:xfrm>
            <a:off x="594360" y="3383280"/>
            <a:ext cx="274320" cy="274320"/>
          </a:xfrm>
          <a:prstGeom prst="rect">
            <a:avLst/>
          </a:prstGeom>
        </p:spPr>
      </p:pic>
      <p:sp>
        <p:nvSpPr>
          <p:cNvPr id="18" name="Text 12"/>
          <p:cNvSpPr txBox="1"/>
          <p:nvPr/>
        </p:nvSpPr>
        <p:spPr>
          <a:xfrm>
            <a:off x="1188720" y="3200400"/>
            <a:ext cx="4572000" cy="310896"/>
          </a:xfrm>
          <a:prstGeom prst="rect">
            <a:avLst/>
          </a:prstGeom>
          <a:noFill/>
          <a:ln/>
        </p:spPr>
        <p:txBody>
          <a:bodyPr wrap="square" lIns="0" tIns="0" rIns="0" bIns="0" rtlCol="0" anchor="ctr"/>
          <a:lstStyle/>
          <a:p>
            <a:pPr indent="0" marL="0">
              <a:buNone/>
            </a:pPr>
            <a:r>
              <a:rPr lang="en-US" sz="1600" b="1" dirty="0">
                <a:solidFill>
                  <a:srgbClr val="262A20"/>
                </a:solidFill>
                <a:latin typeface="Open Sans" pitchFamily="34" charset="0"/>
                <a:ea typeface="Open Sans" pitchFamily="34" charset="-122"/>
                <a:cs typeface="Open Sans" pitchFamily="34" charset="-120"/>
              </a:rPr>
              <a:t>It fills them in for you</a:t>
            </a:r>
            <a:endParaRPr lang="en-US" sz="1600" dirty="0"/>
          </a:p>
        </p:txBody>
      </p:sp>
      <p:sp>
        <p:nvSpPr>
          <p:cNvPr id="19" name="Text 13"/>
          <p:cNvSpPr txBox="1"/>
          <p:nvPr/>
        </p:nvSpPr>
        <p:spPr>
          <a:xfrm>
            <a:off x="1188720" y="3511296"/>
            <a:ext cx="4572000" cy="594360"/>
          </a:xfrm>
          <a:prstGeom prst="rect">
            <a:avLst/>
          </a:prstGeom>
          <a:noFill/>
          <a:ln/>
        </p:spPr>
        <p:txBody>
          <a:bodyPr wrap="square" lIns="0" tIns="0" rIns="0" bIns="0" rtlCol="0" anchor="t"/>
          <a:lstStyle/>
          <a:p>
            <a:pPr indent="0" marL="0">
              <a:buNone/>
            </a:pPr>
            <a:r>
              <a:rPr lang="en-US" sz="1300" dirty="0">
                <a:solidFill>
                  <a:srgbClr val="262A20"/>
                </a:solidFill>
                <a:latin typeface="Open Sans" pitchFamily="34" charset="0"/>
                <a:ea typeface="Open Sans" pitchFamily="34" charset="-122"/>
                <a:cs typeface="Open Sans" pitchFamily="34" charset="-120"/>
              </a:rPr>
              <a:t>No typing, no sticky notes, no reuse.</a:t>
            </a:r>
            <a:endParaRPr lang="en-US" sz="1300" dirty="0"/>
          </a:p>
        </p:txBody>
      </p:sp>
      <p:sp>
        <p:nvSpPr>
          <p:cNvPr id="20" name="Shape 14"/>
          <p:cNvSpPr/>
          <p:nvPr/>
        </p:nvSpPr>
        <p:spPr>
          <a:xfrm>
            <a:off x="6583680" y="1737360"/>
            <a:ext cx="1645920" cy="1645920"/>
          </a:xfrm>
          <a:prstGeom prst="ellipse">
            <a:avLst/>
          </a:prstGeom>
          <a:solidFill>
            <a:srgbClr val="667C7E"/>
          </a:solidFill>
          <a:ln w="12700">
            <a:solidFill>
              <a:srgbClr val="667C7E"/>
            </a:solidFill>
            <a:prstDash val="solid"/>
          </a:ln>
        </p:spPr>
      </p:sp>
      <p:pic>
        <p:nvPicPr>
          <p:cNvPr id="21" name="Image 3" descr="preencoded.png">    </p:cNvPr>
          <p:cNvPicPr>
            <a:picLocks noChangeAspect="1"/>
          </p:cNvPicPr>
          <p:nvPr/>
        </p:nvPicPr>
        <p:blipFill>
          <a:blip r:embed="rId4"/>
          <a:stretch>
            <a:fillRect/>
          </a:stretch>
        </p:blipFill>
        <p:spPr>
          <a:xfrm>
            <a:off x="6995160" y="2148840"/>
            <a:ext cx="822960" cy="82296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262A20"/>
        </a:solidFill>
      </p:bgPr>
    </p:bg>
    <p:spTree>
      <p:nvGrpSpPr>
        <p:cNvPr id="1" name=""/>
        <p:cNvGrpSpPr/>
        <p:nvPr/>
      </p:nvGrpSpPr>
      <p:grpSpPr>
        <a:xfrm>
          <a:off x="0" y="0"/>
          <a:ext cx="0" cy="0"/>
          <a:chOff x="0" y="0"/>
          <a:chExt cx="0" cy="0"/>
        </a:xfrm>
      </p:grpSpPr>
      <p:sp>
        <p:nvSpPr>
          <p:cNvPr id="2" name="Text 0"/>
          <p:cNvSpPr txBox="1"/>
          <p:nvPr/>
        </p:nvSpPr>
        <p:spPr>
          <a:xfrm>
            <a:off x="457200" y="1097280"/>
            <a:ext cx="1828800" cy="1463040"/>
          </a:xfrm>
          <a:prstGeom prst="rect">
            <a:avLst/>
          </a:prstGeom>
          <a:noFill/>
          <a:ln/>
        </p:spPr>
        <p:txBody>
          <a:bodyPr wrap="square" lIns="0" tIns="0" rIns="0" bIns="0" rtlCol="0" anchor="ctr"/>
          <a:lstStyle/>
          <a:p>
            <a:pPr indent="0" marL="0">
              <a:buNone/>
            </a:pPr>
            <a:r>
              <a:rPr lang="en-US" sz="9600" b="1" dirty="0">
                <a:solidFill>
                  <a:srgbClr val="C7A887"/>
                </a:solidFill>
                <a:latin typeface="Open Sans" pitchFamily="34" charset="0"/>
                <a:ea typeface="Open Sans" pitchFamily="34" charset="-122"/>
                <a:cs typeface="Open Sans" pitchFamily="34" charset="-120"/>
              </a:rPr>
              <a:t>3</a:t>
            </a:r>
            <a:endParaRPr lang="en-US" sz="9600" dirty="0"/>
          </a:p>
        </p:txBody>
      </p:sp>
      <p:sp>
        <p:nvSpPr>
          <p:cNvPr id="3" name="Text 1"/>
          <p:cNvSpPr txBox="1"/>
          <p:nvPr/>
        </p:nvSpPr>
        <p:spPr>
          <a:xfrm>
            <a:off x="2377440" y="914400"/>
            <a:ext cx="6309360" cy="1371600"/>
          </a:xfrm>
          <a:prstGeom prst="rect">
            <a:avLst/>
          </a:prstGeom>
          <a:noFill/>
          <a:ln/>
        </p:spPr>
        <p:txBody>
          <a:bodyPr wrap="square" lIns="0" tIns="0" rIns="0" bIns="0" rtlCol="0" anchor="b"/>
          <a:lstStyle/>
          <a:p>
            <a:pPr indent="0" marL="0">
              <a:buNone/>
            </a:pPr>
            <a:r>
              <a:rPr lang="en-US" sz="3200" b="1" dirty="0">
                <a:solidFill>
                  <a:srgbClr val="FFFFFF"/>
                </a:solidFill>
                <a:latin typeface="Open Sans" pitchFamily="34" charset="0"/>
                <a:ea typeface="Open Sans" pitchFamily="34" charset="-122"/>
                <a:cs typeface="Open Sans" pitchFamily="34" charset="-120"/>
              </a:rPr>
              <a:t>MFA</a:t>
            </a:r>
            <a:endParaRPr lang="en-US" sz="3200" dirty="0"/>
          </a:p>
        </p:txBody>
      </p:sp>
      <p:sp>
        <p:nvSpPr>
          <p:cNvPr id="4" name="Text 2"/>
          <p:cNvSpPr txBox="1"/>
          <p:nvPr/>
        </p:nvSpPr>
        <p:spPr>
          <a:xfrm>
            <a:off x="2377440" y="2468880"/>
            <a:ext cx="6309360" cy="731520"/>
          </a:xfrm>
          <a:prstGeom prst="rect">
            <a:avLst/>
          </a:prstGeom>
          <a:noFill/>
          <a:ln/>
        </p:spPr>
        <p:txBody>
          <a:bodyPr wrap="square" lIns="0" tIns="0" rIns="0" bIns="0" rtlCol="0" anchor="t"/>
          <a:lstStyle/>
          <a:p>
            <a:pPr indent="0" marL="0">
              <a:buNone/>
            </a:pPr>
            <a:r>
              <a:rPr lang="en-US" sz="1600" dirty="0">
                <a:solidFill>
                  <a:srgbClr val="D9D5D2"/>
                </a:solidFill>
                <a:latin typeface="Open Sans" pitchFamily="34" charset="0"/>
                <a:ea typeface="Open Sans" pitchFamily="34" charset="-122"/>
                <a:cs typeface="Open Sans" pitchFamily="34" charset="-120"/>
              </a:rPr>
              <a:t>Your password gets a partner.</a:t>
            </a:r>
            <a:endParaRPr lang="en-US" sz="1600" dirty="0"/>
          </a:p>
        </p:txBody>
      </p:sp>
      <p:sp>
        <p:nvSpPr>
          <p:cNvPr id="5" name="Text 3"/>
          <p:cNvSpPr txBox="1"/>
          <p:nvPr/>
        </p:nvSpPr>
        <p:spPr>
          <a:xfrm>
            <a:off x="457200" y="4828032"/>
            <a:ext cx="6858000" cy="182880"/>
          </a:xfrm>
          <a:prstGeom prst="rect">
            <a:avLst/>
          </a:prstGeom>
          <a:noFill/>
          <a:ln/>
        </p:spPr>
        <p:txBody>
          <a:bodyPr wrap="square" lIns="0" tIns="0" rIns="0" bIns="0" rtlCol="0" anchor="ctr"/>
          <a:lstStyle/>
          <a:p>
            <a:pPr indent="0" marL="0">
              <a:buNone/>
            </a:pPr>
            <a:r>
              <a:rPr lang="en-US" sz="800" dirty="0">
                <a:solidFill>
                  <a:srgbClr val="D9D5D2"/>
                </a:solidFill>
                <a:latin typeface="Open Sans" pitchFamily="34" charset="0"/>
                <a:ea typeface="Open Sans" pitchFamily="34" charset="-122"/>
                <a:cs typeface="Open Sans" pitchFamily="34" charset="-120"/>
              </a:rPr>
              <a:t>DBIS-11 Cybersecurity and Cloud Computing  |  Day 2  |  Session 11.4</a:t>
            </a:r>
            <a:endParaRPr lang="en-US" sz="800" dirty="0"/>
          </a:p>
        </p:txBody>
      </p:sp>
      <p:sp>
        <p:nvSpPr>
          <p:cNvPr id="6" name="Text 4"/>
          <p:cNvSpPr txBox="1"/>
          <p:nvPr/>
        </p:nvSpPr>
        <p:spPr>
          <a:xfrm>
            <a:off x="8138160" y="4828032"/>
            <a:ext cx="548640" cy="182880"/>
          </a:xfrm>
          <a:prstGeom prst="rect">
            <a:avLst/>
          </a:prstGeom>
          <a:noFill/>
          <a:ln/>
        </p:spPr>
        <p:txBody>
          <a:bodyPr wrap="square" lIns="0" tIns="0" rIns="0" bIns="0" rtlCol="0" anchor="ctr"/>
          <a:lstStyle/>
          <a:p>
            <a:pPr algn="r" indent="0" marL="0">
              <a:buNone/>
            </a:pPr>
            <a:r>
              <a:rPr lang="en-US" sz="800" dirty="0">
                <a:solidFill>
                  <a:srgbClr val="D9D5D2"/>
                </a:solidFill>
                <a:latin typeface="Open Sans" pitchFamily="34" charset="0"/>
                <a:ea typeface="Open Sans" pitchFamily="34" charset="-122"/>
                <a:cs typeface="Open Sans" pitchFamily="34" charset="-120"/>
              </a:rPr>
              <a:t>21</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66928"/>
          </a:xfrm>
          <a:prstGeom prst="rect">
            <a:avLst/>
          </a:prstGeom>
          <a:noFill/>
          <a:ln/>
        </p:spPr>
        <p:txBody>
          <a:bodyPr wrap="square" lIns="0" tIns="0" rIns="0" bIns="0" rtlCol="0" anchor="ctr"/>
          <a:lstStyle/>
          <a:p>
            <a:pPr indent="0" marL="0">
              <a:buNone/>
            </a:pPr>
            <a:r>
              <a:rPr lang="en-US" sz="2400" b="1" dirty="0">
                <a:solidFill>
                  <a:srgbClr val="262A20"/>
                </a:solidFill>
                <a:latin typeface="Open Sans" pitchFamily="34" charset="0"/>
                <a:ea typeface="Open Sans" pitchFamily="34" charset="-122"/>
                <a:cs typeface="Open Sans" pitchFamily="34" charset="-120"/>
              </a:rPr>
              <a:t>What is MFA?</a:t>
            </a:r>
            <a:endParaRPr lang="en-US" sz="2400" dirty="0"/>
          </a:p>
        </p:txBody>
      </p:sp>
      <p:sp>
        <p:nvSpPr>
          <p:cNvPr id="3" name="Shape 1"/>
          <p:cNvSpPr/>
          <p:nvPr/>
        </p:nvSpPr>
        <p:spPr>
          <a:xfrm>
            <a:off x="457200" y="896112"/>
            <a:ext cx="640080" cy="54864"/>
          </a:xfrm>
          <a:prstGeom prst="rect">
            <a:avLst/>
          </a:prstGeom>
          <a:solidFill>
            <a:srgbClr val="667C7E"/>
          </a:solidFill>
          <a:ln w="12700">
            <a:solidFill>
              <a:srgbClr val="667C7E"/>
            </a:solidFill>
            <a:prstDash val="solid"/>
          </a:ln>
        </p:spPr>
      </p:sp>
      <p:sp>
        <p:nvSpPr>
          <p:cNvPr id="4" name="Shape 2"/>
          <p:cNvSpPr/>
          <p:nvPr/>
        </p:nvSpPr>
        <p:spPr>
          <a:xfrm>
            <a:off x="1143000" y="896112"/>
            <a:ext cx="320040" cy="54864"/>
          </a:xfrm>
          <a:prstGeom prst="rect">
            <a:avLst/>
          </a:prstGeom>
          <a:solidFill>
            <a:srgbClr val="C7A887"/>
          </a:solidFill>
          <a:ln w="12700">
            <a:solidFill>
              <a:srgbClr val="C7A887"/>
            </a:solidFill>
            <a:prstDash val="solid"/>
          </a:ln>
        </p:spPr>
      </p:sp>
      <p:sp>
        <p:nvSpPr>
          <p:cNvPr id="5" name="Text 3"/>
          <p:cNvSpPr txBox="1"/>
          <p:nvPr/>
        </p:nvSpPr>
        <p:spPr>
          <a:xfrm>
            <a:off x="457200" y="4828032"/>
            <a:ext cx="6858000" cy="182880"/>
          </a:xfrm>
          <a:prstGeom prst="rect">
            <a:avLst/>
          </a:prstGeom>
          <a:noFill/>
          <a:ln/>
        </p:spPr>
        <p:txBody>
          <a:bodyPr wrap="square" lIns="0" tIns="0" rIns="0" bIns="0" rtlCol="0" anchor="ctr"/>
          <a:lstStyle/>
          <a:p>
            <a:pPr indent="0" marL="0">
              <a:buNone/>
            </a:pPr>
            <a:r>
              <a:rPr lang="en-US" sz="800" dirty="0">
                <a:solidFill>
                  <a:srgbClr val="5A5F55"/>
                </a:solidFill>
                <a:latin typeface="Open Sans" pitchFamily="34" charset="0"/>
                <a:ea typeface="Open Sans" pitchFamily="34" charset="-122"/>
                <a:cs typeface="Open Sans" pitchFamily="34" charset="-120"/>
              </a:rPr>
              <a:t>DBIS-11 Cybersecurity and Cloud Computing  |  Day 2  |  Session 11.4</a:t>
            </a:r>
            <a:endParaRPr lang="en-US" sz="800" dirty="0"/>
          </a:p>
        </p:txBody>
      </p:sp>
      <p:sp>
        <p:nvSpPr>
          <p:cNvPr id="6" name="Text 4"/>
          <p:cNvSpPr txBox="1"/>
          <p:nvPr/>
        </p:nvSpPr>
        <p:spPr>
          <a:xfrm>
            <a:off x="8138160" y="4828032"/>
            <a:ext cx="548640" cy="182880"/>
          </a:xfrm>
          <a:prstGeom prst="rect">
            <a:avLst/>
          </a:prstGeom>
          <a:noFill/>
          <a:ln/>
        </p:spPr>
        <p:txBody>
          <a:bodyPr wrap="square" lIns="0" tIns="0" rIns="0" bIns="0" rtlCol="0" anchor="ctr"/>
          <a:lstStyle/>
          <a:p>
            <a:pPr algn="r" indent="0" marL="0">
              <a:buNone/>
            </a:pPr>
            <a:r>
              <a:rPr lang="en-US" sz="800" dirty="0">
                <a:solidFill>
                  <a:srgbClr val="5A5F55"/>
                </a:solidFill>
                <a:latin typeface="Open Sans" pitchFamily="34" charset="0"/>
                <a:ea typeface="Open Sans" pitchFamily="34" charset="-122"/>
                <a:cs typeface="Open Sans" pitchFamily="34" charset="-120"/>
              </a:rPr>
              <a:t>22</a:t>
            </a:r>
            <a:endParaRPr lang="en-US" sz="800" dirty="0"/>
          </a:p>
        </p:txBody>
      </p:sp>
      <p:sp>
        <p:nvSpPr>
          <p:cNvPr id="8" name="Shape 5"/>
          <p:cNvSpPr/>
          <p:nvPr/>
        </p:nvSpPr>
        <p:spPr>
          <a:xfrm>
            <a:off x="457200" y="1234440"/>
            <a:ext cx="1005840" cy="1005840"/>
          </a:xfrm>
          <a:prstGeom prst="ellipse">
            <a:avLst/>
          </a:prstGeom>
          <a:solidFill>
            <a:srgbClr val="667C7E"/>
          </a:solidFill>
          <a:ln w="12700">
            <a:solidFill>
              <a:srgbClr val="667C7E"/>
            </a:solidFill>
            <a:prstDash val="solid"/>
          </a:ln>
        </p:spPr>
      </p:sp>
      <p:pic>
        <p:nvPicPr>
          <p:cNvPr id="9" name="Image 0" descr="preencoded.png">    </p:cNvPr>
          <p:cNvPicPr>
            <a:picLocks noChangeAspect="1"/>
          </p:cNvPicPr>
          <p:nvPr/>
        </p:nvPicPr>
        <p:blipFill>
          <a:blip r:embed="rId1"/>
          <a:stretch>
            <a:fillRect/>
          </a:stretch>
        </p:blipFill>
        <p:spPr>
          <a:xfrm>
            <a:off x="708660" y="1485900"/>
            <a:ext cx="502920" cy="502920"/>
          </a:xfrm>
          <a:prstGeom prst="rect">
            <a:avLst/>
          </a:prstGeom>
        </p:spPr>
      </p:pic>
      <p:sp>
        <p:nvSpPr>
          <p:cNvPr id="10" name="Text 6"/>
          <p:cNvSpPr txBox="1"/>
          <p:nvPr/>
        </p:nvSpPr>
        <p:spPr>
          <a:xfrm>
            <a:off x="1691640" y="1234440"/>
            <a:ext cx="6949440" cy="457200"/>
          </a:xfrm>
          <a:prstGeom prst="rect">
            <a:avLst/>
          </a:prstGeom>
          <a:noFill/>
          <a:ln/>
        </p:spPr>
        <p:txBody>
          <a:bodyPr wrap="square" lIns="0" tIns="0" rIns="0" bIns="0" rtlCol="0" anchor="ctr"/>
          <a:lstStyle/>
          <a:p>
            <a:pPr indent="0" marL="0">
              <a:buNone/>
            </a:pPr>
            <a:r>
              <a:rPr lang="en-US" sz="2600" b="1" dirty="0">
                <a:solidFill>
                  <a:srgbClr val="566A6C"/>
                </a:solidFill>
                <a:latin typeface="Open Sans" pitchFamily="34" charset="0"/>
                <a:ea typeface="Open Sans" pitchFamily="34" charset="-122"/>
                <a:cs typeface="Open Sans" pitchFamily="34" charset="-120"/>
              </a:rPr>
              <a:t>MFA: multi-factor authentication</a:t>
            </a:r>
            <a:endParaRPr lang="en-US" sz="2600" dirty="0"/>
          </a:p>
        </p:txBody>
      </p:sp>
      <p:sp>
        <p:nvSpPr>
          <p:cNvPr id="11" name="Text 7"/>
          <p:cNvSpPr txBox="1"/>
          <p:nvPr/>
        </p:nvSpPr>
        <p:spPr>
          <a:xfrm>
            <a:off x="1691640" y="1691640"/>
            <a:ext cx="6949440" cy="640080"/>
          </a:xfrm>
          <a:prstGeom prst="rect">
            <a:avLst/>
          </a:prstGeom>
          <a:noFill/>
          <a:ln/>
        </p:spPr>
        <p:txBody>
          <a:bodyPr wrap="square" lIns="0" tIns="0" rIns="0" bIns="0" rtlCol="0" anchor="t"/>
          <a:lstStyle/>
          <a:p>
            <a:pPr indent="0" marL="0">
              <a:buNone/>
            </a:pPr>
            <a:r>
              <a:rPr lang="en-US" sz="1700" dirty="0">
                <a:solidFill>
                  <a:srgbClr val="262A20"/>
                </a:solidFill>
                <a:latin typeface="Open Sans" pitchFamily="34" charset="0"/>
                <a:ea typeface="Open Sans" pitchFamily="34" charset="-122"/>
                <a:cs typeface="Open Sans" pitchFamily="34" charset="-120"/>
              </a:rPr>
              <a:t>Logging in with two or more DIFFERENT kinds of factor.</a:t>
            </a:r>
            <a:endParaRPr lang="en-US" sz="1700" dirty="0"/>
          </a:p>
        </p:txBody>
      </p:sp>
      <p:sp>
        <p:nvSpPr>
          <p:cNvPr id="12" name="Shape 8"/>
          <p:cNvSpPr/>
          <p:nvPr/>
        </p:nvSpPr>
        <p:spPr>
          <a:xfrm>
            <a:off x="457200" y="2606040"/>
            <a:ext cx="3977640" cy="1920240"/>
          </a:xfrm>
          <a:prstGeom prst="roundRect">
            <a:avLst>
              <a:gd name="adj" fmla="val 3810"/>
            </a:avLst>
          </a:prstGeom>
          <a:solidFill>
            <a:srgbClr val="E1E6E6"/>
          </a:solidFill>
          <a:ln w="12700">
            <a:solidFill>
              <a:srgbClr val="E1E6E6"/>
            </a:solidFill>
            <a:prstDash val="solid"/>
          </a:ln>
        </p:spPr>
      </p:sp>
      <p:sp>
        <p:nvSpPr>
          <p:cNvPr id="13" name="Text 9"/>
          <p:cNvSpPr txBox="1"/>
          <p:nvPr/>
        </p:nvSpPr>
        <p:spPr>
          <a:xfrm>
            <a:off x="640080" y="2743200"/>
            <a:ext cx="3657600" cy="320040"/>
          </a:xfrm>
          <a:prstGeom prst="rect">
            <a:avLst/>
          </a:prstGeom>
          <a:noFill/>
          <a:ln/>
        </p:spPr>
        <p:txBody>
          <a:bodyPr wrap="square" lIns="0" tIns="0" rIns="0" bIns="0" rtlCol="0" anchor="ctr"/>
          <a:lstStyle/>
          <a:p>
            <a:pPr indent="0" marL="0">
              <a:buNone/>
            </a:pPr>
            <a:r>
              <a:rPr lang="en-US" sz="1400" b="1" dirty="0">
                <a:solidFill>
                  <a:srgbClr val="566A6C"/>
                </a:solidFill>
                <a:latin typeface="Open Sans" pitchFamily="34" charset="0"/>
                <a:ea typeface="Open Sans" pitchFamily="34" charset="-122"/>
                <a:cs typeface="Open Sans" pitchFamily="34" charset="-120"/>
              </a:rPr>
              <a:t>At TeaLeaf</a:t>
            </a:r>
            <a:endParaRPr lang="en-US" sz="1400" dirty="0"/>
          </a:p>
        </p:txBody>
      </p:sp>
      <p:sp>
        <p:nvSpPr>
          <p:cNvPr id="14" name="Text 10"/>
          <p:cNvSpPr txBox="1"/>
          <p:nvPr/>
        </p:nvSpPr>
        <p:spPr>
          <a:xfrm>
            <a:off x="640080" y="3108960"/>
            <a:ext cx="3611880" cy="1325880"/>
          </a:xfrm>
          <a:prstGeom prst="rect">
            <a:avLst/>
          </a:prstGeom>
          <a:noFill/>
          <a:ln/>
        </p:spPr>
        <p:txBody>
          <a:bodyPr wrap="square" lIns="0" tIns="0" rIns="0" bIns="0" rtlCol="0" anchor="t"/>
          <a:lstStyle/>
          <a:p>
            <a:pPr indent="0" marL="0">
              <a:buNone/>
            </a:pPr>
            <a:r>
              <a:rPr lang="en-US" sz="1400" dirty="0">
                <a:solidFill>
                  <a:srgbClr val="262A20"/>
                </a:solidFill>
                <a:latin typeface="Open Sans" pitchFamily="34" charset="0"/>
                <a:ea typeface="Open Sans" pitchFamily="34" charset="-122"/>
                <a:cs typeface="Open Sans" pitchFamily="34" charset="-120"/>
              </a:rPr>
              <a:t>Kasun types his password, then a code from his phone. Both are needed.</a:t>
            </a:r>
            <a:endParaRPr lang="en-US" sz="1400" dirty="0"/>
          </a:p>
        </p:txBody>
      </p:sp>
      <p:sp>
        <p:nvSpPr>
          <p:cNvPr id="15" name="Shape 11"/>
          <p:cNvSpPr/>
          <p:nvPr/>
        </p:nvSpPr>
        <p:spPr>
          <a:xfrm>
            <a:off x="4709160" y="2606040"/>
            <a:ext cx="3977640" cy="1920240"/>
          </a:xfrm>
          <a:prstGeom prst="roundRect">
            <a:avLst>
              <a:gd name="adj" fmla="val 3810"/>
            </a:avLst>
          </a:prstGeom>
          <a:solidFill>
            <a:srgbClr val="EDDDCD"/>
          </a:solidFill>
          <a:ln w="12700">
            <a:solidFill>
              <a:srgbClr val="EDDDCD"/>
            </a:solidFill>
            <a:prstDash val="solid"/>
          </a:ln>
        </p:spPr>
      </p:sp>
      <p:sp>
        <p:nvSpPr>
          <p:cNvPr id="16" name="Text 12"/>
          <p:cNvSpPr txBox="1"/>
          <p:nvPr/>
        </p:nvSpPr>
        <p:spPr>
          <a:xfrm>
            <a:off x="4892040" y="2743200"/>
            <a:ext cx="3657600" cy="320040"/>
          </a:xfrm>
          <a:prstGeom prst="rect">
            <a:avLst/>
          </a:prstGeom>
          <a:noFill/>
          <a:ln/>
        </p:spPr>
        <p:txBody>
          <a:bodyPr wrap="square" lIns="0" tIns="0" rIns="0" bIns="0" rtlCol="0" anchor="ctr"/>
          <a:lstStyle/>
          <a:p>
            <a:pPr indent="0" marL="0">
              <a:buNone/>
            </a:pPr>
            <a:r>
              <a:rPr lang="en-US" sz="1400" b="1" dirty="0">
                <a:solidFill>
                  <a:srgbClr val="7D5F3F"/>
                </a:solidFill>
                <a:latin typeface="Open Sans" pitchFamily="34" charset="0"/>
                <a:ea typeface="Open Sans" pitchFamily="34" charset="-122"/>
                <a:cs typeface="Open Sans" pitchFamily="34" charset="-120"/>
              </a:rPr>
              <a:t>Why it works</a:t>
            </a:r>
            <a:endParaRPr lang="en-US" sz="1400" dirty="0"/>
          </a:p>
        </p:txBody>
      </p:sp>
      <p:sp>
        <p:nvSpPr>
          <p:cNvPr id="17" name="Text 13"/>
          <p:cNvSpPr txBox="1"/>
          <p:nvPr/>
        </p:nvSpPr>
        <p:spPr>
          <a:xfrm>
            <a:off x="4892040" y="3108960"/>
            <a:ext cx="3611880" cy="1325880"/>
          </a:xfrm>
          <a:prstGeom prst="rect">
            <a:avLst/>
          </a:prstGeom>
          <a:noFill/>
          <a:ln/>
        </p:spPr>
        <p:txBody>
          <a:bodyPr wrap="square" lIns="0" tIns="0" rIns="0" bIns="0" rtlCol="0" anchor="t"/>
          <a:lstStyle/>
          <a:p>
            <a:pPr indent="0" marL="0">
              <a:buNone/>
            </a:pPr>
            <a:r>
              <a:rPr lang="en-US" sz="1400" dirty="0">
                <a:solidFill>
                  <a:srgbClr val="262A20"/>
                </a:solidFill>
                <a:latin typeface="Open Sans" pitchFamily="34" charset="0"/>
                <a:ea typeface="Open Sans" pitchFamily="34" charset="-122"/>
                <a:cs typeface="Open Sans" pitchFamily="34" charset="-120"/>
              </a:rPr>
              <a:t>A criminal buys Kasun's stolen password, but does not have his phone. The criminal is stopped.</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66928"/>
          </a:xfrm>
          <a:prstGeom prst="rect">
            <a:avLst/>
          </a:prstGeom>
          <a:noFill/>
          <a:ln/>
        </p:spPr>
        <p:txBody>
          <a:bodyPr wrap="square" lIns="0" tIns="0" rIns="0" bIns="0" rtlCol="0" anchor="ctr"/>
          <a:lstStyle/>
          <a:p>
            <a:pPr indent="0" marL="0">
              <a:buNone/>
            </a:pPr>
            <a:r>
              <a:rPr lang="en-US" sz="2400" b="1" dirty="0">
                <a:solidFill>
                  <a:srgbClr val="262A20"/>
                </a:solidFill>
                <a:latin typeface="Open Sans" pitchFamily="34" charset="0"/>
                <a:ea typeface="Open Sans" pitchFamily="34" charset="-122"/>
                <a:cs typeface="Open Sans" pitchFamily="34" charset="-120"/>
              </a:rPr>
              <a:t>Three kinds of factor</a:t>
            </a:r>
            <a:endParaRPr lang="en-US" sz="2400" dirty="0"/>
          </a:p>
        </p:txBody>
      </p:sp>
      <p:sp>
        <p:nvSpPr>
          <p:cNvPr id="3" name="Shape 1"/>
          <p:cNvSpPr/>
          <p:nvPr/>
        </p:nvSpPr>
        <p:spPr>
          <a:xfrm>
            <a:off x="457200" y="896112"/>
            <a:ext cx="640080" cy="54864"/>
          </a:xfrm>
          <a:prstGeom prst="rect">
            <a:avLst/>
          </a:prstGeom>
          <a:solidFill>
            <a:srgbClr val="667C7E"/>
          </a:solidFill>
          <a:ln w="12700">
            <a:solidFill>
              <a:srgbClr val="667C7E"/>
            </a:solidFill>
            <a:prstDash val="solid"/>
          </a:ln>
        </p:spPr>
      </p:sp>
      <p:sp>
        <p:nvSpPr>
          <p:cNvPr id="4" name="Shape 2"/>
          <p:cNvSpPr/>
          <p:nvPr/>
        </p:nvSpPr>
        <p:spPr>
          <a:xfrm>
            <a:off x="1143000" y="896112"/>
            <a:ext cx="320040" cy="54864"/>
          </a:xfrm>
          <a:prstGeom prst="rect">
            <a:avLst/>
          </a:prstGeom>
          <a:solidFill>
            <a:srgbClr val="C7A887"/>
          </a:solidFill>
          <a:ln w="12700">
            <a:solidFill>
              <a:srgbClr val="C7A887"/>
            </a:solidFill>
            <a:prstDash val="solid"/>
          </a:ln>
        </p:spPr>
      </p:sp>
      <p:sp>
        <p:nvSpPr>
          <p:cNvPr id="5" name="Text 3"/>
          <p:cNvSpPr txBox="1"/>
          <p:nvPr/>
        </p:nvSpPr>
        <p:spPr>
          <a:xfrm>
            <a:off x="457200" y="4828032"/>
            <a:ext cx="6858000" cy="182880"/>
          </a:xfrm>
          <a:prstGeom prst="rect">
            <a:avLst/>
          </a:prstGeom>
          <a:noFill/>
          <a:ln/>
        </p:spPr>
        <p:txBody>
          <a:bodyPr wrap="square" lIns="0" tIns="0" rIns="0" bIns="0" rtlCol="0" anchor="ctr"/>
          <a:lstStyle/>
          <a:p>
            <a:pPr indent="0" marL="0">
              <a:buNone/>
            </a:pPr>
            <a:r>
              <a:rPr lang="en-US" sz="800" dirty="0">
                <a:solidFill>
                  <a:srgbClr val="5A5F55"/>
                </a:solidFill>
                <a:latin typeface="Open Sans" pitchFamily="34" charset="0"/>
                <a:ea typeface="Open Sans" pitchFamily="34" charset="-122"/>
                <a:cs typeface="Open Sans" pitchFamily="34" charset="-120"/>
              </a:rPr>
              <a:t>DBIS-11 Cybersecurity and Cloud Computing  |  Day 2  |  Session 11.4</a:t>
            </a:r>
            <a:endParaRPr lang="en-US" sz="800" dirty="0"/>
          </a:p>
        </p:txBody>
      </p:sp>
      <p:sp>
        <p:nvSpPr>
          <p:cNvPr id="6" name="Text 4"/>
          <p:cNvSpPr txBox="1"/>
          <p:nvPr/>
        </p:nvSpPr>
        <p:spPr>
          <a:xfrm>
            <a:off x="8138160" y="4828032"/>
            <a:ext cx="548640" cy="182880"/>
          </a:xfrm>
          <a:prstGeom prst="rect">
            <a:avLst/>
          </a:prstGeom>
          <a:noFill/>
          <a:ln/>
        </p:spPr>
        <p:txBody>
          <a:bodyPr wrap="square" lIns="0" tIns="0" rIns="0" bIns="0" rtlCol="0" anchor="ctr"/>
          <a:lstStyle/>
          <a:p>
            <a:pPr algn="r" indent="0" marL="0">
              <a:buNone/>
            </a:pPr>
            <a:r>
              <a:rPr lang="en-US" sz="800" dirty="0">
                <a:solidFill>
                  <a:srgbClr val="5A5F55"/>
                </a:solidFill>
                <a:latin typeface="Open Sans" pitchFamily="34" charset="0"/>
                <a:ea typeface="Open Sans" pitchFamily="34" charset="-122"/>
                <a:cs typeface="Open Sans" pitchFamily="34" charset="-120"/>
              </a:rPr>
              <a:t>23</a:t>
            </a:r>
            <a:endParaRPr lang="en-US" sz="800" dirty="0"/>
          </a:p>
        </p:txBody>
      </p:sp>
      <p:sp>
        <p:nvSpPr>
          <p:cNvPr id="8" name="Shape 5"/>
          <p:cNvSpPr/>
          <p:nvPr/>
        </p:nvSpPr>
        <p:spPr>
          <a:xfrm>
            <a:off x="457200" y="1188720"/>
            <a:ext cx="2590800" cy="2194560"/>
          </a:xfrm>
          <a:prstGeom prst="roundRect">
            <a:avLst>
              <a:gd name="adj" fmla="val 3333"/>
            </a:avLst>
          </a:prstGeom>
          <a:solidFill>
            <a:srgbClr val="E1E6E6"/>
          </a:solidFill>
          <a:ln w="12700">
            <a:solidFill>
              <a:srgbClr val="E1E6E6"/>
            </a:solidFill>
            <a:prstDash val="solid"/>
          </a:ln>
        </p:spPr>
      </p:sp>
      <p:sp>
        <p:nvSpPr>
          <p:cNvPr id="9" name="Shape 6"/>
          <p:cNvSpPr/>
          <p:nvPr/>
        </p:nvSpPr>
        <p:spPr>
          <a:xfrm>
            <a:off x="640080" y="1371600"/>
            <a:ext cx="502920" cy="502920"/>
          </a:xfrm>
          <a:prstGeom prst="ellipse">
            <a:avLst/>
          </a:prstGeom>
          <a:solidFill>
            <a:srgbClr val="667C7E"/>
          </a:solidFill>
          <a:ln w="12700">
            <a:solidFill>
              <a:srgbClr val="667C7E"/>
            </a:solidFill>
            <a:prstDash val="solid"/>
          </a:ln>
        </p:spPr>
      </p:sp>
      <p:pic>
        <p:nvPicPr>
          <p:cNvPr id="10" name="Image 0" descr="preencoded.png">    </p:cNvPr>
          <p:cNvPicPr>
            <a:picLocks noChangeAspect="1"/>
          </p:cNvPicPr>
          <p:nvPr/>
        </p:nvPicPr>
        <p:blipFill>
          <a:blip r:embed="rId1"/>
          <a:stretch>
            <a:fillRect/>
          </a:stretch>
        </p:blipFill>
        <p:spPr>
          <a:xfrm>
            <a:off x="765810" y="1497330"/>
            <a:ext cx="251460" cy="251460"/>
          </a:xfrm>
          <a:prstGeom prst="rect">
            <a:avLst/>
          </a:prstGeom>
        </p:spPr>
      </p:pic>
      <p:sp>
        <p:nvSpPr>
          <p:cNvPr id="11" name="Text 7"/>
          <p:cNvSpPr txBox="1"/>
          <p:nvPr/>
        </p:nvSpPr>
        <p:spPr>
          <a:xfrm>
            <a:off x="640080" y="2011680"/>
            <a:ext cx="2225040" cy="365760"/>
          </a:xfrm>
          <a:prstGeom prst="rect">
            <a:avLst/>
          </a:prstGeom>
          <a:noFill/>
          <a:ln/>
        </p:spPr>
        <p:txBody>
          <a:bodyPr wrap="square" lIns="0" tIns="0" rIns="0" bIns="0" rtlCol="0" anchor="t"/>
          <a:lstStyle/>
          <a:p>
            <a:pPr indent="0" marL="0">
              <a:buNone/>
            </a:pPr>
            <a:r>
              <a:rPr lang="en-US" sz="1600" b="1" dirty="0">
                <a:solidFill>
                  <a:srgbClr val="262A20"/>
                </a:solidFill>
                <a:latin typeface="Open Sans" pitchFamily="34" charset="0"/>
                <a:ea typeface="Open Sans" pitchFamily="34" charset="-122"/>
                <a:cs typeface="Open Sans" pitchFamily="34" charset="-120"/>
              </a:rPr>
              <a:t>Something you know</a:t>
            </a:r>
            <a:endParaRPr lang="en-US" sz="1600" dirty="0"/>
          </a:p>
        </p:txBody>
      </p:sp>
      <p:sp>
        <p:nvSpPr>
          <p:cNvPr id="12" name="Text 8"/>
          <p:cNvSpPr txBox="1"/>
          <p:nvPr/>
        </p:nvSpPr>
        <p:spPr>
          <a:xfrm>
            <a:off x="640080" y="2395728"/>
            <a:ext cx="2225040" cy="868680"/>
          </a:xfrm>
          <a:prstGeom prst="rect">
            <a:avLst/>
          </a:prstGeom>
          <a:noFill/>
          <a:ln/>
        </p:spPr>
        <p:txBody>
          <a:bodyPr wrap="square" lIns="0" tIns="0" rIns="0" bIns="0" rtlCol="0" anchor="t"/>
          <a:lstStyle/>
          <a:p>
            <a:pPr indent="0" marL="0">
              <a:buNone/>
            </a:pPr>
            <a:r>
              <a:rPr lang="en-US" sz="1400" dirty="0">
                <a:solidFill>
                  <a:srgbClr val="262A20"/>
                </a:solidFill>
                <a:latin typeface="Open Sans" pitchFamily="34" charset="0"/>
                <a:ea typeface="Open Sans" pitchFamily="34" charset="-122"/>
                <a:cs typeface="Open Sans" pitchFamily="34" charset="-120"/>
              </a:rPr>
              <a:t>A password, a passphrase, a PIN.</a:t>
            </a:r>
            <a:endParaRPr lang="en-US" sz="1400" dirty="0"/>
          </a:p>
        </p:txBody>
      </p:sp>
      <p:sp>
        <p:nvSpPr>
          <p:cNvPr id="13" name="Shape 9"/>
          <p:cNvSpPr/>
          <p:nvPr/>
        </p:nvSpPr>
        <p:spPr>
          <a:xfrm>
            <a:off x="3276600" y="1188720"/>
            <a:ext cx="2590800" cy="2194560"/>
          </a:xfrm>
          <a:prstGeom prst="roundRect">
            <a:avLst>
              <a:gd name="adj" fmla="val 3333"/>
            </a:avLst>
          </a:prstGeom>
          <a:solidFill>
            <a:srgbClr val="E1E6E6"/>
          </a:solidFill>
          <a:ln w="12700">
            <a:solidFill>
              <a:srgbClr val="E1E6E6"/>
            </a:solidFill>
            <a:prstDash val="solid"/>
          </a:ln>
        </p:spPr>
      </p:sp>
      <p:sp>
        <p:nvSpPr>
          <p:cNvPr id="14" name="Shape 10"/>
          <p:cNvSpPr/>
          <p:nvPr/>
        </p:nvSpPr>
        <p:spPr>
          <a:xfrm>
            <a:off x="3459480" y="1371600"/>
            <a:ext cx="502920" cy="502920"/>
          </a:xfrm>
          <a:prstGeom prst="ellipse">
            <a:avLst/>
          </a:prstGeom>
          <a:solidFill>
            <a:srgbClr val="667C7E"/>
          </a:solidFill>
          <a:ln w="12700">
            <a:solidFill>
              <a:srgbClr val="667C7E"/>
            </a:solidFill>
            <a:prstDash val="solid"/>
          </a:ln>
        </p:spPr>
      </p:sp>
      <p:pic>
        <p:nvPicPr>
          <p:cNvPr id="15" name="Image 1" descr="preencoded.png">    </p:cNvPr>
          <p:cNvPicPr>
            <a:picLocks noChangeAspect="1"/>
          </p:cNvPicPr>
          <p:nvPr/>
        </p:nvPicPr>
        <p:blipFill>
          <a:blip r:embed="rId2"/>
          <a:stretch>
            <a:fillRect/>
          </a:stretch>
        </p:blipFill>
        <p:spPr>
          <a:xfrm>
            <a:off x="3585210" y="1497330"/>
            <a:ext cx="251460" cy="251460"/>
          </a:xfrm>
          <a:prstGeom prst="rect">
            <a:avLst/>
          </a:prstGeom>
        </p:spPr>
      </p:pic>
      <p:sp>
        <p:nvSpPr>
          <p:cNvPr id="16" name="Text 11"/>
          <p:cNvSpPr txBox="1"/>
          <p:nvPr/>
        </p:nvSpPr>
        <p:spPr>
          <a:xfrm>
            <a:off x="3459480" y="2011680"/>
            <a:ext cx="2225040" cy="365760"/>
          </a:xfrm>
          <a:prstGeom prst="rect">
            <a:avLst/>
          </a:prstGeom>
          <a:noFill/>
          <a:ln/>
        </p:spPr>
        <p:txBody>
          <a:bodyPr wrap="square" lIns="0" tIns="0" rIns="0" bIns="0" rtlCol="0" anchor="t"/>
          <a:lstStyle/>
          <a:p>
            <a:pPr indent="0" marL="0">
              <a:buNone/>
            </a:pPr>
            <a:r>
              <a:rPr lang="en-US" sz="1600" b="1" dirty="0">
                <a:solidFill>
                  <a:srgbClr val="262A20"/>
                </a:solidFill>
                <a:latin typeface="Open Sans" pitchFamily="34" charset="0"/>
                <a:ea typeface="Open Sans" pitchFamily="34" charset="-122"/>
                <a:cs typeface="Open Sans" pitchFamily="34" charset="-120"/>
              </a:rPr>
              <a:t>Something you have</a:t>
            </a:r>
            <a:endParaRPr lang="en-US" sz="1600" dirty="0"/>
          </a:p>
        </p:txBody>
      </p:sp>
      <p:sp>
        <p:nvSpPr>
          <p:cNvPr id="17" name="Text 12"/>
          <p:cNvSpPr txBox="1"/>
          <p:nvPr/>
        </p:nvSpPr>
        <p:spPr>
          <a:xfrm>
            <a:off x="3459480" y="2395728"/>
            <a:ext cx="2225040" cy="868680"/>
          </a:xfrm>
          <a:prstGeom prst="rect">
            <a:avLst/>
          </a:prstGeom>
          <a:noFill/>
          <a:ln/>
        </p:spPr>
        <p:txBody>
          <a:bodyPr wrap="square" lIns="0" tIns="0" rIns="0" bIns="0" rtlCol="0" anchor="t"/>
          <a:lstStyle/>
          <a:p>
            <a:pPr indent="0" marL="0">
              <a:buNone/>
            </a:pPr>
            <a:r>
              <a:rPr lang="en-US" sz="1400" dirty="0">
                <a:solidFill>
                  <a:srgbClr val="262A20"/>
                </a:solidFill>
                <a:latin typeface="Open Sans" pitchFamily="34" charset="0"/>
                <a:ea typeface="Open Sans" pitchFamily="34" charset="-122"/>
                <a:cs typeface="Open Sans" pitchFamily="34" charset="-120"/>
              </a:rPr>
              <a:t>Your phone, a security key, a bank card.</a:t>
            </a:r>
            <a:endParaRPr lang="en-US" sz="1400" dirty="0"/>
          </a:p>
        </p:txBody>
      </p:sp>
      <p:sp>
        <p:nvSpPr>
          <p:cNvPr id="18" name="Shape 13"/>
          <p:cNvSpPr/>
          <p:nvPr/>
        </p:nvSpPr>
        <p:spPr>
          <a:xfrm>
            <a:off x="6096000" y="1188720"/>
            <a:ext cx="2590800" cy="2194560"/>
          </a:xfrm>
          <a:prstGeom prst="roundRect">
            <a:avLst>
              <a:gd name="adj" fmla="val 3333"/>
            </a:avLst>
          </a:prstGeom>
          <a:solidFill>
            <a:srgbClr val="E1E6E6"/>
          </a:solidFill>
          <a:ln w="12700">
            <a:solidFill>
              <a:srgbClr val="E1E6E6"/>
            </a:solidFill>
            <a:prstDash val="solid"/>
          </a:ln>
        </p:spPr>
      </p:sp>
      <p:sp>
        <p:nvSpPr>
          <p:cNvPr id="19" name="Shape 14"/>
          <p:cNvSpPr/>
          <p:nvPr/>
        </p:nvSpPr>
        <p:spPr>
          <a:xfrm>
            <a:off x="6278880" y="1371600"/>
            <a:ext cx="502920" cy="502920"/>
          </a:xfrm>
          <a:prstGeom prst="ellipse">
            <a:avLst/>
          </a:prstGeom>
          <a:solidFill>
            <a:srgbClr val="667C7E"/>
          </a:solidFill>
          <a:ln w="12700">
            <a:solidFill>
              <a:srgbClr val="667C7E"/>
            </a:solidFill>
            <a:prstDash val="solid"/>
          </a:ln>
        </p:spPr>
      </p:sp>
      <p:pic>
        <p:nvPicPr>
          <p:cNvPr id="20" name="Image 2" descr="preencoded.png">    </p:cNvPr>
          <p:cNvPicPr>
            <a:picLocks noChangeAspect="1"/>
          </p:cNvPicPr>
          <p:nvPr/>
        </p:nvPicPr>
        <p:blipFill>
          <a:blip r:embed="rId3"/>
          <a:stretch>
            <a:fillRect/>
          </a:stretch>
        </p:blipFill>
        <p:spPr>
          <a:xfrm>
            <a:off x="6404610" y="1497330"/>
            <a:ext cx="251460" cy="251460"/>
          </a:xfrm>
          <a:prstGeom prst="rect">
            <a:avLst/>
          </a:prstGeom>
        </p:spPr>
      </p:pic>
      <p:sp>
        <p:nvSpPr>
          <p:cNvPr id="21" name="Text 15"/>
          <p:cNvSpPr txBox="1"/>
          <p:nvPr/>
        </p:nvSpPr>
        <p:spPr>
          <a:xfrm>
            <a:off x="6278880" y="2011680"/>
            <a:ext cx="2225040" cy="365760"/>
          </a:xfrm>
          <a:prstGeom prst="rect">
            <a:avLst/>
          </a:prstGeom>
          <a:noFill/>
          <a:ln/>
        </p:spPr>
        <p:txBody>
          <a:bodyPr wrap="square" lIns="0" tIns="0" rIns="0" bIns="0" rtlCol="0" anchor="t"/>
          <a:lstStyle/>
          <a:p>
            <a:pPr indent="0" marL="0">
              <a:buNone/>
            </a:pPr>
            <a:r>
              <a:rPr lang="en-US" sz="1600" b="1" dirty="0">
                <a:solidFill>
                  <a:srgbClr val="262A20"/>
                </a:solidFill>
                <a:latin typeface="Open Sans" pitchFamily="34" charset="0"/>
                <a:ea typeface="Open Sans" pitchFamily="34" charset="-122"/>
                <a:cs typeface="Open Sans" pitchFamily="34" charset="-120"/>
              </a:rPr>
              <a:t>Something you are</a:t>
            </a:r>
            <a:endParaRPr lang="en-US" sz="1600" dirty="0"/>
          </a:p>
        </p:txBody>
      </p:sp>
      <p:sp>
        <p:nvSpPr>
          <p:cNvPr id="22" name="Text 16"/>
          <p:cNvSpPr txBox="1"/>
          <p:nvPr/>
        </p:nvSpPr>
        <p:spPr>
          <a:xfrm>
            <a:off x="6278880" y="2395728"/>
            <a:ext cx="2225040" cy="868680"/>
          </a:xfrm>
          <a:prstGeom prst="rect">
            <a:avLst/>
          </a:prstGeom>
          <a:noFill/>
          <a:ln/>
        </p:spPr>
        <p:txBody>
          <a:bodyPr wrap="square" lIns="0" tIns="0" rIns="0" bIns="0" rtlCol="0" anchor="t"/>
          <a:lstStyle/>
          <a:p>
            <a:pPr indent="0" marL="0">
              <a:buNone/>
            </a:pPr>
            <a:r>
              <a:rPr lang="en-US" sz="1400" dirty="0">
                <a:solidFill>
                  <a:srgbClr val="262A20"/>
                </a:solidFill>
                <a:latin typeface="Open Sans" pitchFamily="34" charset="0"/>
                <a:ea typeface="Open Sans" pitchFamily="34" charset="-122"/>
                <a:cs typeface="Open Sans" pitchFamily="34" charset="-120"/>
              </a:rPr>
              <a:t>Your fingerprint, your face.</a:t>
            </a:r>
            <a:endParaRPr lang="en-US" sz="1400" dirty="0"/>
          </a:p>
        </p:txBody>
      </p:sp>
      <p:sp>
        <p:nvSpPr>
          <p:cNvPr id="23" name="Shape 17"/>
          <p:cNvSpPr/>
          <p:nvPr/>
        </p:nvSpPr>
        <p:spPr>
          <a:xfrm>
            <a:off x="457200" y="3611880"/>
            <a:ext cx="8229600" cy="777240"/>
          </a:xfrm>
          <a:prstGeom prst="roundRect">
            <a:avLst>
              <a:gd name="adj" fmla="val 9412"/>
            </a:avLst>
          </a:prstGeom>
          <a:solidFill>
            <a:srgbClr val="EDDDCD"/>
          </a:solidFill>
          <a:ln w="12700">
            <a:solidFill>
              <a:srgbClr val="EDDDCD"/>
            </a:solidFill>
            <a:prstDash val="solid"/>
          </a:ln>
        </p:spPr>
      </p:sp>
      <p:sp>
        <p:nvSpPr>
          <p:cNvPr id="24" name="Text 18"/>
          <p:cNvSpPr txBox="1"/>
          <p:nvPr/>
        </p:nvSpPr>
        <p:spPr>
          <a:xfrm>
            <a:off x="640080" y="3657600"/>
            <a:ext cx="7863840" cy="685800"/>
          </a:xfrm>
          <a:prstGeom prst="rect">
            <a:avLst/>
          </a:prstGeom>
          <a:noFill/>
          <a:ln/>
        </p:spPr>
        <p:txBody>
          <a:bodyPr wrap="square" lIns="0" tIns="0" rIns="0" bIns="0" rtlCol="0" anchor="ctr"/>
          <a:lstStyle/>
          <a:p>
            <a:pPr algn="ctr" indent="0" marL="0">
              <a:buNone/>
            </a:pPr>
            <a:r>
              <a:rPr lang="en-US" sz="1700" b="1" dirty="0">
                <a:solidFill>
                  <a:srgbClr val="262A20"/>
                </a:solidFill>
                <a:latin typeface="Open Sans" pitchFamily="34" charset="0"/>
                <a:ea typeface="Open Sans" pitchFamily="34" charset="-122"/>
                <a:cs typeface="Open Sans" pitchFamily="34" charset="-120"/>
              </a:rPr>
              <a:t>A password + a PIN is NOT MFA: both are something you know.</a:t>
            </a:r>
            <a:endParaRPr lang="en-US" sz="17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66928"/>
          </a:xfrm>
          <a:prstGeom prst="rect">
            <a:avLst/>
          </a:prstGeom>
          <a:noFill/>
          <a:ln/>
        </p:spPr>
        <p:txBody>
          <a:bodyPr wrap="square" lIns="0" tIns="0" rIns="0" bIns="0" rtlCol="0" anchor="ctr"/>
          <a:lstStyle/>
          <a:p>
            <a:pPr indent="0" marL="0">
              <a:buNone/>
            </a:pPr>
            <a:r>
              <a:rPr lang="en-US" sz="2400" b="1" dirty="0">
                <a:solidFill>
                  <a:srgbClr val="262A20"/>
                </a:solidFill>
                <a:latin typeface="Open Sans" pitchFamily="34" charset="0"/>
                <a:ea typeface="Open Sans" pitchFamily="34" charset="-122"/>
                <a:cs typeface="Open Sans" pitchFamily="34" charset="-120"/>
              </a:rPr>
              <a:t>Never share the code</a:t>
            </a:r>
            <a:endParaRPr lang="en-US" sz="2400" dirty="0"/>
          </a:p>
        </p:txBody>
      </p:sp>
      <p:sp>
        <p:nvSpPr>
          <p:cNvPr id="3" name="Shape 1"/>
          <p:cNvSpPr/>
          <p:nvPr/>
        </p:nvSpPr>
        <p:spPr>
          <a:xfrm>
            <a:off x="457200" y="896112"/>
            <a:ext cx="640080" cy="54864"/>
          </a:xfrm>
          <a:prstGeom prst="rect">
            <a:avLst/>
          </a:prstGeom>
          <a:solidFill>
            <a:srgbClr val="667C7E"/>
          </a:solidFill>
          <a:ln w="12700">
            <a:solidFill>
              <a:srgbClr val="667C7E"/>
            </a:solidFill>
            <a:prstDash val="solid"/>
          </a:ln>
        </p:spPr>
      </p:sp>
      <p:sp>
        <p:nvSpPr>
          <p:cNvPr id="4" name="Shape 2"/>
          <p:cNvSpPr/>
          <p:nvPr/>
        </p:nvSpPr>
        <p:spPr>
          <a:xfrm>
            <a:off x="1143000" y="896112"/>
            <a:ext cx="320040" cy="54864"/>
          </a:xfrm>
          <a:prstGeom prst="rect">
            <a:avLst/>
          </a:prstGeom>
          <a:solidFill>
            <a:srgbClr val="C7A887"/>
          </a:solidFill>
          <a:ln w="12700">
            <a:solidFill>
              <a:srgbClr val="C7A887"/>
            </a:solidFill>
            <a:prstDash val="solid"/>
          </a:ln>
        </p:spPr>
      </p:sp>
      <p:sp>
        <p:nvSpPr>
          <p:cNvPr id="5" name="Text 3"/>
          <p:cNvSpPr txBox="1"/>
          <p:nvPr/>
        </p:nvSpPr>
        <p:spPr>
          <a:xfrm>
            <a:off x="457200" y="4828032"/>
            <a:ext cx="6858000" cy="182880"/>
          </a:xfrm>
          <a:prstGeom prst="rect">
            <a:avLst/>
          </a:prstGeom>
          <a:noFill/>
          <a:ln/>
        </p:spPr>
        <p:txBody>
          <a:bodyPr wrap="square" lIns="0" tIns="0" rIns="0" bIns="0" rtlCol="0" anchor="ctr"/>
          <a:lstStyle/>
          <a:p>
            <a:pPr indent="0" marL="0">
              <a:buNone/>
            </a:pPr>
            <a:r>
              <a:rPr lang="en-US" sz="800" dirty="0">
                <a:solidFill>
                  <a:srgbClr val="5A5F55"/>
                </a:solidFill>
                <a:latin typeface="Open Sans" pitchFamily="34" charset="0"/>
                <a:ea typeface="Open Sans" pitchFamily="34" charset="-122"/>
                <a:cs typeface="Open Sans" pitchFamily="34" charset="-120"/>
              </a:rPr>
              <a:t>DBIS-11 Cybersecurity and Cloud Computing  |  Day 2  |  Session 11.4</a:t>
            </a:r>
            <a:endParaRPr lang="en-US" sz="800" dirty="0"/>
          </a:p>
        </p:txBody>
      </p:sp>
      <p:sp>
        <p:nvSpPr>
          <p:cNvPr id="6" name="Text 4"/>
          <p:cNvSpPr txBox="1"/>
          <p:nvPr/>
        </p:nvSpPr>
        <p:spPr>
          <a:xfrm>
            <a:off x="8138160" y="4828032"/>
            <a:ext cx="548640" cy="182880"/>
          </a:xfrm>
          <a:prstGeom prst="rect">
            <a:avLst/>
          </a:prstGeom>
          <a:noFill/>
          <a:ln/>
        </p:spPr>
        <p:txBody>
          <a:bodyPr wrap="square" lIns="0" tIns="0" rIns="0" bIns="0" rtlCol="0" anchor="ctr"/>
          <a:lstStyle/>
          <a:p>
            <a:pPr algn="r" indent="0" marL="0">
              <a:buNone/>
            </a:pPr>
            <a:r>
              <a:rPr lang="en-US" sz="800" dirty="0">
                <a:solidFill>
                  <a:srgbClr val="5A5F55"/>
                </a:solidFill>
                <a:latin typeface="Open Sans" pitchFamily="34" charset="0"/>
                <a:ea typeface="Open Sans" pitchFamily="34" charset="-122"/>
                <a:cs typeface="Open Sans" pitchFamily="34" charset="-120"/>
              </a:rPr>
              <a:t>24</a:t>
            </a:r>
            <a:endParaRPr lang="en-US" sz="800" dirty="0"/>
          </a:p>
        </p:txBody>
      </p:sp>
      <p:sp>
        <p:nvSpPr>
          <p:cNvPr id="8" name="Text 5"/>
          <p:cNvSpPr txBox="1"/>
          <p:nvPr/>
        </p:nvSpPr>
        <p:spPr>
          <a:xfrm>
            <a:off x="457200" y="1280160"/>
            <a:ext cx="4937760" cy="548640"/>
          </a:xfrm>
          <a:prstGeom prst="rect">
            <a:avLst/>
          </a:prstGeom>
          <a:noFill/>
          <a:ln/>
        </p:spPr>
        <p:txBody>
          <a:bodyPr wrap="square" lIns="0" tIns="0" rIns="0" bIns="0" rtlCol="0" anchor="ctr"/>
          <a:lstStyle/>
          <a:p>
            <a:pPr indent="0" marL="0">
              <a:buNone/>
            </a:pPr>
            <a:r>
              <a:rPr lang="en-US" sz="2200" b="1" dirty="0">
                <a:solidFill>
                  <a:srgbClr val="262A20"/>
                </a:solidFill>
                <a:latin typeface="Open Sans" pitchFamily="34" charset="0"/>
                <a:ea typeface="Open Sans" pitchFamily="34" charset="-122"/>
                <a:cs typeface="Open Sans" pitchFamily="34" charset="-120"/>
              </a:rPr>
              <a:t>A code from your phone is a key.</a:t>
            </a:r>
            <a:endParaRPr lang="en-US" sz="2200" dirty="0"/>
          </a:p>
        </p:txBody>
      </p:sp>
      <p:sp>
        <p:nvSpPr>
          <p:cNvPr id="9" name="Text 6"/>
          <p:cNvSpPr txBox="1"/>
          <p:nvPr/>
        </p:nvSpPr>
        <p:spPr>
          <a:xfrm>
            <a:off x="457200" y="2011680"/>
            <a:ext cx="4937760" cy="182880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262A20"/>
                </a:solidFill>
                <a:latin typeface="Open Sans" pitchFamily="34" charset="0"/>
                <a:ea typeface="Open Sans" pitchFamily="34" charset="-122"/>
                <a:cs typeface="Open Sans" pitchFamily="34" charset="-120"/>
              </a:rPr>
              <a:t>Anyone who asks for it is trying to break in.</a:t>
            </a:r>
            <a:endParaRPr lang="en-US" sz="1700" dirty="0"/>
          </a:p>
          <a:p>
            <a:pPr marL="342900" indent="-342900">
              <a:spcAft>
                <a:spcPts val="800"/>
              </a:spcAft>
              <a:buSzPct val="100000"/>
              <a:buChar char="•"/>
            </a:pPr>
            <a:r>
              <a:rPr lang="en-US" sz="1700" dirty="0">
                <a:solidFill>
                  <a:srgbClr val="262A20"/>
                </a:solidFill>
                <a:latin typeface="Open Sans" pitchFamily="34" charset="0"/>
                <a:ea typeface="Open Sans" pitchFamily="34" charset="-122"/>
                <a:cs typeface="Open Sans" pitchFamily="34" charset="-120"/>
              </a:rPr>
              <a:t>The bank, IT and the MD will never ask for your code.</a:t>
            </a:r>
            <a:endParaRPr lang="en-US" sz="1700" dirty="0"/>
          </a:p>
          <a:p>
            <a:pPr marL="342900" indent="-342900">
              <a:spcAft>
                <a:spcPts val="800"/>
              </a:spcAft>
              <a:buSzPct val="100000"/>
              <a:buChar char="•"/>
            </a:pPr>
            <a:r>
              <a:rPr lang="en-US" sz="1700" dirty="0">
                <a:solidFill>
                  <a:srgbClr val="262A20"/>
                </a:solidFill>
                <a:latin typeface="Open Sans" pitchFamily="34" charset="0"/>
                <a:ea typeface="Open Sans" pitchFamily="34" charset="-122"/>
                <a:cs typeface="Open Sans" pitchFamily="34" charset="-120"/>
              </a:rPr>
              <a:t>If someone asks, say no and report it.</a:t>
            </a:r>
            <a:endParaRPr lang="en-US" sz="1700" dirty="0"/>
          </a:p>
        </p:txBody>
      </p:sp>
      <p:pic>
        <p:nvPicPr>
          <p:cNvPr id="10" name="Image 0" descr="mfa_phone">    </p:cNvPr>
          <p:cNvPicPr>
            <a:picLocks noChangeAspect="1"/>
          </p:cNvPicPr>
          <p:nvPr/>
        </p:nvPicPr>
        <p:blipFill>
          <a:blip r:embed="rId1"/>
          <a:stretch>
            <a:fillRect/>
          </a:stretch>
        </p:blipFill>
        <p:spPr>
          <a:xfrm>
            <a:off x="5577840" y="1506945"/>
            <a:ext cx="3108960" cy="2655391"/>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566A6C"/>
        </a:solidFill>
      </p:bgPr>
    </p:bg>
    <p:spTree>
      <p:nvGrpSpPr>
        <p:cNvPr id="1" name=""/>
        <p:cNvGrpSpPr/>
        <p:nvPr/>
      </p:nvGrpSpPr>
      <p:grpSpPr>
        <a:xfrm>
          <a:off x="0" y="0"/>
          <a:ext cx="0" cy="0"/>
          <a:chOff x="0" y="0"/>
          <a:chExt cx="0" cy="0"/>
        </a:xfrm>
      </p:grpSpPr>
      <p:sp>
        <p:nvSpPr>
          <p:cNvPr id="2" name="Shape 0"/>
          <p:cNvSpPr/>
          <p:nvPr/>
        </p:nvSpPr>
        <p:spPr>
          <a:xfrm>
            <a:off x="457200" y="411480"/>
            <a:ext cx="731520" cy="731520"/>
          </a:xfrm>
          <a:prstGeom prst="ellipse">
            <a:avLst/>
          </a:prstGeom>
          <a:solidFill>
            <a:srgbClr val="262A20"/>
          </a:solidFill>
          <a:ln w="12700">
            <a:solidFill>
              <a:srgbClr val="262A20"/>
            </a:solidFill>
            <a:prstDash val="solid"/>
          </a:ln>
        </p:spPr>
      </p:sp>
      <p:pic>
        <p:nvPicPr>
          <p:cNvPr id="3" name="Image 0" descr="preencoded.png">    </p:cNvPr>
          <p:cNvPicPr>
            <a:picLocks noChangeAspect="1"/>
          </p:cNvPicPr>
          <p:nvPr/>
        </p:nvPicPr>
        <p:blipFill>
          <a:blip r:embed="rId1"/>
          <a:stretch>
            <a:fillRect/>
          </a:stretch>
        </p:blipFill>
        <p:spPr>
          <a:xfrm>
            <a:off x="640080" y="594360"/>
            <a:ext cx="365760" cy="365760"/>
          </a:xfrm>
          <a:prstGeom prst="rect">
            <a:avLst/>
          </a:prstGeom>
        </p:spPr>
      </p:pic>
      <p:sp>
        <p:nvSpPr>
          <p:cNvPr id="4" name="Text 1"/>
          <p:cNvSpPr txBox="1"/>
          <p:nvPr/>
        </p:nvSpPr>
        <p:spPr>
          <a:xfrm>
            <a:off x="1371600" y="411480"/>
            <a:ext cx="4572000" cy="320040"/>
          </a:xfrm>
          <a:prstGeom prst="rect">
            <a:avLst/>
          </a:prstGeom>
          <a:noFill/>
          <a:ln/>
        </p:spPr>
        <p:txBody>
          <a:bodyPr wrap="square" lIns="0" tIns="0" rIns="0" bIns="0" rtlCol="0" anchor="ctr"/>
          <a:lstStyle/>
          <a:p>
            <a:pPr indent="0" marL="0">
              <a:buNone/>
            </a:pPr>
            <a:r>
              <a:rPr lang="en-US" sz="1400" b="1" dirty="0">
                <a:solidFill>
                  <a:srgbClr val="EDDDCD"/>
                </a:solidFill>
                <a:latin typeface="Open Sans" pitchFamily="34" charset="0"/>
                <a:ea typeface="Open Sans" pitchFamily="34" charset="-122"/>
                <a:cs typeface="Open Sans" pitchFamily="34" charset="-120"/>
              </a:rPr>
              <a:t>Play: A2.4</a:t>
            </a:r>
            <a:endParaRPr lang="en-US" sz="1400" dirty="0"/>
          </a:p>
        </p:txBody>
      </p:sp>
      <p:sp>
        <p:nvSpPr>
          <p:cNvPr id="5" name="Text 2"/>
          <p:cNvSpPr txBox="1"/>
          <p:nvPr/>
        </p:nvSpPr>
        <p:spPr>
          <a:xfrm>
            <a:off x="1371600" y="731520"/>
            <a:ext cx="7315200" cy="502920"/>
          </a:xfrm>
          <a:prstGeom prst="rect">
            <a:avLst/>
          </a:prstGeom>
          <a:noFill/>
          <a:ln/>
        </p:spPr>
        <p:txBody>
          <a:bodyPr wrap="square" lIns="0" tIns="0" rIns="0" bIns="0" rtlCol="0" anchor="ctr"/>
          <a:lstStyle/>
          <a:p>
            <a:pPr indent="0" marL="0">
              <a:buNone/>
            </a:pPr>
            <a:r>
              <a:rPr lang="en-US" sz="2800" b="1" dirty="0">
                <a:solidFill>
                  <a:srgbClr val="FFFFFF"/>
                </a:solidFill>
                <a:latin typeface="Open Sans" pitchFamily="34" charset="0"/>
                <a:ea typeface="Open Sans" pitchFamily="34" charset="-122"/>
                <a:cs typeface="Open Sans" pitchFamily="34" charset="-120"/>
              </a:rPr>
              <a:t>Password Lab and MFA Gauntlet</a:t>
            </a:r>
            <a:endParaRPr lang="en-US" sz="2800" dirty="0"/>
          </a:p>
        </p:txBody>
      </p:sp>
      <p:sp>
        <p:nvSpPr>
          <p:cNvPr id="6" name="Text 3"/>
          <p:cNvSpPr txBox="1"/>
          <p:nvPr/>
        </p:nvSpPr>
        <p:spPr>
          <a:xfrm>
            <a:off x="457200" y="1508760"/>
            <a:ext cx="6035040" cy="2011680"/>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700" dirty="0">
                <a:solidFill>
                  <a:srgbClr val="FFFFFF"/>
                </a:solidFill>
                <a:latin typeface="Open Sans" pitchFamily="34" charset="0"/>
                <a:ea typeface="Open Sans" pitchFamily="34" charset="-122"/>
                <a:cs typeface="Open Sans" pitchFamily="34" charset="-120"/>
              </a:rPr>
              <a:t>Test made-up passwords. Never a real one.</a:t>
            </a:r>
            <a:endParaRPr lang="en-US" sz="1700" dirty="0"/>
          </a:p>
          <a:p>
            <a:pPr marL="342900" indent="-342900">
              <a:spcAft>
                <a:spcPts val="600"/>
              </a:spcAft>
              <a:buSzPct val="100000"/>
              <a:buFont typeface="+mj-lt"/>
              <a:buAutoNum type="arabicPeriod" startAt="1"/>
            </a:pPr>
            <a:r>
              <a:rPr lang="en-US" sz="1700" dirty="0">
                <a:solidFill>
                  <a:srgbClr val="FFFFFF"/>
                </a:solidFill>
                <a:latin typeface="Open Sans" pitchFamily="34" charset="0"/>
                <a:ea typeface="Open Sans" pitchFamily="34" charset="-122"/>
                <a:cs typeface="Open Sans" pitchFamily="34" charset="-120"/>
              </a:rPr>
              <a:t>Sort factors: know, have or are.</a:t>
            </a:r>
            <a:endParaRPr lang="en-US" sz="1700" dirty="0"/>
          </a:p>
          <a:p>
            <a:pPr marL="342900" indent="-342900">
              <a:spcAft>
                <a:spcPts val="600"/>
              </a:spcAft>
              <a:buSzPct val="100000"/>
              <a:buFont typeface="+mj-lt"/>
              <a:buAutoNum type="arabicPeriod" startAt="1"/>
            </a:pPr>
            <a:r>
              <a:rPr lang="en-US" sz="1700" dirty="0">
                <a:solidFill>
                  <a:srgbClr val="FFFFFF"/>
                </a:solidFill>
                <a:latin typeface="Open Sans" pitchFamily="34" charset="0"/>
                <a:ea typeface="Open Sans" pitchFamily="34" charset="-122"/>
                <a:cs typeface="Open Sans" pitchFamily="34" charset="-120"/>
              </a:rPr>
              <a:t>Stop the attacker in the gauntlet.</a:t>
            </a:r>
            <a:endParaRPr lang="en-US" sz="1700" dirty="0"/>
          </a:p>
        </p:txBody>
      </p:sp>
      <p:sp>
        <p:nvSpPr>
          <p:cNvPr id="7" name="Text 4"/>
          <p:cNvSpPr txBox="1"/>
          <p:nvPr/>
        </p:nvSpPr>
        <p:spPr>
          <a:xfrm>
            <a:off x="457200" y="3703320"/>
            <a:ext cx="6217920" cy="320040"/>
          </a:xfrm>
          <a:prstGeom prst="rect">
            <a:avLst/>
          </a:prstGeom>
          <a:noFill/>
          <a:ln/>
        </p:spPr>
        <p:txBody>
          <a:bodyPr wrap="square" lIns="0" tIns="0" rIns="0" bIns="0" rtlCol="0" anchor="ctr"/>
          <a:lstStyle/>
          <a:p>
            <a:pPr indent="0" marL="0">
              <a:buNone/>
            </a:pPr>
            <a:r>
              <a:rPr lang="en-US" sz="1300" b="1" dirty="0">
                <a:solidFill>
                  <a:srgbClr val="FFFFFF"/>
                </a:solidFill>
                <a:latin typeface="Open Sans" pitchFamily="34" charset="0"/>
                <a:ea typeface="Open Sans" pitchFamily="34" charset="-122"/>
                <a:cs typeface="Open Sans" pitchFamily="34" charset="-120"/>
              </a:rPr>
              <a:t>Open it: course site &gt; Day 2 &gt; Password Lab</a:t>
            </a:r>
            <a:endParaRPr lang="en-US" sz="1300" dirty="0"/>
          </a:p>
        </p:txBody>
      </p:sp>
      <p:sp>
        <p:nvSpPr>
          <p:cNvPr id="8" name="Text 5"/>
          <p:cNvSpPr txBox="1"/>
          <p:nvPr/>
        </p:nvSpPr>
        <p:spPr>
          <a:xfrm>
            <a:off x="457200" y="4069080"/>
            <a:ext cx="6217920" cy="320040"/>
          </a:xfrm>
          <a:prstGeom prst="rect">
            <a:avLst/>
          </a:prstGeom>
          <a:noFill/>
          <a:ln/>
        </p:spPr>
        <p:txBody>
          <a:bodyPr wrap="square" lIns="0" tIns="0" rIns="0" bIns="0" rtlCol="0" anchor="ctr"/>
          <a:lstStyle/>
          <a:p>
            <a:pPr indent="0" marL="0">
              <a:buNone/>
            </a:pPr>
            <a:r>
              <a:rPr lang="en-US" sz="1300" dirty="0">
                <a:solidFill>
                  <a:srgbClr val="EDDDCD"/>
                </a:solidFill>
                <a:latin typeface="Open Sans" pitchFamily="34" charset="0"/>
                <a:ea typeface="Open Sans" pitchFamily="34" charset="-122"/>
                <a:cs typeface="Open Sans" pitchFamily="34" charset="-120"/>
              </a:rPr>
              <a:t>Practises: passphrases and MFA</a:t>
            </a:r>
            <a:endParaRPr lang="en-US" sz="1300" dirty="0"/>
          </a:p>
        </p:txBody>
      </p:sp>
      <p:sp>
        <p:nvSpPr>
          <p:cNvPr id="9" name="Shape 6"/>
          <p:cNvSpPr/>
          <p:nvPr/>
        </p:nvSpPr>
        <p:spPr>
          <a:xfrm>
            <a:off x="6949440" y="1554480"/>
            <a:ext cx="1737360" cy="1005840"/>
          </a:xfrm>
          <a:prstGeom prst="roundRect">
            <a:avLst>
              <a:gd name="adj" fmla="val 9091"/>
            </a:avLst>
          </a:prstGeom>
          <a:solidFill>
            <a:srgbClr val="262A20"/>
          </a:solidFill>
          <a:ln w="12700">
            <a:solidFill>
              <a:srgbClr val="262A20"/>
            </a:solidFill>
            <a:prstDash val="solid"/>
          </a:ln>
        </p:spPr>
      </p:sp>
      <p:sp>
        <p:nvSpPr>
          <p:cNvPr id="10" name="Text 7"/>
          <p:cNvSpPr txBox="1"/>
          <p:nvPr/>
        </p:nvSpPr>
        <p:spPr>
          <a:xfrm>
            <a:off x="6949440" y="1554480"/>
            <a:ext cx="1737360" cy="1005840"/>
          </a:xfrm>
          <a:prstGeom prst="rect">
            <a:avLst/>
          </a:prstGeom>
          <a:noFill/>
          <a:ln/>
        </p:spPr>
        <p:txBody>
          <a:bodyPr wrap="square" lIns="0" tIns="0" rIns="0" bIns="0" rtlCol="0" anchor="ctr"/>
          <a:lstStyle/>
          <a:p>
            <a:pPr algn="ctr" indent="0" marL="0">
              <a:buNone/>
            </a:pPr>
            <a:r>
              <a:rPr lang="en-US" sz="2600" b="1" dirty="0">
                <a:solidFill>
                  <a:srgbClr val="FFFFFF"/>
                </a:solidFill>
                <a:latin typeface="Open Sans" pitchFamily="34" charset="0"/>
                <a:ea typeface="Open Sans" pitchFamily="34" charset="-122"/>
                <a:cs typeface="Open Sans" pitchFamily="34" charset="-120"/>
              </a:rPr>
              <a:t>12 min</a:t>
            </a:r>
            <a:endParaRPr lang="en-US" sz="2600" dirty="0"/>
          </a:p>
        </p:txBody>
      </p:sp>
      <p:sp>
        <p:nvSpPr>
          <p:cNvPr id="11" name="Shape 8"/>
          <p:cNvSpPr/>
          <p:nvPr/>
        </p:nvSpPr>
        <p:spPr>
          <a:xfrm>
            <a:off x="6949440" y="2697480"/>
            <a:ext cx="1737360" cy="1965960"/>
          </a:xfrm>
          <a:prstGeom prst="roundRect">
            <a:avLst>
              <a:gd name="adj" fmla="val 4211"/>
            </a:avLst>
          </a:prstGeom>
          <a:solidFill>
            <a:srgbClr val="FFFFFF"/>
          </a:solidFill>
          <a:ln w="12700">
            <a:solidFill>
              <a:srgbClr val="FFFFFF"/>
            </a:solidFill>
            <a:prstDash val="solid"/>
          </a:ln>
        </p:spPr>
      </p:sp>
      <p:pic>
        <p:nvPicPr>
          <p:cNvPr id="12" name="Image 1" descr="QR code for Password Lab and MFA Gauntlet">    </p:cNvPr>
          <p:cNvPicPr>
            <a:picLocks noChangeAspect="1"/>
          </p:cNvPicPr>
          <p:nvPr/>
        </p:nvPicPr>
        <p:blipFill>
          <a:blip r:embed="rId2"/>
          <a:stretch>
            <a:fillRect/>
          </a:stretch>
        </p:blipFill>
        <p:spPr>
          <a:xfrm>
            <a:off x="7059168" y="2770632"/>
            <a:ext cx="1517904" cy="1517904"/>
          </a:xfrm>
          <a:prstGeom prst="rect">
            <a:avLst/>
          </a:prstGeom>
        </p:spPr>
      </p:pic>
      <p:sp>
        <p:nvSpPr>
          <p:cNvPr id="13" name="Text 9"/>
          <p:cNvSpPr txBox="1"/>
          <p:nvPr/>
        </p:nvSpPr>
        <p:spPr>
          <a:xfrm>
            <a:off x="6949440" y="4315968"/>
            <a:ext cx="1737360" cy="256032"/>
          </a:xfrm>
          <a:prstGeom prst="rect">
            <a:avLst/>
          </a:prstGeom>
          <a:noFill/>
          <a:ln/>
        </p:spPr>
        <p:txBody>
          <a:bodyPr wrap="square" lIns="0" tIns="0" rIns="0" bIns="0" rtlCol="0" anchor="ctr"/>
          <a:lstStyle/>
          <a:p>
            <a:pPr algn="ctr" indent="0" marL="0">
              <a:buNone/>
            </a:pPr>
            <a:r>
              <a:rPr lang="en-US" sz="1100" b="1" dirty="0">
                <a:solidFill>
                  <a:srgbClr val="262A20"/>
                </a:solidFill>
                <a:latin typeface="Open Sans" pitchFamily="34" charset="0"/>
                <a:ea typeface="Open Sans" pitchFamily="34" charset="-122"/>
                <a:cs typeface="Open Sans" pitchFamily="34" charset="-120"/>
              </a:rPr>
              <a:t>Scan to play</a:t>
            </a:r>
            <a:endParaRPr lang="en-US" sz="1100" dirty="0"/>
          </a:p>
        </p:txBody>
      </p:sp>
      <p:sp>
        <p:nvSpPr>
          <p:cNvPr id="14" name="Text 10"/>
          <p:cNvSpPr txBox="1"/>
          <p:nvPr/>
        </p:nvSpPr>
        <p:spPr>
          <a:xfrm>
            <a:off x="457200" y="4828032"/>
            <a:ext cx="6858000" cy="182880"/>
          </a:xfrm>
          <a:prstGeom prst="rect">
            <a:avLst/>
          </a:prstGeom>
          <a:noFill/>
          <a:ln/>
        </p:spPr>
        <p:txBody>
          <a:bodyPr wrap="square" lIns="0" tIns="0" rIns="0" bIns="0" rtlCol="0" anchor="ctr"/>
          <a:lstStyle/>
          <a:p>
            <a:pPr indent="0" marL="0">
              <a:buNone/>
            </a:pPr>
            <a:r>
              <a:rPr lang="en-US" sz="800" dirty="0">
                <a:solidFill>
                  <a:srgbClr val="D9D5D2"/>
                </a:solidFill>
                <a:latin typeface="Open Sans" pitchFamily="34" charset="0"/>
                <a:ea typeface="Open Sans" pitchFamily="34" charset="-122"/>
                <a:cs typeface="Open Sans" pitchFamily="34" charset="-120"/>
              </a:rPr>
              <a:t>DBIS-11 Cybersecurity and Cloud Computing  |  Day 2  |  Session 11.4</a:t>
            </a:r>
            <a:endParaRPr lang="en-US" sz="800" dirty="0"/>
          </a:p>
        </p:txBody>
      </p:sp>
      <p:sp>
        <p:nvSpPr>
          <p:cNvPr id="15" name="Text 11"/>
          <p:cNvSpPr txBox="1"/>
          <p:nvPr/>
        </p:nvSpPr>
        <p:spPr>
          <a:xfrm>
            <a:off x="8138160" y="4828032"/>
            <a:ext cx="548640" cy="182880"/>
          </a:xfrm>
          <a:prstGeom prst="rect">
            <a:avLst/>
          </a:prstGeom>
          <a:noFill/>
          <a:ln/>
        </p:spPr>
        <p:txBody>
          <a:bodyPr wrap="square" lIns="0" tIns="0" rIns="0" bIns="0" rtlCol="0" anchor="ctr"/>
          <a:lstStyle/>
          <a:p>
            <a:pPr algn="r" indent="0" marL="0">
              <a:buNone/>
            </a:pPr>
            <a:r>
              <a:rPr lang="en-US" sz="800" dirty="0">
                <a:solidFill>
                  <a:srgbClr val="D9D5D2"/>
                </a:solidFill>
                <a:latin typeface="Open Sans" pitchFamily="34" charset="0"/>
                <a:ea typeface="Open Sans" pitchFamily="34" charset="-122"/>
                <a:cs typeface="Open Sans" pitchFamily="34" charset="-120"/>
              </a:rPr>
              <a:t>25</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66928"/>
          </a:xfrm>
          <a:prstGeom prst="rect">
            <a:avLst/>
          </a:prstGeom>
          <a:noFill/>
          <a:ln/>
        </p:spPr>
        <p:txBody>
          <a:bodyPr wrap="square" lIns="0" tIns="0" rIns="0" bIns="0" rtlCol="0" anchor="ctr"/>
          <a:lstStyle/>
          <a:p>
            <a:pPr indent="0" marL="0">
              <a:buNone/>
            </a:pPr>
            <a:r>
              <a:rPr lang="en-US" sz="2400" b="1" dirty="0">
                <a:solidFill>
                  <a:srgbClr val="262A20"/>
                </a:solidFill>
                <a:latin typeface="Open Sans" pitchFamily="34" charset="0"/>
                <a:ea typeface="Open Sans" pitchFamily="34" charset="-122"/>
                <a:cs typeface="Open Sans" pitchFamily="34" charset="-120"/>
              </a:rPr>
              <a:t>Good to know (not in the test)</a:t>
            </a:r>
            <a:endParaRPr lang="en-US" sz="2400" dirty="0"/>
          </a:p>
        </p:txBody>
      </p:sp>
      <p:sp>
        <p:nvSpPr>
          <p:cNvPr id="3" name="Shape 1"/>
          <p:cNvSpPr/>
          <p:nvPr/>
        </p:nvSpPr>
        <p:spPr>
          <a:xfrm>
            <a:off x="457200" y="896112"/>
            <a:ext cx="640080" cy="54864"/>
          </a:xfrm>
          <a:prstGeom prst="rect">
            <a:avLst/>
          </a:prstGeom>
          <a:solidFill>
            <a:srgbClr val="667C7E"/>
          </a:solidFill>
          <a:ln w="12700">
            <a:solidFill>
              <a:srgbClr val="667C7E"/>
            </a:solidFill>
            <a:prstDash val="solid"/>
          </a:ln>
        </p:spPr>
      </p:sp>
      <p:sp>
        <p:nvSpPr>
          <p:cNvPr id="4" name="Shape 2"/>
          <p:cNvSpPr/>
          <p:nvPr/>
        </p:nvSpPr>
        <p:spPr>
          <a:xfrm>
            <a:off x="1143000" y="896112"/>
            <a:ext cx="320040" cy="54864"/>
          </a:xfrm>
          <a:prstGeom prst="rect">
            <a:avLst/>
          </a:prstGeom>
          <a:solidFill>
            <a:srgbClr val="C7A887"/>
          </a:solidFill>
          <a:ln w="12700">
            <a:solidFill>
              <a:srgbClr val="C7A887"/>
            </a:solidFill>
            <a:prstDash val="solid"/>
          </a:ln>
        </p:spPr>
      </p:sp>
      <p:sp>
        <p:nvSpPr>
          <p:cNvPr id="5" name="Text 3"/>
          <p:cNvSpPr txBox="1"/>
          <p:nvPr/>
        </p:nvSpPr>
        <p:spPr>
          <a:xfrm>
            <a:off x="457200" y="4828032"/>
            <a:ext cx="6858000" cy="182880"/>
          </a:xfrm>
          <a:prstGeom prst="rect">
            <a:avLst/>
          </a:prstGeom>
          <a:noFill/>
          <a:ln/>
        </p:spPr>
        <p:txBody>
          <a:bodyPr wrap="square" lIns="0" tIns="0" rIns="0" bIns="0" rtlCol="0" anchor="ctr"/>
          <a:lstStyle/>
          <a:p>
            <a:pPr indent="0" marL="0">
              <a:buNone/>
            </a:pPr>
            <a:r>
              <a:rPr lang="en-US" sz="800" dirty="0">
                <a:solidFill>
                  <a:srgbClr val="5A5F55"/>
                </a:solidFill>
                <a:latin typeface="Open Sans" pitchFamily="34" charset="0"/>
                <a:ea typeface="Open Sans" pitchFamily="34" charset="-122"/>
                <a:cs typeface="Open Sans" pitchFamily="34" charset="-120"/>
              </a:rPr>
              <a:t>DBIS-11 Cybersecurity and Cloud Computing  |  Day 2  |  Session 11.4</a:t>
            </a:r>
            <a:endParaRPr lang="en-US" sz="800" dirty="0"/>
          </a:p>
        </p:txBody>
      </p:sp>
      <p:sp>
        <p:nvSpPr>
          <p:cNvPr id="6" name="Text 4"/>
          <p:cNvSpPr txBox="1"/>
          <p:nvPr/>
        </p:nvSpPr>
        <p:spPr>
          <a:xfrm>
            <a:off x="8138160" y="4828032"/>
            <a:ext cx="548640" cy="182880"/>
          </a:xfrm>
          <a:prstGeom prst="rect">
            <a:avLst/>
          </a:prstGeom>
          <a:noFill/>
          <a:ln/>
        </p:spPr>
        <p:txBody>
          <a:bodyPr wrap="square" lIns="0" tIns="0" rIns="0" bIns="0" rtlCol="0" anchor="ctr"/>
          <a:lstStyle/>
          <a:p>
            <a:pPr algn="r" indent="0" marL="0">
              <a:buNone/>
            </a:pPr>
            <a:r>
              <a:rPr lang="en-US" sz="800" dirty="0">
                <a:solidFill>
                  <a:srgbClr val="5A5F55"/>
                </a:solidFill>
                <a:latin typeface="Open Sans" pitchFamily="34" charset="0"/>
                <a:ea typeface="Open Sans" pitchFamily="34" charset="-122"/>
                <a:cs typeface="Open Sans" pitchFamily="34" charset="-120"/>
              </a:rPr>
              <a:t>26</a:t>
            </a:r>
            <a:endParaRPr lang="en-US" sz="800" dirty="0"/>
          </a:p>
        </p:txBody>
      </p:sp>
      <p:sp>
        <p:nvSpPr>
          <p:cNvPr id="8" name="Shape 5"/>
          <p:cNvSpPr/>
          <p:nvPr/>
        </p:nvSpPr>
        <p:spPr>
          <a:xfrm>
            <a:off x="457200" y="1188720"/>
            <a:ext cx="2590800" cy="2377440"/>
          </a:xfrm>
          <a:prstGeom prst="roundRect">
            <a:avLst>
              <a:gd name="adj" fmla="val 3077"/>
            </a:avLst>
          </a:prstGeom>
          <a:solidFill>
            <a:srgbClr val="F2EFEC"/>
          </a:solidFill>
          <a:ln w="12700">
            <a:solidFill>
              <a:srgbClr val="F2EFEC"/>
            </a:solidFill>
            <a:prstDash val="solid"/>
          </a:ln>
        </p:spPr>
      </p:sp>
      <p:sp>
        <p:nvSpPr>
          <p:cNvPr id="9" name="Shape 6"/>
          <p:cNvSpPr/>
          <p:nvPr/>
        </p:nvSpPr>
        <p:spPr>
          <a:xfrm>
            <a:off x="640080" y="1371600"/>
            <a:ext cx="502920" cy="502920"/>
          </a:xfrm>
          <a:prstGeom prst="ellipse">
            <a:avLst/>
          </a:prstGeom>
          <a:solidFill>
            <a:srgbClr val="7A756F"/>
          </a:solidFill>
          <a:ln w="12700">
            <a:solidFill>
              <a:srgbClr val="7A756F"/>
            </a:solidFill>
            <a:prstDash val="solid"/>
          </a:ln>
        </p:spPr>
      </p:sp>
      <p:pic>
        <p:nvPicPr>
          <p:cNvPr id="10" name="Image 0" descr="preencoded.png">    </p:cNvPr>
          <p:cNvPicPr>
            <a:picLocks noChangeAspect="1"/>
          </p:cNvPicPr>
          <p:nvPr/>
        </p:nvPicPr>
        <p:blipFill>
          <a:blip r:embed="rId1"/>
          <a:stretch>
            <a:fillRect/>
          </a:stretch>
        </p:blipFill>
        <p:spPr>
          <a:xfrm>
            <a:off x="765810" y="1497330"/>
            <a:ext cx="251460" cy="251460"/>
          </a:xfrm>
          <a:prstGeom prst="rect">
            <a:avLst/>
          </a:prstGeom>
        </p:spPr>
      </p:pic>
      <p:sp>
        <p:nvSpPr>
          <p:cNvPr id="11" name="Text 7"/>
          <p:cNvSpPr txBox="1"/>
          <p:nvPr/>
        </p:nvSpPr>
        <p:spPr>
          <a:xfrm>
            <a:off x="640080" y="2011680"/>
            <a:ext cx="2225040" cy="365760"/>
          </a:xfrm>
          <a:prstGeom prst="rect">
            <a:avLst/>
          </a:prstGeom>
          <a:noFill/>
          <a:ln/>
        </p:spPr>
        <p:txBody>
          <a:bodyPr wrap="square" lIns="0" tIns="0" rIns="0" bIns="0" rtlCol="0" anchor="t"/>
          <a:lstStyle/>
          <a:p>
            <a:pPr indent="0" marL="0">
              <a:buNone/>
            </a:pPr>
            <a:r>
              <a:rPr lang="en-US" sz="1500" b="1" dirty="0">
                <a:solidFill>
                  <a:srgbClr val="262A20"/>
                </a:solidFill>
                <a:latin typeface="Open Sans" pitchFamily="34" charset="0"/>
                <a:ea typeface="Open Sans" pitchFamily="34" charset="-122"/>
                <a:cs typeface="Open Sans" pitchFamily="34" charset="-120"/>
              </a:rPr>
              <a:t>Least privilege</a:t>
            </a:r>
            <a:endParaRPr lang="en-US" sz="1500" dirty="0"/>
          </a:p>
        </p:txBody>
      </p:sp>
      <p:sp>
        <p:nvSpPr>
          <p:cNvPr id="12" name="Text 8"/>
          <p:cNvSpPr txBox="1"/>
          <p:nvPr/>
        </p:nvSpPr>
        <p:spPr>
          <a:xfrm>
            <a:off x="640080" y="2395728"/>
            <a:ext cx="2225040" cy="1051560"/>
          </a:xfrm>
          <a:prstGeom prst="rect">
            <a:avLst/>
          </a:prstGeom>
          <a:noFill/>
          <a:ln/>
        </p:spPr>
        <p:txBody>
          <a:bodyPr wrap="square" lIns="0" tIns="0" rIns="0" bIns="0" rtlCol="0" anchor="t"/>
          <a:lstStyle/>
          <a:p>
            <a:pPr indent="0" marL="0">
              <a:buNone/>
            </a:pPr>
            <a:r>
              <a:rPr lang="en-US" sz="1250" dirty="0">
                <a:solidFill>
                  <a:srgbClr val="262A20"/>
                </a:solidFill>
                <a:latin typeface="Open Sans" pitchFamily="34" charset="0"/>
                <a:ea typeface="Open Sans" pitchFamily="34" charset="-122"/>
                <a:cs typeface="Open Sans" pitchFamily="34" charset="-120"/>
              </a:rPr>
              <a:t>People get only the access their job needs.</a:t>
            </a:r>
            <a:endParaRPr lang="en-US" sz="1250" dirty="0"/>
          </a:p>
        </p:txBody>
      </p:sp>
      <p:sp>
        <p:nvSpPr>
          <p:cNvPr id="13" name="Shape 9"/>
          <p:cNvSpPr/>
          <p:nvPr/>
        </p:nvSpPr>
        <p:spPr>
          <a:xfrm>
            <a:off x="3276600" y="1188720"/>
            <a:ext cx="2590800" cy="2377440"/>
          </a:xfrm>
          <a:prstGeom prst="roundRect">
            <a:avLst>
              <a:gd name="adj" fmla="val 3077"/>
            </a:avLst>
          </a:prstGeom>
          <a:solidFill>
            <a:srgbClr val="F2EFEC"/>
          </a:solidFill>
          <a:ln w="12700">
            <a:solidFill>
              <a:srgbClr val="F2EFEC"/>
            </a:solidFill>
            <a:prstDash val="solid"/>
          </a:ln>
        </p:spPr>
      </p:sp>
      <p:sp>
        <p:nvSpPr>
          <p:cNvPr id="14" name="Shape 10"/>
          <p:cNvSpPr/>
          <p:nvPr/>
        </p:nvSpPr>
        <p:spPr>
          <a:xfrm>
            <a:off x="3459480" y="1371600"/>
            <a:ext cx="502920" cy="502920"/>
          </a:xfrm>
          <a:prstGeom prst="ellipse">
            <a:avLst/>
          </a:prstGeom>
          <a:solidFill>
            <a:srgbClr val="7A756F"/>
          </a:solidFill>
          <a:ln w="12700">
            <a:solidFill>
              <a:srgbClr val="7A756F"/>
            </a:solidFill>
            <a:prstDash val="solid"/>
          </a:ln>
        </p:spPr>
      </p:sp>
      <p:pic>
        <p:nvPicPr>
          <p:cNvPr id="15" name="Image 1" descr="preencoded.png">    </p:cNvPr>
          <p:cNvPicPr>
            <a:picLocks noChangeAspect="1"/>
          </p:cNvPicPr>
          <p:nvPr/>
        </p:nvPicPr>
        <p:blipFill>
          <a:blip r:embed="rId2"/>
          <a:stretch>
            <a:fillRect/>
          </a:stretch>
        </p:blipFill>
        <p:spPr>
          <a:xfrm>
            <a:off x="3585210" y="1497330"/>
            <a:ext cx="251460" cy="251460"/>
          </a:xfrm>
          <a:prstGeom prst="rect">
            <a:avLst/>
          </a:prstGeom>
        </p:spPr>
      </p:pic>
      <p:sp>
        <p:nvSpPr>
          <p:cNvPr id="16" name="Text 11"/>
          <p:cNvSpPr txBox="1"/>
          <p:nvPr/>
        </p:nvSpPr>
        <p:spPr>
          <a:xfrm>
            <a:off x="3459480" y="2011680"/>
            <a:ext cx="2225040" cy="365760"/>
          </a:xfrm>
          <a:prstGeom prst="rect">
            <a:avLst/>
          </a:prstGeom>
          <a:noFill/>
          <a:ln/>
        </p:spPr>
        <p:txBody>
          <a:bodyPr wrap="square" lIns="0" tIns="0" rIns="0" bIns="0" rtlCol="0" anchor="t"/>
          <a:lstStyle/>
          <a:p>
            <a:pPr indent="0" marL="0">
              <a:buNone/>
            </a:pPr>
            <a:r>
              <a:rPr lang="en-US" sz="1500" b="1" dirty="0">
                <a:solidFill>
                  <a:srgbClr val="262A20"/>
                </a:solidFill>
                <a:latin typeface="Open Sans" pitchFamily="34" charset="0"/>
                <a:ea typeface="Open Sans" pitchFamily="34" charset="-122"/>
                <a:cs typeface="Open Sans" pitchFamily="34" charset="-120"/>
              </a:rPr>
              <a:t>Leavers</a:t>
            </a:r>
            <a:endParaRPr lang="en-US" sz="1500" dirty="0"/>
          </a:p>
        </p:txBody>
      </p:sp>
      <p:sp>
        <p:nvSpPr>
          <p:cNvPr id="17" name="Text 12"/>
          <p:cNvSpPr txBox="1"/>
          <p:nvPr/>
        </p:nvSpPr>
        <p:spPr>
          <a:xfrm>
            <a:off x="3459480" y="2395728"/>
            <a:ext cx="2225040" cy="1051560"/>
          </a:xfrm>
          <a:prstGeom prst="rect">
            <a:avLst/>
          </a:prstGeom>
          <a:noFill/>
          <a:ln/>
        </p:spPr>
        <p:txBody>
          <a:bodyPr wrap="square" lIns="0" tIns="0" rIns="0" bIns="0" rtlCol="0" anchor="t"/>
          <a:lstStyle/>
          <a:p>
            <a:pPr indent="0" marL="0">
              <a:buNone/>
            </a:pPr>
            <a:r>
              <a:rPr lang="en-US" sz="1250" dirty="0">
                <a:solidFill>
                  <a:srgbClr val="262A20"/>
                </a:solidFill>
                <a:latin typeface="Open Sans" pitchFamily="34" charset="0"/>
                <a:ea typeface="Open Sans" pitchFamily="34" charset="-122"/>
                <a:cs typeface="Open Sans" pitchFamily="34" charset="-120"/>
              </a:rPr>
              <a:t>Remove every login on a person's last day.</a:t>
            </a:r>
            <a:endParaRPr lang="en-US" sz="1250" dirty="0"/>
          </a:p>
        </p:txBody>
      </p:sp>
      <p:sp>
        <p:nvSpPr>
          <p:cNvPr id="18" name="Shape 13"/>
          <p:cNvSpPr/>
          <p:nvPr/>
        </p:nvSpPr>
        <p:spPr>
          <a:xfrm>
            <a:off x="6096000" y="1188720"/>
            <a:ext cx="2590800" cy="2377440"/>
          </a:xfrm>
          <a:prstGeom prst="roundRect">
            <a:avLst>
              <a:gd name="adj" fmla="val 3077"/>
            </a:avLst>
          </a:prstGeom>
          <a:solidFill>
            <a:srgbClr val="F2EFEC"/>
          </a:solidFill>
          <a:ln w="12700">
            <a:solidFill>
              <a:srgbClr val="F2EFEC"/>
            </a:solidFill>
            <a:prstDash val="solid"/>
          </a:ln>
        </p:spPr>
      </p:sp>
      <p:sp>
        <p:nvSpPr>
          <p:cNvPr id="19" name="Shape 14"/>
          <p:cNvSpPr/>
          <p:nvPr/>
        </p:nvSpPr>
        <p:spPr>
          <a:xfrm>
            <a:off x="6278880" y="1371600"/>
            <a:ext cx="502920" cy="502920"/>
          </a:xfrm>
          <a:prstGeom prst="ellipse">
            <a:avLst/>
          </a:prstGeom>
          <a:solidFill>
            <a:srgbClr val="7A756F"/>
          </a:solidFill>
          <a:ln w="12700">
            <a:solidFill>
              <a:srgbClr val="7A756F"/>
            </a:solidFill>
            <a:prstDash val="solid"/>
          </a:ln>
        </p:spPr>
      </p:sp>
      <p:pic>
        <p:nvPicPr>
          <p:cNvPr id="20" name="Image 2" descr="preencoded.png">    </p:cNvPr>
          <p:cNvPicPr>
            <a:picLocks noChangeAspect="1"/>
          </p:cNvPicPr>
          <p:nvPr/>
        </p:nvPicPr>
        <p:blipFill>
          <a:blip r:embed="rId3"/>
          <a:stretch>
            <a:fillRect/>
          </a:stretch>
        </p:blipFill>
        <p:spPr>
          <a:xfrm>
            <a:off x="6404610" y="1497330"/>
            <a:ext cx="251460" cy="251460"/>
          </a:xfrm>
          <a:prstGeom prst="rect">
            <a:avLst/>
          </a:prstGeom>
        </p:spPr>
      </p:pic>
      <p:sp>
        <p:nvSpPr>
          <p:cNvPr id="21" name="Text 15"/>
          <p:cNvSpPr txBox="1"/>
          <p:nvPr/>
        </p:nvSpPr>
        <p:spPr>
          <a:xfrm>
            <a:off x="6278880" y="2011680"/>
            <a:ext cx="2225040" cy="365760"/>
          </a:xfrm>
          <a:prstGeom prst="rect">
            <a:avLst/>
          </a:prstGeom>
          <a:noFill/>
          <a:ln/>
        </p:spPr>
        <p:txBody>
          <a:bodyPr wrap="square" lIns="0" tIns="0" rIns="0" bIns="0" rtlCol="0" anchor="t"/>
          <a:lstStyle/>
          <a:p>
            <a:pPr indent="0" marL="0">
              <a:buNone/>
            </a:pPr>
            <a:r>
              <a:rPr lang="en-US" sz="1500" b="1" dirty="0">
                <a:solidFill>
                  <a:srgbClr val="262A20"/>
                </a:solidFill>
                <a:latin typeface="Open Sans" pitchFamily="34" charset="0"/>
                <a:ea typeface="Open Sans" pitchFamily="34" charset="-122"/>
                <a:cs typeface="Open Sans" pitchFamily="34" charset="-120"/>
              </a:rPr>
              <a:t>Zero trust</a:t>
            </a:r>
            <a:endParaRPr lang="en-US" sz="1500" dirty="0"/>
          </a:p>
        </p:txBody>
      </p:sp>
      <p:sp>
        <p:nvSpPr>
          <p:cNvPr id="22" name="Text 16"/>
          <p:cNvSpPr txBox="1"/>
          <p:nvPr/>
        </p:nvSpPr>
        <p:spPr>
          <a:xfrm>
            <a:off x="6278880" y="2395728"/>
            <a:ext cx="2225040" cy="1051560"/>
          </a:xfrm>
          <a:prstGeom prst="rect">
            <a:avLst/>
          </a:prstGeom>
          <a:noFill/>
          <a:ln/>
        </p:spPr>
        <p:txBody>
          <a:bodyPr wrap="square" lIns="0" tIns="0" rIns="0" bIns="0" rtlCol="0" anchor="t"/>
          <a:lstStyle/>
          <a:p>
            <a:pPr indent="0" marL="0">
              <a:buNone/>
            </a:pPr>
            <a:r>
              <a:rPr lang="en-US" sz="1250" dirty="0">
                <a:solidFill>
                  <a:srgbClr val="262A20"/>
                </a:solidFill>
                <a:latin typeface="Open Sans" pitchFamily="34" charset="0"/>
                <a:ea typeface="Open Sans" pitchFamily="34" charset="-122"/>
                <a:cs typeface="Open Sans" pitchFamily="34" charset="-120"/>
              </a:rPr>
              <a:t>Check every time, even with the right password.</a:t>
            </a:r>
            <a:endParaRPr lang="en-US" sz="12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566A6C"/>
        </a:solidFill>
      </p:bgPr>
    </p:bg>
    <p:spTree>
      <p:nvGrpSpPr>
        <p:cNvPr id="1" name=""/>
        <p:cNvGrpSpPr/>
        <p:nvPr/>
      </p:nvGrpSpPr>
      <p:grpSpPr>
        <a:xfrm>
          <a:off x="0" y="0"/>
          <a:ext cx="0" cy="0"/>
          <a:chOff x="0" y="0"/>
          <a:chExt cx="0" cy="0"/>
        </a:xfrm>
      </p:grpSpPr>
      <p:sp>
        <p:nvSpPr>
          <p:cNvPr id="2" name="Shape 0"/>
          <p:cNvSpPr/>
          <p:nvPr/>
        </p:nvSpPr>
        <p:spPr>
          <a:xfrm>
            <a:off x="457200" y="411480"/>
            <a:ext cx="731520" cy="731520"/>
          </a:xfrm>
          <a:prstGeom prst="ellipse">
            <a:avLst/>
          </a:prstGeom>
          <a:solidFill>
            <a:srgbClr val="262A20"/>
          </a:solidFill>
          <a:ln w="12700">
            <a:solidFill>
              <a:srgbClr val="262A20"/>
            </a:solidFill>
            <a:prstDash val="solid"/>
          </a:ln>
        </p:spPr>
      </p:sp>
      <p:pic>
        <p:nvPicPr>
          <p:cNvPr id="3" name="Image 0" descr="preencoded.png">    </p:cNvPr>
          <p:cNvPicPr>
            <a:picLocks noChangeAspect="1"/>
          </p:cNvPicPr>
          <p:nvPr/>
        </p:nvPicPr>
        <p:blipFill>
          <a:blip r:embed="rId1"/>
          <a:stretch>
            <a:fillRect/>
          </a:stretch>
        </p:blipFill>
        <p:spPr>
          <a:xfrm>
            <a:off x="640080" y="594360"/>
            <a:ext cx="365760" cy="365760"/>
          </a:xfrm>
          <a:prstGeom prst="rect">
            <a:avLst/>
          </a:prstGeom>
        </p:spPr>
      </p:pic>
      <p:sp>
        <p:nvSpPr>
          <p:cNvPr id="4" name="Text 1"/>
          <p:cNvSpPr txBox="1"/>
          <p:nvPr/>
        </p:nvSpPr>
        <p:spPr>
          <a:xfrm>
            <a:off x="1371600" y="411480"/>
            <a:ext cx="4572000" cy="320040"/>
          </a:xfrm>
          <a:prstGeom prst="rect">
            <a:avLst/>
          </a:prstGeom>
          <a:noFill/>
          <a:ln/>
        </p:spPr>
        <p:txBody>
          <a:bodyPr wrap="square" lIns="0" tIns="0" rIns="0" bIns="0" rtlCol="0" anchor="ctr"/>
          <a:lstStyle/>
          <a:p>
            <a:pPr indent="0" marL="0">
              <a:buNone/>
            </a:pPr>
            <a:r>
              <a:rPr lang="en-US" sz="1400" b="1" dirty="0">
                <a:solidFill>
                  <a:srgbClr val="EDDDCD"/>
                </a:solidFill>
                <a:latin typeface="Open Sans" pitchFamily="34" charset="0"/>
                <a:ea typeface="Open Sans" pitchFamily="34" charset="-122"/>
                <a:cs typeface="Open Sans" pitchFamily="34" charset="-120"/>
              </a:rPr>
              <a:t>Play: A2.5</a:t>
            </a:r>
            <a:endParaRPr lang="en-US" sz="1400" dirty="0"/>
          </a:p>
        </p:txBody>
      </p:sp>
      <p:sp>
        <p:nvSpPr>
          <p:cNvPr id="5" name="Text 2"/>
          <p:cNvSpPr txBox="1"/>
          <p:nvPr/>
        </p:nvSpPr>
        <p:spPr>
          <a:xfrm>
            <a:off x="1371600" y="731520"/>
            <a:ext cx="7315200" cy="502920"/>
          </a:xfrm>
          <a:prstGeom prst="rect">
            <a:avLst/>
          </a:prstGeom>
          <a:noFill/>
          <a:ln/>
        </p:spPr>
        <p:txBody>
          <a:bodyPr wrap="square" lIns="0" tIns="0" rIns="0" bIns="0" rtlCol="0" anchor="ctr"/>
          <a:lstStyle/>
          <a:p>
            <a:pPr indent="0" marL="0">
              <a:buNone/>
            </a:pPr>
            <a:r>
              <a:rPr lang="en-US" sz="2800" b="1" dirty="0">
                <a:solidFill>
                  <a:srgbClr val="FFFFFF"/>
                </a:solidFill>
                <a:latin typeface="Open Sans" pitchFamily="34" charset="0"/>
                <a:ea typeface="Open Sans" pitchFamily="34" charset="-122"/>
                <a:cs typeface="Open Sans" pitchFamily="34" charset="-120"/>
              </a:rPr>
              <a:t>Access Office</a:t>
            </a:r>
            <a:endParaRPr lang="en-US" sz="2800" dirty="0"/>
          </a:p>
        </p:txBody>
      </p:sp>
      <p:sp>
        <p:nvSpPr>
          <p:cNvPr id="6" name="Text 3"/>
          <p:cNvSpPr txBox="1"/>
          <p:nvPr/>
        </p:nvSpPr>
        <p:spPr>
          <a:xfrm>
            <a:off x="457200" y="1508760"/>
            <a:ext cx="6035040" cy="2011680"/>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700" dirty="0">
                <a:solidFill>
                  <a:srgbClr val="FFFFFF"/>
                </a:solidFill>
                <a:latin typeface="Open Sans" pitchFamily="34" charset="0"/>
                <a:ea typeface="Open Sans" pitchFamily="34" charset="-122"/>
                <a:cs typeface="Open Sans" pitchFamily="34" charset="-120"/>
              </a:rPr>
              <a:t>Find who deleted the order.</a:t>
            </a:r>
            <a:endParaRPr lang="en-US" sz="1700" dirty="0"/>
          </a:p>
          <a:p>
            <a:pPr marL="342900" indent="-342900">
              <a:spcAft>
                <a:spcPts val="600"/>
              </a:spcAft>
              <a:buSzPct val="100000"/>
              <a:buFont typeface="+mj-lt"/>
              <a:buAutoNum type="arabicPeriod" startAt="1"/>
            </a:pPr>
            <a:r>
              <a:rPr lang="en-US" sz="1700" dirty="0">
                <a:solidFill>
                  <a:srgbClr val="FFFFFF"/>
                </a:solidFill>
                <a:latin typeface="Open Sans" pitchFamily="34" charset="0"/>
                <a:ea typeface="Open Sans" pitchFamily="34" charset="-122"/>
                <a:cs typeface="Open Sans" pitchFamily="34" charset="-120"/>
              </a:rPr>
              <a:t>Give each person only what they need.</a:t>
            </a:r>
            <a:endParaRPr lang="en-US" sz="1700" dirty="0"/>
          </a:p>
          <a:p>
            <a:pPr marL="342900" indent="-342900">
              <a:spcAft>
                <a:spcPts val="600"/>
              </a:spcAft>
              <a:buSzPct val="100000"/>
              <a:buFont typeface="+mj-lt"/>
              <a:buAutoNum type="arabicPeriod" startAt="1"/>
            </a:pPr>
            <a:r>
              <a:rPr lang="en-US" sz="1700" dirty="0">
                <a:solidFill>
                  <a:srgbClr val="FFFFFF"/>
                </a:solidFill>
                <a:latin typeface="Open Sans" pitchFamily="34" charset="0"/>
                <a:ea typeface="Open Sans" pitchFamily="34" charset="-122"/>
                <a:cs typeface="Open Sans" pitchFamily="34" charset="-120"/>
              </a:rPr>
              <a:t>Allow, deny or check each login.</a:t>
            </a:r>
            <a:endParaRPr lang="en-US" sz="1700" dirty="0"/>
          </a:p>
        </p:txBody>
      </p:sp>
      <p:sp>
        <p:nvSpPr>
          <p:cNvPr id="7" name="Text 4"/>
          <p:cNvSpPr txBox="1"/>
          <p:nvPr/>
        </p:nvSpPr>
        <p:spPr>
          <a:xfrm>
            <a:off x="457200" y="3703320"/>
            <a:ext cx="6217920" cy="320040"/>
          </a:xfrm>
          <a:prstGeom prst="rect">
            <a:avLst/>
          </a:prstGeom>
          <a:noFill/>
          <a:ln/>
        </p:spPr>
        <p:txBody>
          <a:bodyPr wrap="square" lIns="0" tIns="0" rIns="0" bIns="0" rtlCol="0" anchor="ctr"/>
          <a:lstStyle/>
          <a:p>
            <a:pPr indent="0" marL="0">
              <a:buNone/>
            </a:pPr>
            <a:r>
              <a:rPr lang="en-US" sz="1300" b="1" dirty="0">
                <a:solidFill>
                  <a:srgbClr val="FFFFFF"/>
                </a:solidFill>
                <a:latin typeface="Open Sans" pitchFamily="34" charset="0"/>
                <a:ea typeface="Open Sans" pitchFamily="34" charset="-122"/>
                <a:cs typeface="Open Sans" pitchFamily="34" charset="-120"/>
              </a:rPr>
              <a:t>Open it: course site &gt; Day 2 &gt; Access Office</a:t>
            </a:r>
            <a:endParaRPr lang="en-US" sz="1300" dirty="0"/>
          </a:p>
        </p:txBody>
      </p:sp>
      <p:sp>
        <p:nvSpPr>
          <p:cNvPr id="8" name="Text 5"/>
          <p:cNvSpPr txBox="1"/>
          <p:nvPr/>
        </p:nvSpPr>
        <p:spPr>
          <a:xfrm>
            <a:off x="457200" y="4069080"/>
            <a:ext cx="6217920" cy="320040"/>
          </a:xfrm>
          <a:prstGeom prst="rect">
            <a:avLst/>
          </a:prstGeom>
          <a:noFill/>
          <a:ln/>
        </p:spPr>
        <p:txBody>
          <a:bodyPr wrap="square" lIns="0" tIns="0" rIns="0" bIns="0" rtlCol="0" anchor="ctr"/>
          <a:lstStyle/>
          <a:p>
            <a:pPr indent="0" marL="0">
              <a:buNone/>
            </a:pPr>
            <a:r>
              <a:rPr lang="en-US" sz="1300" dirty="0">
                <a:solidFill>
                  <a:srgbClr val="EDDDCD"/>
                </a:solidFill>
                <a:latin typeface="Open Sans" pitchFamily="34" charset="0"/>
                <a:ea typeface="Open Sans" pitchFamily="34" charset="-122"/>
                <a:cs typeface="Open Sans" pitchFamily="34" charset="-120"/>
              </a:rPr>
              <a:t>Practises: accountability, with least privilege</a:t>
            </a:r>
            <a:endParaRPr lang="en-US" sz="1300" dirty="0"/>
          </a:p>
        </p:txBody>
      </p:sp>
      <p:sp>
        <p:nvSpPr>
          <p:cNvPr id="9" name="Shape 6"/>
          <p:cNvSpPr/>
          <p:nvPr/>
        </p:nvSpPr>
        <p:spPr>
          <a:xfrm>
            <a:off x="6949440" y="1554480"/>
            <a:ext cx="1737360" cy="1005840"/>
          </a:xfrm>
          <a:prstGeom prst="roundRect">
            <a:avLst>
              <a:gd name="adj" fmla="val 9091"/>
            </a:avLst>
          </a:prstGeom>
          <a:solidFill>
            <a:srgbClr val="262A20"/>
          </a:solidFill>
          <a:ln w="12700">
            <a:solidFill>
              <a:srgbClr val="262A20"/>
            </a:solidFill>
            <a:prstDash val="solid"/>
          </a:ln>
        </p:spPr>
      </p:sp>
      <p:sp>
        <p:nvSpPr>
          <p:cNvPr id="10" name="Text 7"/>
          <p:cNvSpPr txBox="1"/>
          <p:nvPr/>
        </p:nvSpPr>
        <p:spPr>
          <a:xfrm>
            <a:off x="6949440" y="1554480"/>
            <a:ext cx="1737360" cy="1005840"/>
          </a:xfrm>
          <a:prstGeom prst="rect">
            <a:avLst/>
          </a:prstGeom>
          <a:noFill/>
          <a:ln/>
        </p:spPr>
        <p:txBody>
          <a:bodyPr wrap="square" lIns="0" tIns="0" rIns="0" bIns="0" rtlCol="0" anchor="ctr"/>
          <a:lstStyle/>
          <a:p>
            <a:pPr algn="ctr" indent="0" marL="0">
              <a:buNone/>
            </a:pPr>
            <a:r>
              <a:rPr lang="en-US" sz="2600" b="1" dirty="0">
                <a:solidFill>
                  <a:srgbClr val="FFFFFF"/>
                </a:solidFill>
                <a:latin typeface="Open Sans" pitchFamily="34" charset="0"/>
                <a:ea typeface="Open Sans" pitchFamily="34" charset="-122"/>
                <a:cs typeface="Open Sans" pitchFamily="34" charset="-120"/>
              </a:rPr>
              <a:t>10 min</a:t>
            </a:r>
            <a:endParaRPr lang="en-US" sz="2600" dirty="0"/>
          </a:p>
        </p:txBody>
      </p:sp>
      <p:sp>
        <p:nvSpPr>
          <p:cNvPr id="11" name="Shape 8"/>
          <p:cNvSpPr/>
          <p:nvPr/>
        </p:nvSpPr>
        <p:spPr>
          <a:xfrm>
            <a:off x="6949440" y="2697480"/>
            <a:ext cx="1737360" cy="1965960"/>
          </a:xfrm>
          <a:prstGeom prst="roundRect">
            <a:avLst>
              <a:gd name="adj" fmla="val 4211"/>
            </a:avLst>
          </a:prstGeom>
          <a:solidFill>
            <a:srgbClr val="FFFFFF"/>
          </a:solidFill>
          <a:ln w="12700">
            <a:solidFill>
              <a:srgbClr val="FFFFFF"/>
            </a:solidFill>
            <a:prstDash val="solid"/>
          </a:ln>
        </p:spPr>
      </p:sp>
      <p:pic>
        <p:nvPicPr>
          <p:cNvPr id="12" name="Image 1" descr="QR code for Access Office">    </p:cNvPr>
          <p:cNvPicPr>
            <a:picLocks noChangeAspect="1"/>
          </p:cNvPicPr>
          <p:nvPr/>
        </p:nvPicPr>
        <p:blipFill>
          <a:blip r:embed="rId2"/>
          <a:stretch>
            <a:fillRect/>
          </a:stretch>
        </p:blipFill>
        <p:spPr>
          <a:xfrm>
            <a:off x="7059168" y="2770632"/>
            <a:ext cx="1517904" cy="1517904"/>
          </a:xfrm>
          <a:prstGeom prst="rect">
            <a:avLst/>
          </a:prstGeom>
        </p:spPr>
      </p:pic>
      <p:sp>
        <p:nvSpPr>
          <p:cNvPr id="13" name="Text 9"/>
          <p:cNvSpPr txBox="1"/>
          <p:nvPr/>
        </p:nvSpPr>
        <p:spPr>
          <a:xfrm>
            <a:off x="6949440" y="4315968"/>
            <a:ext cx="1737360" cy="256032"/>
          </a:xfrm>
          <a:prstGeom prst="rect">
            <a:avLst/>
          </a:prstGeom>
          <a:noFill/>
          <a:ln/>
        </p:spPr>
        <p:txBody>
          <a:bodyPr wrap="square" lIns="0" tIns="0" rIns="0" bIns="0" rtlCol="0" anchor="ctr"/>
          <a:lstStyle/>
          <a:p>
            <a:pPr algn="ctr" indent="0" marL="0">
              <a:buNone/>
            </a:pPr>
            <a:r>
              <a:rPr lang="en-US" sz="1100" b="1" dirty="0">
                <a:solidFill>
                  <a:srgbClr val="262A20"/>
                </a:solidFill>
                <a:latin typeface="Open Sans" pitchFamily="34" charset="0"/>
                <a:ea typeface="Open Sans" pitchFamily="34" charset="-122"/>
                <a:cs typeface="Open Sans" pitchFamily="34" charset="-120"/>
              </a:rPr>
              <a:t>Scan to play</a:t>
            </a:r>
            <a:endParaRPr lang="en-US" sz="1100" dirty="0"/>
          </a:p>
        </p:txBody>
      </p:sp>
      <p:sp>
        <p:nvSpPr>
          <p:cNvPr id="14" name="Text 10"/>
          <p:cNvSpPr txBox="1"/>
          <p:nvPr/>
        </p:nvSpPr>
        <p:spPr>
          <a:xfrm>
            <a:off x="457200" y="4828032"/>
            <a:ext cx="6858000" cy="182880"/>
          </a:xfrm>
          <a:prstGeom prst="rect">
            <a:avLst/>
          </a:prstGeom>
          <a:noFill/>
          <a:ln/>
        </p:spPr>
        <p:txBody>
          <a:bodyPr wrap="square" lIns="0" tIns="0" rIns="0" bIns="0" rtlCol="0" anchor="ctr"/>
          <a:lstStyle/>
          <a:p>
            <a:pPr indent="0" marL="0">
              <a:buNone/>
            </a:pPr>
            <a:r>
              <a:rPr lang="en-US" sz="800" dirty="0">
                <a:solidFill>
                  <a:srgbClr val="D9D5D2"/>
                </a:solidFill>
                <a:latin typeface="Open Sans" pitchFamily="34" charset="0"/>
                <a:ea typeface="Open Sans" pitchFamily="34" charset="-122"/>
                <a:cs typeface="Open Sans" pitchFamily="34" charset="-120"/>
              </a:rPr>
              <a:t>DBIS-11 Cybersecurity and Cloud Computing  |  Day 2  |  Session 11.4</a:t>
            </a:r>
            <a:endParaRPr lang="en-US" sz="800" dirty="0"/>
          </a:p>
        </p:txBody>
      </p:sp>
      <p:sp>
        <p:nvSpPr>
          <p:cNvPr id="15" name="Text 11"/>
          <p:cNvSpPr txBox="1"/>
          <p:nvPr/>
        </p:nvSpPr>
        <p:spPr>
          <a:xfrm>
            <a:off x="8138160" y="4828032"/>
            <a:ext cx="548640" cy="182880"/>
          </a:xfrm>
          <a:prstGeom prst="rect">
            <a:avLst/>
          </a:prstGeom>
          <a:noFill/>
          <a:ln/>
        </p:spPr>
        <p:txBody>
          <a:bodyPr wrap="square" lIns="0" tIns="0" rIns="0" bIns="0" rtlCol="0" anchor="ctr"/>
          <a:lstStyle/>
          <a:p>
            <a:pPr algn="r" indent="0" marL="0">
              <a:buNone/>
            </a:pPr>
            <a:r>
              <a:rPr lang="en-US" sz="800" dirty="0">
                <a:solidFill>
                  <a:srgbClr val="D9D5D2"/>
                </a:solidFill>
                <a:latin typeface="Open Sans" pitchFamily="34" charset="0"/>
                <a:ea typeface="Open Sans" pitchFamily="34" charset="-122"/>
                <a:cs typeface="Open Sans" pitchFamily="34" charset="-120"/>
              </a:rPr>
              <a:t>27</a:t>
            </a:r>
            <a:endParaRPr lang="en-US" sz="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66928"/>
          </a:xfrm>
          <a:prstGeom prst="rect">
            <a:avLst/>
          </a:prstGeom>
          <a:noFill/>
          <a:ln/>
        </p:spPr>
        <p:txBody>
          <a:bodyPr wrap="square" lIns="0" tIns="0" rIns="0" bIns="0" rtlCol="0" anchor="ctr"/>
          <a:lstStyle/>
          <a:p>
            <a:pPr indent="0" marL="0">
              <a:buNone/>
            </a:pPr>
            <a:r>
              <a:rPr lang="en-US" sz="2400" b="1" dirty="0">
                <a:solidFill>
                  <a:srgbClr val="262A20"/>
                </a:solidFill>
                <a:latin typeface="Open Sans" pitchFamily="34" charset="0"/>
                <a:ea typeface="Open Sans" pitchFamily="34" charset="-122"/>
                <a:cs typeface="Open Sans" pitchFamily="34" charset="-120"/>
              </a:rPr>
              <a:t>What we learned today</a:t>
            </a:r>
            <a:endParaRPr lang="en-US" sz="2400" dirty="0"/>
          </a:p>
        </p:txBody>
      </p:sp>
      <p:sp>
        <p:nvSpPr>
          <p:cNvPr id="3" name="Shape 1"/>
          <p:cNvSpPr/>
          <p:nvPr/>
        </p:nvSpPr>
        <p:spPr>
          <a:xfrm>
            <a:off x="457200" y="896112"/>
            <a:ext cx="640080" cy="54864"/>
          </a:xfrm>
          <a:prstGeom prst="rect">
            <a:avLst/>
          </a:prstGeom>
          <a:solidFill>
            <a:srgbClr val="667C7E"/>
          </a:solidFill>
          <a:ln w="12700">
            <a:solidFill>
              <a:srgbClr val="667C7E"/>
            </a:solidFill>
            <a:prstDash val="solid"/>
          </a:ln>
        </p:spPr>
      </p:sp>
      <p:sp>
        <p:nvSpPr>
          <p:cNvPr id="4" name="Shape 2"/>
          <p:cNvSpPr/>
          <p:nvPr/>
        </p:nvSpPr>
        <p:spPr>
          <a:xfrm>
            <a:off x="1143000" y="896112"/>
            <a:ext cx="320040" cy="54864"/>
          </a:xfrm>
          <a:prstGeom prst="rect">
            <a:avLst/>
          </a:prstGeom>
          <a:solidFill>
            <a:srgbClr val="C7A887"/>
          </a:solidFill>
          <a:ln w="12700">
            <a:solidFill>
              <a:srgbClr val="C7A887"/>
            </a:solidFill>
            <a:prstDash val="solid"/>
          </a:ln>
        </p:spPr>
      </p:sp>
      <p:sp>
        <p:nvSpPr>
          <p:cNvPr id="5" name="Text 3"/>
          <p:cNvSpPr txBox="1"/>
          <p:nvPr/>
        </p:nvSpPr>
        <p:spPr>
          <a:xfrm>
            <a:off x="457200" y="4828032"/>
            <a:ext cx="6858000" cy="182880"/>
          </a:xfrm>
          <a:prstGeom prst="rect">
            <a:avLst/>
          </a:prstGeom>
          <a:noFill/>
          <a:ln/>
        </p:spPr>
        <p:txBody>
          <a:bodyPr wrap="square" lIns="0" tIns="0" rIns="0" bIns="0" rtlCol="0" anchor="ctr"/>
          <a:lstStyle/>
          <a:p>
            <a:pPr indent="0" marL="0">
              <a:buNone/>
            </a:pPr>
            <a:r>
              <a:rPr lang="en-US" sz="800" dirty="0">
                <a:solidFill>
                  <a:srgbClr val="5A5F55"/>
                </a:solidFill>
                <a:latin typeface="Open Sans" pitchFamily="34" charset="0"/>
                <a:ea typeface="Open Sans" pitchFamily="34" charset="-122"/>
                <a:cs typeface="Open Sans" pitchFamily="34" charset="-120"/>
              </a:rPr>
              <a:t>DBIS-11 Cybersecurity and Cloud Computing  |  Day 2  |  Session 11.4</a:t>
            </a:r>
            <a:endParaRPr lang="en-US" sz="800" dirty="0"/>
          </a:p>
        </p:txBody>
      </p:sp>
      <p:sp>
        <p:nvSpPr>
          <p:cNvPr id="6" name="Text 4"/>
          <p:cNvSpPr txBox="1"/>
          <p:nvPr/>
        </p:nvSpPr>
        <p:spPr>
          <a:xfrm>
            <a:off x="8138160" y="4828032"/>
            <a:ext cx="548640" cy="182880"/>
          </a:xfrm>
          <a:prstGeom prst="rect">
            <a:avLst/>
          </a:prstGeom>
          <a:noFill/>
          <a:ln/>
        </p:spPr>
        <p:txBody>
          <a:bodyPr wrap="square" lIns="0" tIns="0" rIns="0" bIns="0" rtlCol="0" anchor="ctr"/>
          <a:lstStyle/>
          <a:p>
            <a:pPr algn="r" indent="0" marL="0">
              <a:buNone/>
            </a:pPr>
            <a:r>
              <a:rPr lang="en-US" sz="800" dirty="0">
                <a:solidFill>
                  <a:srgbClr val="5A5F55"/>
                </a:solidFill>
                <a:latin typeface="Open Sans" pitchFamily="34" charset="0"/>
                <a:ea typeface="Open Sans" pitchFamily="34" charset="-122"/>
                <a:cs typeface="Open Sans" pitchFamily="34" charset="-120"/>
              </a:rPr>
              <a:t>28</a:t>
            </a:r>
            <a:endParaRPr lang="en-US" sz="800" dirty="0"/>
          </a:p>
        </p:txBody>
      </p:sp>
      <p:sp>
        <p:nvSpPr>
          <p:cNvPr id="8" name="Shape 5"/>
          <p:cNvSpPr/>
          <p:nvPr/>
        </p:nvSpPr>
        <p:spPr>
          <a:xfrm>
            <a:off x="457200" y="1188720"/>
            <a:ext cx="2590800" cy="2926080"/>
          </a:xfrm>
          <a:prstGeom prst="roundRect">
            <a:avLst>
              <a:gd name="adj" fmla="val 2824"/>
            </a:avLst>
          </a:prstGeom>
          <a:solidFill>
            <a:srgbClr val="EDDDCD"/>
          </a:solidFill>
          <a:ln w="12700">
            <a:solidFill>
              <a:srgbClr val="EDDDCD"/>
            </a:solidFill>
            <a:prstDash val="solid"/>
          </a:ln>
        </p:spPr>
      </p:sp>
      <p:sp>
        <p:nvSpPr>
          <p:cNvPr id="9" name="Shape 6"/>
          <p:cNvSpPr/>
          <p:nvPr/>
        </p:nvSpPr>
        <p:spPr>
          <a:xfrm>
            <a:off x="640080" y="1371600"/>
            <a:ext cx="502920" cy="502920"/>
          </a:xfrm>
          <a:prstGeom prst="ellipse">
            <a:avLst/>
          </a:prstGeom>
          <a:solidFill>
            <a:srgbClr val="C7A887"/>
          </a:solidFill>
          <a:ln w="12700">
            <a:solidFill>
              <a:srgbClr val="C7A887"/>
            </a:solidFill>
            <a:prstDash val="solid"/>
          </a:ln>
        </p:spPr>
      </p:sp>
      <p:pic>
        <p:nvPicPr>
          <p:cNvPr id="10" name="Image 0" descr="preencoded.png">    </p:cNvPr>
          <p:cNvPicPr>
            <a:picLocks noChangeAspect="1"/>
          </p:cNvPicPr>
          <p:nvPr/>
        </p:nvPicPr>
        <p:blipFill>
          <a:blip r:embed="rId1"/>
          <a:stretch>
            <a:fillRect/>
          </a:stretch>
        </p:blipFill>
        <p:spPr>
          <a:xfrm>
            <a:off x="765810" y="1497330"/>
            <a:ext cx="251460" cy="251460"/>
          </a:xfrm>
          <a:prstGeom prst="rect">
            <a:avLst/>
          </a:prstGeom>
        </p:spPr>
      </p:pic>
      <p:sp>
        <p:nvSpPr>
          <p:cNvPr id="11" name="Text 7"/>
          <p:cNvSpPr txBox="1"/>
          <p:nvPr/>
        </p:nvSpPr>
        <p:spPr>
          <a:xfrm>
            <a:off x="640080" y="2011680"/>
            <a:ext cx="2225040" cy="640080"/>
          </a:xfrm>
          <a:prstGeom prst="rect">
            <a:avLst/>
          </a:prstGeom>
          <a:noFill/>
          <a:ln/>
        </p:spPr>
        <p:txBody>
          <a:bodyPr wrap="square" lIns="0" tIns="0" rIns="0" bIns="0" rtlCol="0" anchor="t"/>
          <a:lstStyle/>
          <a:p>
            <a:pPr indent="0" marL="0">
              <a:buNone/>
            </a:pPr>
            <a:r>
              <a:rPr lang="en-US" sz="1500" b="1" dirty="0">
                <a:solidFill>
                  <a:srgbClr val="262A20"/>
                </a:solidFill>
                <a:latin typeface="Open Sans" pitchFamily="34" charset="0"/>
                <a:ea typeface="Open Sans" pitchFamily="34" charset="-122"/>
                <a:cs typeface="Open Sans" pitchFamily="34" charset="-120"/>
              </a:rPr>
              <a:t>People can be tricked</a:t>
            </a:r>
            <a:endParaRPr lang="en-US" sz="1500" dirty="0"/>
          </a:p>
        </p:txBody>
      </p:sp>
      <p:sp>
        <p:nvSpPr>
          <p:cNvPr id="12" name="Text 8"/>
          <p:cNvSpPr txBox="1"/>
          <p:nvPr/>
        </p:nvSpPr>
        <p:spPr>
          <a:xfrm>
            <a:off x="640080" y="2670048"/>
            <a:ext cx="2225040" cy="1325880"/>
          </a:xfrm>
          <a:prstGeom prst="rect">
            <a:avLst/>
          </a:prstGeom>
          <a:noFill/>
          <a:ln/>
        </p:spPr>
        <p:txBody>
          <a:bodyPr wrap="square" lIns="0" tIns="0" rIns="0" bIns="0" rtlCol="0" anchor="t"/>
          <a:lstStyle/>
          <a:p>
            <a:pPr indent="0" marL="0">
              <a:buNone/>
            </a:pPr>
            <a:r>
              <a:rPr lang="en-US" sz="1300" dirty="0">
                <a:solidFill>
                  <a:srgbClr val="262A20"/>
                </a:solidFill>
                <a:latin typeface="Open Sans" pitchFamily="34" charset="0"/>
                <a:ea typeface="Open Sans" pitchFamily="34" charset="-122"/>
                <a:cs typeface="Open Sans" pitchFamily="34" charset="-120"/>
              </a:rPr>
              <a:t>Phishing in four forms. Watch for hurry, boss, fear, strange senders. Check with a number you already have.</a:t>
            </a:r>
            <a:endParaRPr lang="en-US" sz="1300" dirty="0"/>
          </a:p>
        </p:txBody>
      </p:sp>
      <p:sp>
        <p:nvSpPr>
          <p:cNvPr id="13" name="Shape 9"/>
          <p:cNvSpPr/>
          <p:nvPr/>
        </p:nvSpPr>
        <p:spPr>
          <a:xfrm>
            <a:off x="3276600" y="1188720"/>
            <a:ext cx="2590800" cy="2926080"/>
          </a:xfrm>
          <a:prstGeom prst="roundRect">
            <a:avLst>
              <a:gd name="adj" fmla="val 2824"/>
            </a:avLst>
          </a:prstGeom>
          <a:solidFill>
            <a:srgbClr val="D9D5D2"/>
          </a:solidFill>
          <a:ln w="12700">
            <a:solidFill>
              <a:srgbClr val="D9D5D2"/>
            </a:solidFill>
            <a:prstDash val="solid"/>
          </a:ln>
        </p:spPr>
      </p:sp>
      <p:sp>
        <p:nvSpPr>
          <p:cNvPr id="14" name="Shape 10"/>
          <p:cNvSpPr/>
          <p:nvPr/>
        </p:nvSpPr>
        <p:spPr>
          <a:xfrm>
            <a:off x="3459480" y="1371600"/>
            <a:ext cx="502920" cy="502920"/>
          </a:xfrm>
          <a:prstGeom prst="ellipse">
            <a:avLst/>
          </a:prstGeom>
          <a:solidFill>
            <a:srgbClr val="262A20"/>
          </a:solidFill>
          <a:ln w="12700">
            <a:solidFill>
              <a:srgbClr val="262A20"/>
            </a:solidFill>
            <a:prstDash val="solid"/>
          </a:ln>
        </p:spPr>
      </p:sp>
      <p:pic>
        <p:nvPicPr>
          <p:cNvPr id="15" name="Image 1" descr="preencoded.png">    </p:cNvPr>
          <p:cNvPicPr>
            <a:picLocks noChangeAspect="1"/>
          </p:cNvPicPr>
          <p:nvPr/>
        </p:nvPicPr>
        <p:blipFill>
          <a:blip r:embed="rId2"/>
          <a:stretch>
            <a:fillRect/>
          </a:stretch>
        </p:blipFill>
        <p:spPr>
          <a:xfrm>
            <a:off x="3585210" y="1497330"/>
            <a:ext cx="251460" cy="251460"/>
          </a:xfrm>
          <a:prstGeom prst="rect">
            <a:avLst/>
          </a:prstGeom>
        </p:spPr>
      </p:pic>
      <p:sp>
        <p:nvSpPr>
          <p:cNvPr id="16" name="Text 11"/>
          <p:cNvSpPr txBox="1"/>
          <p:nvPr/>
        </p:nvSpPr>
        <p:spPr>
          <a:xfrm>
            <a:off x="3459480" y="2011680"/>
            <a:ext cx="2225040" cy="640080"/>
          </a:xfrm>
          <a:prstGeom prst="rect">
            <a:avLst/>
          </a:prstGeom>
          <a:noFill/>
          <a:ln/>
        </p:spPr>
        <p:txBody>
          <a:bodyPr wrap="square" lIns="0" tIns="0" rIns="0" bIns="0" rtlCol="0" anchor="t"/>
          <a:lstStyle/>
          <a:p>
            <a:pPr indent="0" marL="0">
              <a:buNone/>
            </a:pPr>
            <a:r>
              <a:rPr lang="en-US" sz="1500" b="1" dirty="0">
                <a:solidFill>
                  <a:srgbClr val="262A20"/>
                </a:solidFill>
                <a:latin typeface="Open Sans" pitchFamily="34" charset="0"/>
                <a:ea typeface="Open Sans" pitchFamily="34" charset="-122"/>
                <a:cs typeface="Open Sans" pitchFamily="34" charset="-120"/>
              </a:rPr>
              <a:t>Extended CIA</a:t>
            </a:r>
            <a:endParaRPr lang="en-US" sz="1500" dirty="0"/>
          </a:p>
        </p:txBody>
      </p:sp>
      <p:sp>
        <p:nvSpPr>
          <p:cNvPr id="17" name="Text 12"/>
          <p:cNvSpPr txBox="1"/>
          <p:nvPr/>
        </p:nvSpPr>
        <p:spPr>
          <a:xfrm>
            <a:off x="3459480" y="2670048"/>
            <a:ext cx="2225040" cy="1325880"/>
          </a:xfrm>
          <a:prstGeom prst="rect">
            <a:avLst/>
          </a:prstGeom>
          <a:noFill/>
          <a:ln/>
        </p:spPr>
        <p:txBody>
          <a:bodyPr wrap="square" lIns="0" tIns="0" rIns="0" bIns="0" rtlCol="0" anchor="t"/>
          <a:lstStyle/>
          <a:p>
            <a:pPr indent="0" marL="0">
              <a:buNone/>
            </a:pPr>
            <a:r>
              <a:rPr lang="en-US" sz="1300" dirty="0">
                <a:solidFill>
                  <a:srgbClr val="262A20"/>
                </a:solidFill>
                <a:latin typeface="Open Sans" pitchFamily="34" charset="0"/>
                <a:ea typeface="Open Sans" pitchFamily="34" charset="-122"/>
                <a:cs typeface="Open Sans" pitchFamily="34" charset="-120"/>
              </a:rPr>
              <a:t>CIA plus authenticity (the door: is it real, now?) and accountability (the diary: who did it, later?).</a:t>
            </a:r>
            <a:endParaRPr lang="en-US" sz="1300" dirty="0"/>
          </a:p>
        </p:txBody>
      </p:sp>
      <p:sp>
        <p:nvSpPr>
          <p:cNvPr id="18" name="Shape 13"/>
          <p:cNvSpPr/>
          <p:nvPr/>
        </p:nvSpPr>
        <p:spPr>
          <a:xfrm>
            <a:off x="6096000" y="1188720"/>
            <a:ext cx="2590800" cy="2926080"/>
          </a:xfrm>
          <a:prstGeom prst="roundRect">
            <a:avLst>
              <a:gd name="adj" fmla="val 2824"/>
            </a:avLst>
          </a:prstGeom>
          <a:solidFill>
            <a:srgbClr val="E1E6E6"/>
          </a:solidFill>
          <a:ln w="12700">
            <a:solidFill>
              <a:srgbClr val="E1E6E6"/>
            </a:solidFill>
            <a:prstDash val="solid"/>
          </a:ln>
        </p:spPr>
      </p:sp>
      <p:sp>
        <p:nvSpPr>
          <p:cNvPr id="19" name="Shape 14"/>
          <p:cNvSpPr/>
          <p:nvPr/>
        </p:nvSpPr>
        <p:spPr>
          <a:xfrm>
            <a:off x="6278880" y="1371600"/>
            <a:ext cx="502920" cy="502920"/>
          </a:xfrm>
          <a:prstGeom prst="ellipse">
            <a:avLst/>
          </a:prstGeom>
          <a:solidFill>
            <a:srgbClr val="667C7E"/>
          </a:solidFill>
          <a:ln w="12700">
            <a:solidFill>
              <a:srgbClr val="667C7E"/>
            </a:solidFill>
            <a:prstDash val="solid"/>
          </a:ln>
        </p:spPr>
      </p:sp>
      <p:pic>
        <p:nvPicPr>
          <p:cNvPr id="20" name="Image 2" descr="preencoded.png">    </p:cNvPr>
          <p:cNvPicPr>
            <a:picLocks noChangeAspect="1"/>
          </p:cNvPicPr>
          <p:nvPr/>
        </p:nvPicPr>
        <p:blipFill>
          <a:blip r:embed="rId3"/>
          <a:stretch>
            <a:fillRect/>
          </a:stretch>
        </p:blipFill>
        <p:spPr>
          <a:xfrm>
            <a:off x="6404610" y="1497330"/>
            <a:ext cx="251460" cy="251460"/>
          </a:xfrm>
          <a:prstGeom prst="rect">
            <a:avLst/>
          </a:prstGeom>
        </p:spPr>
      </p:pic>
      <p:sp>
        <p:nvSpPr>
          <p:cNvPr id="21" name="Text 15"/>
          <p:cNvSpPr txBox="1"/>
          <p:nvPr/>
        </p:nvSpPr>
        <p:spPr>
          <a:xfrm>
            <a:off x="6278880" y="2011680"/>
            <a:ext cx="2225040" cy="640080"/>
          </a:xfrm>
          <a:prstGeom prst="rect">
            <a:avLst/>
          </a:prstGeom>
          <a:noFill/>
          <a:ln/>
        </p:spPr>
        <p:txBody>
          <a:bodyPr wrap="square" lIns="0" tIns="0" rIns="0" bIns="0" rtlCol="0" anchor="t"/>
          <a:lstStyle/>
          <a:p>
            <a:pPr indent="0" marL="0">
              <a:buNone/>
            </a:pPr>
            <a:r>
              <a:rPr lang="en-US" sz="1500" b="1" dirty="0">
                <a:solidFill>
                  <a:srgbClr val="262A20"/>
                </a:solidFill>
                <a:latin typeface="Open Sans" pitchFamily="34" charset="0"/>
                <a:ea typeface="Open Sans" pitchFamily="34" charset="-122"/>
                <a:cs typeface="Open Sans" pitchFamily="34" charset="-120"/>
              </a:rPr>
              <a:t>Stronger logins</a:t>
            </a:r>
            <a:endParaRPr lang="en-US" sz="1500" dirty="0"/>
          </a:p>
        </p:txBody>
      </p:sp>
      <p:sp>
        <p:nvSpPr>
          <p:cNvPr id="22" name="Text 16"/>
          <p:cNvSpPr txBox="1"/>
          <p:nvPr/>
        </p:nvSpPr>
        <p:spPr>
          <a:xfrm>
            <a:off x="6278880" y="2670048"/>
            <a:ext cx="2225040" cy="1325880"/>
          </a:xfrm>
          <a:prstGeom prst="rect">
            <a:avLst/>
          </a:prstGeom>
          <a:noFill/>
          <a:ln/>
        </p:spPr>
        <p:txBody>
          <a:bodyPr wrap="square" lIns="0" tIns="0" rIns="0" bIns="0" rtlCol="0" anchor="t"/>
          <a:lstStyle/>
          <a:p>
            <a:pPr indent="0" marL="0">
              <a:buNone/>
            </a:pPr>
            <a:r>
              <a:rPr lang="en-US" sz="1300" dirty="0">
                <a:solidFill>
                  <a:srgbClr val="262A20"/>
                </a:solidFill>
                <a:latin typeface="Open Sans" pitchFamily="34" charset="0"/>
                <a:ea typeface="Open Sans" pitchFamily="34" charset="-122"/>
                <a:cs typeface="Open Sans" pitchFamily="34" charset="-120"/>
              </a:rPr>
              <a:t>Passphrases, a password manager, and MFA with two different factors.</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66928"/>
          </a:xfrm>
          <a:prstGeom prst="rect">
            <a:avLst/>
          </a:prstGeom>
          <a:noFill/>
          <a:ln/>
        </p:spPr>
        <p:txBody>
          <a:bodyPr wrap="square" lIns="0" tIns="0" rIns="0" bIns="0" rtlCol="0" anchor="ctr"/>
          <a:lstStyle/>
          <a:p>
            <a:pPr indent="0" marL="0">
              <a:buNone/>
            </a:pPr>
            <a:r>
              <a:rPr lang="en-US" sz="2400" b="1" dirty="0">
                <a:solidFill>
                  <a:srgbClr val="262A20"/>
                </a:solidFill>
                <a:latin typeface="Open Sans" pitchFamily="34" charset="0"/>
                <a:ea typeface="Open Sans" pitchFamily="34" charset="-122"/>
                <a:cs typeface="Open Sans" pitchFamily="34" charset="-120"/>
              </a:rPr>
              <a:t>Words to know</a:t>
            </a:r>
            <a:endParaRPr lang="en-US" sz="2400" dirty="0"/>
          </a:p>
        </p:txBody>
      </p:sp>
      <p:sp>
        <p:nvSpPr>
          <p:cNvPr id="3" name="Shape 1"/>
          <p:cNvSpPr/>
          <p:nvPr/>
        </p:nvSpPr>
        <p:spPr>
          <a:xfrm>
            <a:off x="457200" y="896112"/>
            <a:ext cx="640080" cy="54864"/>
          </a:xfrm>
          <a:prstGeom prst="rect">
            <a:avLst/>
          </a:prstGeom>
          <a:solidFill>
            <a:srgbClr val="667C7E"/>
          </a:solidFill>
          <a:ln w="12700">
            <a:solidFill>
              <a:srgbClr val="667C7E"/>
            </a:solidFill>
            <a:prstDash val="solid"/>
          </a:ln>
        </p:spPr>
      </p:sp>
      <p:sp>
        <p:nvSpPr>
          <p:cNvPr id="4" name="Shape 2"/>
          <p:cNvSpPr/>
          <p:nvPr/>
        </p:nvSpPr>
        <p:spPr>
          <a:xfrm>
            <a:off x="1143000" y="896112"/>
            <a:ext cx="320040" cy="54864"/>
          </a:xfrm>
          <a:prstGeom prst="rect">
            <a:avLst/>
          </a:prstGeom>
          <a:solidFill>
            <a:srgbClr val="C7A887"/>
          </a:solidFill>
          <a:ln w="12700">
            <a:solidFill>
              <a:srgbClr val="C7A887"/>
            </a:solidFill>
            <a:prstDash val="solid"/>
          </a:ln>
        </p:spPr>
      </p:sp>
      <p:sp>
        <p:nvSpPr>
          <p:cNvPr id="5" name="Text 3"/>
          <p:cNvSpPr txBox="1"/>
          <p:nvPr/>
        </p:nvSpPr>
        <p:spPr>
          <a:xfrm>
            <a:off x="457200" y="4828032"/>
            <a:ext cx="6858000" cy="182880"/>
          </a:xfrm>
          <a:prstGeom prst="rect">
            <a:avLst/>
          </a:prstGeom>
          <a:noFill/>
          <a:ln/>
        </p:spPr>
        <p:txBody>
          <a:bodyPr wrap="square" lIns="0" tIns="0" rIns="0" bIns="0" rtlCol="0" anchor="ctr"/>
          <a:lstStyle/>
          <a:p>
            <a:pPr indent="0" marL="0">
              <a:buNone/>
            </a:pPr>
            <a:r>
              <a:rPr lang="en-US" sz="800" dirty="0">
                <a:solidFill>
                  <a:srgbClr val="5A5F55"/>
                </a:solidFill>
                <a:latin typeface="Open Sans" pitchFamily="34" charset="0"/>
                <a:ea typeface="Open Sans" pitchFamily="34" charset="-122"/>
                <a:cs typeface="Open Sans" pitchFamily="34" charset="-120"/>
              </a:rPr>
              <a:t>DBIS-11 Cybersecurity and Cloud Computing  |  Day 2  |  Session 11.4</a:t>
            </a:r>
            <a:endParaRPr lang="en-US" sz="800" dirty="0"/>
          </a:p>
        </p:txBody>
      </p:sp>
      <p:sp>
        <p:nvSpPr>
          <p:cNvPr id="6" name="Text 4"/>
          <p:cNvSpPr txBox="1"/>
          <p:nvPr/>
        </p:nvSpPr>
        <p:spPr>
          <a:xfrm>
            <a:off x="8138160" y="4828032"/>
            <a:ext cx="548640" cy="182880"/>
          </a:xfrm>
          <a:prstGeom prst="rect">
            <a:avLst/>
          </a:prstGeom>
          <a:noFill/>
          <a:ln/>
        </p:spPr>
        <p:txBody>
          <a:bodyPr wrap="square" lIns="0" tIns="0" rIns="0" bIns="0" rtlCol="0" anchor="ctr"/>
          <a:lstStyle/>
          <a:p>
            <a:pPr algn="r" indent="0" marL="0">
              <a:buNone/>
            </a:pPr>
            <a:r>
              <a:rPr lang="en-US" sz="800" dirty="0">
                <a:solidFill>
                  <a:srgbClr val="5A5F55"/>
                </a:solidFill>
                <a:latin typeface="Open Sans" pitchFamily="34" charset="0"/>
                <a:ea typeface="Open Sans" pitchFamily="34" charset="-122"/>
                <a:cs typeface="Open Sans" pitchFamily="34" charset="-120"/>
              </a:rPr>
              <a:t>29</a:t>
            </a:r>
            <a:endParaRPr lang="en-US" sz="8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2377440"/>
                <a:gridCol w="5852160"/>
              </a:tblGrid>
              <a:tr h="411480">
                <a:tc>
                  <a:txBody>
                    <a:bodyPr/>
                    <a:lstStyle/>
                    <a:p>
                      <a:pPr indent="0" marL="0">
                        <a:buNone/>
                      </a:pPr>
                      <a:r>
                        <a:rPr lang="en-US" sz="1300" b="1" dirty="0">
                          <a:solidFill>
                            <a:srgbClr val="FFFFFF"/>
                          </a:solidFill>
                          <a:latin typeface="Open Sans" pitchFamily="34" charset="0"/>
                          <a:ea typeface="Open Sans" pitchFamily="34" charset="-122"/>
                          <a:cs typeface="Open Sans" pitchFamily="34" charset="-120"/>
                        </a:rPr>
                        <a:t>Word</a:t>
                      </a:r>
                      <a:endParaRPr lang="en-US" sz="130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262A20"/>
                    </a:solidFill>
                  </a:tcPr>
                </a:tc>
                <a:tc>
                  <a:txBody>
                    <a:bodyPr/>
                    <a:lstStyle/>
                    <a:p>
                      <a:pPr indent="0" marL="0">
                        <a:buNone/>
                      </a:pPr>
                      <a:r>
                        <a:rPr lang="en-US" sz="1300" b="1" dirty="0">
                          <a:solidFill>
                            <a:srgbClr val="FFFFFF"/>
                          </a:solidFill>
                          <a:latin typeface="Open Sans" pitchFamily="34" charset="0"/>
                          <a:ea typeface="Open Sans" pitchFamily="34" charset="-122"/>
                          <a:cs typeface="Open Sans" pitchFamily="34" charset="-120"/>
                        </a:rPr>
                        <a:t>Simple meaning</a:t>
                      </a:r>
                      <a:endParaRPr lang="en-US" sz="130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262A20"/>
                    </a:solidFill>
                  </a:tcPr>
                </a:tc>
              </a:tr>
              <a:tr h="411480">
                <a:tc>
                  <a:txBody>
                    <a:bodyPr/>
                    <a:lstStyle/>
                    <a:p>
                      <a:pPr indent="0" marL="0">
                        <a:buNone/>
                      </a:pPr>
                      <a:r>
                        <a:rPr lang="en-US" sz="1300" dirty="0">
                          <a:solidFill>
                            <a:srgbClr val="262A20"/>
                          </a:solidFill>
                          <a:latin typeface="Open Sans" pitchFamily="34" charset="0"/>
                          <a:ea typeface="Open Sans" pitchFamily="34" charset="-122"/>
                          <a:cs typeface="Open Sans" pitchFamily="34" charset="-120"/>
                        </a:rPr>
                        <a:t>Authenticity</a:t>
                      </a:r>
                      <a:endParaRPr lang="en-US" sz="130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300" dirty="0">
                          <a:solidFill>
                            <a:srgbClr val="262A20"/>
                          </a:solidFill>
                          <a:latin typeface="Open Sans" pitchFamily="34" charset="0"/>
                          <a:ea typeface="Open Sans" pitchFamily="34" charset="-122"/>
                          <a:cs typeface="Open Sans" pitchFamily="34" charset="-120"/>
                        </a:rPr>
                        <a:t>The door: checking it is real, now (really you, or really from them)</a:t>
                      </a:r>
                      <a:endParaRPr lang="en-US" sz="130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411480">
                <a:tc>
                  <a:txBody>
                    <a:bodyPr/>
                    <a:lstStyle/>
                    <a:p>
                      <a:pPr indent="0" marL="0">
                        <a:buNone/>
                      </a:pPr>
                      <a:r>
                        <a:rPr lang="en-US" sz="1300" dirty="0">
                          <a:solidFill>
                            <a:srgbClr val="262A20"/>
                          </a:solidFill>
                          <a:latin typeface="Open Sans" pitchFamily="34" charset="0"/>
                          <a:ea typeface="Open Sans" pitchFamily="34" charset="-122"/>
                          <a:cs typeface="Open Sans" pitchFamily="34" charset="-120"/>
                        </a:rPr>
                        <a:t>Accountability</a:t>
                      </a:r>
                      <a:endParaRPr lang="en-US" sz="130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2EFEC"/>
                    </a:solidFill>
                  </a:tcPr>
                </a:tc>
                <a:tc>
                  <a:txBody>
                    <a:bodyPr/>
                    <a:lstStyle/>
                    <a:p>
                      <a:pPr indent="0" marL="0">
                        <a:buNone/>
                      </a:pPr>
                      <a:r>
                        <a:rPr lang="en-US" sz="1300" dirty="0">
                          <a:solidFill>
                            <a:srgbClr val="262A20"/>
                          </a:solidFill>
                          <a:latin typeface="Open Sans" pitchFamily="34" charset="0"/>
                          <a:ea typeface="Open Sans" pitchFamily="34" charset="-122"/>
                          <a:cs typeface="Open Sans" pitchFamily="34" charset="-120"/>
                        </a:rPr>
                        <a:t>The diary: tracing who did something, later, from records</a:t>
                      </a:r>
                      <a:endParaRPr lang="en-US" sz="130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2EFEC"/>
                    </a:solidFill>
                  </a:tcPr>
                </a:tc>
              </a:tr>
              <a:tr h="411480">
                <a:tc>
                  <a:txBody>
                    <a:bodyPr/>
                    <a:lstStyle/>
                    <a:p>
                      <a:pPr indent="0" marL="0">
                        <a:buNone/>
                      </a:pPr>
                      <a:r>
                        <a:rPr lang="en-US" sz="1300" dirty="0">
                          <a:solidFill>
                            <a:srgbClr val="262A20"/>
                          </a:solidFill>
                          <a:latin typeface="Open Sans" pitchFamily="34" charset="0"/>
                          <a:ea typeface="Open Sans" pitchFamily="34" charset="-122"/>
                          <a:cs typeface="Open Sans" pitchFamily="34" charset="-120"/>
                        </a:rPr>
                        <a:t>Authentication</a:t>
                      </a:r>
                      <a:endParaRPr lang="en-US" sz="130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300" dirty="0">
                          <a:solidFill>
                            <a:srgbClr val="262A20"/>
                          </a:solidFill>
                          <a:latin typeface="Open Sans" pitchFamily="34" charset="0"/>
                          <a:ea typeface="Open Sans" pitchFamily="34" charset="-122"/>
                          <a:cs typeface="Open Sans" pitchFamily="34" charset="-120"/>
                        </a:rPr>
                        <a:t>Proving who you are, e.g. password and a code</a:t>
                      </a:r>
                      <a:endParaRPr lang="en-US" sz="130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411480">
                <a:tc>
                  <a:txBody>
                    <a:bodyPr/>
                    <a:lstStyle/>
                    <a:p>
                      <a:pPr indent="0" marL="0">
                        <a:buNone/>
                      </a:pPr>
                      <a:r>
                        <a:rPr lang="en-US" sz="1300" dirty="0">
                          <a:solidFill>
                            <a:srgbClr val="262A20"/>
                          </a:solidFill>
                          <a:latin typeface="Open Sans" pitchFamily="34" charset="0"/>
                          <a:ea typeface="Open Sans" pitchFamily="34" charset="-122"/>
                          <a:cs typeface="Open Sans" pitchFamily="34" charset="-120"/>
                        </a:rPr>
                        <a:t>Authorisation</a:t>
                      </a:r>
                      <a:endParaRPr lang="en-US" sz="130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2EFEC"/>
                    </a:solidFill>
                  </a:tcPr>
                </a:tc>
                <a:tc>
                  <a:txBody>
                    <a:bodyPr/>
                    <a:lstStyle/>
                    <a:p>
                      <a:pPr indent="0" marL="0">
                        <a:buNone/>
                      </a:pPr>
                      <a:r>
                        <a:rPr lang="en-US" sz="1300" dirty="0">
                          <a:solidFill>
                            <a:srgbClr val="262A20"/>
                          </a:solidFill>
                          <a:latin typeface="Open Sans" pitchFamily="34" charset="0"/>
                          <a:ea typeface="Open Sans" pitchFamily="34" charset="-122"/>
                          <a:cs typeface="Open Sans" pitchFamily="34" charset="-120"/>
                        </a:rPr>
                        <a:t>What you are allowed to do after you log in</a:t>
                      </a:r>
                      <a:endParaRPr lang="en-US" sz="130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2EFEC"/>
                    </a:solidFill>
                  </a:tcPr>
                </a:tc>
              </a:tr>
              <a:tr h="411480">
                <a:tc>
                  <a:txBody>
                    <a:bodyPr/>
                    <a:lstStyle/>
                    <a:p>
                      <a:pPr indent="0" marL="0">
                        <a:buNone/>
                      </a:pPr>
                      <a:r>
                        <a:rPr lang="en-US" sz="1300" dirty="0">
                          <a:solidFill>
                            <a:srgbClr val="262A20"/>
                          </a:solidFill>
                          <a:latin typeface="Open Sans" pitchFamily="34" charset="0"/>
                          <a:ea typeface="Open Sans" pitchFamily="34" charset="-122"/>
                          <a:cs typeface="Open Sans" pitchFamily="34" charset="-120"/>
                        </a:rPr>
                        <a:t>Passphrase</a:t>
                      </a:r>
                      <a:endParaRPr lang="en-US" sz="130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300" dirty="0">
                          <a:solidFill>
                            <a:srgbClr val="262A20"/>
                          </a:solidFill>
                          <a:latin typeface="Open Sans" pitchFamily="34" charset="0"/>
                          <a:ea typeface="Open Sans" pitchFamily="34" charset="-122"/>
                          <a:cs typeface="Open Sans" pitchFamily="34" charset="-120"/>
                        </a:rPr>
                        <a:t>A password made of several random words</a:t>
                      </a:r>
                      <a:endParaRPr lang="en-US" sz="130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411480">
                <a:tc>
                  <a:txBody>
                    <a:bodyPr/>
                    <a:lstStyle/>
                    <a:p>
                      <a:pPr indent="0" marL="0">
                        <a:buNone/>
                      </a:pPr>
                      <a:r>
                        <a:rPr lang="en-US" sz="1300" dirty="0">
                          <a:solidFill>
                            <a:srgbClr val="262A20"/>
                          </a:solidFill>
                          <a:latin typeface="Open Sans" pitchFamily="34" charset="0"/>
                          <a:ea typeface="Open Sans" pitchFamily="34" charset="-122"/>
                          <a:cs typeface="Open Sans" pitchFamily="34" charset="-120"/>
                        </a:rPr>
                        <a:t>Password manager</a:t>
                      </a:r>
                      <a:endParaRPr lang="en-US" sz="130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2EFEC"/>
                    </a:solidFill>
                  </a:tcPr>
                </a:tc>
                <a:tc>
                  <a:txBody>
                    <a:bodyPr/>
                    <a:lstStyle/>
                    <a:p>
                      <a:pPr indent="0" marL="0">
                        <a:buNone/>
                      </a:pPr>
                      <a:r>
                        <a:rPr lang="en-US" sz="1300" dirty="0">
                          <a:solidFill>
                            <a:srgbClr val="262A20"/>
                          </a:solidFill>
                          <a:latin typeface="Open Sans" pitchFamily="34" charset="0"/>
                          <a:ea typeface="Open Sans" pitchFamily="34" charset="-122"/>
                          <a:cs typeface="Open Sans" pitchFamily="34" charset="-120"/>
                        </a:rPr>
                        <a:t>An app that makes and remembers strong passwords</a:t>
                      </a:r>
                      <a:endParaRPr lang="en-US" sz="130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2EFEC"/>
                    </a:solidFill>
                  </a:tcPr>
                </a:tc>
              </a:tr>
              <a:tr h="411480">
                <a:tc>
                  <a:txBody>
                    <a:bodyPr/>
                    <a:lstStyle/>
                    <a:p>
                      <a:pPr indent="0" marL="0">
                        <a:buNone/>
                      </a:pPr>
                      <a:r>
                        <a:rPr lang="en-US" sz="1300" dirty="0">
                          <a:solidFill>
                            <a:srgbClr val="262A20"/>
                          </a:solidFill>
                          <a:latin typeface="Open Sans" pitchFamily="34" charset="0"/>
                          <a:ea typeface="Open Sans" pitchFamily="34" charset="-122"/>
                          <a:cs typeface="Open Sans" pitchFamily="34" charset="-120"/>
                        </a:rPr>
                        <a:t>MFA</a:t>
                      </a:r>
                      <a:endParaRPr lang="en-US" sz="130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300" dirty="0">
                          <a:solidFill>
                            <a:srgbClr val="262A20"/>
                          </a:solidFill>
                          <a:latin typeface="Open Sans" pitchFamily="34" charset="0"/>
                          <a:ea typeface="Open Sans" pitchFamily="34" charset="-122"/>
                          <a:cs typeface="Open Sans" pitchFamily="34" charset="-120"/>
                        </a:rPr>
                        <a:t>Logging in with two or more different kinds of factor</a:t>
                      </a:r>
                      <a:endParaRPr lang="en-US" sz="1300" dirty="0">
                        <a:latin typeface="Open Sans" charset="0"/>
                        <a:ea typeface="Open Sans" charset="0"/>
                        <a:cs typeface="Open Sans"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566A6C"/>
        </a:solidFill>
      </p:bgPr>
    </p:bg>
    <p:spTree>
      <p:nvGrpSpPr>
        <p:cNvPr id="1" name=""/>
        <p:cNvGrpSpPr/>
        <p:nvPr/>
      </p:nvGrpSpPr>
      <p:grpSpPr>
        <a:xfrm>
          <a:off x="0" y="0"/>
          <a:ext cx="0" cy="0"/>
          <a:chOff x="0" y="0"/>
          <a:chExt cx="0" cy="0"/>
        </a:xfrm>
      </p:grpSpPr>
      <p:sp>
        <p:nvSpPr>
          <p:cNvPr id="2" name="Shape 0"/>
          <p:cNvSpPr/>
          <p:nvPr/>
        </p:nvSpPr>
        <p:spPr>
          <a:xfrm>
            <a:off x="457200" y="411480"/>
            <a:ext cx="731520" cy="731520"/>
          </a:xfrm>
          <a:prstGeom prst="ellipse">
            <a:avLst/>
          </a:prstGeom>
          <a:solidFill>
            <a:srgbClr val="262A20"/>
          </a:solidFill>
          <a:ln w="12700">
            <a:solidFill>
              <a:srgbClr val="262A20"/>
            </a:solidFill>
            <a:prstDash val="solid"/>
          </a:ln>
        </p:spPr>
      </p:sp>
      <p:pic>
        <p:nvPicPr>
          <p:cNvPr id="3" name="Image 0" descr="preencoded.png">    </p:cNvPr>
          <p:cNvPicPr>
            <a:picLocks noChangeAspect="1"/>
          </p:cNvPicPr>
          <p:nvPr/>
        </p:nvPicPr>
        <p:blipFill>
          <a:blip r:embed="rId1"/>
          <a:stretch>
            <a:fillRect/>
          </a:stretch>
        </p:blipFill>
        <p:spPr>
          <a:xfrm>
            <a:off x="640080" y="594360"/>
            <a:ext cx="365760" cy="365760"/>
          </a:xfrm>
          <a:prstGeom prst="rect">
            <a:avLst/>
          </a:prstGeom>
        </p:spPr>
      </p:pic>
      <p:sp>
        <p:nvSpPr>
          <p:cNvPr id="4" name="Text 1"/>
          <p:cNvSpPr txBox="1"/>
          <p:nvPr/>
        </p:nvSpPr>
        <p:spPr>
          <a:xfrm>
            <a:off x="1371600" y="411480"/>
            <a:ext cx="4572000" cy="320040"/>
          </a:xfrm>
          <a:prstGeom prst="rect">
            <a:avLst/>
          </a:prstGeom>
          <a:noFill/>
          <a:ln/>
        </p:spPr>
        <p:txBody>
          <a:bodyPr wrap="square" lIns="0" tIns="0" rIns="0" bIns="0" rtlCol="0" anchor="ctr"/>
          <a:lstStyle/>
          <a:p>
            <a:pPr indent="0" marL="0">
              <a:buNone/>
            </a:pPr>
            <a:r>
              <a:rPr lang="en-US" sz="1400" b="1" dirty="0">
                <a:solidFill>
                  <a:srgbClr val="EDDDCD"/>
                </a:solidFill>
                <a:latin typeface="Open Sans" pitchFamily="34" charset="0"/>
                <a:ea typeface="Open Sans" pitchFamily="34" charset="-122"/>
                <a:cs typeface="Open Sans" pitchFamily="34" charset="-120"/>
              </a:rPr>
              <a:t>Play: A2.6</a:t>
            </a:r>
            <a:endParaRPr lang="en-US" sz="1400" dirty="0"/>
          </a:p>
        </p:txBody>
      </p:sp>
      <p:sp>
        <p:nvSpPr>
          <p:cNvPr id="5" name="Text 2"/>
          <p:cNvSpPr txBox="1"/>
          <p:nvPr/>
        </p:nvSpPr>
        <p:spPr>
          <a:xfrm>
            <a:off x="1371600" y="731520"/>
            <a:ext cx="7315200" cy="502920"/>
          </a:xfrm>
          <a:prstGeom prst="rect">
            <a:avLst/>
          </a:prstGeom>
          <a:noFill/>
          <a:ln/>
        </p:spPr>
        <p:txBody>
          <a:bodyPr wrap="square" lIns="0" tIns="0" rIns="0" bIns="0" rtlCol="0" anchor="ctr"/>
          <a:lstStyle/>
          <a:p>
            <a:pPr indent="0" marL="0">
              <a:buNone/>
            </a:pPr>
            <a:r>
              <a:rPr lang="en-US" sz="2800" b="1" dirty="0">
                <a:solidFill>
                  <a:srgbClr val="FFFFFF"/>
                </a:solidFill>
                <a:latin typeface="Open Sans" pitchFamily="34" charset="0"/>
                <a:ea typeface="Open Sans" pitchFamily="34" charset="-122"/>
                <a:cs typeface="Open Sans" pitchFamily="34" charset="-120"/>
              </a:rPr>
              <a:t>People Words Ladder</a:t>
            </a:r>
            <a:endParaRPr lang="en-US" sz="2800" dirty="0"/>
          </a:p>
        </p:txBody>
      </p:sp>
      <p:sp>
        <p:nvSpPr>
          <p:cNvPr id="6" name="Text 3"/>
          <p:cNvSpPr txBox="1"/>
          <p:nvPr/>
        </p:nvSpPr>
        <p:spPr>
          <a:xfrm>
            <a:off x="457200" y="1508760"/>
            <a:ext cx="6035040" cy="2011680"/>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700" dirty="0">
                <a:solidFill>
                  <a:srgbClr val="FFFFFF"/>
                </a:solidFill>
                <a:latin typeface="Open Sans" pitchFamily="34" charset="0"/>
                <a:ea typeface="Open Sans" pitchFamily="34" charset="-122"/>
                <a:cs typeface="Open Sans" pitchFamily="34" charset="-120"/>
              </a:rPr>
              <a:t>Study the words. Tap Hear it to hear each one.</a:t>
            </a:r>
            <a:endParaRPr lang="en-US" sz="1700" dirty="0"/>
          </a:p>
          <a:p>
            <a:pPr marL="342900" indent="-342900">
              <a:spcAft>
                <a:spcPts val="600"/>
              </a:spcAft>
              <a:buSzPct val="100000"/>
              <a:buFont typeface="+mj-lt"/>
              <a:buAutoNum type="arabicPeriod" startAt="1"/>
            </a:pPr>
            <a:r>
              <a:rPr lang="en-US" sz="1700" dirty="0">
                <a:solidFill>
                  <a:srgbClr val="FFFFFF"/>
                </a:solidFill>
                <a:latin typeface="Open Sans" pitchFamily="34" charset="0"/>
                <a:ea typeface="Open Sans" pitchFamily="34" charset="-122"/>
                <a:cs typeface="Open Sans" pitchFamily="34" charset="-120"/>
              </a:rPr>
              <a:t>Climb three rungs: meaning, example, right or wrong.</a:t>
            </a:r>
            <a:endParaRPr lang="en-US" sz="1700" dirty="0"/>
          </a:p>
          <a:p>
            <a:pPr marL="342900" indent="-342900">
              <a:spcAft>
                <a:spcPts val="600"/>
              </a:spcAft>
              <a:buSzPct val="100000"/>
              <a:buFont typeface="+mj-lt"/>
              <a:buAutoNum type="arabicPeriod" startAt="1"/>
            </a:pPr>
            <a:r>
              <a:rPr lang="en-US" sz="1700" dirty="0">
                <a:solidFill>
                  <a:srgbClr val="FFFFFF"/>
                </a:solidFill>
                <a:latin typeface="Open Sans" pitchFamily="34" charset="0"/>
                <a:ea typeface="Open Sans" pitchFamily="34" charset="-122"/>
                <a:cs typeface="Open Sans" pitchFamily="34" charset="-120"/>
              </a:rPr>
              <a:t>Relaxed mode first, then Challenge.</a:t>
            </a:r>
            <a:endParaRPr lang="en-US" sz="1700" dirty="0"/>
          </a:p>
        </p:txBody>
      </p:sp>
      <p:sp>
        <p:nvSpPr>
          <p:cNvPr id="7" name="Text 4"/>
          <p:cNvSpPr txBox="1"/>
          <p:nvPr/>
        </p:nvSpPr>
        <p:spPr>
          <a:xfrm>
            <a:off x="457200" y="3703320"/>
            <a:ext cx="6217920" cy="320040"/>
          </a:xfrm>
          <a:prstGeom prst="rect">
            <a:avLst/>
          </a:prstGeom>
          <a:noFill/>
          <a:ln/>
        </p:spPr>
        <p:txBody>
          <a:bodyPr wrap="square" lIns="0" tIns="0" rIns="0" bIns="0" rtlCol="0" anchor="ctr"/>
          <a:lstStyle/>
          <a:p>
            <a:pPr indent="0" marL="0">
              <a:buNone/>
            </a:pPr>
            <a:r>
              <a:rPr lang="en-US" sz="1300" b="1" dirty="0">
                <a:solidFill>
                  <a:srgbClr val="FFFFFF"/>
                </a:solidFill>
                <a:latin typeface="Open Sans" pitchFamily="34" charset="0"/>
                <a:ea typeface="Open Sans" pitchFamily="34" charset="-122"/>
                <a:cs typeface="Open Sans" pitchFamily="34" charset="-120"/>
              </a:rPr>
              <a:t>Open it: course site &gt; Day 2 &gt; People Words Ladder</a:t>
            </a:r>
            <a:endParaRPr lang="en-US" sz="1300" dirty="0"/>
          </a:p>
        </p:txBody>
      </p:sp>
      <p:sp>
        <p:nvSpPr>
          <p:cNvPr id="8" name="Text 5"/>
          <p:cNvSpPr txBox="1"/>
          <p:nvPr/>
        </p:nvSpPr>
        <p:spPr>
          <a:xfrm>
            <a:off x="457200" y="4069080"/>
            <a:ext cx="6217920" cy="320040"/>
          </a:xfrm>
          <a:prstGeom prst="rect">
            <a:avLst/>
          </a:prstGeom>
          <a:noFill/>
          <a:ln/>
        </p:spPr>
        <p:txBody>
          <a:bodyPr wrap="square" lIns="0" tIns="0" rIns="0" bIns="0" rtlCol="0" anchor="ctr"/>
          <a:lstStyle/>
          <a:p>
            <a:pPr indent="0" marL="0">
              <a:buNone/>
            </a:pPr>
            <a:r>
              <a:rPr lang="en-US" sz="1300" dirty="0">
                <a:solidFill>
                  <a:srgbClr val="EDDDCD"/>
                </a:solidFill>
                <a:latin typeface="Open Sans" pitchFamily="34" charset="0"/>
                <a:ea typeface="Open Sans" pitchFamily="34" charset="-122"/>
                <a:cs typeface="Open Sans" pitchFamily="34" charset="-120"/>
              </a:rPr>
              <a:t>Practises: all thirteen words of the day</a:t>
            </a:r>
            <a:endParaRPr lang="en-US" sz="1300" dirty="0"/>
          </a:p>
        </p:txBody>
      </p:sp>
      <p:sp>
        <p:nvSpPr>
          <p:cNvPr id="9" name="Shape 6"/>
          <p:cNvSpPr/>
          <p:nvPr/>
        </p:nvSpPr>
        <p:spPr>
          <a:xfrm>
            <a:off x="6949440" y="1554480"/>
            <a:ext cx="1737360" cy="1005840"/>
          </a:xfrm>
          <a:prstGeom prst="roundRect">
            <a:avLst>
              <a:gd name="adj" fmla="val 9091"/>
            </a:avLst>
          </a:prstGeom>
          <a:solidFill>
            <a:srgbClr val="262A20"/>
          </a:solidFill>
          <a:ln w="12700">
            <a:solidFill>
              <a:srgbClr val="262A20"/>
            </a:solidFill>
            <a:prstDash val="solid"/>
          </a:ln>
        </p:spPr>
      </p:sp>
      <p:sp>
        <p:nvSpPr>
          <p:cNvPr id="10" name="Text 7"/>
          <p:cNvSpPr txBox="1"/>
          <p:nvPr/>
        </p:nvSpPr>
        <p:spPr>
          <a:xfrm>
            <a:off x="6949440" y="1554480"/>
            <a:ext cx="1737360" cy="1005840"/>
          </a:xfrm>
          <a:prstGeom prst="rect">
            <a:avLst/>
          </a:prstGeom>
          <a:noFill/>
          <a:ln/>
        </p:spPr>
        <p:txBody>
          <a:bodyPr wrap="square" lIns="0" tIns="0" rIns="0" bIns="0" rtlCol="0" anchor="ctr"/>
          <a:lstStyle/>
          <a:p>
            <a:pPr algn="ctr" indent="0" marL="0">
              <a:buNone/>
            </a:pPr>
            <a:r>
              <a:rPr lang="en-US" sz="2600" b="1" dirty="0">
                <a:solidFill>
                  <a:srgbClr val="FFFFFF"/>
                </a:solidFill>
                <a:latin typeface="Open Sans" pitchFamily="34" charset="0"/>
                <a:ea typeface="Open Sans" pitchFamily="34" charset="-122"/>
                <a:cs typeface="Open Sans" pitchFamily="34" charset="-120"/>
              </a:rPr>
              <a:t>5 min</a:t>
            </a:r>
            <a:endParaRPr lang="en-US" sz="2600" dirty="0"/>
          </a:p>
        </p:txBody>
      </p:sp>
      <p:sp>
        <p:nvSpPr>
          <p:cNvPr id="11" name="Shape 8"/>
          <p:cNvSpPr/>
          <p:nvPr/>
        </p:nvSpPr>
        <p:spPr>
          <a:xfrm>
            <a:off x="6949440" y="2697480"/>
            <a:ext cx="1737360" cy="1965960"/>
          </a:xfrm>
          <a:prstGeom prst="roundRect">
            <a:avLst>
              <a:gd name="adj" fmla="val 4211"/>
            </a:avLst>
          </a:prstGeom>
          <a:solidFill>
            <a:srgbClr val="FFFFFF"/>
          </a:solidFill>
          <a:ln w="12700">
            <a:solidFill>
              <a:srgbClr val="FFFFFF"/>
            </a:solidFill>
            <a:prstDash val="solid"/>
          </a:ln>
        </p:spPr>
      </p:sp>
      <p:pic>
        <p:nvPicPr>
          <p:cNvPr id="12" name="Image 1" descr="QR code for People Words Ladder">    </p:cNvPr>
          <p:cNvPicPr>
            <a:picLocks noChangeAspect="1"/>
          </p:cNvPicPr>
          <p:nvPr/>
        </p:nvPicPr>
        <p:blipFill>
          <a:blip r:embed="rId2"/>
          <a:stretch>
            <a:fillRect/>
          </a:stretch>
        </p:blipFill>
        <p:spPr>
          <a:xfrm>
            <a:off x="7059168" y="2770632"/>
            <a:ext cx="1517904" cy="1517904"/>
          </a:xfrm>
          <a:prstGeom prst="rect">
            <a:avLst/>
          </a:prstGeom>
        </p:spPr>
      </p:pic>
      <p:sp>
        <p:nvSpPr>
          <p:cNvPr id="13" name="Text 9"/>
          <p:cNvSpPr txBox="1"/>
          <p:nvPr/>
        </p:nvSpPr>
        <p:spPr>
          <a:xfrm>
            <a:off x="6949440" y="4315968"/>
            <a:ext cx="1737360" cy="256032"/>
          </a:xfrm>
          <a:prstGeom prst="rect">
            <a:avLst/>
          </a:prstGeom>
          <a:noFill/>
          <a:ln/>
        </p:spPr>
        <p:txBody>
          <a:bodyPr wrap="square" lIns="0" tIns="0" rIns="0" bIns="0" rtlCol="0" anchor="ctr"/>
          <a:lstStyle/>
          <a:p>
            <a:pPr algn="ctr" indent="0" marL="0">
              <a:buNone/>
            </a:pPr>
            <a:r>
              <a:rPr lang="en-US" sz="1100" b="1" dirty="0">
                <a:solidFill>
                  <a:srgbClr val="262A20"/>
                </a:solidFill>
                <a:latin typeface="Open Sans" pitchFamily="34" charset="0"/>
                <a:ea typeface="Open Sans" pitchFamily="34" charset="-122"/>
                <a:cs typeface="Open Sans" pitchFamily="34" charset="-120"/>
              </a:rPr>
              <a:t>Scan to play</a:t>
            </a:r>
            <a:endParaRPr lang="en-US" sz="1100" dirty="0"/>
          </a:p>
        </p:txBody>
      </p:sp>
      <p:sp>
        <p:nvSpPr>
          <p:cNvPr id="14" name="Text 10"/>
          <p:cNvSpPr txBox="1"/>
          <p:nvPr/>
        </p:nvSpPr>
        <p:spPr>
          <a:xfrm>
            <a:off x="457200" y="4828032"/>
            <a:ext cx="6858000" cy="182880"/>
          </a:xfrm>
          <a:prstGeom prst="rect">
            <a:avLst/>
          </a:prstGeom>
          <a:noFill/>
          <a:ln/>
        </p:spPr>
        <p:txBody>
          <a:bodyPr wrap="square" lIns="0" tIns="0" rIns="0" bIns="0" rtlCol="0" anchor="ctr"/>
          <a:lstStyle/>
          <a:p>
            <a:pPr indent="0" marL="0">
              <a:buNone/>
            </a:pPr>
            <a:r>
              <a:rPr lang="en-US" sz="800" dirty="0">
                <a:solidFill>
                  <a:srgbClr val="D9D5D2"/>
                </a:solidFill>
                <a:latin typeface="Open Sans" pitchFamily="34" charset="0"/>
                <a:ea typeface="Open Sans" pitchFamily="34" charset="-122"/>
                <a:cs typeface="Open Sans" pitchFamily="34" charset="-120"/>
              </a:rPr>
              <a:t>DBIS-11 Cybersecurity and Cloud Computing  |  Day 2  |  Session 11.4</a:t>
            </a:r>
            <a:endParaRPr lang="en-US" sz="800" dirty="0"/>
          </a:p>
        </p:txBody>
      </p:sp>
      <p:sp>
        <p:nvSpPr>
          <p:cNvPr id="15" name="Text 11"/>
          <p:cNvSpPr txBox="1"/>
          <p:nvPr/>
        </p:nvSpPr>
        <p:spPr>
          <a:xfrm>
            <a:off x="8138160" y="4828032"/>
            <a:ext cx="548640" cy="182880"/>
          </a:xfrm>
          <a:prstGeom prst="rect">
            <a:avLst/>
          </a:prstGeom>
          <a:noFill/>
          <a:ln/>
        </p:spPr>
        <p:txBody>
          <a:bodyPr wrap="square" lIns="0" tIns="0" rIns="0" bIns="0" rtlCol="0" anchor="ctr"/>
          <a:lstStyle/>
          <a:p>
            <a:pPr algn="r" indent="0" marL="0">
              <a:buNone/>
            </a:pPr>
            <a:r>
              <a:rPr lang="en-US" sz="800" dirty="0">
                <a:solidFill>
                  <a:srgbClr val="D9D5D2"/>
                </a:solidFill>
                <a:latin typeface="Open Sans" pitchFamily="34" charset="0"/>
                <a:ea typeface="Open Sans" pitchFamily="34" charset="-122"/>
                <a:cs typeface="Open Sans" pitchFamily="34" charset="-120"/>
              </a:rPr>
              <a:t>30</a:t>
            </a:r>
            <a:endParaRPr lang="en-US" sz="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66928"/>
          </a:xfrm>
          <a:prstGeom prst="rect">
            <a:avLst/>
          </a:prstGeom>
          <a:noFill/>
          <a:ln/>
        </p:spPr>
        <p:txBody>
          <a:bodyPr wrap="square" lIns="0" tIns="0" rIns="0" bIns="0" rtlCol="0" anchor="ctr"/>
          <a:lstStyle/>
          <a:p>
            <a:pPr indent="0" marL="0">
              <a:buNone/>
            </a:pPr>
            <a:r>
              <a:rPr lang="en-US" sz="2400" b="1" dirty="0">
                <a:solidFill>
                  <a:srgbClr val="262A20"/>
                </a:solidFill>
                <a:latin typeface="Open Sans" pitchFamily="34" charset="0"/>
                <a:ea typeface="Open Sans" pitchFamily="34" charset="-122"/>
                <a:cs typeface="Open Sans" pitchFamily="34" charset="-120"/>
              </a:rPr>
              <a:t>Test 2: how it works</a:t>
            </a:r>
            <a:endParaRPr lang="en-US" sz="2400" dirty="0"/>
          </a:p>
        </p:txBody>
      </p:sp>
      <p:sp>
        <p:nvSpPr>
          <p:cNvPr id="3" name="Shape 1"/>
          <p:cNvSpPr/>
          <p:nvPr/>
        </p:nvSpPr>
        <p:spPr>
          <a:xfrm>
            <a:off x="457200" y="896112"/>
            <a:ext cx="640080" cy="54864"/>
          </a:xfrm>
          <a:prstGeom prst="rect">
            <a:avLst/>
          </a:prstGeom>
          <a:solidFill>
            <a:srgbClr val="667C7E"/>
          </a:solidFill>
          <a:ln w="12700">
            <a:solidFill>
              <a:srgbClr val="667C7E"/>
            </a:solidFill>
            <a:prstDash val="solid"/>
          </a:ln>
        </p:spPr>
      </p:sp>
      <p:sp>
        <p:nvSpPr>
          <p:cNvPr id="4" name="Shape 2"/>
          <p:cNvSpPr/>
          <p:nvPr/>
        </p:nvSpPr>
        <p:spPr>
          <a:xfrm>
            <a:off x="1143000" y="896112"/>
            <a:ext cx="320040" cy="54864"/>
          </a:xfrm>
          <a:prstGeom prst="rect">
            <a:avLst/>
          </a:prstGeom>
          <a:solidFill>
            <a:srgbClr val="C7A887"/>
          </a:solidFill>
          <a:ln w="12700">
            <a:solidFill>
              <a:srgbClr val="C7A887"/>
            </a:solidFill>
            <a:prstDash val="solid"/>
          </a:ln>
        </p:spPr>
      </p:sp>
      <p:sp>
        <p:nvSpPr>
          <p:cNvPr id="5" name="Text 3"/>
          <p:cNvSpPr txBox="1"/>
          <p:nvPr/>
        </p:nvSpPr>
        <p:spPr>
          <a:xfrm>
            <a:off x="457200" y="4828032"/>
            <a:ext cx="6858000" cy="182880"/>
          </a:xfrm>
          <a:prstGeom prst="rect">
            <a:avLst/>
          </a:prstGeom>
          <a:noFill/>
          <a:ln/>
        </p:spPr>
        <p:txBody>
          <a:bodyPr wrap="square" lIns="0" tIns="0" rIns="0" bIns="0" rtlCol="0" anchor="ctr"/>
          <a:lstStyle/>
          <a:p>
            <a:pPr indent="0" marL="0">
              <a:buNone/>
            </a:pPr>
            <a:r>
              <a:rPr lang="en-US" sz="800" dirty="0">
                <a:solidFill>
                  <a:srgbClr val="5A5F55"/>
                </a:solidFill>
                <a:latin typeface="Open Sans" pitchFamily="34" charset="0"/>
                <a:ea typeface="Open Sans" pitchFamily="34" charset="-122"/>
                <a:cs typeface="Open Sans" pitchFamily="34" charset="-120"/>
              </a:rPr>
              <a:t>DBIS-11 Cybersecurity and Cloud Computing  |  Day 2  |  Session 11.4</a:t>
            </a:r>
            <a:endParaRPr lang="en-US" sz="800" dirty="0"/>
          </a:p>
        </p:txBody>
      </p:sp>
      <p:sp>
        <p:nvSpPr>
          <p:cNvPr id="6" name="Text 4"/>
          <p:cNvSpPr txBox="1"/>
          <p:nvPr/>
        </p:nvSpPr>
        <p:spPr>
          <a:xfrm>
            <a:off x="8138160" y="4828032"/>
            <a:ext cx="548640" cy="182880"/>
          </a:xfrm>
          <a:prstGeom prst="rect">
            <a:avLst/>
          </a:prstGeom>
          <a:noFill/>
          <a:ln/>
        </p:spPr>
        <p:txBody>
          <a:bodyPr wrap="square" lIns="0" tIns="0" rIns="0" bIns="0" rtlCol="0" anchor="ctr"/>
          <a:lstStyle/>
          <a:p>
            <a:pPr algn="r" indent="0" marL="0">
              <a:buNone/>
            </a:pPr>
            <a:r>
              <a:rPr lang="en-US" sz="800" dirty="0">
                <a:solidFill>
                  <a:srgbClr val="5A5F55"/>
                </a:solidFill>
                <a:latin typeface="Open Sans" pitchFamily="34" charset="0"/>
                <a:ea typeface="Open Sans" pitchFamily="34" charset="-122"/>
                <a:cs typeface="Open Sans" pitchFamily="34" charset="-120"/>
              </a:rPr>
              <a:t>31</a:t>
            </a:r>
            <a:endParaRPr lang="en-US" sz="800" dirty="0"/>
          </a:p>
        </p:txBody>
      </p:sp>
      <p:sp>
        <p:nvSpPr>
          <p:cNvPr id="8" name="Shape 5"/>
          <p:cNvSpPr/>
          <p:nvPr/>
        </p:nvSpPr>
        <p:spPr>
          <a:xfrm>
            <a:off x="457200" y="1234440"/>
            <a:ext cx="1920240" cy="2743200"/>
          </a:xfrm>
          <a:prstGeom prst="roundRect">
            <a:avLst>
              <a:gd name="adj" fmla="val 3810"/>
            </a:avLst>
          </a:prstGeom>
          <a:solidFill>
            <a:srgbClr val="EDDDCD"/>
          </a:solidFill>
          <a:ln w="12700">
            <a:solidFill>
              <a:srgbClr val="EDDDCD"/>
            </a:solidFill>
            <a:prstDash val="solid"/>
          </a:ln>
        </p:spPr>
      </p:sp>
      <p:sp>
        <p:nvSpPr>
          <p:cNvPr id="9" name="Shape 6"/>
          <p:cNvSpPr/>
          <p:nvPr/>
        </p:nvSpPr>
        <p:spPr>
          <a:xfrm>
            <a:off x="640080" y="1417320"/>
            <a:ext cx="548640" cy="548640"/>
          </a:xfrm>
          <a:prstGeom prst="ellipse">
            <a:avLst/>
          </a:prstGeom>
          <a:solidFill>
            <a:srgbClr val="C7A887"/>
          </a:solidFill>
          <a:ln w="12700">
            <a:solidFill>
              <a:srgbClr val="C7A887"/>
            </a:solidFill>
            <a:prstDash val="solid"/>
          </a:ln>
        </p:spPr>
      </p:sp>
      <p:pic>
        <p:nvPicPr>
          <p:cNvPr id="10" name="Image 0" descr="preencoded.png">    </p:cNvPr>
          <p:cNvPicPr>
            <a:picLocks noChangeAspect="1"/>
          </p:cNvPicPr>
          <p:nvPr/>
        </p:nvPicPr>
        <p:blipFill>
          <a:blip r:embed="rId1"/>
          <a:stretch>
            <a:fillRect/>
          </a:stretch>
        </p:blipFill>
        <p:spPr>
          <a:xfrm>
            <a:off x="777240" y="1554480"/>
            <a:ext cx="274320" cy="274320"/>
          </a:xfrm>
          <a:prstGeom prst="rect">
            <a:avLst/>
          </a:prstGeom>
        </p:spPr>
      </p:pic>
      <p:sp>
        <p:nvSpPr>
          <p:cNvPr id="11" name="Text 7"/>
          <p:cNvSpPr txBox="1"/>
          <p:nvPr/>
        </p:nvSpPr>
        <p:spPr>
          <a:xfrm>
            <a:off x="640080" y="2103120"/>
            <a:ext cx="1645920" cy="365760"/>
          </a:xfrm>
          <a:prstGeom prst="rect">
            <a:avLst/>
          </a:prstGeom>
          <a:noFill/>
          <a:ln/>
        </p:spPr>
        <p:txBody>
          <a:bodyPr wrap="square" lIns="0" tIns="0" rIns="0" bIns="0" rtlCol="0" anchor="ctr"/>
          <a:lstStyle/>
          <a:p>
            <a:pPr indent="0" marL="0">
              <a:buNone/>
            </a:pPr>
            <a:r>
              <a:rPr lang="en-US" sz="1700" b="1" dirty="0">
                <a:solidFill>
                  <a:srgbClr val="262A20"/>
                </a:solidFill>
                <a:latin typeface="Open Sans" pitchFamily="34" charset="0"/>
                <a:ea typeface="Open Sans" pitchFamily="34" charset="-122"/>
                <a:cs typeface="Open Sans" pitchFamily="34" charset="-120"/>
              </a:rPr>
              <a:t>1. Write</a:t>
            </a:r>
            <a:endParaRPr lang="en-US" sz="1700" dirty="0"/>
          </a:p>
        </p:txBody>
      </p:sp>
      <p:sp>
        <p:nvSpPr>
          <p:cNvPr id="12" name="Text 8"/>
          <p:cNvSpPr txBox="1"/>
          <p:nvPr/>
        </p:nvSpPr>
        <p:spPr>
          <a:xfrm>
            <a:off x="640080" y="2468880"/>
            <a:ext cx="1645920" cy="320040"/>
          </a:xfrm>
          <a:prstGeom prst="rect">
            <a:avLst/>
          </a:prstGeom>
          <a:noFill/>
          <a:ln/>
        </p:spPr>
        <p:txBody>
          <a:bodyPr wrap="square" lIns="0" tIns="0" rIns="0" bIns="0" rtlCol="0" anchor="ctr"/>
          <a:lstStyle/>
          <a:p>
            <a:pPr indent="0" marL="0">
              <a:buNone/>
            </a:pPr>
            <a:r>
              <a:rPr lang="en-US" sz="1300" b="1" dirty="0">
                <a:solidFill>
                  <a:srgbClr val="7D5F3F"/>
                </a:solidFill>
                <a:latin typeface="Open Sans" pitchFamily="34" charset="0"/>
                <a:ea typeface="Open Sans" pitchFamily="34" charset="-122"/>
                <a:cs typeface="Open Sans" pitchFamily="34" charset="-120"/>
              </a:rPr>
              <a:t>35 min</a:t>
            </a:r>
            <a:endParaRPr lang="en-US" sz="1300" dirty="0"/>
          </a:p>
        </p:txBody>
      </p:sp>
      <p:sp>
        <p:nvSpPr>
          <p:cNvPr id="13" name="Text 9"/>
          <p:cNvSpPr txBox="1"/>
          <p:nvPr/>
        </p:nvSpPr>
        <p:spPr>
          <a:xfrm>
            <a:off x="640080" y="2834640"/>
            <a:ext cx="1600200" cy="1097280"/>
          </a:xfrm>
          <a:prstGeom prst="rect">
            <a:avLst/>
          </a:prstGeom>
          <a:noFill/>
          <a:ln/>
        </p:spPr>
        <p:txBody>
          <a:bodyPr wrap="square" lIns="0" tIns="0" rIns="0" bIns="0" rtlCol="0" anchor="t"/>
          <a:lstStyle/>
          <a:p>
            <a:pPr indent="0" marL="0">
              <a:buNone/>
            </a:pPr>
            <a:r>
              <a:rPr lang="en-US" sz="1200" dirty="0">
                <a:solidFill>
                  <a:srgbClr val="262A20"/>
                </a:solidFill>
                <a:latin typeface="Open Sans" pitchFamily="34" charset="0"/>
                <a:ea typeface="Open Sans" pitchFamily="34" charset="-122"/>
                <a:cs typeface="Open Sans" pitchFamily="34" charset="-120"/>
              </a:rPr>
              <a:t>Answer both questions on paper. No books, no phones.</a:t>
            </a:r>
            <a:endParaRPr lang="en-US" sz="1200" dirty="0"/>
          </a:p>
        </p:txBody>
      </p:sp>
      <p:sp>
        <p:nvSpPr>
          <p:cNvPr id="14" name="Shape 10"/>
          <p:cNvSpPr/>
          <p:nvPr/>
        </p:nvSpPr>
        <p:spPr>
          <a:xfrm>
            <a:off x="2560320" y="1234440"/>
            <a:ext cx="1920240" cy="2743200"/>
          </a:xfrm>
          <a:prstGeom prst="roundRect">
            <a:avLst>
              <a:gd name="adj" fmla="val 3810"/>
            </a:avLst>
          </a:prstGeom>
          <a:solidFill>
            <a:srgbClr val="E1E6E6"/>
          </a:solidFill>
          <a:ln w="12700">
            <a:solidFill>
              <a:srgbClr val="E1E6E6"/>
            </a:solidFill>
            <a:prstDash val="solid"/>
          </a:ln>
        </p:spPr>
      </p:sp>
      <p:sp>
        <p:nvSpPr>
          <p:cNvPr id="15" name="Shape 11"/>
          <p:cNvSpPr/>
          <p:nvPr/>
        </p:nvSpPr>
        <p:spPr>
          <a:xfrm>
            <a:off x="2743200" y="1417320"/>
            <a:ext cx="548640" cy="548640"/>
          </a:xfrm>
          <a:prstGeom prst="ellipse">
            <a:avLst/>
          </a:prstGeom>
          <a:solidFill>
            <a:srgbClr val="667C7E"/>
          </a:solidFill>
          <a:ln w="12700">
            <a:solidFill>
              <a:srgbClr val="667C7E"/>
            </a:solidFill>
            <a:prstDash val="solid"/>
          </a:ln>
        </p:spPr>
      </p:sp>
      <p:pic>
        <p:nvPicPr>
          <p:cNvPr id="16" name="Image 1" descr="preencoded.png">    </p:cNvPr>
          <p:cNvPicPr>
            <a:picLocks noChangeAspect="1"/>
          </p:cNvPicPr>
          <p:nvPr/>
        </p:nvPicPr>
        <p:blipFill>
          <a:blip r:embed="rId2"/>
          <a:stretch>
            <a:fillRect/>
          </a:stretch>
        </p:blipFill>
        <p:spPr>
          <a:xfrm>
            <a:off x="2880360" y="1554480"/>
            <a:ext cx="274320" cy="274320"/>
          </a:xfrm>
          <a:prstGeom prst="rect">
            <a:avLst/>
          </a:prstGeom>
        </p:spPr>
      </p:pic>
      <p:sp>
        <p:nvSpPr>
          <p:cNvPr id="17" name="Text 12"/>
          <p:cNvSpPr txBox="1"/>
          <p:nvPr/>
        </p:nvSpPr>
        <p:spPr>
          <a:xfrm>
            <a:off x="2743200" y="2103120"/>
            <a:ext cx="1645920" cy="365760"/>
          </a:xfrm>
          <a:prstGeom prst="rect">
            <a:avLst/>
          </a:prstGeom>
          <a:noFill/>
          <a:ln/>
        </p:spPr>
        <p:txBody>
          <a:bodyPr wrap="square" lIns="0" tIns="0" rIns="0" bIns="0" rtlCol="0" anchor="ctr"/>
          <a:lstStyle/>
          <a:p>
            <a:pPr indent="0" marL="0">
              <a:buNone/>
            </a:pPr>
            <a:r>
              <a:rPr lang="en-US" sz="1700" b="1" dirty="0">
                <a:solidFill>
                  <a:srgbClr val="262A20"/>
                </a:solidFill>
                <a:latin typeface="Open Sans" pitchFamily="34" charset="0"/>
                <a:ea typeface="Open Sans" pitchFamily="34" charset="-122"/>
                <a:cs typeface="Open Sans" pitchFamily="34" charset="-120"/>
              </a:rPr>
              <a:t>2. Photo</a:t>
            </a:r>
            <a:endParaRPr lang="en-US" sz="1700" dirty="0"/>
          </a:p>
        </p:txBody>
      </p:sp>
      <p:sp>
        <p:nvSpPr>
          <p:cNvPr id="18" name="Text 13"/>
          <p:cNvSpPr txBox="1"/>
          <p:nvPr/>
        </p:nvSpPr>
        <p:spPr>
          <a:xfrm>
            <a:off x="2743200" y="2468880"/>
            <a:ext cx="1645920" cy="320040"/>
          </a:xfrm>
          <a:prstGeom prst="rect">
            <a:avLst/>
          </a:prstGeom>
          <a:noFill/>
          <a:ln/>
        </p:spPr>
        <p:txBody>
          <a:bodyPr wrap="square" lIns="0" tIns="0" rIns="0" bIns="0" rtlCol="0" anchor="ctr"/>
          <a:lstStyle/>
          <a:p>
            <a:pPr indent="0" marL="0">
              <a:buNone/>
            </a:pPr>
            <a:r>
              <a:rPr lang="en-US" sz="1300" b="1" dirty="0">
                <a:solidFill>
                  <a:srgbClr val="566A6C"/>
                </a:solidFill>
                <a:latin typeface="Open Sans" pitchFamily="34" charset="0"/>
                <a:ea typeface="Open Sans" pitchFamily="34" charset="-122"/>
                <a:cs typeface="Open Sans" pitchFamily="34" charset="-120"/>
              </a:rPr>
              <a:t>5 min</a:t>
            </a:r>
            <a:endParaRPr lang="en-US" sz="1300" dirty="0"/>
          </a:p>
        </p:txBody>
      </p:sp>
      <p:sp>
        <p:nvSpPr>
          <p:cNvPr id="19" name="Text 14"/>
          <p:cNvSpPr txBox="1"/>
          <p:nvPr/>
        </p:nvSpPr>
        <p:spPr>
          <a:xfrm>
            <a:off x="2743200" y="2834640"/>
            <a:ext cx="1600200" cy="1097280"/>
          </a:xfrm>
          <a:prstGeom prst="rect">
            <a:avLst/>
          </a:prstGeom>
          <a:noFill/>
          <a:ln/>
        </p:spPr>
        <p:txBody>
          <a:bodyPr wrap="square" lIns="0" tIns="0" rIns="0" bIns="0" rtlCol="0" anchor="t"/>
          <a:lstStyle/>
          <a:p>
            <a:pPr indent="0" marL="0">
              <a:buNone/>
            </a:pPr>
            <a:r>
              <a:rPr lang="en-US" sz="1200" dirty="0">
                <a:solidFill>
                  <a:srgbClr val="262A20"/>
                </a:solidFill>
                <a:latin typeface="Open Sans" pitchFamily="34" charset="0"/>
                <a:ea typeface="Open Sans" pitchFamily="34" charset="-122"/>
                <a:cs typeface="Open Sans" pitchFamily="34" charset="-120"/>
              </a:rPr>
              <a:t>Take clear photos of your pages. Make one PDF.</a:t>
            </a:r>
            <a:endParaRPr lang="en-US" sz="1200" dirty="0"/>
          </a:p>
        </p:txBody>
      </p:sp>
      <p:sp>
        <p:nvSpPr>
          <p:cNvPr id="20" name="Shape 15"/>
          <p:cNvSpPr/>
          <p:nvPr/>
        </p:nvSpPr>
        <p:spPr>
          <a:xfrm>
            <a:off x="4663440" y="1234440"/>
            <a:ext cx="1920240" cy="2743200"/>
          </a:xfrm>
          <a:prstGeom prst="roundRect">
            <a:avLst>
              <a:gd name="adj" fmla="val 3810"/>
            </a:avLst>
          </a:prstGeom>
          <a:solidFill>
            <a:srgbClr val="E1E6E6"/>
          </a:solidFill>
          <a:ln w="12700">
            <a:solidFill>
              <a:srgbClr val="E1E6E6"/>
            </a:solidFill>
            <a:prstDash val="solid"/>
          </a:ln>
        </p:spPr>
      </p:sp>
      <p:sp>
        <p:nvSpPr>
          <p:cNvPr id="21" name="Shape 16"/>
          <p:cNvSpPr/>
          <p:nvPr/>
        </p:nvSpPr>
        <p:spPr>
          <a:xfrm>
            <a:off x="4846320" y="1417320"/>
            <a:ext cx="548640" cy="548640"/>
          </a:xfrm>
          <a:prstGeom prst="ellipse">
            <a:avLst/>
          </a:prstGeom>
          <a:solidFill>
            <a:srgbClr val="667C7E"/>
          </a:solidFill>
          <a:ln w="12700">
            <a:solidFill>
              <a:srgbClr val="667C7E"/>
            </a:solidFill>
            <a:prstDash val="solid"/>
          </a:ln>
        </p:spPr>
      </p:sp>
      <p:pic>
        <p:nvPicPr>
          <p:cNvPr id="22" name="Image 2" descr="preencoded.png">    </p:cNvPr>
          <p:cNvPicPr>
            <a:picLocks noChangeAspect="1"/>
          </p:cNvPicPr>
          <p:nvPr/>
        </p:nvPicPr>
        <p:blipFill>
          <a:blip r:embed="rId3"/>
          <a:stretch>
            <a:fillRect/>
          </a:stretch>
        </p:blipFill>
        <p:spPr>
          <a:xfrm>
            <a:off x="4983480" y="1554480"/>
            <a:ext cx="274320" cy="274320"/>
          </a:xfrm>
          <a:prstGeom prst="rect">
            <a:avLst/>
          </a:prstGeom>
        </p:spPr>
      </p:pic>
      <p:sp>
        <p:nvSpPr>
          <p:cNvPr id="23" name="Text 17"/>
          <p:cNvSpPr txBox="1"/>
          <p:nvPr/>
        </p:nvSpPr>
        <p:spPr>
          <a:xfrm>
            <a:off x="4846320" y="2103120"/>
            <a:ext cx="1645920" cy="365760"/>
          </a:xfrm>
          <a:prstGeom prst="rect">
            <a:avLst/>
          </a:prstGeom>
          <a:noFill/>
          <a:ln/>
        </p:spPr>
        <p:txBody>
          <a:bodyPr wrap="square" lIns="0" tIns="0" rIns="0" bIns="0" rtlCol="0" anchor="ctr"/>
          <a:lstStyle/>
          <a:p>
            <a:pPr indent="0" marL="0">
              <a:buNone/>
            </a:pPr>
            <a:r>
              <a:rPr lang="en-US" sz="1700" b="1" dirty="0">
                <a:solidFill>
                  <a:srgbClr val="262A20"/>
                </a:solidFill>
                <a:latin typeface="Open Sans" pitchFamily="34" charset="0"/>
                <a:ea typeface="Open Sans" pitchFamily="34" charset="-122"/>
                <a:cs typeface="Open Sans" pitchFamily="34" charset="-120"/>
              </a:rPr>
              <a:t>3. Upload</a:t>
            </a:r>
            <a:endParaRPr lang="en-US" sz="1700" dirty="0"/>
          </a:p>
        </p:txBody>
      </p:sp>
      <p:sp>
        <p:nvSpPr>
          <p:cNvPr id="24" name="Text 18"/>
          <p:cNvSpPr txBox="1"/>
          <p:nvPr/>
        </p:nvSpPr>
        <p:spPr>
          <a:xfrm>
            <a:off x="4846320" y="2468880"/>
            <a:ext cx="1645920" cy="320040"/>
          </a:xfrm>
          <a:prstGeom prst="rect">
            <a:avLst/>
          </a:prstGeom>
          <a:noFill/>
          <a:ln/>
        </p:spPr>
        <p:txBody>
          <a:bodyPr wrap="square" lIns="0" tIns="0" rIns="0" bIns="0" rtlCol="0" anchor="ctr"/>
          <a:lstStyle/>
          <a:p>
            <a:pPr indent="0" marL="0">
              <a:buNone/>
            </a:pPr>
            <a:r>
              <a:rPr lang="en-US" sz="1300" b="1" dirty="0">
                <a:solidFill>
                  <a:srgbClr val="566A6C"/>
                </a:solidFill>
                <a:latin typeface="Open Sans" pitchFamily="34" charset="0"/>
                <a:ea typeface="Open Sans" pitchFamily="34" charset="-122"/>
                <a:cs typeface="Open Sans" pitchFamily="34" charset="-120"/>
              </a:rPr>
              <a:t>10 min</a:t>
            </a:r>
            <a:endParaRPr lang="en-US" sz="1300" dirty="0"/>
          </a:p>
        </p:txBody>
      </p:sp>
      <p:sp>
        <p:nvSpPr>
          <p:cNvPr id="25" name="Text 19"/>
          <p:cNvSpPr txBox="1"/>
          <p:nvPr/>
        </p:nvSpPr>
        <p:spPr>
          <a:xfrm>
            <a:off x="4846320" y="2834640"/>
            <a:ext cx="1600200" cy="1097280"/>
          </a:xfrm>
          <a:prstGeom prst="rect">
            <a:avLst/>
          </a:prstGeom>
          <a:noFill/>
          <a:ln/>
        </p:spPr>
        <p:txBody>
          <a:bodyPr wrap="square" lIns="0" tIns="0" rIns="0" bIns="0" rtlCol="0" anchor="t"/>
          <a:lstStyle/>
          <a:p>
            <a:pPr indent="0" marL="0">
              <a:buNone/>
            </a:pPr>
            <a:r>
              <a:rPr lang="en-US" sz="1200" dirty="0">
                <a:solidFill>
                  <a:srgbClr val="262A20"/>
                </a:solidFill>
                <a:latin typeface="Open Sans" pitchFamily="34" charset="0"/>
                <a:ea typeface="Open Sans" pitchFamily="34" charset="-122"/>
                <a:cs typeface="Open Sans" pitchFamily="34" charset="-120"/>
              </a:rPr>
              <a:t>Upload the PDF to the LMS. Use the file name below.</a:t>
            </a:r>
            <a:endParaRPr lang="en-US" sz="1200" dirty="0"/>
          </a:p>
        </p:txBody>
      </p:sp>
      <p:sp>
        <p:nvSpPr>
          <p:cNvPr id="26" name="Shape 20"/>
          <p:cNvSpPr/>
          <p:nvPr/>
        </p:nvSpPr>
        <p:spPr>
          <a:xfrm>
            <a:off x="6766560" y="1234440"/>
            <a:ext cx="1920240" cy="2743200"/>
          </a:xfrm>
          <a:prstGeom prst="roundRect">
            <a:avLst>
              <a:gd name="adj" fmla="val 3810"/>
            </a:avLst>
          </a:prstGeom>
          <a:solidFill>
            <a:srgbClr val="E1E6E6"/>
          </a:solidFill>
          <a:ln w="12700">
            <a:solidFill>
              <a:srgbClr val="E1E6E6"/>
            </a:solidFill>
            <a:prstDash val="solid"/>
          </a:ln>
        </p:spPr>
      </p:sp>
      <p:sp>
        <p:nvSpPr>
          <p:cNvPr id="27" name="Shape 21"/>
          <p:cNvSpPr/>
          <p:nvPr/>
        </p:nvSpPr>
        <p:spPr>
          <a:xfrm>
            <a:off x="6949440" y="1417320"/>
            <a:ext cx="548640" cy="548640"/>
          </a:xfrm>
          <a:prstGeom prst="ellipse">
            <a:avLst/>
          </a:prstGeom>
          <a:solidFill>
            <a:srgbClr val="667C7E"/>
          </a:solidFill>
          <a:ln w="12700">
            <a:solidFill>
              <a:srgbClr val="667C7E"/>
            </a:solidFill>
            <a:prstDash val="solid"/>
          </a:ln>
        </p:spPr>
      </p:sp>
      <p:pic>
        <p:nvPicPr>
          <p:cNvPr id="28" name="Image 3" descr="preencoded.png">    </p:cNvPr>
          <p:cNvPicPr>
            <a:picLocks noChangeAspect="1"/>
          </p:cNvPicPr>
          <p:nvPr/>
        </p:nvPicPr>
        <p:blipFill>
          <a:blip r:embed="rId4"/>
          <a:stretch>
            <a:fillRect/>
          </a:stretch>
        </p:blipFill>
        <p:spPr>
          <a:xfrm>
            <a:off x="7086600" y="1554480"/>
            <a:ext cx="274320" cy="274320"/>
          </a:xfrm>
          <a:prstGeom prst="rect">
            <a:avLst/>
          </a:prstGeom>
        </p:spPr>
      </p:pic>
      <p:sp>
        <p:nvSpPr>
          <p:cNvPr id="29" name="Text 22"/>
          <p:cNvSpPr txBox="1"/>
          <p:nvPr/>
        </p:nvSpPr>
        <p:spPr>
          <a:xfrm>
            <a:off x="6949440" y="2103120"/>
            <a:ext cx="1645920" cy="365760"/>
          </a:xfrm>
          <a:prstGeom prst="rect">
            <a:avLst/>
          </a:prstGeom>
          <a:noFill/>
          <a:ln/>
        </p:spPr>
        <p:txBody>
          <a:bodyPr wrap="square" lIns="0" tIns="0" rIns="0" bIns="0" rtlCol="0" anchor="ctr"/>
          <a:lstStyle/>
          <a:p>
            <a:pPr indent="0" marL="0">
              <a:buNone/>
            </a:pPr>
            <a:r>
              <a:rPr lang="en-US" sz="1700" b="1" dirty="0">
                <a:solidFill>
                  <a:srgbClr val="262A20"/>
                </a:solidFill>
                <a:latin typeface="Open Sans" pitchFamily="34" charset="0"/>
                <a:ea typeface="Open Sans" pitchFamily="34" charset="-122"/>
                <a:cs typeface="Open Sans" pitchFamily="34" charset="-120"/>
              </a:rPr>
              <a:t>4. Hand in</a:t>
            </a:r>
            <a:endParaRPr lang="en-US" sz="1700" dirty="0"/>
          </a:p>
        </p:txBody>
      </p:sp>
      <p:sp>
        <p:nvSpPr>
          <p:cNvPr id="30" name="Text 23"/>
          <p:cNvSpPr txBox="1"/>
          <p:nvPr/>
        </p:nvSpPr>
        <p:spPr>
          <a:xfrm>
            <a:off x="6949440" y="2468880"/>
            <a:ext cx="1645920" cy="320040"/>
          </a:xfrm>
          <a:prstGeom prst="rect">
            <a:avLst/>
          </a:prstGeom>
          <a:noFill/>
          <a:ln/>
        </p:spPr>
        <p:txBody>
          <a:bodyPr wrap="square" lIns="0" tIns="0" rIns="0" bIns="0" rtlCol="0" anchor="ctr"/>
          <a:lstStyle/>
          <a:p>
            <a:pPr indent="0" marL="0">
              <a:buNone/>
            </a:pPr>
            <a:r>
              <a:rPr lang="en-US" sz="1300" b="1" dirty="0">
                <a:solidFill>
                  <a:srgbClr val="566A6C"/>
                </a:solidFill>
                <a:latin typeface="Open Sans" pitchFamily="34" charset="0"/>
                <a:ea typeface="Open Sans" pitchFamily="34" charset="-122"/>
                <a:cs typeface="Open Sans" pitchFamily="34" charset="-120"/>
              </a:rPr>
              <a:t>5 min</a:t>
            </a:r>
            <a:endParaRPr lang="en-US" sz="1300" dirty="0"/>
          </a:p>
        </p:txBody>
      </p:sp>
      <p:sp>
        <p:nvSpPr>
          <p:cNvPr id="31" name="Text 24"/>
          <p:cNvSpPr txBox="1"/>
          <p:nvPr/>
        </p:nvSpPr>
        <p:spPr>
          <a:xfrm>
            <a:off x="6949440" y="2834640"/>
            <a:ext cx="1600200" cy="1097280"/>
          </a:xfrm>
          <a:prstGeom prst="rect">
            <a:avLst/>
          </a:prstGeom>
          <a:noFill/>
          <a:ln/>
        </p:spPr>
        <p:txBody>
          <a:bodyPr wrap="square" lIns="0" tIns="0" rIns="0" bIns="0" rtlCol="0" anchor="t"/>
          <a:lstStyle/>
          <a:p>
            <a:pPr indent="0" marL="0">
              <a:buNone/>
            </a:pPr>
            <a:r>
              <a:rPr lang="en-US" sz="1200" dirty="0">
                <a:solidFill>
                  <a:srgbClr val="262A20"/>
                </a:solidFill>
                <a:latin typeface="Open Sans" pitchFamily="34" charset="0"/>
                <a:ea typeface="Open Sans" pitchFamily="34" charset="-122"/>
                <a:cs typeface="Open Sans" pitchFamily="34" charset="-120"/>
              </a:rPr>
              <a:t>Give your paper to the lecturer before you leave.</a:t>
            </a:r>
            <a:endParaRPr lang="en-US" sz="1200" dirty="0"/>
          </a:p>
        </p:txBody>
      </p:sp>
      <p:sp>
        <p:nvSpPr>
          <p:cNvPr id="32" name="Text 25"/>
          <p:cNvSpPr txBox="1"/>
          <p:nvPr/>
        </p:nvSpPr>
        <p:spPr>
          <a:xfrm>
            <a:off x="457200" y="4187952"/>
            <a:ext cx="8229600" cy="274320"/>
          </a:xfrm>
          <a:prstGeom prst="rect">
            <a:avLst/>
          </a:prstGeom>
          <a:noFill/>
          <a:ln/>
        </p:spPr>
        <p:txBody>
          <a:bodyPr wrap="square" lIns="0" tIns="0" rIns="0" bIns="0" rtlCol="0" anchor="ctr"/>
          <a:lstStyle/>
          <a:p>
            <a:pPr algn="ctr" indent="0" marL="0">
              <a:buNone/>
            </a:pPr>
            <a:r>
              <a:rPr lang="en-US" sz="1400" b="1" dirty="0">
                <a:solidFill>
                  <a:srgbClr val="566A6C"/>
                </a:solidFill>
                <a:latin typeface="Open Sans" pitchFamily="34" charset="0"/>
                <a:ea typeface="Open Sans" pitchFamily="34" charset="-122"/>
                <a:cs typeface="Open Sans" pitchFamily="34" charset="-120"/>
              </a:rPr>
              <a:t>File name: DBIS11_StudentID_Day2.pdf</a:t>
            </a:r>
            <a:endParaRPr lang="en-US" sz="1400" dirty="0"/>
          </a:p>
        </p:txBody>
      </p:sp>
      <p:sp>
        <p:nvSpPr>
          <p:cNvPr id="33" name="Text 26"/>
          <p:cNvSpPr txBox="1"/>
          <p:nvPr/>
        </p:nvSpPr>
        <p:spPr>
          <a:xfrm>
            <a:off x="457200" y="4480560"/>
            <a:ext cx="8229600" cy="274320"/>
          </a:xfrm>
          <a:prstGeom prst="rect">
            <a:avLst/>
          </a:prstGeom>
          <a:noFill/>
          <a:ln/>
        </p:spPr>
        <p:txBody>
          <a:bodyPr wrap="square" lIns="0" tIns="0" rIns="0" bIns="0" rtlCol="0" anchor="ctr"/>
          <a:lstStyle/>
          <a:p>
            <a:pPr algn="ctr" indent="0" marL="0">
              <a:buNone/>
            </a:pPr>
            <a:r>
              <a:rPr lang="en-US" sz="1300" b="1" dirty="0">
                <a:solidFill>
                  <a:srgbClr val="262A20"/>
                </a:solidFill>
                <a:latin typeface="Open Sans" pitchFamily="34" charset="0"/>
                <a:ea typeface="Open Sans" pitchFamily="34" charset="-122"/>
                <a:cs typeface="Open Sans" pitchFamily="34" charset="-120"/>
              </a:rPr>
              <a:t>We mark your ideas, not your grammar. A clear decision with a good reason gets full marks.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Proving who you are</dc:title>
  <dc:subject>PptxGenJS Presentation</dc:subject>
  <dc:creator>NIBM SOCE</dc:creator>
  <cp:lastModifiedBy>NIBM SOCE</cp:lastModifiedBy>
  <cp:revision>1</cp:revision>
  <dcterms:created xsi:type="dcterms:W3CDTF">2026-09-30T14:38:35Z</dcterms:created>
  <dcterms:modified xsi:type="dcterms:W3CDTF">2026-09-30T14:38:35Z</dcterms:modified>
</cp:coreProperties>
</file>