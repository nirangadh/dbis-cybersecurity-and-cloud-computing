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Welcome the class. Keep the first 10 minutes light: this module is about business decisions, not coding. Nobody needs to be technical to do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shape of the week. Stress the daily test: it only asks about that day's lessons, and the best 5 of 6 tests count. Nothing is a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clock. The 3:00 test is written on paper, closed book. Then students take a photo, make a PDF and upload it before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map for the whole week. Every day we come back to it. Today we work on Govern (why security matters) and Identify (what we have and what could go wrong). The names come from the NIST Cybersecurity Framework 2.0; students only need the six simple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company we follow all week. It is not real, but it is like many Sri Lankan SMEs. Ask: does this sound like a company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today's big question. We answer the first half this morning and the second half after lunch. Leave it on screen for a moment. Ask two students to guess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only. We will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 Start idea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people think only banks are attacked. Small businesses are often easier targets. Keep it simple: easy, valuable,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Attackers use tools that try thousands of businesses at the same time. They look for any door that is open. TeaLeaf does not need to be famous to be attacked.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security to money. Managers care about these four costs. Ask: which one would worry the MD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for a quiet class: pairs are safer than asking the whole room. Collect two stories and link each to money, time, customers or legal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Idea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asset simply. Most students think of things they can touch. Move them to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systems and reputation. Reputation surprises students: explain that customers buy from companies they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laptop is replaced in a day. The customer list took ten years to build. This is the key idea of this section. Numbers are only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 Idea 3, the most important idea of the day. We will extend it on Day 2, so teach the three parts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 here has nothing to do with the American agency. It is three goals. Use the plain-words version on the right; students can use either in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is about who can SEE. Ask: who at TeaLeaf should see the salary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Integrity is about CORRECT. The information is still there and still secret, but now it is wrong. Students often mix this with confidentiality: ask 'was it seen, or was it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is about USE. Nothing is stolen or changed, but we cannot work. Ask: what does one day of the shop being down cost TeaLeaf?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this simple test to use in the game and in the 3:00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9:55. Students play on phones. Walk around. Afterwards ask which card was hardest, and why. Common mix-up: ransomware (mainly A) versus data theft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 There is no single right order, which is the point. Then 5 minutes of discussion: why is the laptop last for most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 to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Idea 4. These words grow later: on Day 3 we add a fourth word, control, and on Day 6 we do risk analysis. Teach them carefully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word aloud and ask the class to repeat it. ESL learners often confuse threat and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house example first because everyone understands it. Draw the arrow on the board: threat uses weakness, harm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move the example into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this sentence frame. It works for every risk this week and helps ESL learners write the 3:00 test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Ask the class to fix the wrong sentence before you reveal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 After the game, show one risk sentence from the game and ask students to find the threat and the weakness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 This replaces a paper exercise. The game refuses pieces that do not fit and explains why, e.g. a flood cannot use a shared password. That is the key understanding: the threat must be able to use the weakness. The 'Fix the weakness' button previews Day 3, where the fix gets its name: a control. Ask two students to read one risk aloud each. This is direct practice for Test 1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11:55. Recap on the six jobs map, then the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any new words into their notebook. The same list is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11:58. Only open it now so students see how it works. The ladder is built on the Words to know list, which ESL learners find hardest. Relaxed mode has no clock; Challenge mode has 20 seconds. The Hear it buttons use the phone's own voice and work offline on most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A20"/>
        </a:solidFill>
      </p:bgPr>
    </p:bg>
    <p:spTree>
      <p:nvGrpSpPr>
        <p:cNvPr id="1" name=""/>
        <p:cNvGrpSpPr/>
        <p:nvPr/>
      </p:nvGrpSpPr>
      <p:grpSpPr>
        <a:xfrm>
          <a:off x="0" y="0"/>
          <a:ext cx="0" cy="0"/>
          <a:chOff x="0" y="0"/>
          <a:chExt cx="0" cy="0"/>
        </a:xfrm>
      </p:grpSpPr>
      <p:sp>
        <p:nvSpPr>
          <p:cNvPr id="2" name="Shape 0"/>
          <p:cNvSpPr/>
          <p:nvPr/>
        </p:nvSpPr>
        <p:spPr>
          <a:xfrm>
            <a:off x="457200" y="502920"/>
            <a:ext cx="731520" cy="731520"/>
          </a:xfrm>
          <a:prstGeom prst="ellipse">
            <a:avLst/>
          </a:prstGeom>
          <a:solidFill>
            <a:srgbClr val="667C7E"/>
          </a:solidFill>
          <a:ln w="12700">
            <a:solidFill>
              <a:srgbClr val="667C7E"/>
            </a:solidFill>
            <a:prstDash val="solid"/>
          </a:ln>
        </p:spPr>
      </p:sp>
      <p:pic>
        <p:nvPicPr>
          <p:cNvPr id="3" name="Image 0" descr="preencoded.png">    </p:cNvPr>
          <p:cNvPicPr>
            <a:picLocks noChangeAspect="1"/>
          </p:cNvPicPr>
          <p:nvPr/>
        </p:nvPicPr>
        <p:blipFill>
          <a:blip r:embed="rId1"/>
          <a:stretch>
            <a:fillRect/>
          </a:stretch>
        </p:blipFill>
        <p:spPr>
          <a:xfrm>
            <a:off x="640080" y="685800"/>
            <a:ext cx="365760" cy="365760"/>
          </a:xfrm>
          <a:prstGeom prst="rect">
            <a:avLst/>
          </a:prstGeom>
        </p:spPr>
      </p:pic>
      <p:sp>
        <p:nvSpPr>
          <p:cNvPr id="4" name="Text 1"/>
          <p:cNvSpPr txBox="1"/>
          <p:nvPr/>
        </p:nvSpPr>
        <p:spPr>
          <a:xfrm>
            <a:off x="457200" y="1508760"/>
            <a:ext cx="8229600" cy="320040"/>
          </a:xfrm>
          <a:prstGeom prst="rect">
            <a:avLst/>
          </a:prstGeom>
          <a:noFill/>
          <a:ln/>
        </p:spPr>
        <p:txBody>
          <a:bodyPr wrap="square" lIns="0" tIns="0" rIns="0" bIns="0" rtlCol="0" anchor="ctr"/>
          <a:lstStyle/>
          <a:p>
            <a:pPr indent="0" marL="0">
              <a:buNone/>
            </a:pPr>
            <a:r>
              <a:rPr lang="en-US" sz="1400" b="1" dirty="0">
                <a:solidFill>
                  <a:srgbClr val="C7A887"/>
                </a:solidFill>
                <a:latin typeface="Open Sans" pitchFamily="34" charset="0"/>
                <a:ea typeface="Open Sans" pitchFamily="34" charset="-122"/>
                <a:cs typeface="Open Sans" pitchFamily="34" charset="-120"/>
              </a:rPr>
              <a:t>DBIS-11  |  Day 1  |  Session 11.1  |  9:00 to 12:00</a:t>
            </a:r>
            <a:endParaRPr lang="en-US" sz="1400" dirty="0"/>
          </a:p>
        </p:txBody>
      </p:sp>
      <p:sp>
        <p:nvSpPr>
          <p:cNvPr id="5" name="Text 2"/>
          <p:cNvSpPr txBox="1"/>
          <p:nvPr/>
        </p:nvSpPr>
        <p:spPr>
          <a:xfrm>
            <a:off x="457200" y="1874520"/>
            <a:ext cx="8229600" cy="118872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Why security matters to a business</a:t>
            </a:r>
            <a:endParaRPr lang="en-US" sz="3600" dirty="0"/>
          </a:p>
        </p:txBody>
      </p:sp>
      <p:sp>
        <p:nvSpPr>
          <p:cNvPr id="6" name="Shape 3"/>
          <p:cNvSpPr/>
          <p:nvPr/>
        </p:nvSpPr>
        <p:spPr>
          <a:xfrm>
            <a:off x="457200" y="3154680"/>
            <a:ext cx="822960" cy="64008"/>
          </a:xfrm>
          <a:prstGeom prst="rect">
            <a:avLst/>
          </a:prstGeom>
          <a:solidFill>
            <a:srgbClr val="667C7E"/>
          </a:solidFill>
          <a:ln w="12700">
            <a:solidFill>
              <a:srgbClr val="667C7E"/>
            </a:solidFill>
            <a:prstDash val="solid"/>
          </a:ln>
        </p:spPr>
      </p:sp>
      <p:sp>
        <p:nvSpPr>
          <p:cNvPr id="7" name="Shape 4"/>
          <p:cNvSpPr/>
          <p:nvPr/>
        </p:nvSpPr>
        <p:spPr>
          <a:xfrm>
            <a:off x="1325880" y="3154680"/>
            <a:ext cx="411480" cy="64008"/>
          </a:xfrm>
          <a:prstGeom prst="rect">
            <a:avLst/>
          </a:prstGeom>
          <a:solidFill>
            <a:srgbClr val="C7A887"/>
          </a:solidFill>
          <a:ln w="12700">
            <a:solidFill>
              <a:srgbClr val="C7A887"/>
            </a:solidFill>
            <a:prstDash val="solid"/>
          </a:ln>
        </p:spPr>
      </p:sp>
      <p:sp>
        <p:nvSpPr>
          <p:cNvPr id="8" name="Text 5"/>
          <p:cNvSpPr txBox="1"/>
          <p:nvPr/>
        </p:nvSpPr>
        <p:spPr>
          <a:xfrm>
            <a:off x="457200" y="3383280"/>
            <a:ext cx="8229600" cy="822960"/>
          </a:xfrm>
          <a:prstGeom prst="rect">
            <a:avLst/>
          </a:prstGeom>
          <a:noFill/>
          <a:ln/>
        </p:spPr>
        <p:txBody>
          <a:bodyPr wrap="square" lIns="0" tIns="0" rIns="0" bIns="0" rtlCol="0" anchor="t"/>
          <a:lstStyle/>
          <a:p>
            <a:pPr indent="0" marL="0">
              <a:buNone/>
            </a:pPr>
            <a:r>
              <a:rPr lang="en-US" sz="1500" dirty="0">
                <a:solidFill>
                  <a:srgbClr val="D9D5D2"/>
                </a:solidFill>
                <a:latin typeface="Open Sans" pitchFamily="34" charset="0"/>
                <a:ea typeface="Open Sans" pitchFamily="34" charset="-122"/>
                <a:cs typeface="Open Sans" pitchFamily="34" charset="-120"/>
              </a:rPr>
              <a:t>Cybersecurity and Cloud Computing</a:t>
            </a:r>
            <a:endParaRPr lang="en-US" sz="1500" dirty="0"/>
          </a:p>
          <a:p>
            <a:pPr indent="0" marL="0">
              <a:buNone/>
            </a:pPr>
            <a:r>
              <a:rPr lang="en-US" sz="1500" dirty="0">
                <a:solidFill>
                  <a:srgbClr val="D9D5D2"/>
                </a:solidFill>
                <a:latin typeface="Open Sans" pitchFamily="34" charset="0"/>
                <a:ea typeface="Open Sans" pitchFamily="34" charset="-122"/>
                <a:cs typeface="Open Sans" pitchFamily="34" charset="-120"/>
              </a:rPr>
              <a:t>Diploma in Business Information Systems</a:t>
            </a:r>
            <a:endParaRPr lang="en-US" sz="1500" dirty="0"/>
          </a:p>
        </p:txBody>
      </p:sp>
      <p:sp>
        <p:nvSpPr>
          <p:cNvPr id="9" name="Text 6"/>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10" name="Text 7"/>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How this week works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a:t>
            </a:r>
            <a:endParaRPr lang="en-US" sz="800" dirty="0"/>
          </a:p>
        </p:txBody>
      </p:sp>
      <p:sp>
        <p:nvSpPr>
          <p:cNvPr id="8" name="Shape 5"/>
          <p:cNvSpPr/>
          <p:nvPr/>
        </p:nvSpPr>
        <p:spPr>
          <a:xfrm>
            <a:off x="457200" y="1280160"/>
            <a:ext cx="1885950" cy="2468880"/>
          </a:xfrm>
          <a:prstGeom prst="roundRect">
            <a:avLst>
              <a:gd name="adj" fmla="val 3879"/>
            </a:avLst>
          </a:prstGeom>
          <a:solidFill>
            <a:srgbClr val="E1E6E6"/>
          </a:solidFill>
          <a:ln w="12700">
            <a:solidFill>
              <a:srgbClr val="E1E6E6"/>
            </a:solidFill>
            <a:prstDash val="solid"/>
          </a:ln>
        </p:spPr>
      </p:sp>
      <p:sp>
        <p:nvSpPr>
          <p:cNvPr id="9" name="Shape 6"/>
          <p:cNvSpPr/>
          <p:nvPr/>
        </p:nvSpPr>
        <p:spPr>
          <a:xfrm>
            <a:off x="640080" y="1463040"/>
            <a:ext cx="502920" cy="50292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765810" y="1588770"/>
            <a:ext cx="251460" cy="251460"/>
          </a:xfrm>
          <a:prstGeom prst="rect">
            <a:avLst/>
          </a:prstGeom>
        </p:spPr>
      </p:pic>
      <p:sp>
        <p:nvSpPr>
          <p:cNvPr id="11" name="Text 7"/>
          <p:cNvSpPr txBox="1"/>
          <p:nvPr/>
        </p:nvSpPr>
        <p:spPr>
          <a:xfrm>
            <a:off x="640080" y="210312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7 days</a:t>
            </a:r>
            <a:endParaRPr lang="en-US" sz="1500" dirty="0"/>
          </a:p>
        </p:txBody>
      </p:sp>
      <p:sp>
        <p:nvSpPr>
          <p:cNvPr id="12" name="Text 8"/>
          <p:cNvSpPr txBox="1"/>
          <p:nvPr/>
        </p:nvSpPr>
        <p:spPr>
          <a:xfrm>
            <a:off x="640080" y="248716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Days 1 to 6: new lessons.</a:t>
            </a:r>
            <a:endParaRPr lang="en-US" sz="1250" dirty="0"/>
          </a:p>
          <a:p>
            <a:pPr indent="0" marL="0">
              <a:buNone/>
            </a:pPr>
            <a:r>
              <a:rPr lang="en-US" sz="1250" dirty="0">
                <a:solidFill>
                  <a:srgbClr val="262A20"/>
                </a:solidFill>
                <a:latin typeface="Open Sans" pitchFamily="34" charset="0"/>
                <a:ea typeface="Open Sans" pitchFamily="34" charset="-122"/>
                <a:cs typeface="Open Sans" pitchFamily="34" charset="-120"/>
              </a:rPr>
              <a:t>Day 7: exam practice.</a:t>
            </a:r>
            <a:endParaRPr lang="en-US" sz="1250" dirty="0"/>
          </a:p>
        </p:txBody>
      </p:sp>
      <p:sp>
        <p:nvSpPr>
          <p:cNvPr id="13" name="Shape 9"/>
          <p:cNvSpPr/>
          <p:nvPr/>
        </p:nvSpPr>
        <p:spPr>
          <a:xfrm>
            <a:off x="2571750" y="1280160"/>
            <a:ext cx="1885950" cy="2468880"/>
          </a:xfrm>
          <a:prstGeom prst="roundRect">
            <a:avLst>
              <a:gd name="adj" fmla="val 3879"/>
            </a:avLst>
          </a:prstGeom>
          <a:solidFill>
            <a:srgbClr val="E1E6E6"/>
          </a:solidFill>
          <a:ln w="12700">
            <a:solidFill>
              <a:srgbClr val="E1E6E6"/>
            </a:solidFill>
            <a:prstDash val="solid"/>
          </a:ln>
        </p:spPr>
      </p:sp>
      <p:sp>
        <p:nvSpPr>
          <p:cNvPr id="14" name="Shape 10"/>
          <p:cNvSpPr/>
          <p:nvPr/>
        </p:nvSpPr>
        <p:spPr>
          <a:xfrm>
            <a:off x="2754630" y="1463040"/>
            <a:ext cx="502920" cy="50292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2880360" y="1588770"/>
            <a:ext cx="251460" cy="251460"/>
          </a:xfrm>
          <a:prstGeom prst="rect">
            <a:avLst/>
          </a:prstGeom>
        </p:spPr>
      </p:pic>
      <p:sp>
        <p:nvSpPr>
          <p:cNvPr id="16" name="Text 11"/>
          <p:cNvSpPr txBox="1"/>
          <p:nvPr/>
        </p:nvSpPr>
        <p:spPr>
          <a:xfrm>
            <a:off x="2754630" y="210312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6 short tests</a:t>
            </a:r>
            <a:endParaRPr lang="en-US" sz="1500" dirty="0"/>
          </a:p>
        </p:txBody>
      </p:sp>
      <p:sp>
        <p:nvSpPr>
          <p:cNvPr id="17" name="Text 12"/>
          <p:cNvSpPr txBox="1"/>
          <p:nvPr/>
        </p:nvSpPr>
        <p:spPr>
          <a:xfrm>
            <a:off x="2754630" y="248716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At 3:00 each day. Two questions. Only about that day.</a:t>
            </a:r>
            <a:endParaRPr lang="en-US" sz="1250" dirty="0"/>
          </a:p>
        </p:txBody>
      </p:sp>
      <p:sp>
        <p:nvSpPr>
          <p:cNvPr id="18" name="Shape 13"/>
          <p:cNvSpPr/>
          <p:nvPr/>
        </p:nvSpPr>
        <p:spPr>
          <a:xfrm>
            <a:off x="4686300" y="1280160"/>
            <a:ext cx="1885950" cy="2468880"/>
          </a:xfrm>
          <a:prstGeom prst="roundRect">
            <a:avLst>
              <a:gd name="adj" fmla="val 3879"/>
            </a:avLst>
          </a:prstGeom>
          <a:solidFill>
            <a:srgbClr val="E1E6E6"/>
          </a:solidFill>
          <a:ln w="12700">
            <a:solidFill>
              <a:srgbClr val="E1E6E6"/>
            </a:solidFill>
            <a:prstDash val="solid"/>
          </a:ln>
        </p:spPr>
      </p:sp>
      <p:sp>
        <p:nvSpPr>
          <p:cNvPr id="19" name="Shape 14"/>
          <p:cNvSpPr/>
          <p:nvPr/>
        </p:nvSpPr>
        <p:spPr>
          <a:xfrm>
            <a:off x="4869180" y="146304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4994910" y="1588770"/>
            <a:ext cx="251460" cy="251460"/>
          </a:xfrm>
          <a:prstGeom prst="rect">
            <a:avLst/>
          </a:prstGeom>
        </p:spPr>
      </p:pic>
      <p:sp>
        <p:nvSpPr>
          <p:cNvPr id="21" name="Text 15"/>
          <p:cNvSpPr txBox="1"/>
          <p:nvPr/>
        </p:nvSpPr>
        <p:spPr>
          <a:xfrm>
            <a:off x="4869180" y="210312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Best 5 count</a:t>
            </a:r>
            <a:endParaRPr lang="en-US" sz="1500" dirty="0"/>
          </a:p>
        </p:txBody>
      </p:sp>
      <p:sp>
        <p:nvSpPr>
          <p:cNvPr id="22" name="Text 16"/>
          <p:cNvSpPr txBox="1"/>
          <p:nvPr/>
        </p:nvSpPr>
        <p:spPr>
          <a:xfrm>
            <a:off x="4869180" y="248716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Miss one day or have a bad day? It does not count.</a:t>
            </a:r>
            <a:endParaRPr lang="en-US" sz="1250" dirty="0"/>
          </a:p>
        </p:txBody>
      </p:sp>
      <p:sp>
        <p:nvSpPr>
          <p:cNvPr id="23" name="Shape 17"/>
          <p:cNvSpPr/>
          <p:nvPr/>
        </p:nvSpPr>
        <p:spPr>
          <a:xfrm>
            <a:off x="6800850" y="1280160"/>
            <a:ext cx="1885950" cy="2468880"/>
          </a:xfrm>
          <a:prstGeom prst="roundRect">
            <a:avLst>
              <a:gd name="adj" fmla="val 3879"/>
            </a:avLst>
          </a:prstGeom>
          <a:solidFill>
            <a:srgbClr val="E1E6E6"/>
          </a:solidFill>
          <a:ln w="12700">
            <a:solidFill>
              <a:srgbClr val="E1E6E6"/>
            </a:solidFill>
            <a:prstDash val="solid"/>
          </a:ln>
        </p:spPr>
      </p:sp>
      <p:sp>
        <p:nvSpPr>
          <p:cNvPr id="24" name="Shape 18"/>
          <p:cNvSpPr/>
          <p:nvPr/>
        </p:nvSpPr>
        <p:spPr>
          <a:xfrm>
            <a:off x="6983730" y="1463040"/>
            <a:ext cx="502920" cy="502920"/>
          </a:xfrm>
          <a:prstGeom prst="ellipse">
            <a:avLst/>
          </a:prstGeom>
          <a:solidFill>
            <a:srgbClr val="667C7E"/>
          </a:solidFill>
          <a:ln w="12700">
            <a:solidFill>
              <a:srgbClr val="667C7E"/>
            </a:solidFill>
            <a:prstDash val="solid"/>
          </a:ln>
        </p:spPr>
      </p:sp>
      <p:pic>
        <p:nvPicPr>
          <p:cNvPr id="25" name="Image 3" descr="preencoded.png">    </p:cNvPr>
          <p:cNvPicPr>
            <a:picLocks noChangeAspect="1"/>
          </p:cNvPicPr>
          <p:nvPr/>
        </p:nvPicPr>
        <p:blipFill>
          <a:blip r:embed="rId4"/>
          <a:stretch>
            <a:fillRect/>
          </a:stretch>
        </p:blipFill>
        <p:spPr>
          <a:xfrm>
            <a:off x="7109460" y="1588770"/>
            <a:ext cx="251460" cy="251460"/>
          </a:xfrm>
          <a:prstGeom prst="rect">
            <a:avLst/>
          </a:prstGeom>
        </p:spPr>
      </p:pic>
      <p:sp>
        <p:nvSpPr>
          <p:cNvPr id="26" name="Text 19"/>
          <p:cNvSpPr txBox="1"/>
          <p:nvPr/>
        </p:nvSpPr>
        <p:spPr>
          <a:xfrm>
            <a:off x="6983730" y="210312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Final exam</a:t>
            </a:r>
            <a:endParaRPr lang="en-US" sz="1500" dirty="0"/>
          </a:p>
        </p:txBody>
      </p:sp>
      <p:sp>
        <p:nvSpPr>
          <p:cNvPr id="27" name="Text 20"/>
          <p:cNvSpPr txBox="1"/>
          <p:nvPr/>
        </p:nvSpPr>
        <p:spPr>
          <a:xfrm>
            <a:off x="6983730" y="248716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2 hours. Half of your module mark.</a:t>
            </a:r>
            <a:endParaRPr lang="en-US" sz="1250" dirty="0"/>
          </a:p>
        </p:txBody>
      </p:sp>
      <p:sp>
        <p:nvSpPr>
          <p:cNvPr id="28" name="Text 21"/>
          <p:cNvSpPr txBox="1"/>
          <p:nvPr/>
        </p:nvSpPr>
        <p:spPr>
          <a:xfrm>
            <a:off x="457200" y="4023360"/>
            <a:ext cx="8229600" cy="320040"/>
          </a:xfrm>
          <a:prstGeom prst="rect">
            <a:avLst/>
          </a:prstGeom>
          <a:noFill/>
          <a:ln/>
        </p:spPr>
        <p:txBody>
          <a:bodyPr wrap="square" lIns="0" tIns="0" rIns="0" bIns="0" rtlCol="0" anchor="ctr"/>
          <a:lstStyle/>
          <a:p>
            <a:pPr algn="ctr" indent="0" marL="0">
              <a:buNone/>
            </a:pPr>
            <a:r>
              <a:rPr lang="en-US" sz="1500" b="1" dirty="0">
                <a:solidFill>
                  <a:srgbClr val="566A6C"/>
                </a:solidFill>
                <a:latin typeface="Open Sans" pitchFamily="34" charset="0"/>
                <a:ea typeface="Open Sans" pitchFamily="34" charset="-122"/>
                <a:cs typeface="Open Sans" pitchFamily="34" charset="-120"/>
              </a:rPr>
              <a:t>Coursework (tests) 50%   +   Final exam 50%</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How each day runs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a:t>
            </a:r>
            <a:endParaRPr lang="en-US" sz="800" dirty="0"/>
          </a:p>
        </p:txBody>
      </p:sp>
      <p:sp>
        <p:nvSpPr>
          <p:cNvPr id="8" name="Shape 5"/>
          <p:cNvSpPr/>
          <p:nvPr/>
        </p:nvSpPr>
        <p:spPr>
          <a:xfrm>
            <a:off x="457200" y="1554480"/>
            <a:ext cx="1252728" cy="1737360"/>
          </a:xfrm>
          <a:prstGeom prst="roundRect">
            <a:avLst>
              <a:gd name="adj" fmla="val 5839"/>
            </a:avLst>
          </a:prstGeom>
          <a:solidFill>
            <a:srgbClr val="E1E6E6"/>
          </a:solidFill>
          <a:ln w="6350">
            <a:solidFill>
              <a:srgbClr val="E1E6E6"/>
            </a:solidFill>
            <a:prstDash val="solid"/>
          </a:ln>
        </p:spPr>
      </p:sp>
      <p:sp>
        <p:nvSpPr>
          <p:cNvPr id="9" name="Text 6"/>
          <p:cNvSpPr txBox="1"/>
          <p:nvPr/>
        </p:nvSpPr>
        <p:spPr>
          <a:xfrm>
            <a:off x="457200" y="1783080"/>
            <a:ext cx="1252728" cy="457200"/>
          </a:xfrm>
          <a:prstGeom prst="rect">
            <a:avLst/>
          </a:prstGeom>
          <a:noFill/>
          <a:ln/>
        </p:spPr>
        <p:txBody>
          <a:bodyPr wrap="square" lIns="0" tIns="0" rIns="0" bIns="0" rtlCol="0" anchor="ctr"/>
          <a:lstStyle/>
          <a:p>
            <a:pPr algn="ctr" indent="0" marL="0">
              <a:buNone/>
            </a:pPr>
            <a:r>
              <a:rPr lang="en-US" sz="2200" b="1" dirty="0">
                <a:solidFill>
                  <a:srgbClr val="262A20"/>
                </a:solidFill>
                <a:latin typeface="Open Sans" pitchFamily="34" charset="0"/>
                <a:ea typeface="Open Sans" pitchFamily="34" charset="-122"/>
                <a:cs typeface="Open Sans" pitchFamily="34" charset="-120"/>
              </a:rPr>
              <a:t>9:00</a:t>
            </a:r>
            <a:endParaRPr lang="en-US" sz="2200" dirty="0"/>
          </a:p>
        </p:txBody>
      </p:sp>
      <p:sp>
        <p:nvSpPr>
          <p:cNvPr id="10" name="Text 7"/>
          <p:cNvSpPr txBox="1"/>
          <p:nvPr/>
        </p:nvSpPr>
        <p:spPr>
          <a:xfrm>
            <a:off x="548640" y="2377440"/>
            <a:ext cx="1069848" cy="731520"/>
          </a:xfrm>
          <a:prstGeom prst="rect">
            <a:avLst/>
          </a:prstGeom>
          <a:noFill/>
          <a:ln/>
        </p:spPr>
        <p:txBody>
          <a:bodyPr wrap="square" lIns="0" tIns="0" rIns="0" bIns="0" rtlCol="0" anchor="t"/>
          <a:lstStyle/>
          <a:p>
            <a:pPr algn="ctr" indent="0" marL="0">
              <a:buNone/>
            </a:pPr>
            <a:r>
              <a:rPr lang="en-US" sz="1300" dirty="0">
                <a:solidFill>
                  <a:srgbClr val="262A20"/>
                </a:solidFill>
                <a:latin typeface="Open Sans" pitchFamily="34" charset="0"/>
                <a:ea typeface="Open Sans" pitchFamily="34" charset="-122"/>
                <a:cs typeface="Open Sans" pitchFamily="34" charset="-120"/>
              </a:rPr>
              <a:t>Lesson and games</a:t>
            </a:r>
            <a:endParaRPr lang="en-US" sz="1300" dirty="0"/>
          </a:p>
        </p:txBody>
      </p:sp>
      <p:sp>
        <p:nvSpPr>
          <p:cNvPr id="11" name="Shape 8"/>
          <p:cNvSpPr/>
          <p:nvPr/>
        </p:nvSpPr>
        <p:spPr>
          <a:xfrm>
            <a:off x="1847088" y="1554480"/>
            <a:ext cx="1252728" cy="1737360"/>
          </a:xfrm>
          <a:prstGeom prst="roundRect">
            <a:avLst>
              <a:gd name="adj" fmla="val 5839"/>
            </a:avLst>
          </a:prstGeom>
          <a:solidFill>
            <a:srgbClr val="F2EFEC"/>
          </a:solidFill>
          <a:ln w="6350">
            <a:solidFill>
              <a:srgbClr val="F2EFEC"/>
            </a:solidFill>
            <a:prstDash val="solid"/>
          </a:ln>
        </p:spPr>
      </p:sp>
      <p:sp>
        <p:nvSpPr>
          <p:cNvPr id="12" name="Text 9"/>
          <p:cNvSpPr txBox="1"/>
          <p:nvPr/>
        </p:nvSpPr>
        <p:spPr>
          <a:xfrm>
            <a:off x="1847088" y="1783080"/>
            <a:ext cx="1252728" cy="457200"/>
          </a:xfrm>
          <a:prstGeom prst="rect">
            <a:avLst/>
          </a:prstGeom>
          <a:noFill/>
          <a:ln/>
        </p:spPr>
        <p:txBody>
          <a:bodyPr wrap="square" lIns="0" tIns="0" rIns="0" bIns="0" rtlCol="0" anchor="ctr"/>
          <a:lstStyle/>
          <a:p>
            <a:pPr algn="ctr" indent="0" marL="0">
              <a:buNone/>
            </a:pPr>
            <a:r>
              <a:rPr lang="en-US" sz="2200" b="1" dirty="0">
                <a:solidFill>
                  <a:srgbClr val="262A20"/>
                </a:solidFill>
                <a:latin typeface="Open Sans" pitchFamily="34" charset="0"/>
                <a:ea typeface="Open Sans" pitchFamily="34" charset="-122"/>
                <a:cs typeface="Open Sans" pitchFamily="34" charset="-120"/>
              </a:rPr>
              <a:t>10:30</a:t>
            </a:r>
            <a:endParaRPr lang="en-US" sz="2200" dirty="0"/>
          </a:p>
        </p:txBody>
      </p:sp>
      <p:sp>
        <p:nvSpPr>
          <p:cNvPr id="13" name="Text 10"/>
          <p:cNvSpPr txBox="1"/>
          <p:nvPr/>
        </p:nvSpPr>
        <p:spPr>
          <a:xfrm>
            <a:off x="1938528" y="2377440"/>
            <a:ext cx="1069848" cy="731520"/>
          </a:xfrm>
          <a:prstGeom prst="rect">
            <a:avLst/>
          </a:prstGeom>
          <a:noFill/>
          <a:ln/>
        </p:spPr>
        <p:txBody>
          <a:bodyPr wrap="square" lIns="0" tIns="0" rIns="0" bIns="0" rtlCol="0" anchor="t"/>
          <a:lstStyle/>
          <a:p>
            <a:pPr algn="ctr" indent="0" marL="0">
              <a:buNone/>
            </a:pPr>
            <a:r>
              <a:rPr lang="en-US" sz="1300" dirty="0">
                <a:solidFill>
                  <a:srgbClr val="262A20"/>
                </a:solidFill>
                <a:latin typeface="Open Sans" pitchFamily="34" charset="0"/>
                <a:ea typeface="Open Sans" pitchFamily="34" charset="-122"/>
                <a:cs typeface="Open Sans" pitchFamily="34" charset="-120"/>
              </a:rPr>
              <a:t>Break</a:t>
            </a:r>
            <a:endParaRPr lang="en-US" sz="1300" dirty="0"/>
          </a:p>
        </p:txBody>
      </p:sp>
      <p:sp>
        <p:nvSpPr>
          <p:cNvPr id="14" name="Shape 11"/>
          <p:cNvSpPr/>
          <p:nvPr/>
        </p:nvSpPr>
        <p:spPr>
          <a:xfrm>
            <a:off x="3236976" y="1554480"/>
            <a:ext cx="1252728" cy="1737360"/>
          </a:xfrm>
          <a:prstGeom prst="roundRect">
            <a:avLst>
              <a:gd name="adj" fmla="val 5839"/>
            </a:avLst>
          </a:prstGeom>
          <a:solidFill>
            <a:srgbClr val="E1E6E6"/>
          </a:solidFill>
          <a:ln w="6350">
            <a:solidFill>
              <a:srgbClr val="E1E6E6"/>
            </a:solidFill>
            <a:prstDash val="solid"/>
          </a:ln>
        </p:spPr>
      </p:sp>
      <p:sp>
        <p:nvSpPr>
          <p:cNvPr id="15" name="Text 12"/>
          <p:cNvSpPr txBox="1"/>
          <p:nvPr/>
        </p:nvSpPr>
        <p:spPr>
          <a:xfrm>
            <a:off x="3236976" y="1783080"/>
            <a:ext cx="1252728" cy="457200"/>
          </a:xfrm>
          <a:prstGeom prst="rect">
            <a:avLst/>
          </a:prstGeom>
          <a:noFill/>
          <a:ln/>
        </p:spPr>
        <p:txBody>
          <a:bodyPr wrap="square" lIns="0" tIns="0" rIns="0" bIns="0" rtlCol="0" anchor="ctr"/>
          <a:lstStyle/>
          <a:p>
            <a:pPr algn="ctr" indent="0" marL="0">
              <a:buNone/>
            </a:pPr>
            <a:r>
              <a:rPr lang="en-US" sz="2200" b="1" dirty="0">
                <a:solidFill>
                  <a:srgbClr val="262A20"/>
                </a:solidFill>
                <a:latin typeface="Open Sans" pitchFamily="34" charset="0"/>
                <a:ea typeface="Open Sans" pitchFamily="34" charset="-122"/>
                <a:cs typeface="Open Sans" pitchFamily="34" charset="-120"/>
              </a:rPr>
              <a:t>11:00</a:t>
            </a:r>
            <a:endParaRPr lang="en-US" sz="2200" dirty="0"/>
          </a:p>
        </p:txBody>
      </p:sp>
      <p:sp>
        <p:nvSpPr>
          <p:cNvPr id="16" name="Text 13"/>
          <p:cNvSpPr txBox="1"/>
          <p:nvPr/>
        </p:nvSpPr>
        <p:spPr>
          <a:xfrm>
            <a:off x="3328416" y="2377440"/>
            <a:ext cx="1069848" cy="731520"/>
          </a:xfrm>
          <a:prstGeom prst="rect">
            <a:avLst/>
          </a:prstGeom>
          <a:noFill/>
          <a:ln/>
        </p:spPr>
        <p:txBody>
          <a:bodyPr wrap="square" lIns="0" tIns="0" rIns="0" bIns="0" rtlCol="0" anchor="t"/>
          <a:lstStyle/>
          <a:p>
            <a:pPr algn="ctr" indent="0" marL="0">
              <a:buNone/>
            </a:pPr>
            <a:r>
              <a:rPr lang="en-US" sz="1300" dirty="0">
                <a:solidFill>
                  <a:srgbClr val="262A20"/>
                </a:solidFill>
                <a:latin typeface="Open Sans" pitchFamily="34" charset="0"/>
                <a:ea typeface="Open Sans" pitchFamily="34" charset="-122"/>
                <a:cs typeface="Open Sans" pitchFamily="34" charset="-120"/>
              </a:rPr>
              <a:t>Lesson and games</a:t>
            </a:r>
            <a:endParaRPr lang="en-US" sz="1300" dirty="0"/>
          </a:p>
        </p:txBody>
      </p:sp>
      <p:sp>
        <p:nvSpPr>
          <p:cNvPr id="17" name="Shape 14"/>
          <p:cNvSpPr/>
          <p:nvPr/>
        </p:nvSpPr>
        <p:spPr>
          <a:xfrm>
            <a:off x="4626864" y="1554480"/>
            <a:ext cx="1252728" cy="1737360"/>
          </a:xfrm>
          <a:prstGeom prst="roundRect">
            <a:avLst>
              <a:gd name="adj" fmla="val 5839"/>
            </a:avLst>
          </a:prstGeom>
          <a:solidFill>
            <a:srgbClr val="F2EFEC"/>
          </a:solidFill>
          <a:ln w="6350">
            <a:solidFill>
              <a:srgbClr val="F2EFEC"/>
            </a:solidFill>
            <a:prstDash val="solid"/>
          </a:ln>
        </p:spPr>
      </p:sp>
      <p:sp>
        <p:nvSpPr>
          <p:cNvPr id="18" name="Text 15"/>
          <p:cNvSpPr txBox="1"/>
          <p:nvPr/>
        </p:nvSpPr>
        <p:spPr>
          <a:xfrm>
            <a:off x="4626864" y="1783080"/>
            <a:ext cx="1252728" cy="457200"/>
          </a:xfrm>
          <a:prstGeom prst="rect">
            <a:avLst/>
          </a:prstGeom>
          <a:noFill/>
          <a:ln/>
        </p:spPr>
        <p:txBody>
          <a:bodyPr wrap="square" lIns="0" tIns="0" rIns="0" bIns="0" rtlCol="0" anchor="ctr"/>
          <a:lstStyle/>
          <a:p>
            <a:pPr algn="ctr" indent="0" marL="0">
              <a:buNone/>
            </a:pPr>
            <a:r>
              <a:rPr lang="en-US" sz="2200" b="1" dirty="0">
                <a:solidFill>
                  <a:srgbClr val="262A20"/>
                </a:solidFill>
                <a:latin typeface="Open Sans" pitchFamily="34" charset="0"/>
                <a:ea typeface="Open Sans" pitchFamily="34" charset="-122"/>
                <a:cs typeface="Open Sans" pitchFamily="34" charset="-120"/>
              </a:rPr>
              <a:t>12:00</a:t>
            </a:r>
            <a:endParaRPr lang="en-US" sz="2200" dirty="0"/>
          </a:p>
        </p:txBody>
      </p:sp>
      <p:sp>
        <p:nvSpPr>
          <p:cNvPr id="19" name="Text 16"/>
          <p:cNvSpPr txBox="1"/>
          <p:nvPr/>
        </p:nvSpPr>
        <p:spPr>
          <a:xfrm>
            <a:off x="4718304" y="2377440"/>
            <a:ext cx="1069848" cy="731520"/>
          </a:xfrm>
          <a:prstGeom prst="rect">
            <a:avLst/>
          </a:prstGeom>
          <a:noFill/>
          <a:ln/>
        </p:spPr>
        <p:txBody>
          <a:bodyPr wrap="square" lIns="0" tIns="0" rIns="0" bIns="0" rtlCol="0" anchor="t"/>
          <a:lstStyle/>
          <a:p>
            <a:pPr algn="ctr" indent="0" marL="0">
              <a:buNone/>
            </a:pPr>
            <a:r>
              <a:rPr lang="en-US" sz="1300" dirty="0">
                <a:solidFill>
                  <a:srgbClr val="262A20"/>
                </a:solidFill>
                <a:latin typeface="Open Sans" pitchFamily="34" charset="0"/>
                <a:ea typeface="Open Sans" pitchFamily="34" charset="-122"/>
                <a:cs typeface="Open Sans" pitchFamily="34" charset="-120"/>
              </a:rPr>
              <a:t>Lunch</a:t>
            </a:r>
            <a:endParaRPr lang="en-US" sz="1300" dirty="0"/>
          </a:p>
        </p:txBody>
      </p:sp>
      <p:sp>
        <p:nvSpPr>
          <p:cNvPr id="20" name="Shape 17"/>
          <p:cNvSpPr/>
          <p:nvPr/>
        </p:nvSpPr>
        <p:spPr>
          <a:xfrm>
            <a:off x="6016752" y="1554480"/>
            <a:ext cx="1252728" cy="1737360"/>
          </a:xfrm>
          <a:prstGeom prst="roundRect">
            <a:avLst>
              <a:gd name="adj" fmla="val 5839"/>
            </a:avLst>
          </a:prstGeom>
          <a:solidFill>
            <a:srgbClr val="E1E6E6"/>
          </a:solidFill>
          <a:ln w="6350">
            <a:solidFill>
              <a:srgbClr val="E1E6E6"/>
            </a:solidFill>
            <a:prstDash val="solid"/>
          </a:ln>
        </p:spPr>
      </p:sp>
      <p:sp>
        <p:nvSpPr>
          <p:cNvPr id="21" name="Text 18"/>
          <p:cNvSpPr txBox="1"/>
          <p:nvPr/>
        </p:nvSpPr>
        <p:spPr>
          <a:xfrm>
            <a:off x="6016752" y="1783080"/>
            <a:ext cx="1252728" cy="457200"/>
          </a:xfrm>
          <a:prstGeom prst="rect">
            <a:avLst/>
          </a:prstGeom>
          <a:noFill/>
          <a:ln/>
        </p:spPr>
        <p:txBody>
          <a:bodyPr wrap="square" lIns="0" tIns="0" rIns="0" bIns="0" rtlCol="0" anchor="ctr"/>
          <a:lstStyle/>
          <a:p>
            <a:pPr algn="ctr" indent="0" marL="0">
              <a:buNone/>
            </a:pPr>
            <a:r>
              <a:rPr lang="en-US" sz="2200" b="1" dirty="0">
                <a:solidFill>
                  <a:srgbClr val="262A20"/>
                </a:solidFill>
                <a:latin typeface="Open Sans" pitchFamily="34" charset="0"/>
                <a:ea typeface="Open Sans" pitchFamily="34" charset="-122"/>
                <a:cs typeface="Open Sans" pitchFamily="34" charset="-120"/>
              </a:rPr>
              <a:t>1:00</a:t>
            </a:r>
            <a:endParaRPr lang="en-US" sz="2200" dirty="0"/>
          </a:p>
        </p:txBody>
      </p:sp>
      <p:sp>
        <p:nvSpPr>
          <p:cNvPr id="22" name="Text 19"/>
          <p:cNvSpPr txBox="1"/>
          <p:nvPr/>
        </p:nvSpPr>
        <p:spPr>
          <a:xfrm>
            <a:off x="6108192" y="2377440"/>
            <a:ext cx="1069848" cy="731520"/>
          </a:xfrm>
          <a:prstGeom prst="rect">
            <a:avLst/>
          </a:prstGeom>
          <a:noFill/>
          <a:ln/>
        </p:spPr>
        <p:txBody>
          <a:bodyPr wrap="square" lIns="0" tIns="0" rIns="0" bIns="0" rtlCol="0" anchor="t"/>
          <a:lstStyle/>
          <a:p>
            <a:pPr algn="ctr" indent="0" marL="0">
              <a:buNone/>
            </a:pPr>
            <a:r>
              <a:rPr lang="en-US" sz="1300" dirty="0">
                <a:solidFill>
                  <a:srgbClr val="262A20"/>
                </a:solidFill>
                <a:latin typeface="Open Sans" pitchFamily="34" charset="0"/>
                <a:ea typeface="Open Sans" pitchFamily="34" charset="-122"/>
                <a:cs typeface="Open Sans" pitchFamily="34" charset="-120"/>
              </a:rPr>
              <a:t>Lesson and games</a:t>
            </a:r>
            <a:endParaRPr lang="en-US" sz="1300" dirty="0"/>
          </a:p>
        </p:txBody>
      </p:sp>
      <p:sp>
        <p:nvSpPr>
          <p:cNvPr id="23" name="Shape 20"/>
          <p:cNvSpPr/>
          <p:nvPr/>
        </p:nvSpPr>
        <p:spPr>
          <a:xfrm>
            <a:off x="7406640" y="1554480"/>
            <a:ext cx="1252728" cy="1737360"/>
          </a:xfrm>
          <a:prstGeom prst="roundRect">
            <a:avLst>
              <a:gd name="adj" fmla="val 5839"/>
            </a:avLst>
          </a:prstGeom>
          <a:solidFill>
            <a:srgbClr val="EDDDCD"/>
          </a:solidFill>
          <a:ln w="25400">
            <a:solidFill>
              <a:srgbClr val="C7A887"/>
            </a:solidFill>
            <a:prstDash val="solid"/>
          </a:ln>
        </p:spPr>
      </p:sp>
      <p:sp>
        <p:nvSpPr>
          <p:cNvPr id="24" name="Text 21"/>
          <p:cNvSpPr txBox="1"/>
          <p:nvPr/>
        </p:nvSpPr>
        <p:spPr>
          <a:xfrm>
            <a:off x="7406640" y="1783080"/>
            <a:ext cx="1252728" cy="457200"/>
          </a:xfrm>
          <a:prstGeom prst="rect">
            <a:avLst/>
          </a:prstGeom>
          <a:noFill/>
          <a:ln/>
        </p:spPr>
        <p:txBody>
          <a:bodyPr wrap="square" lIns="0" tIns="0" rIns="0" bIns="0" rtlCol="0" anchor="ctr"/>
          <a:lstStyle/>
          <a:p>
            <a:pPr algn="ctr" indent="0" marL="0">
              <a:buNone/>
            </a:pPr>
            <a:r>
              <a:rPr lang="en-US" sz="2200" b="1" dirty="0">
                <a:solidFill>
                  <a:srgbClr val="7D5F3F"/>
                </a:solidFill>
                <a:latin typeface="Open Sans" pitchFamily="34" charset="0"/>
                <a:ea typeface="Open Sans" pitchFamily="34" charset="-122"/>
                <a:cs typeface="Open Sans" pitchFamily="34" charset="-120"/>
              </a:rPr>
              <a:t>3:00</a:t>
            </a:r>
            <a:endParaRPr lang="en-US" sz="2200" dirty="0"/>
          </a:p>
        </p:txBody>
      </p:sp>
      <p:sp>
        <p:nvSpPr>
          <p:cNvPr id="25" name="Text 22"/>
          <p:cNvSpPr txBox="1"/>
          <p:nvPr/>
        </p:nvSpPr>
        <p:spPr>
          <a:xfrm>
            <a:off x="7498080" y="2377440"/>
            <a:ext cx="1069848" cy="731520"/>
          </a:xfrm>
          <a:prstGeom prst="rect">
            <a:avLst/>
          </a:prstGeom>
          <a:noFill/>
          <a:ln/>
        </p:spPr>
        <p:txBody>
          <a:bodyPr wrap="square" lIns="0" tIns="0" rIns="0" bIns="0" rtlCol="0" anchor="t"/>
          <a:lstStyle/>
          <a:p>
            <a:pPr algn="ctr" indent="0" marL="0">
              <a:buNone/>
            </a:pPr>
            <a:r>
              <a:rPr lang="en-US" sz="1300" dirty="0">
                <a:solidFill>
                  <a:srgbClr val="262A20"/>
                </a:solidFill>
                <a:latin typeface="Open Sans" pitchFamily="34" charset="0"/>
                <a:ea typeface="Open Sans" pitchFamily="34" charset="-122"/>
                <a:cs typeface="Open Sans" pitchFamily="34" charset="-120"/>
              </a:rPr>
              <a:t>Test (1 hour)</a:t>
            </a:r>
            <a:endParaRPr lang="en-US" sz="1300" dirty="0"/>
          </a:p>
        </p:txBody>
      </p:sp>
      <p:sp>
        <p:nvSpPr>
          <p:cNvPr id="26" name="Text 23"/>
          <p:cNvSpPr txBox="1"/>
          <p:nvPr/>
        </p:nvSpPr>
        <p:spPr>
          <a:xfrm>
            <a:off x="457200" y="3749040"/>
            <a:ext cx="8229600" cy="457200"/>
          </a:xfrm>
          <a:prstGeom prst="rect">
            <a:avLst/>
          </a:prstGeom>
          <a:noFill/>
          <a:ln/>
        </p:spPr>
        <p:txBody>
          <a:bodyPr wrap="square" lIns="0" tIns="0" rIns="0" bIns="0" rtlCol="0" anchor="ctr"/>
          <a:lstStyle/>
          <a:p>
            <a:pPr algn="ctr" indent="0" marL="0">
              <a:buNone/>
            </a:pPr>
            <a:r>
              <a:rPr lang="en-US" sz="1600" dirty="0">
                <a:solidFill>
                  <a:srgbClr val="262A20"/>
                </a:solidFill>
                <a:latin typeface="Open Sans" pitchFamily="34" charset="0"/>
                <a:ea typeface="Open Sans" pitchFamily="34" charset="-122"/>
                <a:cs typeface="Open Sans" pitchFamily="34" charset="-120"/>
              </a:rPr>
              <a:t>Bring your phone or laptop. We use it for short games in every lesson.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six jobs of security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4</a:t>
            </a:r>
            <a:endParaRPr lang="en-US" sz="800" dirty="0"/>
          </a:p>
        </p:txBody>
      </p:sp>
      <p:sp>
        <p:nvSpPr>
          <p:cNvPr id="8" name="Shape 5"/>
          <p:cNvSpPr/>
          <p:nvPr/>
        </p:nvSpPr>
        <p:spPr>
          <a:xfrm>
            <a:off x="457200" y="1325880"/>
            <a:ext cx="1280160" cy="2103120"/>
          </a:xfrm>
          <a:prstGeom prst="roundRect">
            <a:avLst>
              <a:gd name="adj" fmla="val 5714"/>
            </a:avLst>
          </a:prstGeom>
          <a:solidFill>
            <a:srgbClr val="D9D5D2"/>
          </a:solidFill>
          <a:ln w="25400">
            <a:solidFill>
              <a:srgbClr val="566A6C"/>
            </a:solidFill>
            <a:prstDash val="solid"/>
          </a:ln>
        </p:spPr>
      </p:sp>
      <p:sp>
        <p:nvSpPr>
          <p:cNvPr id="9" name="Shape 6"/>
          <p:cNvSpPr/>
          <p:nvPr/>
        </p:nvSpPr>
        <p:spPr>
          <a:xfrm>
            <a:off x="822960" y="1554480"/>
            <a:ext cx="548640" cy="54864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960120" y="1691640"/>
            <a:ext cx="274320" cy="274320"/>
          </a:xfrm>
          <a:prstGeom prst="rect">
            <a:avLst/>
          </a:prstGeom>
        </p:spPr>
      </p:pic>
      <p:sp>
        <p:nvSpPr>
          <p:cNvPr id="11" name="Text 7"/>
          <p:cNvSpPr txBox="1"/>
          <p:nvPr/>
        </p:nvSpPr>
        <p:spPr>
          <a:xfrm>
            <a:off x="502920" y="2240280"/>
            <a:ext cx="1188720" cy="365760"/>
          </a:xfrm>
          <a:prstGeom prst="rect">
            <a:avLst/>
          </a:prstGeom>
          <a:noFill/>
          <a:ln/>
        </p:spPr>
        <p:txBody>
          <a:bodyPr wrap="square" lIns="0" tIns="0" rIns="0" bIns="0" rtlCol="0" anchor="ctr"/>
          <a:lstStyle/>
          <a:p>
            <a:pPr algn="ctr" indent="0" marL="0">
              <a:buNone/>
            </a:pPr>
            <a:r>
              <a:rPr lang="en-US" sz="1500" b="1" dirty="0">
                <a:solidFill>
                  <a:srgbClr val="262A20"/>
                </a:solidFill>
                <a:latin typeface="Open Sans" pitchFamily="34" charset="0"/>
                <a:ea typeface="Open Sans" pitchFamily="34" charset="-122"/>
                <a:cs typeface="Open Sans" pitchFamily="34" charset="-120"/>
              </a:rPr>
              <a:t>Govern</a:t>
            </a:r>
            <a:endParaRPr lang="en-US" sz="1500" dirty="0"/>
          </a:p>
        </p:txBody>
      </p:sp>
      <p:sp>
        <p:nvSpPr>
          <p:cNvPr id="12" name="Text 8"/>
          <p:cNvSpPr txBox="1"/>
          <p:nvPr/>
        </p:nvSpPr>
        <p:spPr>
          <a:xfrm>
            <a:off x="548640" y="2606040"/>
            <a:ext cx="1097280" cy="640080"/>
          </a:xfrm>
          <a:prstGeom prst="rect">
            <a:avLst/>
          </a:prstGeom>
          <a:noFill/>
          <a:ln/>
        </p:spPr>
        <p:txBody>
          <a:bodyPr wrap="square" lIns="0" tIns="0" rIns="0" bIns="0" rtlCol="0" anchor="t"/>
          <a:lstStyle/>
          <a:p>
            <a:pPr algn="ctr" indent="0" marL="0">
              <a:buNone/>
            </a:pPr>
            <a:r>
              <a:rPr lang="en-US" sz="1200" dirty="0">
                <a:solidFill>
                  <a:srgbClr val="262A20"/>
                </a:solidFill>
                <a:latin typeface="Open Sans" pitchFamily="34" charset="0"/>
                <a:ea typeface="Open Sans" pitchFamily="34" charset="-122"/>
                <a:cs typeface="Open Sans" pitchFamily="34" charset="-120"/>
              </a:rPr>
              <a:t>Set the rules</a:t>
            </a:r>
            <a:endParaRPr lang="en-US" sz="1200" dirty="0"/>
          </a:p>
        </p:txBody>
      </p:sp>
      <p:sp>
        <p:nvSpPr>
          <p:cNvPr id="13" name="Shape 9"/>
          <p:cNvSpPr/>
          <p:nvPr/>
        </p:nvSpPr>
        <p:spPr>
          <a:xfrm>
            <a:off x="1847088" y="1325880"/>
            <a:ext cx="1280160" cy="2103120"/>
          </a:xfrm>
          <a:prstGeom prst="roundRect">
            <a:avLst>
              <a:gd name="adj" fmla="val 5714"/>
            </a:avLst>
          </a:prstGeom>
          <a:solidFill>
            <a:srgbClr val="D9D5D2"/>
          </a:solidFill>
          <a:ln w="25400">
            <a:solidFill>
              <a:srgbClr val="566A6C"/>
            </a:solidFill>
            <a:prstDash val="solid"/>
          </a:ln>
        </p:spPr>
      </p:sp>
      <p:sp>
        <p:nvSpPr>
          <p:cNvPr id="14" name="Shape 10"/>
          <p:cNvSpPr/>
          <p:nvPr/>
        </p:nvSpPr>
        <p:spPr>
          <a:xfrm>
            <a:off x="2212848" y="1554480"/>
            <a:ext cx="548640" cy="54864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2350008" y="1691640"/>
            <a:ext cx="274320" cy="274320"/>
          </a:xfrm>
          <a:prstGeom prst="rect">
            <a:avLst/>
          </a:prstGeom>
        </p:spPr>
      </p:pic>
      <p:sp>
        <p:nvSpPr>
          <p:cNvPr id="16" name="Text 11"/>
          <p:cNvSpPr txBox="1"/>
          <p:nvPr/>
        </p:nvSpPr>
        <p:spPr>
          <a:xfrm>
            <a:off x="1892808" y="2240280"/>
            <a:ext cx="1188720" cy="365760"/>
          </a:xfrm>
          <a:prstGeom prst="rect">
            <a:avLst/>
          </a:prstGeom>
          <a:noFill/>
          <a:ln/>
        </p:spPr>
        <p:txBody>
          <a:bodyPr wrap="square" lIns="0" tIns="0" rIns="0" bIns="0" rtlCol="0" anchor="ctr"/>
          <a:lstStyle/>
          <a:p>
            <a:pPr algn="ctr" indent="0" marL="0">
              <a:buNone/>
            </a:pPr>
            <a:r>
              <a:rPr lang="en-US" sz="1500" b="1" dirty="0">
                <a:solidFill>
                  <a:srgbClr val="262A20"/>
                </a:solidFill>
                <a:latin typeface="Open Sans" pitchFamily="34" charset="0"/>
                <a:ea typeface="Open Sans" pitchFamily="34" charset="-122"/>
                <a:cs typeface="Open Sans" pitchFamily="34" charset="-120"/>
              </a:rPr>
              <a:t>Identify</a:t>
            </a:r>
            <a:endParaRPr lang="en-US" sz="1500" dirty="0"/>
          </a:p>
        </p:txBody>
      </p:sp>
      <p:sp>
        <p:nvSpPr>
          <p:cNvPr id="17" name="Text 12"/>
          <p:cNvSpPr txBox="1"/>
          <p:nvPr/>
        </p:nvSpPr>
        <p:spPr>
          <a:xfrm>
            <a:off x="1938528" y="2606040"/>
            <a:ext cx="1097280" cy="640080"/>
          </a:xfrm>
          <a:prstGeom prst="rect">
            <a:avLst/>
          </a:prstGeom>
          <a:noFill/>
          <a:ln/>
        </p:spPr>
        <p:txBody>
          <a:bodyPr wrap="square" lIns="0" tIns="0" rIns="0" bIns="0" rtlCol="0" anchor="t"/>
          <a:lstStyle/>
          <a:p>
            <a:pPr algn="ctr" indent="0" marL="0">
              <a:buNone/>
            </a:pPr>
            <a:r>
              <a:rPr lang="en-US" sz="1200" dirty="0">
                <a:solidFill>
                  <a:srgbClr val="262A20"/>
                </a:solidFill>
                <a:latin typeface="Open Sans" pitchFamily="34" charset="0"/>
                <a:ea typeface="Open Sans" pitchFamily="34" charset="-122"/>
                <a:cs typeface="Open Sans" pitchFamily="34" charset="-120"/>
              </a:rPr>
              <a:t>Know what you have</a:t>
            </a:r>
            <a:endParaRPr lang="en-US" sz="1200" dirty="0"/>
          </a:p>
        </p:txBody>
      </p:sp>
      <p:sp>
        <p:nvSpPr>
          <p:cNvPr id="18" name="Shape 13"/>
          <p:cNvSpPr/>
          <p:nvPr/>
        </p:nvSpPr>
        <p:spPr>
          <a:xfrm>
            <a:off x="3236976" y="1325880"/>
            <a:ext cx="1280160" cy="2103120"/>
          </a:xfrm>
          <a:prstGeom prst="roundRect">
            <a:avLst>
              <a:gd name="adj" fmla="val 5714"/>
            </a:avLst>
          </a:prstGeom>
          <a:solidFill>
            <a:srgbClr val="F2EFEC"/>
          </a:solidFill>
          <a:ln w="6350">
            <a:solidFill>
              <a:srgbClr val="F2EFEC"/>
            </a:solidFill>
            <a:prstDash val="solid"/>
          </a:ln>
        </p:spPr>
      </p:sp>
      <p:sp>
        <p:nvSpPr>
          <p:cNvPr id="19" name="Shape 14"/>
          <p:cNvSpPr/>
          <p:nvPr/>
        </p:nvSpPr>
        <p:spPr>
          <a:xfrm>
            <a:off x="3602736" y="1554480"/>
            <a:ext cx="548640" cy="548640"/>
          </a:xfrm>
          <a:prstGeom prst="ellipse">
            <a:avLst/>
          </a:prstGeom>
          <a:solidFill>
            <a:srgbClr val="C9C4BE"/>
          </a:solidFill>
          <a:ln w="12700">
            <a:solidFill>
              <a:srgbClr val="C9C4BE"/>
            </a:solidFill>
            <a:prstDash val="solid"/>
          </a:ln>
        </p:spPr>
      </p:sp>
      <p:pic>
        <p:nvPicPr>
          <p:cNvPr id="20" name="Image 2" descr="preencoded.png">    </p:cNvPr>
          <p:cNvPicPr>
            <a:picLocks noChangeAspect="1"/>
          </p:cNvPicPr>
          <p:nvPr/>
        </p:nvPicPr>
        <p:blipFill>
          <a:blip r:embed="rId3"/>
          <a:stretch>
            <a:fillRect/>
          </a:stretch>
        </p:blipFill>
        <p:spPr>
          <a:xfrm>
            <a:off x="3739896" y="1691640"/>
            <a:ext cx="274320" cy="274320"/>
          </a:xfrm>
          <a:prstGeom prst="rect">
            <a:avLst/>
          </a:prstGeom>
        </p:spPr>
      </p:pic>
      <p:sp>
        <p:nvSpPr>
          <p:cNvPr id="21" name="Text 15"/>
          <p:cNvSpPr txBox="1"/>
          <p:nvPr/>
        </p:nvSpPr>
        <p:spPr>
          <a:xfrm>
            <a:off x="3282696"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Protect</a:t>
            </a:r>
            <a:endParaRPr lang="en-US" sz="1500" dirty="0"/>
          </a:p>
        </p:txBody>
      </p:sp>
      <p:sp>
        <p:nvSpPr>
          <p:cNvPr id="22" name="Text 16"/>
          <p:cNvSpPr txBox="1"/>
          <p:nvPr/>
        </p:nvSpPr>
        <p:spPr>
          <a:xfrm>
            <a:off x="3328416"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Keep it safe</a:t>
            </a:r>
            <a:endParaRPr lang="en-US" sz="1200" dirty="0"/>
          </a:p>
        </p:txBody>
      </p:sp>
      <p:sp>
        <p:nvSpPr>
          <p:cNvPr id="23" name="Shape 17"/>
          <p:cNvSpPr/>
          <p:nvPr/>
        </p:nvSpPr>
        <p:spPr>
          <a:xfrm>
            <a:off x="4626864" y="1325880"/>
            <a:ext cx="1280160" cy="2103120"/>
          </a:xfrm>
          <a:prstGeom prst="roundRect">
            <a:avLst>
              <a:gd name="adj" fmla="val 5714"/>
            </a:avLst>
          </a:prstGeom>
          <a:solidFill>
            <a:srgbClr val="F2EFEC"/>
          </a:solidFill>
          <a:ln w="6350">
            <a:solidFill>
              <a:srgbClr val="F2EFEC"/>
            </a:solidFill>
            <a:prstDash val="solid"/>
          </a:ln>
        </p:spPr>
      </p:sp>
      <p:sp>
        <p:nvSpPr>
          <p:cNvPr id="24" name="Shape 18"/>
          <p:cNvSpPr/>
          <p:nvPr/>
        </p:nvSpPr>
        <p:spPr>
          <a:xfrm>
            <a:off x="4992624" y="1554480"/>
            <a:ext cx="548640" cy="548640"/>
          </a:xfrm>
          <a:prstGeom prst="ellipse">
            <a:avLst/>
          </a:prstGeom>
          <a:solidFill>
            <a:srgbClr val="C9C4BE"/>
          </a:solidFill>
          <a:ln w="12700">
            <a:solidFill>
              <a:srgbClr val="C9C4BE"/>
            </a:solidFill>
            <a:prstDash val="solid"/>
          </a:ln>
        </p:spPr>
      </p:sp>
      <p:pic>
        <p:nvPicPr>
          <p:cNvPr id="25" name="Image 3" descr="preencoded.png">    </p:cNvPr>
          <p:cNvPicPr>
            <a:picLocks noChangeAspect="1"/>
          </p:cNvPicPr>
          <p:nvPr/>
        </p:nvPicPr>
        <p:blipFill>
          <a:blip r:embed="rId4"/>
          <a:stretch>
            <a:fillRect/>
          </a:stretch>
        </p:blipFill>
        <p:spPr>
          <a:xfrm>
            <a:off x="5129784" y="1691640"/>
            <a:ext cx="274320" cy="274320"/>
          </a:xfrm>
          <a:prstGeom prst="rect">
            <a:avLst/>
          </a:prstGeom>
        </p:spPr>
      </p:pic>
      <p:sp>
        <p:nvSpPr>
          <p:cNvPr id="26" name="Text 19"/>
          <p:cNvSpPr txBox="1"/>
          <p:nvPr/>
        </p:nvSpPr>
        <p:spPr>
          <a:xfrm>
            <a:off x="4672584"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Detect</a:t>
            </a:r>
            <a:endParaRPr lang="en-US" sz="1500" dirty="0"/>
          </a:p>
        </p:txBody>
      </p:sp>
      <p:sp>
        <p:nvSpPr>
          <p:cNvPr id="27" name="Text 20"/>
          <p:cNvSpPr txBox="1"/>
          <p:nvPr/>
        </p:nvSpPr>
        <p:spPr>
          <a:xfrm>
            <a:off x="4718304"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Spot attacks</a:t>
            </a:r>
            <a:endParaRPr lang="en-US" sz="1200" dirty="0"/>
          </a:p>
        </p:txBody>
      </p:sp>
      <p:sp>
        <p:nvSpPr>
          <p:cNvPr id="28" name="Shape 21"/>
          <p:cNvSpPr/>
          <p:nvPr/>
        </p:nvSpPr>
        <p:spPr>
          <a:xfrm>
            <a:off x="6016752" y="1325880"/>
            <a:ext cx="1280160" cy="2103120"/>
          </a:xfrm>
          <a:prstGeom prst="roundRect">
            <a:avLst>
              <a:gd name="adj" fmla="val 5714"/>
            </a:avLst>
          </a:prstGeom>
          <a:solidFill>
            <a:srgbClr val="F2EFEC"/>
          </a:solidFill>
          <a:ln w="6350">
            <a:solidFill>
              <a:srgbClr val="F2EFEC"/>
            </a:solidFill>
            <a:prstDash val="solid"/>
          </a:ln>
        </p:spPr>
      </p:sp>
      <p:sp>
        <p:nvSpPr>
          <p:cNvPr id="29" name="Shape 22"/>
          <p:cNvSpPr/>
          <p:nvPr/>
        </p:nvSpPr>
        <p:spPr>
          <a:xfrm>
            <a:off x="6382512" y="1554480"/>
            <a:ext cx="548640" cy="548640"/>
          </a:xfrm>
          <a:prstGeom prst="ellipse">
            <a:avLst/>
          </a:prstGeom>
          <a:solidFill>
            <a:srgbClr val="C9C4BE"/>
          </a:solidFill>
          <a:ln w="12700">
            <a:solidFill>
              <a:srgbClr val="C9C4BE"/>
            </a:solidFill>
            <a:prstDash val="solid"/>
          </a:ln>
        </p:spPr>
      </p:sp>
      <p:pic>
        <p:nvPicPr>
          <p:cNvPr id="30" name="Image 4" descr="preencoded.png">    </p:cNvPr>
          <p:cNvPicPr>
            <a:picLocks noChangeAspect="1"/>
          </p:cNvPicPr>
          <p:nvPr/>
        </p:nvPicPr>
        <p:blipFill>
          <a:blip r:embed="rId5"/>
          <a:stretch>
            <a:fillRect/>
          </a:stretch>
        </p:blipFill>
        <p:spPr>
          <a:xfrm>
            <a:off x="6519672" y="1691640"/>
            <a:ext cx="274320" cy="274320"/>
          </a:xfrm>
          <a:prstGeom prst="rect">
            <a:avLst/>
          </a:prstGeom>
        </p:spPr>
      </p:pic>
      <p:sp>
        <p:nvSpPr>
          <p:cNvPr id="31" name="Text 23"/>
          <p:cNvSpPr txBox="1"/>
          <p:nvPr/>
        </p:nvSpPr>
        <p:spPr>
          <a:xfrm>
            <a:off x="6062472"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Respond</a:t>
            </a:r>
            <a:endParaRPr lang="en-US" sz="1500" dirty="0"/>
          </a:p>
        </p:txBody>
      </p:sp>
      <p:sp>
        <p:nvSpPr>
          <p:cNvPr id="32" name="Text 24"/>
          <p:cNvSpPr txBox="1"/>
          <p:nvPr/>
        </p:nvSpPr>
        <p:spPr>
          <a:xfrm>
            <a:off x="6108192"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Act fast</a:t>
            </a:r>
            <a:endParaRPr lang="en-US" sz="1200" dirty="0"/>
          </a:p>
        </p:txBody>
      </p:sp>
      <p:sp>
        <p:nvSpPr>
          <p:cNvPr id="33" name="Shape 25"/>
          <p:cNvSpPr/>
          <p:nvPr/>
        </p:nvSpPr>
        <p:spPr>
          <a:xfrm>
            <a:off x="7406640" y="1325880"/>
            <a:ext cx="1280160" cy="2103120"/>
          </a:xfrm>
          <a:prstGeom prst="roundRect">
            <a:avLst>
              <a:gd name="adj" fmla="val 5714"/>
            </a:avLst>
          </a:prstGeom>
          <a:solidFill>
            <a:srgbClr val="F2EFEC"/>
          </a:solidFill>
          <a:ln w="6350">
            <a:solidFill>
              <a:srgbClr val="F2EFEC"/>
            </a:solidFill>
            <a:prstDash val="solid"/>
          </a:ln>
        </p:spPr>
      </p:sp>
      <p:sp>
        <p:nvSpPr>
          <p:cNvPr id="34" name="Shape 26"/>
          <p:cNvSpPr/>
          <p:nvPr/>
        </p:nvSpPr>
        <p:spPr>
          <a:xfrm>
            <a:off x="7772400" y="1554480"/>
            <a:ext cx="548640" cy="548640"/>
          </a:xfrm>
          <a:prstGeom prst="ellipse">
            <a:avLst/>
          </a:prstGeom>
          <a:solidFill>
            <a:srgbClr val="C9C4BE"/>
          </a:solidFill>
          <a:ln w="12700">
            <a:solidFill>
              <a:srgbClr val="C9C4BE"/>
            </a:solidFill>
            <a:prstDash val="solid"/>
          </a:ln>
        </p:spPr>
      </p:sp>
      <p:pic>
        <p:nvPicPr>
          <p:cNvPr id="35" name="Image 5" descr="preencoded.png">    </p:cNvPr>
          <p:cNvPicPr>
            <a:picLocks noChangeAspect="1"/>
          </p:cNvPicPr>
          <p:nvPr/>
        </p:nvPicPr>
        <p:blipFill>
          <a:blip r:embed="rId6"/>
          <a:stretch>
            <a:fillRect/>
          </a:stretch>
        </p:blipFill>
        <p:spPr>
          <a:xfrm>
            <a:off x="7909560" y="1691640"/>
            <a:ext cx="274320" cy="274320"/>
          </a:xfrm>
          <a:prstGeom prst="rect">
            <a:avLst/>
          </a:prstGeom>
        </p:spPr>
      </p:pic>
      <p:sp>
        <p:nvSpPr>
          <p:cNvPr id="36" name="Text 27"/>
          <p:cNvSpPr txBox="1"/>
          <p:nvPr/>
        </p:nvSpPr>
        <p:spPr>
          <a:xfrm>
            <a:off x="7452360"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Recover</a:t>
            </a:r>
            <a:endParaRPr lang="en-US" sz="1500" dirty="0"/>
          </a:p>
        </p:txBody>
      </p:sp>
      <p:sp>
        <p:nvSpPr>
          <p:cNvPr id="37" name="Text 28"/>
          <p:cNvSpPr txBox="1"/>
          <p:nvPr/>
        </p:nvSpPr>
        <p:spPr>
          <a:xfrm>
            <a:off x="7498080"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Get back to work</a:t>
            </a:r>
            <a:endParaRPr lang="en-US" sz="1200" dirty="0"/>
          </a:p>
        </p:txBody>
      </p:sp>
      <p:sp>
        <p:nvSpPr>
          <p:cNvPr id="38" name="Text 29"/>
          <p:cNvSpPr txBox="1"/>
          <p:nvPr/>
        </p:nvSpPr>
        <p:spPr>
          <a:xfrm>
            <a:off x="457200" y="3749040"/>
            <a:ext cx="8229600" cy="365760"/>
          </a:xfrm>
          <a:prstGeom prst="rect">
            <a:avLst/>
          </a:prstGeom>
          <a:noFill/>
          <a:ln/>
        </p:spPr>
        <p:txBody>
          <a:bodyPr wrap="square" lIns="0" tIns="0" rIns="0" bIns="0" rtlCol="0" anchor="ctr"/>
          <a:lstStyle/>
          <a:p>
            <a:pPr algn="ctr" indent="0" marL="0">
              <a:buNone/>
            </a:pPr>
            <a:r>
              <a:rPr lang="en-US" sz="1800" b="1" dirty="0">
                <a:solidFill>
                  <a:srgbClr val="7D5F3F"/>
                </a:solidFill>
                <a:latin typeface="Open Sans" pitchFamily="34" charset="0"/>
                <a:ea typeface="Open Sans" pitchFamily="34" charset="-122"/>
                <a:cs typeface="Open Sans" pitchFamily="34" charset="-120"/>
              </a:rPr>
              <a:t>Today: Govern and Identify</a:t>
            </a:r>
            <a:endParaRPr lang="en-US" sz="1800" dirty="0"/>
          </a:p>
        </p:txBody>
      </p:sp>
      <p:sp>
        <p:nvSpPr>
          <p:cNvPr id="39" name="Text 30"/>
          <p:cNvSpPr txBox="1"/>
          <p:nvPr/>
        </p:nvSpPr>
        <p:spPr>
          <a:xfrm>
            <a:off x="457200" y="4160520"/>
            <a:ext cx="8229600" cy="320040"/>
          </a:xfrm>
          <a:prstGeom prst="rect">
            <a:avLst/>
          </a:prstGeom>
          <a:noFill/>
          <a:ln/>
        </p:spPr>
        <p:txBody>
          <a:bodyPr wrap="square" lIns="0" tIns="0" rIns="0" bIns="0" rtlCol="0" anchor="ctr"/>
          <a:lstStyle/>
          <a:p>
            <a:pPr algn="ctr" indent="0" marL="0">
              <a:buNone/>
            </a:pPr>
            <a:r>
              <a:rPr lang="en-US" sz="1200" dirty="0">
                <a:solidFill>
                  <a:srgbClr val="5A5F55"/>
                </a:solidFill>
                <a:latin typeface="Open Sans" pitchFamily="34" charset="0"/>
                <a:ea typeface="Open Sans" pitchFamily="34" charset="-122"/>
                <a:cs typeface="Open Sans" pitchFamily="34" charset="-120"/>
              </a:rPr>
              <a:t>This map comes from the NIST Cybersecurity Framework 2.0, used by companies around the world.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Meet TeaLeaf Exports (Pvt) Ltd</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5</a:t>
            </a:r>
            <a:endParaRPr lang="en-US" sz="800" dirty="0"/>
          </a:p>
        </p:txBody>
      </p:sp>
      <p:sp>
        <p:nvSpPr>
          <p:cNvPr id="8" name="Shape 5"/>
          <p:cNvSpPr/>
          <p:nvPr/>
        </p:nvSpPr>
        <p:spPr>
          <a:xfrm>
            <a:off x="457200" y="1234440"/>
            <a:ext cx="548640" cy="5486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594360" y="1371600"/>
            <a:ext cx="274320" cy="274320"/>
          </a:xfrm>
          <a:prstGeom prst="rect">
            <a:avLst/>
          </a:prstGeom>
        </p:spPr>
      </p:pic>
      <p:sp>
        <p:nvSpPr>
          <p:cNvPr id="10" name="Text 6"/>
          <p:cNvSpPr txBox="1"/>
          <p:nvPr/>
        </p:nvSpPr>
        <p:spPr>
          <a:xfrm>
            <a:off x="1188720" y="118872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A tea exporter in Colombo</a:t>
            </a:r>
            <a:endParaRPr lang="en-US" sz="1600" dirty="0"/>
          </a:p>
        </p:txBody>
      </p:sp>
      <p:sp>
        <p:nvSpPr>
          <p:cNvPr id="11" name="Text 7"/>
          <p:cNvSpPr txBox="1"/>
          <p:nvPr/>
        </p:nvSpPr>
        <p:spPr>
          <a:xfrm>
            <a:off x="1188720" y="1499616"/>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About 45 staff. Sells tea to buyers in other countries.</a:t>
            </a:r>
            <a:endParaRPr lang="en-US" sz="1300" dirty="0"/>
          </a:p>
        </p:txBody>
      </p:sp>
      <p:sp>
        <p:nvSpPr>
          <p:cNvPr id="12" name="Shape 8"/>
          <p:cNvSpPr/>
          <p:nvPr/>
        </p:nvSpPr>
        <p:spPr>
          <a:xfrm>
            <a:off x="457200" y="2075688"/>
            <a:ext cx="548640" cy="548640"/>
          </a:xfrm>
          <a:prstGeom prst="ellipse">
            <a:avLst/>
          </a:prstGeom>
          <a:solidFill>
            <a:srgbClr val="667C7E"/>
          </a:solidFill>
          <a:ln w="12700">
            <a:solidFill>
              <a:srgbClr val="667C7E"/>
            </a:solidFill>
            <a:prstDash val="solid"/>
          </a:ln>
        </p:spPr>
      </p:sp>
      <p:pic>
        <p:nvPicPr>
          <p:cNvPr id="13" name="Image 1" descr="preencoded.png">    </p:cNvPr>
          <p:cNvPicPr>
            <a:picLocks noChangeAspect="1"/>
          </p:cNvPicPr>
          <p:nvPr/>
        </p:nvPicPr>
        <p:blipFill>
          <a:blip r:embed="rId2"/>
          <a:stretch>
            <a:fillRect/>
          </a:stretch>
        </p:blipFill>
        <p:spPr>
          <a:xfrm>
            <a:off x="594360" y="2212848"/>
            <a:ext cx="274320" cy="274320"/>
          </a:xfrm>
          <a:prstGeom prst="rect">
            <a:avLst/>
          </a:prstGeom>
        </p:spPr>
      </p:pic>
      <p:sp>
        <p:nvSpPr>
          <p:cNvPr id="14" name="Text 9"/>
          <p:cNvSpPr txBox="1"/>
          <p:nvPr/>
        </p:nvSpPr>
        <p:spPr>
          <a:xfrm>
            <a:off x="1188720" y="2029968"/>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An online shop</a:t>
            </a:r>
            <a:endParaRPr lang="en-US" sz="1600" dirty="0"/>
          </a:p>
        </p:txBody>
      </p:sp>
      <p:sp>
        <p:nvSpPr>
          <p:cNvPr id="15" name="Text 10"/>
          <p:cNvSpPr txBox="1"/>
          <p:nvPr/>
        </p:nvSpPr>
        <p:spPr>
          <a:xfrm>
            <a:off x="1188720" y="2340864"/>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Tourists and overseas buyers order online.</a:t>
            </a:r>
            <a:endParaRPr lang="en-US" sz="1300" dirty="0"/>
          </a:p>
        </p:txBody>
      </p:sp>
      <p:sp>
        <p:nvSpPr>
          <p:cNvPr id="16" name="Shape 11"/>
          <p:cNvSpPr/>
          <p:nvPr/>
        </p:nvSpPr>
        <p:spPr>
          <a:xfrm>
            <a:off x="457200" y="2916936"/>
            <a:ext cx="548640" cy="548640"/>
          </a:xfrm>
          <a:prstGeom prst="ellipse">
            <a:avLst/>
          </a:prstGeom>
          <a:solidFill>
            <a:srgbClr val="667C7E"/>
          </a:solidFill>
          <a:ln w="12700">
            <a:solidFill>
              <a:srgbClr val="667C7E"/>
            </a:solidFill>
            <a:prstDash val="solid"/>
          </a:ln>
        </p:spPr>
      </p:sp>
      <p:pic>
        <p:nvPicPr>
          <p:cNvPr id="17" name="Image 2" descr="preencoded.png">    </p:cNvPr>
          <p:cNvPicPr>
            <a:picLocks noChangeAspect="1"/>
          </p:cNvPicPr>
          <p:nvPr/>
        </p:nvPicPr>
        <p:blipFill>
          <a:blip r:embed="rId3"/>
          <a:stretch>
            <a:fillRect/>
          </a:stretch>
        </p:blipFill>
        <p:spPr>
          <a:xfrm>
            <a:off x="594360" y="3054096"/>
            <a:ext cx="274320" cy="274320"/>
          </a:xfrm>
          <a:prstGeom prst="rect">
            <a:avLst/>
          </a:prstGeom>
        </p:spPr>
      </p:pic>
      <p:sp>
        <p:nvSpPr>
          <p:cNvPr id="18" name="Text 12"/>
          <p:cNvSpPr txBox="1"/>
          <p:nvPr/>
        </p:nvSpPr>
        <p:spPr>
          <a:xfrm>
            <a:off x="1188720" y="2871216"/>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One busy IT officer</a:t>
            </a:r>
            <a:endParaRPr lang="en-US" sz="1600" dirty="0"/>
          </a:p>
        </p:txBody>
      </p:sp>
      <p:sp>
        <p:nvSpPr>
          <p:cNvPr id="19" name="Text 13"/>
          <p:cNvSpPr txBox="1"/>
          <p:nvPr/>
        </p:nvSpPr>
        <p:spPr>
          <a:xfrm>
            <a:off x="1188720" y="3182112"/>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One person looks after all the computers.</a:t>
            </a:r>
            <a:endParaRPr lang="en-US" sz="1300" dirty="0"/>
          </a:p>
        </p:txBody>
      </p:sp>
      <p:sp>
        <p:nvSpPr>
          <p:cNvPr id="20" name="Shape 14"/>
          <p:cNvSpPr/>
          <p:nvPr/>
        </p:nvSpPr>
        <p:spPr>
          <a:xfrm>
            <a:off x="457200" y="3758184"/>
            <a:ext cx="548640" cy="548640"/>
          </a:xfrm>
          <a:prstGeom prst="ellipse">
            <a:avLst/>
          </a:prstGeom>
          <a:solidFill>
            <a:srgbClr val="667C7E"/>
          </a:solidFill>
          <a:ln w="12700">
            <a:solidFill>
              <a:srgbClr val="667C7E"/>
            </a:solidFill>
            <a:prstDash val="solid"/>
          </a:ln>
        </p:spPr>
      </p:sp>
      <p:pic>
        <p:nvPicPr>
          <p:cNvPr id="21" name="Image 3" descr="preencoded.png">    </p:cNvPr>
          <p:cNvPicPr>
            <a:picLocks noChangeAspect="1"/>
          </p:cNvPicPr>
          <p:nvPr/>
        </p:nvPicPr>
        <p:blipFill>
          <a:blip r:embed="rId4"/>
          <a:stretch>
            <a:fillRect/>
          </a:stretch>
        </p:blipFill>
        <p:spPr>
          <a:xfrm>
            <a:off x="594360" y="3895344"/>
            <a:ext cx="274320" cy="274320"/>
          </a:xfrm>
          <a:prstGeom prst="rect">
            <a:avLst/>
          </a:prstGeom>
        </p:spPr>
      </p:pic>
      <p:sp>
        <p:nvSpPr>
          <p:cNvPr id="22" name="Text 15"/>
          <p:cNvSpPr txBox="1"/>
          <p:nvPr/>
        </p:nvSpPr>
        <p:spPr>
          <a:xfrm>
            <a:off x="1188720" y="3712464"/>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Old habits</a:t>
            </a:r>
            <a:endParaRPr lang="en-US" sz="1600" dirty="0"/>
          </a:p>
        </p:txBody>
      </p:sp>
      <p:sp>
        <p:nvSpPr>
          <p:cNvPr id="23" name="Text 16"/>
          <p:cNvSpPr txBox="1"/>
          <p:nvPr/>
        </p:nvSpPr>
        <p:spPr>
          <a:xfrm>
            <a:off x="1188720" y="4023360"/>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An old office server. Staff share passwords. The MD wants to move to the cloud before December.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457200"/>
            <a:ext cx="1097280" cy="109728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a:t>
            </a:r>
            <a:endParaRPr lang="en-US" sz="9600" dirty="0"/>
          </a:p>
        </p:txBody>
      </p:sp>
      <p:sp>
        <p:nvSpPr>
          <p:cNvPr id="3" name="Text 1"/>
          <p:cNvSpPr txBox="1"/>
          <p:nvPr/>
        </p:nvSpPr>
        <p:spPr>
          <a:xfrm>
            <a:off x="1097280" y="1188720"/>
            <a:ext cx="7132320" cy="201168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What do we have that is worth protecting, and who would want it?</a:t>
            </a:r>
            <a:endParaRPr lang="en-US" sz="2800" dirty="0"/>
          </a:p>
        </p:txBody>
      </p:sp>
      <p:sp>
        <p:nvSpPr>
          <p:cNvPr id="4" name="Text 2"/>
          <p:cNvSpPr txBox="1"/>
          <p:nvPr/>
        </p:nvSpPr>
        <p:spPr>
          <a:xfrm>
            <a:off x="1097280" y="3383280"/>
            <a:ext cx="7132320" cy="457200"/>
          </a:xfrm>
          <a:prstGeom prst="rect">
            <a:avLst/>
          </a:prstGeom>
          <a:noFill/>
          <a:ln/>
        </p:spPr>
        <p:txBody>
          <a:bodyPr wrap="square" lIns="0" tIns="0" rIns="0" bIns="0" rtlCol="0" anchor="ctr"/>
          <a:lstStyle/>
          <a:p>
            <a:pPr indent="0" marL="0">
              <a:buNone/>
            </a:pPr>
            <a:r>
              <a:rPr lang="en-US" sz="1500" dirty="0">
                <a:solidFill>
                  <a:srgbClr val="C7A887"/>
                </a:solidFill>
                <a:latin typeface="Open Sans" pitchFamily="34" charset="0"/>
                <a:ea typeface="Open Sans" pitchFamily="34" charset="-122"/>
                <a:cs typeface="Open Sans" pitchFamily="34" charset="-120"/>
              </a:rPr>
              <a:t>The Managing Director of TeaLeaf, on Monday morning</a:t>
            </a:r>
            <a:endParaRPr lang="en-US" sz="15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This morning you will learn</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7</a:t>
            </a:r>
            <a:endParaRPr lang="en-US" sz="800" dirty="0"/>
          </a:p>
        </p:txBody>
      </p:sp>
      <p:sp>
        <p:nvSpPr>
          <p:cNvPr id="8" name="Shape 5"/>
          <p:cNvSpPr/>
          <p:nvPr/>
        </p:nvSpPr>
        <p:spPr>
          <a:xfrm>
            <a:off x="457200" y="1234440"/>
            <a:ext cx="548640" cy="5486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594360" y="1371600"/>
            <a:ext cx="274320" cy="274320"/>
          </a:xfrm>
          <a:prstGeom prst="rect">
            <a:avLst/>
          </a:prstGeom>
        </p:spPr>
      </p:pic>
      <p:sp>
        <p:nvSpPr>
          <p:cNvPr id="10" name="Text 6"/>
          <p:cNvSpPr txBox="1"/>
          <p:nvPr/>
        </p:nvSpPr>
        <p:spPr>
          <a:xfrm>
            <a:off x="1188720" y="118872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1.  Small businesses are attacked too</a:t>
            </a:r>
            <a:endParaRPr lang="en-US" sz="1600" dirty="0"/>
          </a:p>
        </p:txBody>
      </p:sp>
      <p:sp>
        <p:nvSpPr>
          <p:cNvPr id="11" name="Text 7"/>
          <p:cNvSpPr txBox="1"/>
          <p:nvPr/>
        </p:nvSpPr>
        <p:spPr>
          <a:xfrm>
            <a:off x="1188720" y="1499616"/>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Why a tea company is a target.</a:t>
            </a:r>
            <a:endParaRPr lang="en-US" sz="1300" dirty="0"/>
          </a:p>
        </p:txBody>
      </p:sp>
      <p:sp>
        <p:nvSpPr>
          <p:cNvPr id="12" name="Shape 8"/>
          <p:cNvSpPr/>
          <p:nvPr/>
        </p:nvSpPr>
        <p:spPr>
          <a:xfrm>
            <a:off x="457200" y="2075688"/>
            <a:ext cx="548640" cy="548640"/>
          </a:xfrm>
          <a:prstGeom prst="ellipse">
            <a:avLst/>
          </a:prstGeom>
          <a:solidFill>
            <a:srgbClr val="667C7E"/>
          </a:solidFill>
          <a:ln w="12700">
            <a:solidFill>
              <a:srgbClr val="667C7E"/>
            </a:solidFill>
            <a:prstDash val="solid"/>
          </a:ln>
        </p:spPr>
      </p:sp>
      <p:pic>
        <p:nvPicPr>
          <p:cNvPr id="13" name="Image 1" descr="preencoded.png">    </p:cNvPr>
          <p:cNvPicPr>
            <a:picLocks noChangeAspect="1"/>
          </p:cNvPicPr>
          <p:nvPr/>
        </p:nvPicPr>
        <p:blipFill>
          <a:blip r:embed="rId2"/>
          <a:stretch>
            <a:fillRect/>
          </a:stretch>
        </p:blipFill>
        <p:spPr>
          <a:xfrm>
            <a:off x="594360" y="2212848"/>
            <a:ext cx="274320" cy="274320"/>
          </a:xfrm>
          <a:prstGeom prst="rect">
            <a:avLst/>
          </a:prstGeom>
        </p:spPr>
      </p:pic>
      <p:sp>
        <p:nvSpPr>
          <p:cNvPr id="14" name="Text 9"/>
          <p:cNvSpPr txBox="1"/>
          <p:nvPr/>
        </p:nvSpPr>
        <p:spPr>
          <a:xfrm>
            <a:off x="1188720" y="2029968"/>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2.  Information is an asset</a:t>
            </a:r>
            <a:endParaRPr lang="en-US" sz="1600" dirty="0"/>
          </a:p>
        </p:txBody>
      </p:sp>
      <p:sp>
        <p:nvSpPr>
          <p:cNvPr id="15" name="Text 10"/>
          <p:cNvSpPr txBox="1"/>
          <p:nvPr/>
        </p:nvSpPr>
        <p:spPr>
          <a:xfrm>
            <a:off x="1188720" y="2340864"/>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Information has value, like money or stock.</a:t>
            </a:r>
            <a:endParaRPr lang="en-US" sz="1300" dirty="0"/>
          </a:p>
        </p:txBody>
      </p:sp>
      <p:sp>
        <p:nvSpPr>
          <p:cNvPr id="16" name="Shape 11"/>
          <p:cNvSpPr/>
          <p:nvPr/>
        </p:nvSpPr>
        <p:spPr>
          <a:xfrm>
            <a:off x="457200" y="2916936"/>
            <a:ext cx="548640" cy="548640"/>
          </a:xfrm>
          <a:prstGeom prst="ellipse">
            <a:avLst/>
          </a:prstGeom>
          <a:solidFill>
            <a:srgbClr val="667C7E"/>
          </a:solidFill>
          <a:ln w="12700">
            <a:solidFill>
              <a:srgbClr val="667C7E"/>
            </a:solidFill>
            <a:prstDash val="solid"/>
          </a:ln>
        </p:spPr>
      </p:sp>
      <p:pic>
        <p:nvPicPr>
          <p:cNvPr id="17" name="Image 2" descr="preencoded.png">    </p:cNvPr>
          <p:cNvPicPr>
            <a:picLocks noChangeAspect="1"/>
          </p:cNvPicPr>
          <p:nvPr/>
        </p:nvPicPr>
        <p:blipFill>
          <a:blip r:embed="rId3"/>
          <a:stretch>
            <a:fillRect/>
          </a:stretch>
        </p:blipFill>
        <p:spPr>
          <a:xfrm>
            <a:off x="594360" y="3054096"/>
            <a:ext cx="274320" cy="274320"/>
          </a:xfrm>
          <a:prstGeom prst="rect">
            <a:avLst/>
          </a:prstGeom>
        </p:spPr>
      </p:pic>
      <p:sp>
        <p:nvSpPr>
          <p:cNvPr id="18" name="Text 12"/>
          <p:cNvSpPr txBox="1"/>
          <p:nvPr/>
        </p:nvSpPr>
        <p:spPr>
          <a:xfrm>
            <a:off x="1188720" y="2871216"/>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3.  The CIA triad</a:t>
            </a:r>
            <a:endParaRPr lang="en-US" sz="1600" dirty="0"/>
          </a:p>
        </p:txBody>
      </p:sp>
      <p:sp>
        <p:nvSpPr>
          <p:cNvPr id="19" name="Text 13"/>
          <p:cNvSpPr txBox="1"/>
          <p:nvPr/>
        </p:nvSpPr>
        <p:spPr>
          <a:xfrm>
            <a:off x="1188720" y="3182112"/>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Three things we want for our information.</a:t>
            </a:r>
            <a:endParaRPr lang="en-US" sz="1300" dirty="0"/>
          </a:p>
        </p:txBody>
      </p:sp>
      <p:sp>
        <p:nvSpPr>
          <p:cNvPr id="20" name="Shape 14"/>
          <p:cNvSpPr/>
          <p:nvPr/>
        </p:nvSpPr>
        <p:spPr>
          <a:xfrm>
            <a:off x="457200" y="3758184"/>
            <a:ext cx="548640" cy="548640"/>
          </a:xfrm>
          <a:prstGeom prst="ellipse">
            <a:avLst/>
          </a:prstGeom>
          <a:solidFill>
            <a:srgbClr val="667C7E"/>
          </a:solidFill>
          <a:ln w="12700">
            <a:solidFill>
              <a:srgbClr val="667C7E"/>
            </a:solidFill>
            <a:prstDash val="solid"/>
          </a:ln>
        </p:spPr>
      </p:sp>
      <p:pic>
        <p:nvPicPr>
          <p:cNvPr id="21" name="Image 3" descr="preencoded.png">    </p:cNvPr>
          <p:cNvPicPr>
            <a:picLocks noChangeAspect="1"/>
          </p:cNvPicPr>
          <p:nvPr/>
        </p:nvPicPr>
        <p:blipFill>
          <a:blip r:embed="rId4"/>
          <a:stretch>
            <a:fillRect/>
          </a:stretch>
        </p:blipFill>
        <p:spPr>
          <a:xfrm>
            <a:off x="594360" y="3895344"/>
            <a:ext cx="274320" cy="274320"/>
          </a:xfrm>
          <a:prstGeom prst="rect">
            <a:avLst/>
          </a:prstGeom>
        </p:spPr>
      </p:pic>
      <p:sp>
        <p:nvSpPr>
          <p:cNvPr id="22" name="Text 15"/>
          <p:cNvSpPr txBox="1"/>
          <p:nvPr/>
        </p:nvSpPr>
        <p:spPr>
          <a:xfrm>
            <a:off x="1188720" y="3712464"/>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4.  Threat, vulnerability, risk</a:t>
            </a:r>
            <a:endParaRPr lang="en-US" sz="1600" dirty="0"/>
          </a:p>
        </p:txBody>
      </p:sp>
      <p:sp>
        <p:nvSpPr>
          <p:cNvPr id="23" name="Text 16"/>
          <p:cNvSpPr txBox="1"/>
          <p:nvPr/>
        </p:nvSpPr>
        <p:spPr>
          <a:xfrm>
            <a:off x="1188720" y="4023360"/>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Three words we will use every day this week.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1</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Small businesses are attacked too</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Why would anyone attack a tea company?</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Why attack a small business?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9</a:t>
            </a:r>
            <a:endParaRPr lang="en-US" sz="800" dirty="0"/>
          </a:p>
        </p:txBody>
      </p:sp>
      <p:sp>
        <p:nvSpPr>
          <p:cNvPr id="8" name="Shape 5"/>
          <p:cNvSpPr/>
          <p:nvPr/>
        </p:nvSpPr>
        <p:spPr>
          <a:xfrm>
            <a:off x="457200" y="1188720"/>
            <a:ext cx="2590800" cy="2468880"/>
          </a:xfrm>
          <a:prstGeom prst="roundRect">
            <a:avLst>
              <a:gd name="adj" fmla="val 2963"/>
            </a:avLst>
          </a:prstGeom>
          <a:solidFill>
            <a:srgbClr val="E1E6E6"/>
          </a:solidFill>
          <a:ln w="12700">
            <a:solidFill>
              <a:srgbClr val="E1E6E6"/>
            </a:solidFill>
            <a:prstDash val="solid"/>
          </a:ln>
        </p:spPr>
      </p:sp>
      <p:sp>
        <p:nvSpPr>
          <p:cNvPr id="9" name="Shape 6"/>
          <p:cNvSpPr/>
          <p:nvPr/>
        </p:nvSpPr>
        <p:spPr>
          <a:xfrm>
            <a:off x="640080" y="1371600"/>
            <a:ext cx="502920" cy="50292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They are easy</a:t>
            </a:r>
            <a:endParaRPr lang="en-US" sz="1500" dirty="0"/>
          </a:p>
        </p:txBody>
      </p:sp>
      <p:sp>
        <p:nvSpPr>
          <p:cNvPr id="12" name="Text 8"/>
          <p:cNvSpPr txBox="1"/>
          <p:nvPr/>
        </p:nvSpPr>
        <p:spPr>
          <a:xfrm>
            <a:off x="640080" y="2395728"/>
            <a:ext cx="222504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Small businesses often have weak passwords, old software and no security staff.</a:t>
            </a:r>
            <a:endParaRPr lang="en-US" sz="1250" dirty="0"/>
          </a:p>
        </p:txBody>
      </p:sp>
      <p:sp>
        <p:nvSpPr>
          <p:cNvPr id="13" name="Shape 9"/>
          <p:cNvSpPr/>
          <p:nvPr/>
        </p:nvSpPr>
        <p:spPr>
          <a:xfrm>
            <a:off x="3276600" y="1188720"/>
            <a:ext cx="2590800" cy="2468880"/>
          </a:xfrm>
          <a:prstGeom prst="roundRect">
            <a:avLst>
              <a:gd name="adj" fmla="val 2963"/>
            </a:avLst>
          </a:prstGeom>
          <a:solidFill>
            <a:srgbClr val="E1E6E6"/>
          </a:solidFill>
          <a:ln w="12700">
            <a:solidFill>
              <a:srgbClr val="E1E6E6"/>
            </a:solidFill>
            <a:prstDash val="solid"/>
          </a:ln>
        </p:spPr>
      </p:sp>
      <p:sp>
        <p:nvSpPr>
          <p:cNvPr id="14" name="Shape 10"/>
          <p:cNvSpPr/>
          <p:nvPr/>
        </p:nvSpPr>
        <p:spPr>
          <a:xfrm>
            <a:off x="3459480" y="1371600"/>
            <a:ext cx="502920" cy="50292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3585210" y="1497330"/>
            <a:ext cx="251460" cy="251460"/>
          </a:xfrm>
          <a:prstGeom prst="rect">
            <a:avLst/>
          </a:prstGeom>
        </p:spPr>
      </p:pic>
      <p:sp>
        <p:nvSpPr>
          <p:cNvPr id="16" name="Text 11"/>
          <p:cNvSpPr txBox="1"/>
          <p:nvPr/>
        </p:nvSpPr>
        <p:spPr>
          <a:xfrm>
            <a:off x="34594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They have value</a:t>
            </a:r>
            <a:endParaRPr lang="en-US" sz="1500" dirty="0"/>
          </a:p>
        </p:txBody>
      </p:sp>
      <p:sp>
        <p:nvSpPr>
          <p:cNvPr id="17" name="Text 12"/>
          <p:cNvSpPr txBox="1"/>
          <p:nvPr/>
        </p:nvSpPr>
        <p:spPr>
          <a:xfrm>
            <a:off x="3459480" y="2395728"/>
            <a:ext cx="222504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Money in the bank, customer details, and payments to suppliers.</a:t>
            </a:r>
            <a:endParaRPr lang="en-US" sz="1250" dirty="0"/>
          </a:p>
        </p:txBody>
      </p:sp>
      <p:sp>
        <p:nvSpPr>
          <p:cNvPr id="18" name="Shape 13"/>
          <p:cNvSpPr/>
          <p:nvPr/>
        </p:nvSpPr>
        <p:spPr>
          <a:xfrm>
            <a:off x="6096000" y="1188720"/>
            <a:ext cx="2590800" cy="2468880"/>
          </a:xfrm>
          <a:prstGeom prst="roundRect">
            <a:avLst>
              <a:gd name="adj" fmla="val 2963"/>
            </a:avLst>
          </a:prstGeom>
          <a:solidFill>
            <a:srgbClr val="E1E6E6"/>
          </a:solidFill>
          <a:ln w="12700">
            <a:solidFill>
              <a:srgbClr val="E1E6E6"/>
            </a:solidFill>
            <a:prstDash val="solid"/>
          </a:ln>
        </p:spPr>
      </p:sp>
      <p:sp>
        <p:nvSpPr>
          <p:cNvPr id="19" name="Shape 14"/>
          <p:cNvSpPr/>
          <p:nvPr/>
        </p:nvSpPr>
        <p:spPr>
          <a:xfrm>
            <a:off x="6278880" y="137160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6404610" y="1497330"/>
            <a:ext cx="251460" cy="251460"/>
          </a:xfrm>
          <a:prstGeom prst="rect">
            <a:avLst/>
          </a:prstGeom>
        </p:spPr>
      </p:pic>
      <p:sp>
        <p:nvSpPr>
          <p:cNvPr id="21" name="Text 15"/>
          <p:cNvSpPr txBox="1"/>
          <p:nvPr/>
        </p:nvSpPr>
        <p:spPr>
          <a:xfrm>
            <a:off x="62788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They are connected</a:t>
            </a:r>
            <a:endParaRPr lang="en-US" sz="1500" dirty="0"/>
          </a:p>
        </p:txBody>
      </p:sp>
      <p:sp>
        <p:nvSpPr>
          <p:cNvPr id="22" name="Text 16"/>
          <p:cNvSpPr txBox="1"/>
          <p:nvPr/>
        </p:nvSpPr>
        <p:spPr>
          <a:xfrm>
            <a:off x="6278880" y="2395728"/>
            <a:ext cx="222504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A small supplier can be a way into a bigger customer.</a:t>
            </a:r>
            <a:endParaRPr lang="en-US" sz="1250" dirty="0"/>
          </a:p>
        </p:txBody>
      </p:sp>
      <p:sp>
        <p:nvSpPr>
          <p:cNvPr id="23" name="Text 17"/>
          <p:cNvSpPr txBox="1"/>
          <p:nvPr/>
        </p:nvSpPr>
        <p:spPr>
          <a:xfrm>
            <a:off x="457200" y="3931920"/>
            <a:ext cx="8229600" cy="411480"/>
          </a:xfrm>
          <a:prstGeom prst="rect">
            <a:avLst/>
          </a:prstGeom>
          <a:noFill/>
          <a:ln/>
        </p:spPr>
        <p:txBody>
          <a:bodyPr wrap="square" lIns="0" tIns="0" rIns="0" bIns="0" rtlCol="0" anchor="ctr"/>
          <a:lstStyle/>
          <a:p>
            <a:pPr algn="ctr" indent="0" marL="0">
              <a:buNone/>
            </a:pPr>
            <a:r>
              <a:rPr lang="en-US" sz="1700" b="1" dirty="0">
                <a:solidFill>
                  <a:srgbClr val="566A6C"/>
                </a:solidFill>
                <a:latin typeface="Open Sans" pitchFamily="34" charset="0"/>
                <a:ea typeface="Open Sans" pitchFamily="34" charset="-122"/>
                <a:cs typeface="Open Sans" pitchFamily="34" charset="-120"/>
              </a:rPr>
              <a:t>Easy, valuable and connected: TeaLeaf is all three.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Most attacks are not personal</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10</a:t>
            </a:r>
            <a:endParaRPr lang="en-US" sz="800" dirty="0"/>
          </a:p>
        </p:txBody>
      </p:sp>
      <p:sp>
        <p:nvSpPr>
          <p:cNvPr id="8" name="Shape 5"/>
          <p:cNvSpPr/>
          <p:nvPr/>
        </p:nvSpPr>
        <p:spPr>
          <a:xfrm>
            <a:off x="731520" y="2103120"/>
            <a:ext cx="1005840" cy="1005840"/>
          </a:xfrm>
          <a:prstGeom prst="ellipse">
            <a:avLst/>
          </a:prstGeom>
          <a:solidFill>
            <a:srgbClr val="C7A887"/>
          </a:solidFill>
          <a:ln w="12700">
            <a:solidFill>
              <a:srgbClr val="C7A887"/>
            </a:solidFill>
            <a:prstDash val="solid"/>
          </a:ln>
        </p:spPr>
      </p:sp>
      <p:pic>
        <p:nvPicPr>
          <p:cNvPr id="9" name="Image 0" descr="preencoded.png">    </p:cNvPr>
          <p:cNvPicPr>
            <a:picLocks noChangeAspect="1"/>
          </p:cNvPicPr>
          <p:nvPr/>
        </p:nvPicPr>
        <p:blipFill>
          <a:blip r:embed="rId1"/>
          <a:stretch>
            <a:fillRect/>
          </a:stretch>
        </p:blipFill>
        <p:spPr>
          <a:xfrm>
            <a:off x="982980" y="2354580"/>
            <a:ext cx="502920" cy="502920"/>
          </a:xfrm>
          <a:prstGeom prst="rect">
            <a:avLst/>
          </a:prstGeom>
        </p:spPr>
      </p:pic>
      <p:sp>
        <p:nvSpPr>
          <p:cNvPr id="10" name="Text 6"/>
          <p:cNvSpPr txBox="1"/>
          <p:nvPr/>
        </p:nvSpPr>
        <p:spPr>
          <a:xfrm>
            <a:off x="365760" y="3200400"/>
            <a:ext cx="1737360" cy="365760"/>
          </a:xfrm>
          <a:prstGeom prst="rect">
            <a:avLst/>
          </a:prstGeom>
          <a:noFill/>
          <a:ln/>
        </p:spPr>
        <p:txBody>
          <a:bodyPr wrap="square" lIns="0" tIns="0" rIns="0" bIns="0" rtlCol="0" anchor="ctr"/>
          <a:lstStyle/>
          <a:p>
            <a:pPr algn="ctr" indent="0" marL="0">
              <a:buNone/>
            </a:pPr>
            <a:r>
              <a:rPr lang="en-US" sz="1300" b="1" dirty="0">
                <a:solidFill>
                  <a:srgbClr val="7D5F3F"/>
                </a:solidFill>
                <a:latin typeface="Open Sans" pitchFamily="34" charset="0"/>
                <a:ea typeface="Open Sans" pitchFamily="34" charset="-122"/>
                <a:cs typeface="Open Sans" pitchFamily="34" charset="-120"/>
              </a:rPr>
              <a:t>One attacker</a:t>
            </a:r>
            <a:endParaRPr lang="en-US" sz="1300" dirty="0"/>
          </a:p>
        </p:txBody>
      </p:sp>
      <p:sp>
        <p:nvSpPr>
          <p:cNvPr id="11" name="Shape 7"/>
          <p:cNvSpPr/>
          <p:nvPr/>
        </p:nvSpPr>
        <p:spPr>
          <a:xfrm flipV="1">
            <a:off x="1920240" y="1463040"/>
            <a:ext cx="2011680" cy="1143000"/>
          </a:xfrm>
          <a:prstGeom prst="line">
            <a:avLst/>
          </a:prstGeom>
          <a:noFill/>
          <a:ln w="19050">
            <a:solidFill>
              <a:srgbClr val="A39E98"/>
            </a:solidFill>
            <a:prstDash val="solid"/>
            <a:tailEnd type="triangle"/>
          </a:ln>
        </p:spPr>
      </p:sp>
      <p:sp>
        <p:nvSpPr>
          <p:cNvPr id="12" name="Shape 8"/>
          <p:cNvSpPr/>
          <p:nvPr/>
        </p:nvSpPr>
        <p:spPr>
          <a:xfrm>
            <a:off x="4023360" y="1234440"/>
            <a:ext cx="457200" cy="457200"/>
          </a:xfrm>
          <a:prstGeom prst="ellipse">
            <a:avLst/>
          </a:prstGeom>
          <a:solidFill>
            <a:srgbClr val="A39E98"/>
          </a:solidFill>
          <a:ln w="12700">
            <a:solidFill>
              <a:srgbClr val="A39E98"/>
            </a:solidFill>
            <a:prstDash val="solid"/>
          </a:ln>
        </p:spPr>
      </p:sp>
      <p:pic>
        <p:nvPicPr>
          <p:cNvPr id="13" name="Image 1" descr="preencoded.png">    </p:cNvPr>
          <p:cNvPicPr>
            <a:picLocks noChangeAspect="1"/>
          </p:cNvPicPr>
          <p:nvPr/>
        </p:nvPicPr>
        <p:blipFill>
          <a:blip r:embed="rId2"/>
          <a:stretch>
            <a:fillRect/>
          </a:stretch>
        </p:blipFill>
        <p:spPr>
          <a:xfrm>
            <a:off x="4137660" y="1348740"/>
            <a:ext cx="228600" cy="228600"/>
          </a:xfrm>
          <a:prstGeom prst="rect">
            <a:avLst/>
          </a:prstGeom>
        </p:spPr>
      </p:pic>
      <p:sp>
        <p:nvSpPr>
          <p:cNvPr id="14" name="Shape 9"/>
          <p:cNvSpPr/>
          <p:nvPr/>
        </p:nvSpPr>
        <p:spPr>
          <a:xfrm flipV="1">
            <a:off x="1920240" y="2148840"/>
            <a:ext cx="2011680" cy="457200"/>
          </a:xfrm>
          <a:prstGeom prst="line">
            <a:avLst/>
          </a:prstGeom>
          <a:noFill/>
          <a:ln w="19050">
            <a:solidFill>
              <a:srgbClr val="A39E98"/>
            </a:solidFill>
            <a:prstDash val="solid"/>
            <a:tailEnd type="triangle"/>
          </a:ln>
        </p:spPr>
      </p:sp>
      <p:sp>
        <p:nvSpPr>
          <p:cNvPr id="15" name="Shape 10"/>
          <p:cNvSpPr/>
          <p:nvPr/>
        </p:nvSpPr>
        <p:spPr>
          <a:xfrm>
            <a:off x="4023360" y="1920240"/>
            <a:ext cx="457200" cy="457200"/>
          </a:xfrm>
          <a:prstGeom prst="ellipse">
            <a:avLst/>
          </a:prstGeom>
          <a:solidFill>
            <a:srgbClr val="A39E98"/>
          </a:solidFill>
          <a:ln w="12700">
            <a:solidFill>
              <a:srgbClr val="A39E98"/>
            </a:solidFill>
            <a:prstDash val="solid"/>
          </a:ln>
        </p:spPr>
      </p:sp>
      <p:pic>
        <p:nvPicPr>
          <p:cNvPr id="16" name="Image 2" descr="preencoded.png">    </p:cNvPr>
          <p:cNvPicPr>
            <a:picLocks noChangeAspect="1"/>
          </p:cNvPicPr>
          <p:nvPr/>
        </p:nvPicPr>
        <p:blipFill>
          <a:blip r:embed="rId3"/>
          <a:stretch>
            <a:fillRect/>
          </a:stretch>
        </p:blipFill>
        <p:spPr>
          <a:xfrm>
            <a:off x="4137660" y="2034540"/>
            <a:ext cx="228600" cy="228600"/>
          </a:xfrm>
          <a:prstGeom prst="rect">
            <a:avLst/>
          </a:prstGeom>
        </p:spPr>
      </p:pic>
      <p:sp>
        <p:nvSpPr>
          <p:cNvPr id="17" name="Shape 11"/>
          <p:cNvSpPr/>
          <p:nvPr/>
        </p:nvSpPr>
        <p:spPr>
          <a:xfrm>
            <a:off x="1920240" y="2606040"/>
            <a:ext cx="2011680" cy="228600"/>
          </a:xfrm>
          <a:prstGeom prst="line">
            <a:avLst/>
          </a:prstGeom>
          <a:noFill/>
          <a:ln w="19050">
            <a:solidFill>
              <a:srgbClr val="A39E98"/>
            </a:solidFill>
            <a:prstDash val="solid"/>
            <a:tailEnd type="triangle"/>
          </a:ln>
        </p:spPr>
      </p:sp>
      <p:sp>
        <p:nvSpPr>
          <p:cNvPr id="18" name="Shape 12"/>
          <p:cNvSpPr/>
          <p:nvPr/>
        </p:nvSpPr>
        <p:spPr>
          <a:xfrm>
            <a:off x="4023360" y="2606040"/>
            <a:ext cx="457200" cy="457200"/>
          </a:xfrm>
          <a:prstGeom prst="ellipse">
            <a:avLst/>
          </a:prstGeom>
          <a:solidFill>
            <a:srgbClr val="667C7E"/>
          </a:solidFill>
          <a:ln w="12700">
            <a:solidFill>
              <a:srgbClr val="667C7E"/>
            </a:solidFill>
            <a:prstDash val="solid"/>
          </a:ln>
        </p:spPr>
      </p:sp>
      <p:pic>
        <p:nvPicPr>
          <p:cNvPr id="19" name="Image 3" descr="preencoded.png">    </p:cNvPr>
          <p:cNvPicPr>
            <a:picLocks noChangeAspect="1"/>
          </p:cNvPicPr>
          <p:nvPr/>
        </p:nvPicPr>
        <p:blipFill>
          <a:blip r:embed="rId4"/>
          <a:stretch>
            <a:fillRect/>
          </a:stretch>
        </p:blipFill>
        <p:spPr>
          <a:xfrm>
            <a:off x="4137660" y="2720340"/>
            <a:ext cx="228600" cy="228600"/>
          </a:xfrm>
          <a:prstGeom prst="rect">
            <a:avLst/>
          </a:prstGeom>
        </p:spPr>
      </p:pic>
      <p:sp>
        <p:nvSpPr>
          <p:cNvPr id="20" name="Shape 13"/>
          <p:cNvSpPr/>
          <p:nvPr/>
        </p:nvSpPr>
        <p:spPr>
          <a:xfrm>
            <a:off x="1920240" y="2606040"/>
            <a:ext cx="2011680" cy="914400"/>
          </a:xfrm>
          <a:prstGeom prst="line">
            <a:avLst/>
          </a:prstGeom>
          <a:noFill/>
          <a:ln w="19050">
            <a:solidFill>
              <a:srgbClr val="A39E98"/>
            </a:solidFill>
            <a:prstDash val="solid"/>
            <a:tailEnd type="triangle"/>
          </a:ln>
        </p:spPr>
      </p:sp>
      <p:sp>
        <p:nvSpPr>
          <p:cNvPr id="21" name="Shape 14"/>
          <p:cNvSpPr/>
          <p:nvPr/>
        </p:nvSpPr>
        <p:spPr>
          <a:xfrm>
            <a:off x="4023360" y="3291840"/>
            <a:ext cx="457200" cy="457200"/>
          </a:xfrm>
          <a:prstGeom prst="ellipse">
            <a:avLst/>
          </a:prstGeom>
          <a:solidFill>
            <a:srgbClr val="A39E98"/>
          </a:solidFill>
          <a:ln w="12700">
            <a:solidFill>
              <a:srgbClr val="A39E98"/>
            </a:solidFill>
            <a:prstDash val="solid"/>
          </a:ln>
        </p:spPr>
      </p:sp>
      <p:pic>
        <p:nvPicPr>
          <p:cNvPr id="22" name="Image 4" descr="preencoded.png">    </p:cNvPr>
          <p:cNvPicPr>
            <a:picLocks noChangeAspect="1"/>
          </p:cNvPicPr>
          <p:nvPr/>
        </p:nvPicPr>
        <p:blipFill>
          <a:blip r:embed="rId5"/>
          <a:stretch>
            <a:fillRect/>
          </a:stretch>
        </p:blipFill>
        <p:spPr>
          <a:xfrm>
            <a:off x="4137660" y="3406140"/>
            <a:ext cx="228600" cy="228600"/>
          </a:xfrm>
          <a:prstGeom prst="rect">
            <a:avLst/>
          </a:prstGeom>
        </p:spPr>
      </p:pic>
      <p:sp>
        <p:nvSpPr>
          <p:cNvPr id="23" name="Shape 15"/>
          <p:cNvSpPr/>
          <p:nvPr/>
        </p:nvSpPr>
        <p:spPr>
          <a:xfrm>
            <a:off x="1920240" y="2606040"/>
            <a:ext cx="2011680" cy="1600200"/>
          </a:xfrm>
          <a:prstGeom prst="line">
            <a:avLst/>
          </a:prstGeom>
          <a:noFill/>
          <a:ln w="19050">
            <a:solidFill>
              <a:srgbClr val="A39E98"/>
            </a:solidFill>
            <a:prstDash val="solid"/>
            <a:tailEnd type="triangle"/>
          </a:ln>
        </p:spPr>
      </p:sp>
      <p:sp>
        <p:nvSpPr>
          <p:cNvPr id="24" name="Shape 16"/>
          <p:cNvSpPr/>
          <p:nvPr/>
        </p:nvSpPr>
        <p:spPr>
          <a:xfrm>
            <a:off x="4023360" y="3977640"/>
            <a:ext cx="457200" cy="457200"/>
          </a:xfrm>
          <a:prstGeom prst="ellipse">
            <a:avLst/>
          </a:prstGeom>
          <a:solidFill>
            <a:srgbClr val="A39E98"/>
          </a:solidFill>
          <a:ln w="12700">
            <a:solidFill>
              <a:srgbClr val="A39E98"/>
            </a:solidFill>
            <a:prstDash val="solid"/>
          </a:ln>
        </p:spPr>
      </p:sp>
      <p:pic>
        <p:nvPicPr>
          <p:cNvPr id="25" name="Image 5" descr="preencoded.png">    </p:cNvPr>
          <p:cNvPicPr>
            <a:picLocks noChangeAspect="1"/>
          </p:cNvPicPr>
          <p:nvPr/>
        </p:nvPicPr>
        <p:blipFill>
          <a:blip r:embed="rId6"/>
          <a:stretch>
            <a:fillRect/>
          </a:stretch>
        </p:blipFill>
        <p:spPr>
          <a:xfrm>
            <a:off x="4137660" y="4091940"/>
            <a:ext cx="228600" cy="228600"/>
          </a:xfrm>
          <a:prstGeom prst="rect">
            <a:avLst/>
          </a:prstGeom>
        </p:spPr>
      </p:pic>
      <p:sp>
        <p:nvSpPr>
          <p:cNvPr id="26" name="Text 17"/>
          <p:cNvSpPr txBox="1"/>
          <p:nvPr/>
        </p:nvSpPr>
        <p:spPr>
          <a:xfrm>
            <a:off x="4754880" y="1463040"/>
            <a:ext cx="3931920" cy="54864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Tools try thousands of businesses at once.</a:t>
            </a:r>
            <a:endParaRPr lang="en-US" sz="1700" dirty="0"/>
          </a:p>
        </p:txBody>
      </p:sp>
      <p:sp>
        <p:nvSpPr>
          <p:cNvPr id="27" name="Text 18"/>
          <p:cNvSpPr txBox="1"/>
          <p:nvPr/>
        </p:nvSpPr>
        <p:spPr>
          <a:xfrm>
            <a:off x="4754880" y="2103120"/>
            <a:ext cx="3931920" cy="914400"/>
          </a:xfrm>
          <a:prstGeom prst="rect">
            <a:avLst/>
          </a:prstGeom>
          <a:noFill/>
          <a:ln/>
        </p:spPr>
        <p:txBody>
          <a:bodyPr wrap="square" lIns="0" tIns="0" rIns="0" bIns="0" rtlCol="0" anchor="t"/>
          <a:lstStyle/>
          <a:p>
            <a:pPr indent="0" marL="0">
              <a:buNone/>
            </a:pPr>
            <a:r>
              <a:rPr lang="en-US" sz="1500" dirty="0">
                <a:solidFill>
                  <a:srgbClr val="262A20"/>
                </a:solidFill>
                <a:latin typeface="Open Sans" pitchFamily="34" charset="0"/>
                <a:ea typeface="Open Sans" pitchFamily="34" charset="-122"/>
                <a:cs typeface="Open Sans" pitchFamily="34" charset="-120"/>
              </a:rPr>
              <a:t>They look for any open door: a weak password, an old computer, a careless click.</a:t>
            </a:r>
            <a:endParaRPr lang="en-US" sz="1500" dirty="0"/>
          </a:p>
        </p:txBody>
      </p:sp>
      <p:sp>
        <p:nvSpPr>
          <p:cNvPr id="28" name="Text 19"/>
          <p:cNvSpPr txBox="1"/>
          <p:nvPr/>
        </p:nvSpPr>
        <p:spPr>
          <a:xfrm>
            <a:off x="4754880" y="3200400"/>
            <a:ext cx="3931920" cy="731520"/>
          </a:xfrm>
          <a:prstGeom prst="rect">
            <a:avLst/>
          </a:prstGeom>
          <a:noFill/>
          <a:ln/>
        </p:spPr>
        <p:txBody>
          <a:bodyPr wrap="square" lIns="0" tIns="0" rIns="0" bIns="0" rtlCol="0" anchor="t"/>
          <a:lstStyle/>
          <a:p>
            <a:pPr indent="0" marL="0">
              <a:buNone/>
            </a:pPr>
            <a:r>
              <a:rPr lang="en-US" sz="1500" b="1" dirty="0">
                <a:solidFill>
                  <a:srgbClr val="566A6C"/>
                </a:solidFill>
                <a:latin typeface="Open Sans" pitchFamily="34" charset="0"/>
                <a:ea typeface="Open Sans" pitchFamily="34" charset="-122"/>
                <a:cs typeface="Open Sans" pitchFamily="34" charset="-120"/>
              </a:rPr>
              <a:t>TeaLeaf does not need to be famous to be attacked.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an attack costs a business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11</a:t>
            </a:r>
            <a:endParaRPr lang="en-US" sz="800" dirty="0"/>
          </a:p>
        </p:txBody>
      </p:sp>
      <p:sp>
        <p:nvSpPr>
          <p:cNvPr id="8" name="Shape 5"/>
          <p:cNvSpPr/>
          <p:nvPr/>
        </p:nvSpPr>
        <p:spPr>
          <a:xfrm>
            <a:off x="457200" y="1188720"/>
            <a:ext cx="1885950" cy="2468880"/>
          </a:xfrm>
          <a:prstGeom prst="roundRect">
            <a:avLst>
              <a:gd name="adj" fmla="val 3879"/>
            </a:avLst>
          </a:prstGeom>
          <a:solidFill>
            <a:srgbClr val="E1E6E6"/>
          </a:solidFill>
          <a:ln w="12700">
            <a:solidFill>
              <a:srgbClr val="E1E6E6"/>
            </a:solidFill>
            <a:prstDash val="solid"/>
          </a:ln>
        </p:spPr>
      </p:sp>
      <p:sp>
        <p:nvSpPr>
          <p:cNvPr id="9" name="Shape 6"/>
          <p:cNvSpPr/>
          <p:nvPr/>
        </p:nvSpPr>
        <p:spPr>
          <a:xfrm>
            <a:off x="640080" y="1371600"/>
            <a:ext cx="502920" cy="50292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Money</a:t>
            </a:r>
            <a:endParaRPr lang="en-US" sz="1500" dirty="0"/>
          </a:p>
        </p:txBody>
      </p:sp>
      <p:sp>
        <p:nvSpPr>
          <p:cNvPr id="12" name="Text 8"/>
          <p:cNvSpPr txBox="1"/>
          <p:nvPr/>
        </p:nvSpPr>
        <p:spPr>
          <a:xfrm>
            <a:off x="640080" y="239572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Stolen payments, repair costs, lost sales.</a:t>
            </a:r>
            <a:endParaRPr lang="en-US" sz="1250" dirty="0"/>
          </a:p>
        </p:txBody>
      </p:sp>
      <p:sp>
        <p:nvSpPr>
          <p:cNvPr id="13" name="Shape 9"/>
          <p:cNvSpPr/>
          <p:nvPr/>
        </p:nvSpPr>
        <p:spPr>
          <a:xfrm>
            <a:off x="2571750" y="1188720"/>
            <a:ext cx="1885950" cy="2468880"/>
          </a:xfrm>
          <a:prstGeom prst="roundRect">
            <a:avLst>
              <a:gd name="adj" fmla="val 3879"/>
            </a:avLst>
          </a:prstGeom>
          <a:solidFill>
            <a:srgbClr val="E1E6E6"/>
          </a:solidFill>
          <a:ln w="12700">
            <a:solidFill>
              <a:srgbClr val="E1E6E6"/>
            </a:solidFill>
            <a:prstDash val="solid"/>
          </a:ln>
        </p:spPr>
      </p:sp>
      <p:sp>
        <p:nvSpPr>
          <p:cNvPr id="14" name="Shape 10"/>
          <p:cNvSpPr/>
          <p:nvPr/>
        </p:nvSpPr>
        <p:spPr>
          <a:xfrm>
            <a:off x="2754630" y="1371600"/>
            <a:ext cx="502920" cy="50292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2880360" y="1497330"/>
            <a:ext cx="251460" cy="251460"/>
          </a:xfrm>
          <a:prstGeom prst="rect">
            <a:avLst/>
          </a:prstGeom>
        </p:spPr>
      </p:pic>
      <p:sp>
        <p:nvSpPr>
          <p:cNvPr id="16" name="Text 11"/>
          <p:cNvSpPr txBox="1"/>
          <p:nvPr/>
        </p:nvSpPr>
        <p:spPr>
          <a:xfrm>
            <a:off x="2754630" y="201168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Time</a:t>
            </a:r>
            <a:endParaRPr lang="en-US" sz="1500" dirty="0"/>
          </a:p>
        </p:txBody>
      </p:sp>
      <p:sp>
        <p:nvSpPr>
          <p:cNvPr id="17" name="Text 12"/>
          <p:cNvSpPr txBox="1"/>
          <p:nvPr/>
        </p:nvSpPr>
        <p:spPr>
          <a:xfrm>
            <a:off x="2754630" y="239572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Days without email, orders or accounts.</a:t>
            </a:r>
            <a:endParaRPr lang="en-US" sz="1250" dirty="0"/>
          </a:p>
        </p:txBody>
      </p:sp>
      <p:sp>
        <p:nvSpPr>
          <p:cNvPr id="18" name="Shape 13"/>
          <p:cNvSpPr/>
          <p:nvPr/>
        </p:nvSpPr>
        <p:spPr>
          <a:xfrm>
            <a:off x="4686300" y="1188720"/>
            <a:ext cx="1885950" cy="2468880"/>
          </a:xfrm>
          <a:prstGeom prst="roundRect">
            <a:avLst>
              <a:gd name="adj" fmla="val 3879"/>
            </a:avLst>
          </a:prstGeom>
          <a:solidFill>
            <a:srgbClr val="E1E6E6"/>
          </a:solidFill>
          <a:ln w="12700">
            <a:solidFill>
              <a:srgbClr val="E1E6E6"/>
            </a:solidFill>
            <a:prstDash val="solid"/>
          </a:ln>
        </p:spPr>
      </p:sp>
      <p:sp>
        <p:nvSpPr>
          <p:cNvPr id="19" name="Shape 14"/>
          <p:cNvSpPr/>
          <p:nvPr/>
        </p:nvSpPr>
        <p:spPr>
          <a:xfrm>
            <a:off x="4869180" y="137160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4994910" y="1497330"/>
            <a:ext cx="251460" cy="251460"/>
          </a:xfrm>
          <a:prstGeom prst="rect">
            <a:avLst/>
          </a:prstGeom>
        </p:spPr>
      </p:pic>
      <p:sp>
        <p:nvSpPr>
          <p:cNvPr id="21" name="Text 15"/>
          <p:cNvSpPr txBox="1"/>
          <p:nvPr/>
        </p:nvSpPr>
        <p:spPr>
          <a:xfrm>
            <a:off x="4869180" y="201168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Customers</a:t>
            </a:r>
            <a:endParaRPr lang="en-US" sz="1500" dirty="0"/>
          </a:p>
        </p:txBody>
      </p:sp>
      <p:sp>
        <p:nvSpPr>
          <p:cNvPr id="22" name="Text 16"/>
          <p:cNvSpPr txBox="1"/>
          <p:nvPr/>
        </p:nvSpPr>
        <p:spPr>
          <a:xfrm>
            <a:off x="4869180" y="239572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Buyers leave if they stop trusting us.</a:t>
            </a:r>
            <a:endParaRPr lang="en-US" sz="1250" dirty="0"/>
          </a:p>
        </p:txBody>
      </p:sp>
      <p:sp>
        <p:nvSpPr>
          <p:cNvPr id="23" name="Shape 17"/>
          <p:cNvSpPr/>
          <p:nvPr/>
        </p:nvSpPr>
        <p:spPr>
          <a:xfrm>
            <a:off x="6800850" y="1188720"/>
            <a:ext cx="1885950" cy="2468880"/>
          </a:xfrm>
          <a:prstGeom prst="roundRect">
            <a:avLst>
              <a:gd name="adj" fmla="val 3879"/>
            </a:avLst>
          </a:prstGeom>
          <a:solidFill>
            <a:srgbClr val="E1E6E6"/>
          </a:solidFill>
          <a:ln w="12700">
            <a:solidFill>
              <a:srgbClr val="E1E6E6"/>
            </a:solidFill>
            <a:prstDash val="solid"/>
          </a:ln>
        </p:spPr>
      </p:sp>
      <p:sp>
        <p:nvSpPr>
          <p:cNvPr id="24" name="Shape 18"/>
          <p:cNvSpPr/>
          <p:nvPr/>
        </p:nvSpPr>
        <p:spPr>
          <a:xfrm>
            <a:off x="6983730" y="1371600"/>
            <a:ext cx="502920" cy="502920"/>
          </a:xfrm>
          <a:prstGeom prst="ellipse">
            <a:avLst/>
          </a:prstGeom>
          <a:solidFill>
            <a:srgbClr val="667C7E"/>
          </a:solidFill>
          <a:ln w="12700">
            <a:solidFill>
              <a:srgbClr val="667C7E"/>
            </a:solidFill>
            <a:prstDash val="solid"/>
          </a:ln>
        </p:spPr>
      </p:sp>
      <p:pic>
        <p:nvPicPr>
          <p:cNvPr id="25" name="Image 3" descr="preencoded.png">    </p:cNvPr>
          <p:cNvPicPr>
            <a:picLocks noChangeAspect="1"/>
          </p:cNvPicPr>
          <p:nvPr/>
        </p:nvPicPr>
        <p:blipFill>
          <a:blip r:embed="rId4"/>
          <a:stretch>
            <a:fillRect/>
          </a:stretch>
        </p:blipFill>
        <p:spPr>
          <a:xfrm>
            <a:off x="7109460" y="1497330"/>
            <a:ext cx="251460" cy="251460"/>
          </a:xfrm>
          <a:prstGeom prst="rect">
            <a:avLst/>
          </a:prstGeom>
        </p:spPr>
      </p:pic>
      <p:sp>
        <p:nvSpPr>
          <p:cNvPr id="26" name="Text 19"/>
          <p:cNvSpPr txBox="1"/>
          <p:nvPr/>
        </p:nvSpPr>
        <p:spPr>
          <a:xfrm>
            <a:off x="6983730" y="2011680"/>
            <a:ext cx="152019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Legal trouble</a:t>
            </a:r>
            <a:endParaRPr lang="en-US" sz="1500" dirty="0"/>
          </a:p>
        </p:txBody>
      </p:sp>
      <p:sp>
        <p:nvSpPr>
          <p:cNvPr id="27" name="Text 20"/>
          <p:cNvSpPr txBox="1"/>
          <p:nvPr/>
        </p:nvSpPr>
        <p:spPr>
          <a:xfrm>
            <a:off x="6983730" y="2395728"/>
            <a:ext cx="152019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The law protects customer data. Losing it can bring fines.</a:t>
            </a:r>
            <a:endParaRPr lang="en-US" sz="1250" dirty="0"/>
          </a:p>
        </p:txBody>
      </p:sp>
      <p:sp>
        <p:nvSpPr>
          <p:cNvPr id="28" name="Text 21"/>
          <p:cNvSpPr txBox="1"/>
          <p:nvPr/>
        </p:nvSpPr>
        <p:spPr>
          <a:xfrm>
            <a:off x="457200" y="3931920"/>
            <a:ext cx="8229600" cy="411480"/>
          </a:xfrm>
          <a:prstGeom prst="rect">
            <a:avLst/>
          </a:prstGeom>
          <a:noFill/>
          <a:ln/>
        </p:spPr>
        <p:txBody>
          <a:bodyPr wrap="square" lIns="0" tIns="0" rIns="0" bIns="0" rtlCol="0" anchor="ctr"/>
          <a:lstStyle/>
          <a:p>
            <a:pPr algn="ctr" indent="0" marL="0">
              <a:buNone/>
            </a:pPr>
            <a:r>
              <a:rPr lang="en-US" sz="1700" b="1" dirty="0">
                <a:solidFill>
                  <a:srgbClr val="566A6C"/>
                </a:solidFill>
                <a:latin typeface="Open Sans" pitchFamily="34" charset="0"/>
                <a:ea typeface="Open Sans" pitchFamily="34" charset="-122"/>
                <a:cs typeface="Open Sans" pitchFamily="34" charset="-120"/>
              </a:rPr>
              <a:t>Security is a business cost, not only a computer problem.</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DDCD"/>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C7A887"/>
          </a:solidFill>
          <a:ln w="12700">
            <a:solidFill>
              <a:srgbClr val="C7A887"/>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3657600" cy="320040"/>
          </a:xfrm>
          <a:prstGeom prst="rect">
            <a:avLst/>
          </a:prstGeom>
          <a:noFill/>
          <a:ln/>
        </p:spPr>
        <p:txBody>
          <a:bodyPr wrap="square" lIns="0" tIns="0" rIns="0" bIns="0" rtlCol="0" anchor="ctr"/>
          <a:lstStyle/>
          <a:p>
            <a:pPr indent="0" marL="0">
              <a:buNone/>
            </a:pPr>
            <a:r>
              <a:rPr lang="en-US" sz="1400" b="1" dirty="0">
                <a:solidFill>
                  <a:srgbClr val="6B4F33"/>
                </a:solidFill>
                <a:latin typeface="Open Sans" pitchFamily="34" charset="0"/>
                <a:ea typeface="Open Sans" pitchFamily="34" charset="-122"/>
                <a:cs typeface="Open Sans" pitchFamily="34" charset="-120"/>
              </a:rPr>
              <a:t>Your turn</a:t>
            </a:r>
            <a:endParaRPr lang="en-US" sz="1400" dirty="0"/>
          </a:p>
        </p:txBody>
      </p:sp>
      <p:sp>
        <p:nvSpPr>
          <p:cNvPr id="5" name="Text 2"/>
          <p:cNvSpPr txBox="1"/>
          <p:nvPr/>
        </p:nvSpPr>
        <p:spPr>
          <a:xfrm>
            <a:off x="1371600" y="731520"/>
            <a:ext cx="7315200" cy="457200"/>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Talk to your neighbour</a:t>
            </a:r>
            <a:endParaRPr lang="en-US" sz="2400" dirty="0"/>
          </a:p>
        </p:txBody>
      </p:sp>
      <p:sp>
        <p:nvSpPr>
          <p:cNvPr id="6" name="Text 3"/>
          <p:cNvSpPr txBox="1"/>
          <p:nvPr/>
        </p:nvSpPr>
        <p:spPr>
          <a:xfrm>
            <a:off x="457200" y="1508760"/>
            <a:ext cx="8229600" cy="1371600"/>
          </a:xfrm>
          <a:prstGeom prst="rect">
            <a:avLst/>
          </a:prstGeom>
          <a:noFill/>
          <a:ln/>
        </p:spPr>
        <p:txBody>
          <a:bodyPr wrap="square" lIns="0" tIns="0" rIns="0" bIns="0" rtlCol="0" anchor="t"/>
          <a:lstStyle/>
          <a:p>
            <a:pPr indent="0" marL="0">
              <a:buNone/>
            </a:pPr>
            <a:r>
              <a:rPr lang="en-US" sz="2200" dirty="0">
                <a:solidFill>
                  <a:srgbClr val="262A20"/>
                </a:solidFill>
                <a:latin typeface="Open Sans" pitchFamily="34" charset="0"/>
                <a:ea typeface="Open Sans" pitchFamily="34" charset="-122"/>
                <a:cs typeface="Open Sans" pitchFamily="34" charset="-120"/>
              </a:rPr>
              <a:t>Do you know someone who was tricked or hacked online? What happened? What did it cost them?</a:t>
            </a:r>
            <a:endParaRPr lang="en-US" sz="2200" dirty="0"/>
          </a:p>
        </p:txBody>
      </p:sp>
      <p:sp>
        <p:nvSpPr>
          <p:cNvPr id="7" name="Text 4"/>
          <p:cNvSpPr txBox="1"/>
          <p:nvPr/>
        </p:nvSpPr>
        <p:spPr>
          <a:xfrm>
            <a:off x="457200" y="3017520"/>
            <a:ext cx="6217920" cy="1371600"/>
          </a:xfrm>
          <a:prstGeom prst="rect">
            <a:avLst/>
          </a:prstGeom>
          <a:noFill/>
          <a:ln/>
        </p:spPr>
        <p:txBody>
          <a:bodyPr wrap="square" lIns="0" tIns="0" rIns="0" bIns="0" rtlCol="0" anchor="t"/>
          <a:lstStyle/>
          <a:p>
            <a:pPr indent="0" marL="0">
              <a:buNone/>
            </a:pPr>
            <a:r>
              <a:rPr lang="en-US" sz="1400" dirty="0">
                <a:solidFill>
                  <a:srgbClr val="5A5F55"/>
                </a:solidFill>
                <a:latin typeface="Open Sans" pitchFamily="34" charset="0"/>
                <a:ea typeface="Open Sans" pitchFamily="34" charset="-122"/>
                <a:cs typeface="Open Sans" pitchFamily="34" charset="-120"/>
              </a:rPr>
              <a:t>Share with one person next to you.</a:t>
            </a:r>
            <a:endParaRPr lang="en-US" sz="1400" dirty="0"/>
          </a:p>
          <a:p>
            <a:pPr indent="0" marL="0">
              <a:buNone/>
            </a:pPr>
            <a:r>
              <a:rPr lang="en-US" sz="1400" dirty="0">
                <a:solidFill>
                  <a:srgbClr val="5A5F55"/>
                </a:solidFill>
                <a:latin typeface="Open Sans" pitchFamily="34" charset="0"/>
                <a:ea typeface="Open Sans" pitchFamily="34" charset="-122"/>
                <a:cs typeface="Open Sans" pitchFamily="34" charset="-120"/>
              </a:rPr>
              <a:t>No real names, please.</a:t>
            </a:r>
            <a:endParaRPr lang="en-US" sz="1400" dirty="0"/>
          </a:p>
          <a:p>
            <a:pPr indent="0" marL="0">
              <a:buNone/>
            </a:pPr>
            <a:r>
              <a:rPr lang="en-US" sz="1400" dirty="0">
                <a:solidFill>
                  <a:srgbClr val="5A5F55"/>
                </a:solidFill>
                <a:latin typeface="Open Sans" pitchFamily="34" charset="0"/>
                <a:ea typeface="Open Sans" pitchFamily="34" charset="-122"/>
                <a:cs typeface="Open Sans" pitchFamily="34" charset="-120"/>
              </a:rPr>
              <a:t>Two pairs will share with the class.</a:t>
            </a:r>
            <a:endParaRPr lang="en-US" sz="1400" dirty="0"/>
          </a:p>
        </p:txBody>
      </p:sp>
      <p:sp>
        <p:nvSpPr>
          <p:cNvPr id="8" name="Shape 5"/>
          <p:cNvSpPr/>
          <p:nvPr/>
        </p:nvSpPr>
        <p:spPr>
          <a:xfrm>
            <a:off x="6949440" y="3200400"/>
            <a:ext cx="1737360" cy="1005840"/>
          </a:xfrm>
          <a:prstGeom prst="roundRect">
            <a:avLst>
              <a:gd name="adj" fmla="val 9091"/>
            </a:avLst>
          </a:prstGeom>
          <a:solidFill>
            <a:srgbClr val="C7A887"/>
          </a:solidFill>
          <a:ln w="12700">
            <a:solidFill>
              <a:srgbClr val="C7A887"/>
            </a:solidFill>
            <a:prstDash val="solid"/>
          </a:ln>
        </p:spPr>
      </p:sp>
      <p:sp>
        <p:nvSpPr>
          <p:cNvPr id="9" name="Text 6"/>
          <p:cNvSpPr txBox="1"/>
          <p:nvPr/>
        </p:nvSpPr>
        <p:spPr>
          <a:xfrm>
            <a:off x="6949440" y="3200400"/>
            <a:ext cx="1737360" cy="1005840"/>
          </a:xfrm>
          <a:prstGeom prst="rect">
            <a:avLst/>
          </a:prstGeom>
          <a:noFill/>
          <a:ln/>
        </p:spPr>
        <p:txBody>
          <a:bodyPr wrap="square" lIns="0" tIns="0" rIns="0" bIns="0" rtlCol="0" anchor="ctr"/>
          <a:lstStyle/>
          <a:p>
            <a:pPr algn="ctr" indent="0" marL="0">
              <a:buNone/>
            </a:pPr>
            <a:r>
              <a:rPr lang="en-US" sz="2600" b="1" dirty="0">
                <a:solidFill>
                  <a:srgbClr val="262A20"/>
                </a:solidFill>
                <a:latin typeface="Open Sans" pitchFamily="34" charset="0"/>
                <a:ea typeface="Open Sans" pitchFamily="34" charset="-122"/>
                <a:cs typeface="Open Sans" pitchFamily="34" charset="-120"/>
              </a:rPr>
              <a:t>5 min</a:t>
            </a:r>
            <a:endParaRPr lang="en-US" sz="2600" dirty="0"/>
          </a:p>
        </p:txBody>
      </p:sp>
      <p:sp>
        <p:nvSpPr>
          <p:cNvPr id="10" name="Text 7"/>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11" name="Text 8"/>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2</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Information is an asset</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Information has value, just like money.</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is an asset?</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14</a:t>
            </a:r>
            <a:endParaRPr lang="en-US" sz="800" dirty="0"/>
          </a:p>
        </p:txBody>
      </p:sp>
      <p:sp>
        <p:nvSpPr>
          <p:cNvPr id="8" name="Text 5"/>
          <p:cNvSpPr txBox="1"/>
          <p:nvPr/>
        </p:nvSpPr>
        <p:spPr>
          <a:xfrm>
            <a:off x="457200" y="1234440"/>
            <a:ext cx="8229600" cy="457200"/>
          </a:xfrm>
          <a:prstGeom prst="rect">
            <a:avLst/>
          </a:prstGeom>
          <a:noFill/>
          <a:ln/>
        </p:spPr>
        <p:txBody>
          <a:bodyPr wrap="square" lIns="0" tIns="0" rIns="0" bIns="0" rtlCol="0" anchor="ctr"/>
          <a:lstStyle/>
          <a:p>
            <a:pPr indent="0" marL="0">
              <a:buNone/>
            </a:pPr>
            <a:r>
              <a:rPr lang="en-US" sz="2000" b="1" dirty="0">
                <a:solidFill>
                  <a:srgbClr val="566A6C"/>
                </a:solidFill>
                <a:latin typeface="Open Sans" pitchFamily="34" charset="0"/>
                <a:ea typeface="Open Sans" pitchFamily="34" charset="-122"/>
                <a:cs typeface="Open Sans" pitchFamily="34" charset="-120"/>
              </a:rPr>
              <a:t>An asset is anything that has value to the business.</a:t>
            </a:r>
            <a:endParaRPr lang="en-US" sz="2000" dirty="0"/>
          </a:p>
        </p:txBody>
      </p:sp>
      <p:sp>
        <p:nvSpPr>
          <p:cNvPr id="9" name="Shape 6"/>
          <p:cNvSpPr/>
          <p:nvPr/>
        </p:nvSpPr>
        <p:spPr>
          <a:xfrm>
            <a:off x="457200" y="1920240"/>
            <a:ext cx="4000500" cy="2103120"/>
          </a:xfrm>
          <a:prstGeom prst="roundRect">
            <a:avLst>
              <a:gd name="adj" fmla="val 3478"/>
            </a:avLst>
          </a:prstGeom>
          <a:solidFill>
            <a:srgbClr val="F2EFEC"/>
          </a:solidFill>
          <a:ln w="12700">
            <a:solidFill>
              <a:srgbClr val="F2EFEC"/>
            </a:solidFill>
            <a:prstDash val="solid"/>
          </a:ln>
        </p:spPr>
      </p:sp>
      <p:sp>
        <p:nvSpPr>
          <p:cNvPr id="10" name="Shape 7"/>
          <p:cNvSpPr/>
          <p:nvPr/>
        </p:nvSpPr>
        <p:spPr>
          <a:xfrm>
            <a:off x="640080" y="2103120"/>
            <a:ext cx="502920" cy="502920"/>
          </a:xfrm>
          <a:prstGeom prst="ellipse">
            <a:avLst/>
          </a:prstGeom>
          <a:solidFill>
            <a:srgbClr val="A39E98"/>
          </a:solidFill>
          <a:ln w="12700">
            <a:solidFill>
              <a:srgbClr val="A39E98"/>
            </a:solidFill>
            <a:prstDash val="solid"/>
          </a:ln>
        </p:spPr>
      </p:sp>
      <p:pic>
        <p:nvPicPr>
          <p:cNvPr id="11" name="Image 0" descr="preencoded.png">    </p:cNvPr>
          <p:cNvPicPr>
            <a:picLocks noChangeAspect="1"/>
          </p:cNvPicPr>
          <p:nvPr/>
        </p:nvPicPr>
        <p:blipFill>
          <a:blip r:embed="rId1"/>
          <a:stretch>
            <a:fillRect/>
          </a:stretch>
        </p:blipFill>
        <p:spPr>
          <a:xfrm>
            <a:off x="765810" y="2228850"/>
            <a:ext cx="251460" cy="251460"/>
          </a:xfrm>
          <a:prstGeom prst="rect">
            <a:avLst/>
          </a:prstGeom>
        </p:spPr>
      </p:pic>
      <p:sp>
        <p:nvSpPr>
          <p:cNvPr id="12" name="Text 8"/>
          <p:cNvSpPr txBox="1"/>
          <p:nvPr/>
        </p:nvSpPr>
        <p:spPr>
          <a:xfrm>
            <a:off x="640080" y="274320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Things you can touch</a:t>
            </a:r>
            <a:endParaRPr lang="en-US" sz="1500" dirty="0"/>
          </a:p>
        </p:txBody>
      </p:sp>
      <p:sp>
        <p:nvSpPr>
          <p:cNvPr id="13" name="Text 9"/>
          <p:cNvSpPr txBox="1"/>
          <p:nvPr/>
        </p:nvSpPr>
        <p:spPr>
          <a:xfrm>
            <a:off x="640080" y="3127248"/>
            <a:ext cx="3634740" cy="77724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Tea stock, lorries, the office, laptops.</a:t>
            </a:r>
            <a:endParaRPr lang="en-US" sz="1250" dirty="0"/>
          </a:p>
        </p:txBody>
      </p:sp>
      <p:sp>
        <p:nvSpPr>
          <p:cNvPr id="14" name="Shape 10"/>
          <p:cNvSpPr/>
          <p:nvPr/>
        </p:nvSpPr>
        <p:spPr>
          <a:xfrm>
            <a:off x="4686300" y="1920240"/>
            <a:ext cx="4000500" cy="2103120"/>
          </a:xfrm>
          <a:prstGeom prst="roundRect">
            <a:avLst>
              <a:gd name="adj" fmla="val 3478"/>
            </a:avLst>
          </a:prstGeom>
          <a:solidFill>
            <a:srgbClr val="E1E6E6"/>
          </a:solidFill>
          <a:ln w="12700">
            <a:solidFill>
              <a:srgbClr val="E1E6E6"/>
            </a:solidFill>
            <a:prstDash val="solid"/>
          </a:ln>
        </p:spPr>
      </p:sp>
      <p:sp>
        <p:nvSpPr>
          <p:cNvPr id="15" name="Shape 11"/>
          <p:cNvSpPr/>
          <p:nvPr/>
        </p:nvSpPr>
        <p:spPr>
          <a:xfrm>
            <a:off x="4869180" y="2103120"/>
            <a:ext cx="502920" cy="502920"/>
          </a:xfrm>
          <a:prstGeom prst="ellipse">
            <a:avLst/>
          </a:prstGeom>
          <a:solidFill>
            <a:srgbClr val="667C7E"/>
          </a:solidFill>
          <a:ln w="12700">
            <a:solidFill>
              <a:srgbClr val="667C7E"/>
            </a:solidFill>
            <a:prstDash val="solid"/>
          </a:ln>
        </p:spPr>
      </p:sp>
      <p:pic>
        <p:nvPicPr>
          <p:cNvPr id="16" name="Image 1" descr="preencoded.png">    </p:cNvPr>
          <p:cNvPicPr>
            <a:picLocks noChangeAspect="1"/>
          </p:cNvPicPr>
          <p:nvPr/>
        </p:nvPicPr>
        <p:blipFill>
          <a:blip r:embed="rId2"/>
          <a:stretch>
            <a:fillRect/>
          </a:stretch>
        </p:blipFill>
        <p:spPr>
          <a:xfrm>
            <a:off x="4994910" y="2228850"/>
            <a:ext cx="251460" cy="251460"/>
          </a:xfrm>
          <a:prstGeom prst="rect">
            <a:avLst/>
          </a:prstGeom>
        </p:spPr>
      </p:pic>
      <p:sp>
        <p:nvSpPr>
          <p:cNvPr id="17" name="Text 12"/>
          <p:cNvSpPr txBox="1"/>
          <p:nvPr/>
        </p:nvSpPr>
        <p:spPr>
          <a:xfrm>
            <a:off x="4869180" y="274320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Information</a:t>
            </a:r>
            <a:endParaRPr lang="en-US" sz="1500" dirty="0"/>
          </a:p>
        </p:txBody>
      </p:sp>
      <p:sp>
        <p:nvSpPr>
          <p:cNvPr id="18" name="Text 13"/>
          <p:cNvSpPr txBox="1"/>
          <p:nvPr/>
        </p:nvSpPr>
        <p:spPr>
          <a:xfrm>
            <a:off x="4869180" y="3127248"/>
            <a:ext cx="3634740" cy="77724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Customer lists, orders, prices, accounts, passwords.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Three kinds of information assets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15</a:t>
            </a:r>
            <a:endParaRPr lang="en-US" sz="800" dirty="0"/>
          </a:p>
        </p:txBody>
      </p:sp>
      <p:sp>
        <p:nvSpPr>
          <p:cNvPr id="8" name="Shape 5"/>
          <p:cNvSpPr/>
          <p:nvPr/>
        </p:nvSpPr>
        <p:spPr>
          <a:xfrm>
            <a:off x="457200" y="1188720"/>
            <a:ext cx="2590800" cy="2468880"/>
          </a:xfrm>
          <a:prstGeom prst="roundRect">
            <a:avLst>
              <a:gd name="adj" fmla="val 2963"/>
            </a:avLst>
          </a:prstGeom>
          <a:solidFill>
            <a:srgbClr val="E1E6E6"/>
          </a:solidFill>
          <a:ln w="12700">
            <a:solidFill>
              <a:srgbClr val="E1E6E6"/>
            </a:solidFill>
            <a:prstDash val="solid"/>
          </a:ln>
        </p:spPr>
      </p:sp>
      <p:sp>
        <p:nvSpPr>
          <p:cNvPr id="9" name="Shape 6"/>
          <p:cNvSpPr/>
          <p:nvPr/>
        </p:nvSpPr>
        <p:spPr>
          <a:xfrm>
            <a:off x="640080" y="1371600"/>
            <a:ext cx="502920" cy="50292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Data</a:t>
            </a:r>
            <a:endParaRPr lang="en-US" sz="1500" dirty="0"/>
          </a:p>
        </p:txBody>
      </p:sp>
      <p:sp>
        <p:nvSpPr>
          <p:cNvPr id="12" name="Text 8"/>
          <p:cNvSpPr txBox="1"/>
          <p:nvPr/>
        </p:nvSpPr>
        <p:spPr>
          <a:xfrm>
            <a:off x="640080" y="2395728"/>
            <a:ext cx="222504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Facts we keep. Customer names, orders, supplier prices, bank details.</a:t>
            </a:r>
            <a:endParaRPr lang="en-US" sz="1250" dirty="0"/>
          </a:p>
        </p:txBody>
      </p:sp>
      <p:sp>
        <p:nvSpPr>
          <p:cNvPr id="13" name="Shape 9"/>
          <p:cNvSpPr/>
          <p:nvPr/>
        </p:nvSpPr>
        <p:spPr>
          <a:xfrm>
            <a:off x="3276600" y="1188720"/>
            <a:ext cx="2590800" cy="2468880"/>
          </a:xfrm>
          <a:prstGeom prst="roundRect">
            <a:avLst>
              <a:gd name="adj" fmla="val 2963"/>
            </a:avLst>
          </a:prstGeom>
          <a:solidFill>
            <a:srgbClr val="E1E6E6"/>
          </a:solidFill>
          <a:ln w="12700">
            <a:solidFill>
              <a:srgbClr val="E1E6E6"/>
            </a:solidFill>
            <a:prstDash val="solid"/>
          </a:ln>
        </p:spPr>
      </p:sp>
      <p:sp>
        <p:nvSpPr>
          <p:cNvPr id="14" name="Shape 10"/>
          <p:cNvSpPr/>
          <p:nvPr/>
        </p:nvSpPr>
        <p:spPr>
          <a:xfrm>
            <a:off x="3459480" y="1371600"/>
            <a:ext cx="502920" cy="50292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3585210" y="1497330"/>
            <a:ext cx="251460" cy="251460"/>
          </a:xfrm>
          <a:prstGeom prst="rect">
            <a:avLst/>
          </a:prstGeom>
        </p:spPr>
      </p:pic>
      <p:sp>
        <p:nvSpPr>
          <p:cNvPr id="16" name="Text 11"/>
          <p:cNvSpPr txBox="1"/>
          <p:nvPr/>
        </p:nvSpPr>
        <p:spPr>
          <a:xfrm>
            <a:off x="34594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Systems</a:t>
            </a:r>
            <a:endParaRPr lang="en-US" sz="1500" dirty="0"/>
          </a:p>
        </p:txBody>
      </p:sp>
      <p:sp>
        <p:nvSpPr>
          <p:cNvPr id="17" name="Text 12"/>
          <p:cNvSpPr txBox="1"/>
          <p:nvPr/>
        </p:nvSpPr>
        <p:spPr>
          <a:xfrm>
            <a:off x="3459480" y="2395728"/>
            <a:ext cx="222504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The tools that use the data. The online shop, email, the accounts server.</a:t>
            </a:r>
            <a:endParaRPr lang="en-US" sz="1250" dirty="0"/>
          </a:p>
        </p:txBody>
      </p:sp>
      <p:sp>
        <p:nvSpPr>
          <p:cNvPr id="18" name="Shape 13"/>
          <p:cNvSpPr/>
          <p:nvPr/>
        </p:nvSpPr>
        <p:spPr>
          <a:xfrm>
            <a:off x="6096000" y="1188720"/>
            <a:ext cx="2590800" cy="2468880"/>
          </a:xfrm>
          <a:prstGeom prst="roundRect">
            <a:avLst>
              <a:gd name="adj" fmla="val 2963"/>
            </a:avLst>
          </a:prstGeom>
          <a:solidFill>
            <a:srgbClr val="E1E6E6"/>
          </a:solidFill>
          <a:ln w="12700">
            <a:solidFill>
              <a:srgbClr val="E1E6E6"/>
            </a:solidFill>
            <a:prstDash val="solid"/>
          </a:ln>
        </p:spPr>
      </p:sp>
      <p:sp>
        <p:nvSpPr>
          <p:cNvPr id="19" name="Shape 14"/>
          <p:cNvSpPr/>
          <p:nvPr/>
        </p:nvSpPr>
        <p:spPr>
          <a:xfrm>
            <a:off x="6278880" y="137160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6404610" y="1497330"/>
            <a:ext cx="251460" cy="251460"/>
          </a:xfrm>
          <a:prstGeom prst="rect">
            <a:avLst/>
          </a:prstGeom>
        </p:spPr>
      </p:pic>
      <p:sp>
        <p:nvSpPr>
          <p:cNvPr id="21" name="Text 15"/>
          <p:cNvSpPr txBox="1"/>
          <p:nvPr/>
        </p:nvSpPr>
        <p:spPr>
          <a:xfrm>
            <a:off x="62788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Reputation</a:t>
            </a:r>
            <a:endParaRPr lang="en-US" sz="1500" dirty="0"/>
          </a:p>
        </p:txBody>
      </p:sp>
      <p:sp>
        <p:nvSpPr>
          <p:cNvPr id="22" name="Text 16"/>
          <p:cNvSpPr txBox="1"/>
          <p:nvPr/>
        </p:nvSpPr>
        <p:spPr>
          <a:xfrm>
            <a:off x="6278880" y="2395728"/>
            <a:ext cx="2225040" cy="114300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Our good name. Buyers pay us because they trust us.</a:t>
            </a:r>
            <a:endParaRPr lang="en-US" sz="1250" dirty="0"/>
          </a:p>
        </p:txBody>
      </p:sp>
      <p:sp>
        <p:nvSpPr>
          <p:cNvPr id="23" name="Text 17"/>
          <p:cNvSpPr txBox="1"/>
          <p:nvPr/>
        </p:nvSpPr>
        <p:spPr>
          <a:xfrm>
            <a:off x="457200" y="3931920"/>
            <a:ext cx="8229600" cy="411480"/>
          </a:xfrm>
          <a:prstGeom prst="rect">
            <a:avLst/>
          </a:prstGeom>
          <a:noFill/>
          <a:ln/>
        </p:spPr>
        <p:txBody>
          <a:bodyPr wrap="square" lIns="0" tIns="0" rIns="0" bIns="0" rtlCol="0" anchor="ctr"/>
          <a:lstStyle/>
          <a:p>
            <a:pPr algn="ctr" indent="0" marL="0">
              <a:buNone/>
            </a:pPr>
            <a:r>
              <a:rPr lang="en-US" sz="1600" b="1" dirty="0">
                <a:solidFill>
                  <a:srgbClr val="566A6C"/>
                </a:solidFill>
                <a:latin typeface="Open Sans" pitchFamily="34" charset="0"/>
                <a:ea typeface="Open Sans" pitchFamily="34" charset="-122"/>
                <a:cs typeface="Open Sans" pitchFamily="34" charset="-120"/>
              </a:rPr>
              <a:t>Attackers want the data, break the systems and damage the reputation.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data can be worth more than the laptop</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16</a:t>
            </a:r>
            <a:endParaRPr lang="en-US" sz="800" dirty="0"/>
          </a:p>
        </p:txBody>
      </p:sp>
      <p:sp>
        <p:nvSpPr>
          <p:cNvPr id="8" name="Shape 5"/>
          <p:cNvSpPr/>
          <p:nvPr/>
        </p:nvSpPr>
        <p:spPr>
          <a:xfrm>
            <a:off x="457200" y="1280160"/>
            <a:ext cx="3977640" cy="3108960"/>
          </a:xfrm>
          <a:prstGeom prst="roundRect">
            <a:avLst>
              <a:gd name="adj" fmla="val 2353"/>
            </a:avLst>
          </a:prstGeom>
          <a:solidFill>
            <a:srgbClr val="F2EFEC"/>
          </a:solidFill>
          <a:ln w="12700">
            <a:solidFill>
              <a:srgbClr val="F2EFEC"/>
            </a:solidFill>
            <a:prstDash val="solid"/>
          </a:ln>
        </p:spPr>
      </p:sp>
      <p:sp>
        <p:nvSpPr>
          <p:cNvPr id="9" name="Shape 6"/>
          <p:cNvSpPr/>
          <p:nvPr/>
        </p:nvSpPr>
        <p:spPr>
          <a:xfrm>
            <a:off x="2011680" y="1463040"/>
            <a:ext cx="822960" cy="822960"/>
          </a:xfrm>
          <a:prstGeom prst="ellipse">
            <a:avLst/>
          </a:prstGeom>
          <a:solidFill>
            <a:srgbClr val="A39E98"/>
          </a:solidFill>
          <a:ln w="12700">
            <a:solidFill>
              <a:srgbClr val="A39E98"/>
            </a:solidFill>
            <a:prstDash val="solid"/>
          </a:ln>
        </p:spPr>
      </p:sp>
      <p:pic>
        <p:nvPicPr>
          <p:cNvPr id="10" name="Image 0" descr="preencoded.png">    </p:cNvPr>
          <p:cNvPicPr>
            <a:picLocks noChangeAspect="1"/>
          </p:cNvPicPr>
          <p:nvPr/>
        </p:nvPicPr>
        <p:blipFill>
          <a:blip r:embed="rId1"/>
          <a:stretch>
            <a:fillRect/>
          </a:stretch>
        </p:blipFill>
        <p:spPr>
          <a:xfrm>
            <a:off x="2217420" y="1668780"/>
            <a:ext cx="411480" cy="411480"/>
          </a:xfrm>
          <a:prstGeom prst="rect">
            <a:avLst/>
          </a:prstGeom>
        </p:spPr>
      </p:pic>
      <p:sp>
        <p:nvSpPr>
          <p:cNvPr id="11" name="Text 7"/>
          <p:cNvSpPr txBox="1"/>
          <p:nvPr/>
        </p:nvSpPr>
        <p:spPr>
          <a:xfrm>
            <a:off x="640080" y="2423160"/>
            <a:ext cx="3611880" cy="365760"/>
          </a:xfrm>
          <a:prstGeom prst="rect">
            <a:avLst/>
          </a:prstGeom>
          <a:noFill/>
          <a:ln/>
        </p:spPr>
        <p:txBody>
          <a:bodyPr wrap="square" lIns="0" tIns="0" rIns="0" bIns="0" rtlCol="0" anchor="ctr"/>
          <a:lstStyle/>
          <a:p>
            <a:pPr algn="ctr" indent="0" marL="0">
              <a:buNone/>
            </a:pPr>
            <a:r>
              <a:rPr lang="en-US" sz="1800" b="1" dirty="0">
                <a:solidFill>
                  <a:srgbClr val="262A20"/>
                </a:solidFill>
                <a:latin typeface="Open Sans" pitchFamily="34" charset="0"/>
                <a:ea typeface="Open Sans" pitchFamily="34" charset="-122"/>
                <a:cs typeface="Open Sans" pitchFamily="34" charset="-120"/>
              </a:rPr>
              <a:t>A stolen laptop</a:t>
            </a:r>
            <a:endParaRPr lang="en-US" sz="1800" dirty="0"/>
          </a:p>
        </p:txBody>
      </p:sp>
      <p:sp>
        <p:nvSpPr>
          <p:cNvPr id="12" name="Text 8"/>
          <p:cNvSpPr txBox="1"/>
          <p:nvPr/>
        </p:nvSpPr>
        <p:spPr>
          <a:xfrm>
            <a:off x="640080" y="2880360"/>
            <a:ext cx="3611880" cy="1097280"/>
          </a:xfrm>
          <a:prstGeom prst="rect">
            <a:avLst/>
          </a:prstGeom>
          <a:noFill/>
          <a:ln/>
        </p:spPr>
        <p:txBody>
          <a:bodyPr wrap="square" lIns="0" tIns="0" rIns="0" bIns="0" rtlCol="0" anchor="t"/>
          <a:lstStyle/>
          <a:p>
            <a:pPr algn="ctr" indent="0" marL="0">
              <a:buNone/>
            </a:pPr>
            <a:r>
              <a:rPr lang="en-US" sz="1500" dirty="0">
                <a:solidFill>
                  <a:srgbClr val="262A20"/>
                </a:solidFill>
                <a:latin typeface="Open Sans" pitchFamily="34" charset="0"/>
                <a:ea typeface="Open Sans" pitchFamily="34" charset="-122"/>
                <a:cs typeface="Open Sans" pitchFamily="34" charset="-120"/>
              </a:rPr>
              <a:t>Buy a new one for about LKR 250,000.</a:t>
            </a:r>
            <a:endParaRPr lang="en-US" sz="1500" dirty="0"/>
          </a:p>
          <a:p>
            <a:pPr algn="ctr" indent="0" marL="0">
              <a:buNone/>
            </a:pPr>
            <a:r>
              <a:rPr lang="en-US" sz="1500" dirty="0">
                <a:solidFill>
                  <a:srgbClr val="262A20"/>
                </a:solidFill>
                <a:latin typeface="Open Sans" pitchFamily="34" charset="0"/>
                <a:ea typeface="Open Sans" pitchFamily="34" charset="-122"/>
                <a:cs typeface="Open Sans" pitchFamily="34" charset="-120"/>
              </a:rPr>
              <a:t>Ready tomorrow.</a:t>
            </a:r>
            <a:endParaRPr lang="en-US" sz="1500" dirty="0"/>
          </a:p>
        </p:txBody>
      </p:sp>
      <p:sp>
        <p:nvSpPr>
          <p:cNvPr id="13" name="Shape 9"/>
          <p:cNvSpPr/>
          <p:nvPr/>
        </p:nvSpPr>
        <p:spPr>
          <a:xfrm>
            <a:off x="4709160" y="1280160"/>
            <a:ext cx="3977640" cy="3108960"/>
          </a:xfrm>
          <a:prstGeom prst="roundRect">
            <a:avLst>
              <a:gd name="adj" fmla="val 2353"/>
            </a:avLst>
          </a:prstGeom>
          <a:solidFill>
            <a:srgbClr val="E1E6E6"/>
          </a:solidFill>
          <a:ln w="25400">
            <a:solidFill>
              <a:srgbClr val="667C7E"/>
            </a:solidFill>
            <a:prstDash val="solid"/>
          </a:ln>
        </p:spPr>
      </p:sp>
      <p:sp>
        <p:nvSpPr>
          <p:cNvPr id="14" name="Shape 10"/>
          <p:cNvSpPr/>
          <p:nvPr/>
        </p:nvSpPr>
        <p:spPr>
          <a:xfrm>
            <a:off x="6263640" y="1463040"/>
            <a:ext cx="822960" cy="82296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6469380" y="1668780"/>
            <a:ext cx="411480" cy="411480"/>
          </a:xfrm>
          <a:prstGeom prst="rect">
            <a:avLst/>
          </a:prstGeom>
        </p:spPr>
      </p:pic>
      <p:sp>
        <p:nvSpPr>
          <p:cNvPr id="16" name="Text 11"/>
          <p:cNvSpPr txBox="1"/>
          <p:nvPr/>
        </p:nvSpPr>
        <p:spPr>
          <a:xfrm>
            <a:off x="4892040" y="2423160"/>
            <a:ext cx="3611880" cy="365760"/>
          </a:xfrm>
          <a:prstGeom prst="rect">
            <a:avLst/>
          </a:prstGeom>
          <a:noFill/>
          <a:ln/>
        </p:spPr>
        <p:txBody>
          <a:bodyPr wrap="square" lIns="0" tIns="0" rIns="0" bIns="0" rtlCol="0" anchor="ctr"/>
          <a:lstStyle/>
          <a:p>
            <a:pPr algn="ctr" indent="0" marL="0">
              <a:buNone/>
            </a:pPr>
            <a:r>
              <a:rPr lang="en-US" sz="1800" b="1" dirty="0">
                <a:solidFill>
                  <a:srgbClr val="262A20"/>
                </a:solidFill>
                <a:latin typeface="Open Sans" pitchFamily="34" charset="0"/>
                <a:ea typeface="Open Sans" pitchFamily="34" charset="-122"/>
                <a:cs typeface="Open Sans" pitchFamily="34" charset="-120"/>
              </a:rPr>
              <a:t>The customer list on it</a:t>
            </a:r>
            <a:endParaRPr lang="en-US" sz="1800" dirty="0"/>
          </a:p>
        </p:txBody>
      </p:sp>
      <p:sp>
        <p:nvSpPr>
          <p:cNvPr id="17" name="Text 12"/>
          <p:cNvSpPr txBox="1"/>
          <p:nvPr/>
        </p:nvSpPr>
        <p:spPr>
          <a:xfrm>
            <a:off x="4892040" y="2880360"/>
            <a:ext cx="3611880" cy="1097280"/>
          </a:xfrm>
          <a:prstGeom prst="rect">
            <a:avLst/>
          </a:prstGeom>
          <a:noFill/>
          <a:ln/>
        </p:spPr>
        <p:txBody>
          <a:bodyPr wrap="square" lIns="0" tIns="0" rIns="0" bIns="0" rtlCol="0" anchor="t"/>
          <a:lstStyle/>
          <a:p>
            <a:pPr algn="ctr" indent="0" marL="0">
              <a:buNone/>
            </a:pPr>
            <a:r>
              <a:rPr lang="en-US" sz="1500" dirty="0">
                <a:solidFill>
                  <a:srgbClr val="262A20"/>
                </a:solidFill>
                <a:latin typeface="Open Sans" pitchFamily="34" charset="0"/>
                <a:ea typeface="Open Sans" pitchFamily="34" charset="-122"/>
                <a:cs typeface="Open Sans" pitchFamily="34" charset="-120"/>
              </a:rPr>
              <a:t>Ten years of work.</a:t>
            </a:r>
            <a:endParaRPr lang="en-US" sz="1500" dirty="0"/>
          </a:p>
          <a:p>
            <a:pPr algn="ctr" indent="0" marL="0">
              <a:buNone/>
            </a:pPr>
            <a:r>
              <a:rPr lang="en-US" sz="1500" dirty="0">
                <a:solidFill>
                  <a:srgbClr val="262A20"/>
                </a:solidFill>
                <a:latin typeface="Open Sans" pitchFamily="34" charset="0"/>
                <a:ea typeface="Open Sans" pitchFamily="34" charset="-122"/>
                <a:cs typeface="Open Sans" pitchFamily="34" charset="-120"/>
              </a:rPr>
              <a:t>If a rival gets it, or it is lost, we cannot buy it back.</a:t>
            </a:r>
            <a:endParaRPr lang="en-US" sz="1500" dirty="0"/>
          </a:p>
        </p:txBody>
      </p:sp>
      <p:sp>
        <p:nvSpPr>
          <p:cNvPr id="18" name="Text 13"/>
          <p:cNvSpPr txBox="1"/>
          <p:nvPr/>
        </p:nvSpPr>
        <p:spPr>
          <a:xfrm>
            <a:off x="457200" y="4434840"/>
            <a:ext cx="8229600" cy="228600"/>
          </a:xfrm>
          <a:prstGeom prst="rect">
            <a:avLst/>
          </a:prstGeom>
          <a:noFill/>
          <a:ln/>
        </p:spPr>
        <p:txBody>
          <a:bodyPr wrap="square" lIns="0" tIns="0" rIns="0" bIns="0" rtlCol="0" anchor="ctr"/>
          <a:lstStyle/>
          <a:p>
            <a:pPr algn="r" indent="0" marL="0">
              <a:buNone/>
            </a:pPr>
            <a:r>
              <a:rPr lang="en-US" sz="1000" dirty="0">
                <a:solidFill>
                  <a:srgbClr val="5A5F55"/>
                </a:solidFill>
                <a:latin typeface="Open Sans" pitchFamily="34" charset="0"/>
                <a:ea typeface="Open Sans" pitchFamily="34" charset="-122"/>
                <a:cs typeface="Open Sans" pitchFamily="34" charset="-120"/>
              </a:rPr>
              <a:t>Example figures only.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3</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The CIA triad</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Three things we want for our information.</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CIA triad</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18</a:t>
            </a:r>
            <a:endParaRPr lang="en-US" sz="800" dirty="0"/>
          </a:p>
        </p:txBody>
      </p:sp>
      <p:sp>
        <p:nvSpPr>
          <p:cNvPr id="8" name="Shape 5"/>
          <p:cNvSpPr/>
          <p:nvPr/>
        </p:nvSpPr>
        <p:spPr>
          <a:xfrm>
            <a:off x="640080" y="1234440"/>
            <a:ext cx="3291840" cy="2834640"/>
          </a:xfrm>
          <a:prstGeom prst="triangle">
            <a:avLst/>
          </a:prstGeom>
          <a:solidFill>
            <a:srgbClr val="E1E6E6"/>
          </a:solidFill>
          <a:ln w="25400">
            <a:solidFill>
              <a:srgbClr val="667C7E"/>
            </a:solidFill>
            <a:prstDash val="solid"/>
          </a:ln>
        </p:spPr>
      </p:sp>
      <p:sp>
        <p:nvSpPr>
          <p:cNvPr id="9" name="Text 6"/>
          <p:cNvSpPr txBox="1"/>
          <p:nvPr/>
        </p:nvSpPr>
        <p:spPr>
          <a:xfrm>
            <a:off x="1920240" y="1417320"/>
            <a:ext cx="731520" cy="548640"/>
          </a:xfrm>
          <a:prstGeom prst="rect">
            <a:avLst/>
          </a:prstGeom>
          <a:noFill/>
          <a:ln/>
        </p:spPr>
        <p:txBody>
          <a:bodyPr wrap="square" lIns="0" tIns="0" rIns="0" bIns="0" rtlCol="0" anchor="ctr"/>
          <a:lstStyle/>
          <a:p>
            <a:pPr algn="ctr" indent="0" marL="0">
              <a:buNone/>
            </a:pPr>
            <a:r>
              <a:rPr lang="en-US" sz="3000" b="1" dirty="0">
                <a:solidFill>
                  <a:srgbClr val="262A20"/>
                </a:solidFill>
                <a:latin typeface="Open Sans" pitchFamily="34" charset="0"/>
                <a:ea typeface="Open Sans" pitchFamily="34" charset="-122"/>
                <a:cs typeface="Open Sans" pitchFamily="34" charset="-120"/>
              </a:rPr>
              <a:t>C</a:t>
            </a:r>
            <a:endParaRPr lang="en-US" sz="3000" dirty="0"/>
          </a:p>
        </p:txBody>
      </p:sp>
      <p:sp>
        <p:nvSpPr>
          <p:cNvPr id="10" name="Text 7"/>
          <p:cNvSpPr txBox="1"/>
          <p:nvPr/>
        </p:nvSpPr>
        <p:spPr>
          <a:xfrm>
            <a:off x="777240" y="3383280"/>
            <a:ext cx="731520" cy="548640"/>
          </a:xfrm>
          <a:prstGeom prst="rect">
            <a:avLst/>
          </a:prstGeom>
          <a:noFill/>
          <a:ln/>
        </p:spPr>
        <p:txBody>
          <a:bodyPr wrap="square" lIns="0" tIns="0" rIns="0" bIns="0" rtlCol="0" anchor="ctr"/>
          <a:lstStyle/>
          <a:p>
            <a:pPr algn="ctr" indent="0" marL="0">
              <a:buNone/>
            </a:pPr>
            <a:r>
              <a:rPr lang="en-US" sz="3000" b="1" dirty="0">
                <a:solidFill>
                  <a:srgbClr val="262A20"/>
                </a:solidFill>
                <a:latin typeface="Open Sans" pitchFamily="34" charset="0"/>
                <a:ea typeface="Open Sans" pitchFamily="34" charset="-122"/>
                <a:cs typeface="Open Sans" pitchFamily="34" charset="-120"/>
              </a:rPr>
              <a:t>I</a:t>
            </a:r>
            <a:endParaRPr lang="en-US" sz="3000" dirty="0"/>
          </a:p>
        </p:txBody>
      </p:sp>
      <p:sp>
        <p:nvSpPr>
          <p:cNvPr id="11" name="Text 8"/>
          <p:cNvSpPr txBox="1"/>
          <p:nvPr/>
        </p:nvSpPr>
        <p:spPr>
          <a:xfrm>
            <a:off x="3063240" y="3383280"/>
            <a:ext cx="731520" cy="548640"/>
          </a:xfrm>
          <a:prstGeom prst="rect">
            <a:avLst/>
          </a:prstGeom>
          <a:noFill/>
          <a:ln/>
        </p:spPr>
        <p:txBody>
          <a:bodyPr wrap="square" lIns="0" tIns="0" rIns="0" bIns="0" rtlCol="0" anchor="ctr"/>
          <a:lstStyle/>
          <a:p>
            <a:pPr algn="ctr" indent="0" marL="0">
              <a:buNone/>
            </a:pPr>
            <a:r>
              <a:rPr lang="en-US" sz="3000" b="1" dirty="0">
                <a:solidFill>
                  <a:srgbClr val="262A20"/>
                </a:solidFill>
                <a:latin typeface="Open Sans" pitchFamily="34" charset="0"/>
                <a:ea typeface="Open Sans" pitchFamily="34" charset="-122"/>
                <a:cs typeface="Open Sans" pitchFamily="34" charset="-120"/>
              </a:rPr>
              <a:t>A</a:t>
            </a:r>
            <a:endParaRPr lang="en-US" sz="3000" dirty="0"/>
          </a:p>
        </p:txBody>
      </p:sp>
      <p:sp>
        <p:nvSpPr>
          <p:cNvPr id="12" name="Text 9"/>
          <p:cNvSpPr txBox="1"/>
          <p:nvPr/>
        </p:nvSpPr>
        <p:spPr>
          <a:xfrm>
            <a:off x="1645920" y="2606040"/>
            <a:ext cx="1280160" cy="640080"/>
          </a:xfrm>
          <a:prstGeom prst="rect">
            <a:avLst/>
          </a:prstGeom>
          <a:noFill/>
          <a:ln/>
        </p:spPr>
        <p:txBody>
          <a:bodyPr wrap="square" lIns="0" tIns="0" rIns="0" bIns="0" rtlCol="0" anchor="ctr"/>
          <a:lstStyle/>
          <a:p>
            <a:pPr algn="ctr" indent="0" marL="0">
              <a:buNone/>
            </a:pPr>
            <a:r>
              <a:rPr lang="en-US" sz="1200" b="1" dirty="0">
                <a:solidFill>
                  <a:srgbClr val="566A6C"/>
                </a:solidFill>
                <a:latin typeface="Open Sans" pitchFamily="34" charset="0"/>
                <a:ea typeface="Open Sans" pitchFamily="34" charset="-122"/>
                <a:cs typeface="Open Sans" pitchFamily="34" charset="-120"/>
              </a:rPr>
              <a:t>Our</a:t>
            </a:r>
            <a:endParaRPr lang="en-US" sz="1200" dirty="0"/>
          </a:p>
          <a:p>
            <a:pPr algn="ctr" indent="0" marL="0">
              <a:buNone/>
            </a:pPr>
            <a:r>
              <a:rPr lang="en-US" sz="1200" b="1" dirty="0">
                <a:solidFill>
                  <a:srgbClr val="566A6C"/>
                </a:solidFill>
                <a:latin typeface="Open Sans" pitchFamily="34" charset="0"/>
                <a:ea typeface="Open Sans" pitchFamily="34" charset="-122"/>
                <a:cs typeface="Open Sans" pitchFamily="34" charset="-120"/>
              </a:rPr>
              <a:t>information</a:t>
            </a:r>
            <a:endParaRPr lang="en-US" sz="1200" dirty="0"/>
          </a:p>
        </p:txBody>
      </p:sp>
      <p:sp>
        <p:nvSpPr>
          <p:cNvPr id="13" name="Shape 10"/>
          <p:cNvSpPr/>
          <p:nvPr/>
        </p:nvSpPr>
        <p:spPr>
          <a:xfrm>
            <a:off x="4389120" y="1371600"/>
            <a:ext cx="548640" cy="548640"/>
          </a:xfrm>
          <a:prstGeom prst="ellipse">
            <a:avLst/>
          </a:prstGeom>
          <a:solidFill>
            <a:srgbClr val="667C7E"/>
          </a:solidFill>
          <a:ln w="12700">
            <a:solidFill>
              <a:srgbClr val="667C7E"/>
            </a:solidFill>
            <a:prstDash val="solid"/>
          </a:ln>
        </p:spPr>
      </p:sp>
      <p:pic>
        <p:nvPicPr>
          <p:cNvPr id="14" name="Image 0" descr="preencoded.png">    </p:cNvPr>
          <p:cNvPicPr>
            <a:picLocks noChangeAspect="1"/>
          </p:cNvPicPr>
          <p:nvPr/>
        </p:nvPicPr>
        <p:blipFill>
          <a:blip r:embed="rId1"/>
          <a:stretch>
            <a:fillRect/>
          </a:stretch>
        </p:blipFill>
        <p:spPr>
          <a:xfrm>
            <a:off x="4526280" y="1508760"/>
            <a:ext cx="274320" cy="274320"/>
          </a:xfrm>
          <a:prstGeom prst="rect">
            <a:avLst/>
          </a:prstGeom>
        </p:spPr>
      </p:pic>
      <p:sp>
        <p:nvSpPr>
          <p:cNvPr id="15" name="Text 11"/>
          <p:cNvSpPr txBox="1"/>
          <p:nvPr/>
        </p:nvSpPr>
        <p:spPr>
          <a:xfrm>
            <a:off x="5120640" y="1325880"/>
            <a:ext cx="356616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Confidentiality</a:t>
            </a:r>
            <a:endParaRPr lang="en-US" sz="1600" dirty="0"/>
          </a:p>
        </p:txBody>
      </p:sp>
      <p:sp>
        <p:nvSpPr>
          <p:cNvPr id="16" name="Text 12"/>
          <p:cNvSpPr txBox="1"/>
          <p:nvPr/>
        </p:nvSpPr>
        <p:spPr>
          <a:xfrm>
            <a:off x="5120640" y="1636776"/>
            <a:ext cx="3566160" cy="64008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Keep it secret. Only the right people can see it.</a:t>
            </a:r>
            <a:endParaRPr lang="en-US" sz="1300" dirty="0"/>
          </a:p>
        </p:txBody>
      </p:sp>
      <p:sp>
        <p:nvSpPr>
          <p:cNvPr id="17" name="Shape 13"/>
          <p:cNvSpPr/>
          <p:nvPr/>
        </p:nvSpPr>
        <p:spPr>
          <a:xfrm>
            <a:off x="4389120" y="2377440"/>
            <a:ext cx="548640" cy="548640"/>
          </a:xfrm>
          <a:prstGeom prst="ellipse">
            <a:avLst/>
          </a:prstGeom>
          <a:solidFill>
            <a:srgbClr val="667C7E"/>
          </a:solidFill>
          <a:ln w="12700">
            <a:solidFill>
              <a:srgbClr val="667C7E"/>
            </a:solidFill>
            <a:prstDash val="solid"/>
          </a:ln>
        </p:spPr>
      </p:sp>
      <p:pic>
        <p:nvPicPr>
          <p:cNvPr id="18" name="Image 1" descr="preencoded.png">    </p:cNvPr>
          <p:cNvPicPr>
            <a:picLocks noChangeAspect="1"/>
          </p:cNvPicPr>
          <p:nvPr/>
        </p:nvPicPr>
        <p:blipFill>
          <a:blip r:embed="rId2"/>
          <a:stretch>
            <a:fillRect/>
          </a:stretch>
        </p:blipFill>
        <p:spPr>
          <a:xfrm>
            <a:off x="4526280" y="2514600"/>
            <a:ext cx="274320" cy="274320"/>
          </a:xfrm>
          <a:prstGeom prst="rect">
            <a:avLst/>
          </a:prstGeom>
        </p:spPr>
      </p:pic>
      <p:sp>
        <p:nvSpPr>
          <p:cNvPr id="19" name="Text 14"/>
          <p:cNvSpPr txBox="1"/>
          <p:nvPr/>
        </p:nvSpPr>
        <p:spPr>
          <a:xfrm>
            <a:off x="5120640" y="2331720"/>
            <a:ext cx="356616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Integrity</a:t>
            </a:r>
            <a:endParaRPr lang="en-US" sz="1600" dirty="0"/>
          </a:p>
        </p:txBody>
      </p:sp>
      <p:sp>
        <p:nvSpPr>
          <p:cNvPr id="20" name="Text 15"/>
          <p:cNvSpPr txBox="1"/>
          <p:nvPr/>
        </p:nvSpPr>
        <p:spPr>
          <a:xfrm>
            <a:off x="5120640" y="2642616"/>
            <a:ext cx="3566160" cy="64008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Keep it correct. Nobody changes it wrongly.</a:t>
            </a:r>
            <a:endParaRPr lang="en-US" sz="1300" dirty="0"/>
          </a:p>
        </p:txBody>
      </p:sp>
      <p:sp>
        <p:nvSpPr>
          <p:cNvPr id="21" name="Shape 16"/>
          <p:cNvSpPr/>
          <p:nvPr/>
        </p:nvSpPr>
        <p:spPr>
          <a:xfrm>
            <a:off x="4389120" y="3383280"/>
            <a:ext cx="548640" cy="548640"/>
          </a:xfrm>
          <a:prstGeom prst="ellipse">
            <a:avLst/>
          </a:prstGeom>
          <a:solidFill>
            <a:srgbClr val="667C7E"/>
          </a:solidFill>
          <a:ln w="12700">
            <a:solidFill>
              <a:srgbClr val="667C7E"/>
            </a:solidFill>
            <a:prstDash val="solid"/>
          </a:ln>
        </p:spPr>
      </p:sp>
      <p:pic>
        <p:nvPicPr>
          <p:cNvPr id="22" name="Image 2" descr="preencoded.png">    </p:cNvPr>
          <p:cNvPicPr>
            <a:picLocks noChangeAspect="1"/>
          </p:cNvPicPr>
          <p:nvPr/>
        </p:nvPicPr>
        <p:blipFill>
          <a:blip r:embed="rId3"/>
          <a:stretch>
            <a:fillRect/>
          </a:stretch>
        </p:blipFill>
        <p:spPr>
          <a:xfrm>
            <a:off x="4526280" y="3520440"/>
            <a:ext cx="274320" cy="274320"/>
          </a:xfrm>
          <a:prstGeom prst="rect">
            <a:avLst/>
          </a:prstGeom>
        </p:spPr>
      </p:pic>
      <p:sp>
        <p:nvSpPr>
          <p:cNvPr id="23" name="Text 17"/>
          <p:cNvSpPr txBox="1"/>
          <p:nvPr/>
        </p:nvSpPr>
        <p:spPr>
          <a:xfrm>
            <a:off x="5120640" y="3337560"/>
            <a:ext cx="356616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Availability</a:t>
            </a:r>
            <a:endParaRPr lang="en-US" sz="1600" dirty="0"/>
          </a:p>
        </p:txBody>
      </p:sp>
      <p:sp>
        <p:nvSpPr>
          <p:cNvPr id="24" name="Text 18"/>
          <p:cNvSpPr txBox="1"/>
          <p:nvPr/>
        </p:nvSpPr>
        <p:spPr>
          <a:xfrm>
            <a:off x="5120640" y="3648456"/>
            <a:ext cx="3566160" cy="64008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Keep it available. We can use it when we need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C is for Confidentiality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19</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Confidentiality</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Keep it secret. Only people who should see the information can see it.</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Only the finance team can open the salary file. Only TeaLeaf can see customer card details.</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When it goes wrong</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laptop with the customer list is stolen. A staff member emails the price list to the wrong person.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I is for Integrity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20</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Integrity</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Keep it correct. Information is not changed by mistake or on purpose by the wrong person.</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The price on the website is the real price. An export order says 5 kg when the buyer ordered 5 kg.</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When it goes wrong</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Someone changes a price from LKR 1,500 to LKR 150. A virus changes numbers in the accounts file.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 is for Availability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21</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Availability</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Keep it available. We can use the information and systems when we need them.</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Buyers can order from the online shop at any time. Staff can open the accounts on Monday morning.</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When it goes wrong</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The online shop is down for a whole day. The office server stops after a power cut.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Three quick questions to find the letter</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22</a:t>
            </a:r>
            <a:endParaRPr lang="en-US" sz="800" dirty="0"/>
          </a:p>
        </p:txBody>
      </p:sp>
      <p:sp>
        <p:nvSpPr>
          <p:cNvPr id="8" name="Shape 5"/>
          <p:cNvSpPr/>
          <p:nvPr/>
        </p:nvSpPr>
        <p:spPr>
          <a:xfrm>
            <a:off x="457200" y="1371600"/>
            <a:ext cx="2590800" cy="2011680"/>
          </a:xfrm>
          <a:prstGeom prst="roundRect">
            <a:avLst>
              <a:gd name="adj" fmla="val 3636"/>
            </a:avLst>
          </a:prstGeom>
          <a:solidFill>
            <a:srgbClr val="E1E6E6"/>
          </a:solidFill>
          <a:ln w="12700">
            <a:solidFill>
              <a:srgbClr val="E1E6E6"/>
            </a:solidFill>
            <a:prstDash val="solid"/>
          </a:ln>
        </p:spPr>
      </p:sp>
      <p:sp>
        <p:nvSpPr>
          <p:cNvPr id="9" name="Text 6"/>
          <p:cNvSpPr txBox="1"/>
          <p:nvPr/>
        </p:nvSpPr>
        <p:spPr>
          <a:xfrm>
            <a:off x="640080" y="1554480"/>
            <a:ext cx="2225040" cy="777240"/>
          </a:xfrm>
          <a:prstGeom prst="rect">
            <a:avLst/>
          </a:prstGeom>
          <a:noFill/>
          <a:ln/>
        </p:spPr>
        <p:txBody>
          <a:bodyPr wrap="square" lIns="0" tIns="0" rIns="0" bIns="0" rtlCol="0" anchor="t"/>
          <a:lstStyle/>
          <a:p>
            <a:pPr indent="0" marL="0">
              <a:buNone/>
            </a:pPr>
            <a:r>
              <a:rPr lang="en-US" sz="1700" b="1" dirty="0">
                <a:solidFill>
                  <a:srgbClr val="262A20"/>
                </a:solidFill>
                <a:latin typeface="Open Sans" pitchFamily="34" charset="0"/>
                <a:ea typeface="Open Sans" pitchFamily="34" charset="-122"/>
                <a:cs typeface="Open Sans" pitchFamily="34" charset="-120"/>
              </a:rPr>
              <a:t>Was it SEEN by the wrong person?</a:t>
            </a:r>
            <a:endParaRPr lang="en-US" sz="1700" dirty="0"/>
          </a:p>
        </p:txBody>
      </p:sp>
      <p:sp>
        <p:nvSpPr>
          <p:cNvPr id="10" name="Text 7"/>
          <p:cNvSpPr txBox="1"/>
          <p:nvPr/>
        </p:nvSpPr>
        <p:spPr>
          <a:xfrm>
            <a:off x="640080" y="2350008"/>
            <a:ext cx="2225040" cy="914400"/>
          </a:xfrm>
          <a:prstGeom prst="rect">
            <a:avLst/>
          </a:prstGeom>
          <a:noFill/>
          <a:ln/>
        </p:spPr>
        <p:txBody>
          <a:bodyPr wrap="square" lIns="0" tIns="0" rIns="0" bIns="0" rtlCol="0" anchor="t"/>
          <a:lstStyle/>
          <a:p>
            <a:pPr indent="0" marL="0">
              <a:buNone/>
            </a:pPr>
            <a:r>
              <a:rPr lang="en-US" sz="2000" dirty="0">
                <a:solidFill>
                  <a:srgbClr val="262A20"/>
                </a:solidFill>
                <a:latin typeface="Open Sans" pitchFamily="34" charset="0"/>
                <a:ea typeface="Open Sans" pitchFamily="34" charset="-122"/>
                <a:cs typeface="Open Sans" pitchFamily="34" charset="-120"/>
              </a:rPr>
              <a:t>Confidentiality</a:t>
            </a:r>
            <a:endParaRPr lang="en-US" sz="2000" dirty="0"/>
          </a:p>
        </p:txBody>
      </p:sp>
      <p:sp>
        <p:nvSpPr>
          <p:cNvPr id="11" name="Shape 8"/>
          <p:cNvSpPr/>
          <p:nvPr/>
        </p:nvSpPr>
        <p:spPr>
          <a:xfrm>
            <a:off x="3276600" y="1371600"/>
            <a:ext cx="2590800" cy="2011680"/>
          </a:xfrm>
          <a:prstGeom prst="roundRect">
            <a:avLst>
              <a:gd name="adj" fmla="val 3636"/>
            </a:avLst>
          </a:prstGeom>
          <a:solidFill>
            <a:srgbClr val="D9D5D2"/>
          </a:solidFill>
          <a:ln w="12700">
            <a:solidFill>
              <a:srgbClr val="D9D5D2"/>
            </a:solidFill>
            <a:prstDash val="solid"/>
          </a:ln>
        </p:spPr>
      </p:sp>
      <p:sp>
        <p:nvSpPr>
          <p:cNvPr id="12" name="Text 9"/>
          <p:cNvSpPr txBox="1"/>
          <p:nvPr/>
        </p:nvSpPr>
        <p:spPr>
          <a:xfrm>
            <a:off x="3459480" y="1554480"/>
            <a:ext cx="2225040" cy="777240"/>
          </a:xfrm>
          <a:prstGeom prst="rect">
            <a:avLst/>
          </a:prstGeom>
          <a:noFill/>
          <a:ln/>
        </p:spPr>
        <p:txBody>
          <a:bodyPr wrap="square" lIns="0" tIns="0" rIns="0" bIns="0" rtlCol="0" anchor="t"/>
          <a:lstStyle/>
          <a:p>
            <a:pPr indent="0" marL="0">
              <a:buNone/>
            </a:pPr>
            <a:r>
              <a:rPr lang="en-US" sz="1700" b="1" dirty="0">
                <a:solidFill>
                  <a:srgbClr val="262A20"/>
                </a:solidFill>
                <a:latin typeface="Open Sans" pitchFamily="34" charset="0"/>
                <a:ea typeface="Open Sans" pitchFamily="34" charset="-122"/>
                <a:cs typeface="Open Sans" pitchFamily="34" charset="-120"/>
              </a:rPr>
              <a:t>Was it CHANGED wrongly?</a:t>
            </a:r>
            <a:endParaRPr lang="en-US" sz="1700" dirty="0"/>
          </a:p>
        </p:txBody>
      </p:sp>
      <p:sp>
        <p:nvSpPr>
          <p:cNvPr id="13" name="Text 10"/>
          <p:cNvSpPr txBox="1"/>
          <p:nvPr/>
        </p:nvSpPr>
        <p:spPr>
          <a:xfrm>
            <a:off x="3459480" y="2350008"/>
            <a:ext cx="2225040" cy="914400"/>
          </a:xfrm>
          <a:prstGeom prst="rect">
            <a:avLst/>
          </a:prstGeom>
          <a:noFill/>
          <a:ln/>
        </p:spPr>
        <p:txBody>
          <a:bodyPr wrap="square" lIns="0" tIns="0" rIns="0" bIns="0" rtlCol="0" anchor="t"/>
          <a:lstStyle/>
          <a:p>
            <a:pPr indent="0" marL="0">
              <a:buNone/>
            </a:pPr>
            <a:r>
              <a:rPr lang="en-US" sz="2000" dirty="0">
                <a:solidFill>
                  <a:srgbClr val="262A20"/>
                </a:solidFill>
                <a:latin typeface="Open Sans" pitchFamily="34" charset="0"/>
                <a:ea typeface="Open Sans" pitchFamily="34" charset="-122"/>
                <a:cs typeface="Open Sans" pitchFamily="34" charset="-120"/>
              </a:rPr>
              <a:t>Integrity</a:t>
            </a:r>
            <a:endParaRPr lang="en-US" sz="2000" dirty="0"/>
          </a:p>
        </p:txBody>
      </p:sp>
      <p:sp>
        <p:nvSpPr>
          <p:cNvPr id="14" name="Shape 11"/>
          <p:cNvSpPr/>
          <p:nvPr/>
        </p:nvSpPr>
        <p:spPr>
          <a:xfrm>
            <a:off x="6096000" y="1371600"/>
            <a:ext cx="2590800" cy="2011680"/>
          </a:xfrm>
          <a:prstGeom prst="roundRect">
            <a:avLst>
              <a:gd name="adj" fmla="val 3636"/>
            </a:avLst>
          </a:prstGeom>
          <a:solidFill>
            <a:srgbClr val="EDDDCD"/>
          </a:solidFill>
          <a:ln w="12700">
            <a:solidFill>
              <a:srgbClr val="EDDDCD"/>
            </a:solidFill>
            <a:prstDash val="solid"/>
          </a:ln>
        </p:spPr>
      </p:sp>
      <p:sp>
        <p:nvSpPr>
          <p:cNvPr id="15" name="Text 12"/>
          <p:cNvSpPr txBox="1"/>
          <p:nvPr/>
        </p:nvSpPr>
        <p:spPr>
          <a:xfrm>
            <a:off x="6278880" y="1554480"/>
            <a:ext cx="2225040" cy="777240"/>
          </a:xfrm>
          <a:prstGeom prst="rect">
            <a:avLst/>
          </a:prstGeom>
          <a:noFill/>
          <a:ln/>
        </p:spPr>
        <p:txBody>
          <a:bodyPr wrap="square" lIns="0" tIns="0" rIns="0" bIns="0" rtlCol="0" anchor="t"/>
          <a:lstStyle/>
          <a:p>
            <a:pPr indent="0" marL="0">
              <a:buNone/>
            </a:pPr>
            <a:r>
              <a:rPr lang="en-US" sz="1700" b="1" dirty="0">
                <a:solidFill>
                  <a:srgbClr val="262A20"/>
                </a:solidFill>
                <a:latin typeface="Open Sans" pitchFamily="34" charset="0"/>
                <a:ea typeface="Open Sans" pitchFamily="34" charset="-122"/>
                <a:cs typeface="Open Sans" pitchFamily="34" charset="-120"/>
              </a:rPr>
              <a:t>Could we NOT USE it?</a:t>
            </a:r>
            <a:endParaRPr lang="en-US" sz="1700" dirty="0"/>
          </a:p>
        </p:txBody>
      </p:sp>
      <p:sp>
        <p:nvSpPr>
          <p:cNvPr id="16" name="Text 13"/>
          <p:cNvSpPr txBox="1"/>
          <p:nvPr/>
        </p:nvSpPr>
        <p:spPr>
          <a:xfrm>
            <a:off x="6278880" y="2350008"/>
            <a:ext cx="2225040" cy="914400"/>
          </a:xfrm>
          <a:prstGeom prst="rect">
            <a:avLst/>
          </a:prstGeom>
          <a:noFill/>
          <a:ln/>
        </p:spPr>
        <p:txBody>
          <a:bodyPr wrap="square" lIns="0" tIns="0" rIns="0" bIns="0" rtlCol="0" anchor="t"/>
          <a:lstStyle/>
          <a:p>
            <a:pPr indent="0" marL="0">
              <a:buNone/>
            </a:pPr>
            <a:r>
              <a:rPr lang="en-US" sz="2000" dirty="0">
                <a:solidFill>
                  <a:srgbClr val="262A20"/>
                </a:solidFill>
                <a:latin typeface="Open Sans" pitchFamily="34" charset="0"/>
                <a:ea typeface="Open Sans" pitchFamily="34" charset="-122"/>
                <a:cs typeface="Open Sans" pitchFamily="34" charset="-120"/>
              </a:rPr>
              <a:t>Availability</a:t>
            </a:r>
            <a:endParaRPr lang="en-US" sz="2000" dirty="0"/>
          </a:p>
        </p:txBody>
      </p:sp>
      <p:sp>
        <p:nvSpPr>
          <p:cNvPr id="17" name="Text 14"/>
          <p:cNvSpPr txBox="1"/>
          <p:nvPr/>
        </p:nvSpPr>
        <p:spPr>
          <a:xfrm>
            <a:off x="457200" y="3703320"/>
            <a:ext cx="8229600" cy="548640"/>
          </a:xfrm>
          <a:prstGeom prst="rect">
            <a:avLst/>
          </a:prstGeom>
          <a:noFill/>
          <a:ln/>
        </p:spPr>
        <p:txBody>
          <a:bodyPr wrap="square" lIns="0" tIns="0" rIns="0" bIns="0" rtlCol="0" anchor="ctr"/>
          <a:lstStyle/>
          <a:p>
            <a:pPr algn="ctr" indent="0" marL="0">
              <a:buNone/>
            </a:pPr>
            <a:r>
              <a:rPr lang="en-US" sz="1600" b="1" dirty="0">
                <a:solidFill>
                  <a:srgbClr val="262A20"/>
                </a:solidFill>
                <a:latin typeface="Open Sans" pitchFamily="34" charset="0"/>
                <a:ea typeface="Open Sans" pitchFamily="34" charset="-122"/>
                <a:cs typeface="Open Sans" pitchFamily="34" charset="-120"/>
              </a:rPr>
              <a:t>One event can hurt more than one. Choose the one that hurts most, and say why.</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A1.1</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CIA Triage</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Read each short event.</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Tap C, I or A before the clock ends.</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Read why. Your score is private.</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CIA Triage</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the CIA triad</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15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A1.3</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What Is TeaLeaf Worth?</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Put TeaLeaf's six assets in order.</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Most harmful to lose goes at the top.</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Compare your order with the MD's view.</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What Is TeaLeaf Worth?</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information as an asset</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15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Break</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25</a:t>
            </a:r>
            <a:endParaRPr lang="en-US" sz="800" dirty="0"/>
          </a:p>
        </p:txBody>
      </p:sp>
      <p:sp>
        <p:nvSpPr>
          <p:cNvPr id="8" name="Shape 5"/>
          <p:cNvSpPr/>
          <p:nvPr/>
        </p:nvSpPr>
        <p:spPr>
          <a:xfrm>
            <a:off x="3977640" y="1463040"/>
            <a:ext cx="1188720" cy="1188720"/>
          </a:xfrm>
          <a:prstGeom prst="ellipse">
            <a:avLst/>
          </a:prstGeom>
          <a:solidFill>
            <a:srgbClr val="C7A887"/>
          </a:solidFill>
          <a:ln w="12700">
            <a:solidFill>
              <a:srgbClr val="C7A887"/>
            </a:solidFill>
            <a:prstDash val="solid"/>
          </a:ln>
        </p:spPr>
      </p:sp>
      <p:pic>
        <p:nvPicPr>
          <p:cNvPr id="9" name="Image 0" descr="preencoded.png">    </p:cNvPr>
          <p:cNvPicPr>
            <a:picLocks noChangeAspect="1"/>
          </p:cNvPicPr>
          <p:nvPr/>
        </p:nvPicPr>
        <p:blipFill>
          <a:blip r:embed="rId1"/>
          <a:stretch>
            <a:fillRect/>
          </a:stretch>
        </p:blipFill>
        <p:spPr>
          <a:xfrm>
            <a:off x="4274820" y="1760220"/>
            <a:ext cx="594360" cy="594360"/>
          </a:xfrm>
          <a:prstGeom prst="rect">
            <a:avLst/>
          </a:prstGeom>
        </p:spPr>
      </p:pic>
      <p:sp>
        <p:nvSpPr>
          <p:cNvPr id="10" name="Text 6"/>
          <p:cNvSpPr txBox="1"/>
          <p:nvPr/>
        </p:nvSpPr>
        <p:spPr>
          <a:xfrm>
            <a:off x="457200" y="2926080"/>
            <a:ext cx="8229600" cy="640080"/>
          </a:xfrm>
          <a:prstGeom prst="rect">
            <a:avLst/>
          </a:prstGeom>
          <a:noFill/>
          <a:ln/>
        </p:spPr>
        <p:txBody>
          <a:bodyPr wrap="square" lIns="0" tIns="0" rIns="0" bIns="0" rtlCol="0" anchor="ctr"/>
          <a:lstStyle/>
          <a:p>
            <a:pPr algn="ctr" indent="0" marL="0">
              <a:buNone/>
            </a:pPr>
            <a:r>
              <a:rPr lang="en-US" sz="3200" b="1" dirty="0">
                <a:solidFill>
                  <a:srgbClr val="262A20"/>
                </a:solidFill>
                <a:latin typeface="Open Sans" pitchFamily="34" charset="0"/>
                <a:ea typeface="Open Sans" pitchFamily="34" charset="-122"/>
                <a:cs typeface="Open Sans" pitchFamily="34" charset="-120"/>
              </a:rPr>
              <a:t>Back at 11:00</a:t>
            </a:r>
            <a:endParaRPr lang="en-US" sz="3200" dirty="0"/>
          </a:p>
        </p:txBody>
      </p:sp>
      <p:sp>
        <p:nvSpPr>
          <p:cNvPr id="11" name="Text 7"/>
          <p:cNvSpPr txBox="1"/>
          <p:nvPr/>
        </p:nvSpPr>
        <p:spPr>
          <a:xfrm>
            <a:off x="457200" y="3611880"/>
            <a:ext cx="8229600" cy="457200"/>
          </a:xfrm>
          <a:prstGeom prst="rect">
            <a:avLst/>
          </a:prstGeom>
          <a:noFill/>
          <a:ln/>
        </p:spPr>
        <p:txBody>
          <a:bodyPr wrap="square" lIns="0" tIns="0" rIns="0" bIns="0" rtlCol="0" anchor="ctr"/>
          <a:lstStyle/>
          <a:p>
            <a:pPr algn="ctr" indent="0" marL="0">
              <a:buNone/>
            </a:pPr>
            <a:r>
              <a:rPr lang="en-US" sz="1600" dirty="0">
                <a:solidFill>
                  <a:srgbClr val="5A5F55"/>
                </a:solidFill>
                <a:latin typeface="Open Sans" pitchFamily="34" charset="0"/>
                <a:ea typeface="Open Sans" pitchFamily="34" charset="-122"/>
                <a:cs typeface="Open Sans" pitchFamily="34" charset="-120"/>
              </a:rPr>
              <a:t>Next: three words we will use all week.</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4</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Threat, vulnerability, risk</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Three words we will use every day this week.</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three risk words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27</a:t>
            </a:r>
            <a:endParaRPr lang="en-US" sz="800" dirty="0"/>
          </a:p>
        </p:txBody>
      </p:sp>
      <p:sp>
        <p:nvSpPr>
          <p:cNvPr id="8" name="Shape 5"/>
          <p:cNvSpPr/>
          <p:nvPr/>
        </p:nvSpPr>
        <p:spPr>
          <a:xfrm>
            <a:off x="457200" y="1188720"/>
            <a:ext cx="2590800" cy="2560320"/>
          </a:xfrm>
          <a:prstGeom prst="roundRect">
            <a:avLst>
              <a:gd name="adj" fmla="val 2857"/>
            </a:avLst>
          </a:prstGeom>
          <a:solidFill>
            <a:srgbClr val="EDDDCD"/>
          </a:solidFill>
          <a:ln w="12700">
            <a:solidFill>
              <a:srgbClr val="EDDDCD"/>
            </a:solidFill>
            <a:prstDash val="solid"/>
          </a:ln>
        </p:spPr>
      </p:sp>
      <p:sp>
        <p:nvSpPr>
          <p:cNvPr id="9" name="Shape 6"/>
          <p:cNvSpPr/>
          <p:nvPr/>
        </p:nvSpPr>
        <p:spPr>
          <a:xfrm>
            <a:off x="640080" y="1371600"/>
            <a:ext cx="502920" cy="502920"/>
          </a:xfrm>
          <a:prstGeom prst="ellipse">
            <a:avLst/>
          </a:prstGeom>
          <a:solidFill>
            <a:srgbClr val="C7A887"/>
          </a:solidFill>
          <a:ln w="12700">
            <a:solidFill>
              <a:srgbClr val="C7A887"/>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2225040" cy="365760"/>
          </a:xfrm>
          <a:prstGeom prst="rect">
            <a:avLst/>
          </a:prstGeom>
          <a:noFill/>
          <a:ln/>
        </p:spPr>
        <p:txBody>
          <a:bodyPr wrap="square" lIns="0" tIns="0" rIns="0" bIns="0" rtlCol="0" anchor="t"/>
          <a:lstStyle/>
          <a:p>
            <a:pPr indent="0" marL="0">
              <a:buNone/>
            </a:pPr>
            <a:r>
              <a:rPr lang="en-US" sz="2000" b="1" dirty="0">
                <a:solidFill>
                  <a:srgbClr val="262A20"/>
                </a:solidFill>
                <a:latin typeface="Open Sans" pitchFamily="34" charset="0"/>
                <a:ea typeface="Open Sans" pitchFamily="34" charset="-122"/>
                <a:cs typeface="Open Sans" pitchFamily="34" charset="-120"/>
              </a:rPr>
              <a:t>Threat</a:t>
            </a:r>
            <a:endParaRPr lang="en-US" sz="2000" dirty="0"/>
          </a:p>
        </p:txBody>
      </p:sp>
      <p:sp>
        <p:nvSpPr>
          <p:cNvPr id="12" name="Text 8"/>
          <p:cNvSpPr txBox="1"/>
          <p:nvPr/>
        </p:nvSpPr>
        <p:spPr>
          <a:xfrm>
            <a:off x="640080" y="2395728"/>
            <a:ext cx="2225040" cy="1234440"/>
          </a:xfrm>
          <a:prstGeom prst="rect">
            <a:avLst/>
          </a:prstGeom>
          <a:noFill/>
          <a:ln/>
        </p:spPr>
        <p:txBody>
          <a:bodyPr wrap="square" lIns="0" tIns="0" rIns="0" bIns="0" rtlCol="0" anchor="t"/>
          <a:lstStyle/>
          <a:p>
            <a:pPr indent="0" marL="0">
              <a:buNone/>
            </a:pPr>
            <a:r>
              <a:rPr lang="en-US" sz="1500" dirty="0">
                <a:solidFill>
                  <a:srgbClr val="262A20"/>
                </a:solidFill>
                <a:latin typeface="Open Sans" pitchFamily="34" charset="0"/>
                <a:ea typeface="Open Sans" pitchFamily="34" charset="-122"/>
                <a:cs typeface="Open Sans" pitchFamily="34" charset="-120"/>
              </a:rPr>
              <a:t>Something or someone that can cause harm.</a:t>
            </a:r>
            <a:endParaRPr lang="en-US" sz="1500" dirty="0"/>
          </a:p>
        </p:txBody>
      </p:sp>
      <p:sp>
        <p:nvSpPr>
          <p:cNvPr id="13" name="Shape 9"/>
          <p:cNvSpPr/>
          <p:nvPr/>
        </p:nvSpPr>
        <p:spPr>
          <a:xfrm>
            <a:off x="3276600" y="1188720"/>
            <a:ext cx="2590800" cy="2560320"/>
          </a:xfrm>
          <a:prstGeom prst="roundRect">
            <a:avLst>
              <a:gd name="adj" fmla="val 2857"/>
            </a:avLst>
          </a:prstGeom>
          <a:solidFill>
            <a:srgbClr val="D9D5D2"/>
          </a:solidFill>
          <a:ln w="12700">
            <a:solidFill>
              <a:srgbClr val="D9D5D2"/>
            </a:solidFill>
            <a:prstDash val="solid"/>
          </a:ln>
        </p:spPr>
      </p:sp>
      <p:sp>
        <p:nvSpPr>
          <p:cNvPr id="14" name="Shape 10"/>
          <p:cNvSpPr/>
          <p:nvPr/>
        </p:nvSpPr>
        <p:spPr>
          <a:xfrm>
            <a:off x="3459480" y="1371600"/>
            <a:ext cx="502920" cy="502920"/>
          </a:xfrm>
          <a:prstGeom prst="ellipse">
            <a:avLst/>
          </a:prstGeom>
          <a:solidFill>
            <a:srgbClr val="262A20"/>
          </a:solidFill>
          <a:ln w="12700">
            <a:solidFill>
              <a:srgbClr val="262A20"/>
            </a:solidFill>
            <a:prstDash val="solid"/>
          </a:ln>
        </p:spPr>
      </p:sp>
      <p:pic>
        <p:nvPicPr>
          <p:cNvPr id="15" name="Image 1" descr="preencoded.png">    </p:cNvPr>
          <p:cNvPicPr>
            <a:picLocks noChangeAspect="1"/>
          </p:cNvPicPr>
          <p:nvPr/>
        </p:nvPicPr>
        <p:blipFill>
          <a:blip r:embed="rId2"/>
          <a:stretch>
            <a:fillRect/>
          </a:stretch>
        </p:blipFill>
        <p:spPr>
          <a:xfrm>
            <a:off x="3585210" y="1497330"/>
            <a:ext cx="251460" cy="251460"/>
          </a:xfrm>
          <a:prstGeom prst="rect">
            <a:avLst/>
          </a:prstGeom>
        </p:spPr>
      </p:pic>
      <p:sp>
        <p:nvSpPr>
          <p:cNvPr id="16" name="Text 11"/>
          <p:cNvSpPr txBox="1"/>
          <p:nvPr/>
        </p:nvSpPr>
        <p:spPr>
          <a:xfrm>
            <a:off x="3459480" y="2011680"/>
            <a:ext cx="2225040" cy="365760"/>
          </a:xfrm>
          <a:prstGeom prst="rect">
            <a:avLst/>
          </a:prstGeom>
          <a:noFill/>
          <a:ln/>
        </p:spPr>
        <p:txBody>
          <a:bodyPr wrap="square" lIns="0" tIns="0" rIns="0" bIns="0" rtlCol="0" anchor="t"/>
          <a:lstStyle/>
          <a:p>
            <a:pPr indent="0" marL="0">
              <a:buNone/>
            </a:pPr>
            <a:r>
              <a:rPr lang="en-US" sz="2000" b="1" dirty="0">
                <a:solidFill>
                  <a:srgbClr val="262A20"/>
                </a:solidFill>
                <a:latin typeface="Open Sans" pitchFamily="34" charset="0"/>
                <a:ea typeface="Open Sans" pitchFamily="34" charset="-122"/>
                <a:cs typeface="Open Sans" pitchFamily="34" charset="-120"/>
              </a:rPr>
              <a:t>Vulnerability</a:t>
            </a:r>
            <a:endParaRPr lang="en-US" sz="2000" dirty="0"/>
          </a:p>
        </p:txBody>
      </p:sp>
      <p:sp>
        <p:nvSpPr>
          <p:cNvPr id="17" name="Text 12"/>
          <p:cNvSpPr txBox="1"/>
          <p:nvPr/>
        </p:nvSpPr>
        <p:spPr>
          <a:xfrm>
            <a:off x="3459480" y="2395728"/>
            <a:ext cx="2225040" cy="1234440"/>
          </a:xfrm>
          <a:prstGeom prst="rect">
            <a:avLst/>
          </a:prstGeom>
          <a:noFill/>
          <a:ln/>
        </p:spPr>
        <p:txBody>
          <a:bodyPr wrap="square" lIns="0" tIns="0" rIns="0" bIns="0" rtlCol="0" anchor="t"/>
          <a:lstStyle/>
          <a:p>
            <a:pPr indent="0" marL="0">
              <a:buNone/>
            </a:pPr>
            <a:r>
              <a:rPr lang="en-US" sz="1500" dirty="0">
                <a:solidFill>
                  <a:srgbClr val="262A20"/>
                </a:solidFill>
                <a:latin typeface="Open Sans" pitchFamily="34" charset="0"/>
                <a:ea typeface="Open Sans" pitchFamily="34" charset="-122"/>
                <a:cs typeface="Open Sans" pitchFamily="34" charset="-120"/>
              </a:rPr>
              <a:t>A weakness that a threat can use.</a:t>
            </a:r>
            <a:endParaRPr lang="en-US" sz="1500" dirty="0"/>
          </a:p>
        </p:txBody>
      </p:sp>
      <p:sp>
        <p:nvSpPr>
          <p:cNvPr id="18" name="Shape 13"/>
          <p:cNvSpPr/>
          <p:nvPr/>
        </p:nvSpPr>
        <p:spPr>
          <a:xfrm>
            <a:off x="6096000" y="1188720"/>
            <a:ext cx="2590800" cy="2560320"/>
          </a:xfrm>
          <a:prstGeom prst="roundRect">
            <a:avLst>
              <a:gd name="adj" fmla="val 2857"/>
            </a:avLst>
          </a:prstGeom>
          <a:solidFill>
            <a:srgbClr val="E1E6E6"/>
          </a:solidFill>
          <a:ln w="12700">
            <a:solidFill>
              <a:srgbClr val="E1E6E6"/>
            </a:solidFill>
            <a:prstDash val="solid"/>
          </a:ln>
        </p:spPr>
      </p:sp>
      <p:sp>
        <p:nvSpPr>
          <p:cNvPr id="19" name="Shape 14"/>
          <p:cNvSpPr/>
          <p:nvPr/>
        </p:nvSpPr>
        <p:spPr>
          <a:xfrm>
            <a:off x="6278880" y="137160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6404610" y="1497330"/>
            <a:ext cx="251460" cy="251460"/>
          </a:xfrm>
          <a:prstGeom prst="rect">
            <a:avLst/>
          </a:prstGeom>
        </p:spPr>
      </p:pic>
      <p:sp>
        <p:nvSpPr>
          <p:cNvPr id="21" name="Text 15"/>
          <p:cNvSpPr txBox="1"/>
          <p:nvPr/>
        </p:nvSpPr>
        <p:spPr>
          <a:xfrm>
            <a:off x="6278880" y="2011680"/>
            <a:ext cx="2225040" cy="365760"/>
          </a:xfrm>
          <a:prstGeom prst="rect">
            <a:avLst/>
          </a:prstGeom>
          <a:noFill/>
          <a:ln/>
        </p:spPr>
        <p:txBody>
          <a:bodyPr wrap="square" lIns="0" tIns="0" rIns="0" bIns="0" rtlCol="0" anchor="t"/>
          <a:lstStyle/>
          <a:p>
            <a:pPr indent="0" marL="0">
              <a:buNone/>
            </a:pPr>
            <a:r>
              <a:rPr lang="en-US" sz="2000" b="1" dirty="0">
                <a:solidFill>
                  <a:srgbClr val="262A20"/>
                </a:solidFill>
                <a:latin typeface="Open Sans" pitchFamily="34" charset="0"/>
                <a:ea typeface="Open Sans" pitchFamily="34" charset="-122"/>
                <a:cs typeface="Open Sans" pitchFamily="34" charset="-120"/>
              </a:rPr>
              <a:t>Risk</a:t>
            </a:r>
            <a:endParaRPr lang="en-US" sz="2000" dirty="0"/>
          </a:p>
        </p:txBody>
      </p:sp>
      <p:sp>
        <p:nvSpPr>
          <p:cNvPr id="22" name="Text 16"/>
          <p:cNvSpPr txBox="1"/>
          <p:nvPr/>
        </p:nvSpPr>
        <p:spPr>
          <a:xfrm>
            <a:off x="6278880" y="2395728"/>
            <a:ext cx="2225040" cy="1234440"/>
          </a:xfrm>
          <a:prstGeom prst="rect">
            <a:avLst/>
          </a:prstGeom>
          <a:noFill/>
          <a:ln/>
        </p:spPr>
        <p:txBody>
          <a:bodyPr wrap="square" lIns="0" tIns="0" rIns="0" bIns="0" rtlCol="0" anchor="t"/>
          <a:lstStyle/>
          <a:p>
            <a:pPr indent="0" marL="0">
              <a:buNone/>
            </a:pPr>
            <a:r>
              <a:rPr lang="en-US" sz="1500" dirty="0">
                <a:solidFill>
                  <a:srgbClr val="262A20"/>
                </a:solidFill>
                <a:latin typeface="Open Sans" pitchFamily="34" charset="0"/>
                <a:ea typeface="Open Sans" pitchFamily="34" charset="-122"/>
                <a:cs typeface="Open Sans" pitchFamily="34" charset="-120"/>
              </a:rPr>
              <a:t>The chance that a threat uses a weakness and causes harm.</a:t>
            </a:r>
            <a:endParaRPr lang="en-US" sz="1500" dirty="0"/>
          </a:p>
        </p:txBody>
      </p:sp>
      <p:sp>
        <p:nvSpPr>
          <p:cNvPr id="23" name="Text 17"/>
          <p:cNvSpPr txBox="1"/>
          <p:nvPr/>
        </p:nvSpPr>
        <p:spPr>
          <a:xfrm>
            <a:off x="457200" y="4023360"/>
            <a:ext cx="8229600" cy="411480"/>
          </a:xfrm>
          <a:prstGeom prst="rect">
            <a:avLst/>
          </a:prstGeom>
          <a:noFill/>
          <a:ln/>
        </p:spPr>
        <p:txBody>
          <a:bodyPr wrap="square" lIns="0" tIns="0" rIns="0" bIns="0" rtlCol="0" anchor="ctr"/>
          <a:lstStyle/>
          <a:p>
            <a:pPr algn="ctr" indent="0" marL="0">
              <a:buNone/>
            </a:pPr>
            <a:r>
              <a:rPr lang="en-US" sz="1600" b="1" dirty="0">
                <a:solidFill>
                  <a:srgbClr val="262A20"/>
                </a:solidFill>
                <a:latin typeface="Open Sans" pitchFamily="34" charset="0"/>
                <a:ea typeface="Open Sans" pitchFamily="34" charset="-122"/>
                <a:cs typeface="Open Sans" pitchFamily="34" charset="-120"/>
              </a:rPr>
              <a:t>A risk needs all three: a threat, a weakness, and harm to an asset.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An example from home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28</a:t>
            </a:r>
            <a:endParaRPr lang="en-US" sz="800" dirty="0"/>
          </a:p>
        </p:txBody>
      </p:sp>
      <p:sp>
        <p:nvSpPr>
          <p:cNvPr id="8" name="Shape 5"/>
          <p:cNvSpPr/>
          <p:nvPr/>
        </p:nvSpPr>
        <p:spPr>
          <a:xfrm>
            <a:off x="1280160" y="1325880"/>
            <a:ext cx="822960" cy="822960"/>
          </a:xfrm>
          <a:prstGeom prst="ellipse">
            <a:avLst/>
          </a:prstGeom>
          <a:solidFill>
            <a:srgbClr val="C7A887"/>
          </a:solidFill>
          <a:ln w="12700">
            <a:solidFill>
              <a:srgbClr val="C7A887"/>
            </a:solidFill>
            <a:prstDash val="solid"/>
          </a:ln>
        </p:spPr>
      </p:sp>
      <p:pic>
        <p:nvPicPr>
          <p:cNvPr id="9" name="Image 0" descr="preencoded.png">    </p:cNvPr>
          <p:cNvPicPr>
            <a:picLocks noChangeAspect="1"/>
          </p:cNvPicPr>
          <p:nvPr/>
        </p:nvPicPr>
        <p:blipFill>
          <a:blip r:embed="rId1"/>
          <a:stretch>
            <a:fillRect/>
          </a:stretch>
        </p:blipFill>
        <p:spPr>
          <a:xfrm>
            <a:off x="1485900" y="1531620"/>
            <a:ext cx="411480" cy="411480"/>
          </a:xfrm>
          <a:prstGeom prst="rect">
            <a:avLst/>
          </a:prstGeom>
        </p:spPr>
      </p:pic>
      <p:sp>
        <p:nvSpPr>
          <p:cNvPr id="10" name="Text 6"/>
          <p:cNvSpPr txBox="1"/>
          <p:nvPr/>
        </p:nvSpPr>
        <p:spPr>
          <a:xfrm>
            <a:off x="457200" y="2286000"/>
            <a:ext cx="2468880" cy="365760"/>
          </a:xfrm>
          <a:prstGeom prst="rect">
            <a:avLst/>
          </a:prstGeom>
          <a:noFill/>
          <a:ln/>
        </p:spPr>
        <p:txBody>
          <a:bodyPr wrap="square" lIns="0" tIns="0" rIns="0" bIns="0" rtlCol="0" anchor="ctr"/>
          <a:lstStyle/>
          <a:p>
            <a:pPr algn="ctr" indent="0" marL="0">
              <a:buNone/>
            </a:pPr>
            <a:r>
              <a:rPr lang="en-US" sz="1800" b="1" dirty="0">
                <a:solidFill>
                  <a:srgbClr val="7D5F3F"/>
                </a:solidFill>
                <a:latin typeface="Open Sans" pitchFamily="34" charset="0"/>
                <a:ea typeface="Open Sans" pitchFamily="34" charset="-122"/>
                <a:cs typeface="Open Sans" pitchFamily="34" charset="-120"/>
              </a:rPr>
              <a:t>Threat</a:t>
            </a:r>
            <a:endParaRPr lang="en-US" sz="1800" dirty="0"/>
          </a:p>
        </p:txBody>
      </p:sp>
      <p:sp>
        <p:nvSpPr>
          <p:cNvPr id="11" name="Text 7"/>
          <p:cNvSpPr txBox="1"/>
          <p:nvPr/>
        </p:nvSpPr>
        <p:spPr>
          <a:xfrm>
            <a:off x="457200" y="2697480"/>
            <a:ext cx="2468880" cy="731520"/>
          </a:xfrm>
          <a:prstGeom prst="rect">
            <a:avLst/>
          </a:prstGeom>
          <a:noFill/>
          <a:ln/>
        </p:spPr>
        <p:txBody>
          <a:bodyPr wrap="square" lIns="0" tIns="0" rIns="0" bIns="0" rtlCol="0" anchor="t"/>
          <a:lstStyle/>
          <a:p>
            <a:pPr algn="ctr" indent="0" marL="0">
              <a:buNone/>
            </a:pPr>
            <a:r>
              <a:rPr lang="en-US" sz="1500" dirty="0">
                <a:solidFill>
                  <a:srgbClr val="262A20"/>
                </a:solidFill>
                <a:latin typeface="Open Sans" pitchFamily="34" charset="0"/>
                <a:ea typeface="Open Sans" pitchFamily="34" charset="-122"/>
                <a:cs typeface="Open Sans" pitchFamily="34" charset="-120"/>
              </a:rPr>
              <a:t>A thief</a:t>
            </a:r>
            <a:endParaRPr lang="en-US" sz="1500" dirty="0"/>
          </a:p>
        </p:txBody>
      </p:sp>
      <p:sp>
        <p:nvSpPr>
          <p:cNvPr id="12" name="Shape 8"/>
          <p:cNvSpPr/>
          <p:nvPr/>
        </p:nvSpPr>
        <p:spPr>
          <a:xfrm>
            <a:off x="2971800" y="1737360"/>
            <a:ext cx="274320" cy="0"/>
          </a:xfrm>
          <a:prstGeom prst="line">
            <a:avLst/>
          </a:prstGeom>
          <a:noFill/>
          <a:ln w="25400">
            <a:solidFill>
              <a:srgbClr val="5A5F55"/>
            </a:solidFill>
            <a:prstDash val="solid"/>
            <a:tailEnd type="triangle"/>
          </a:ln>
        </p:spPr>
      </p:sp>
      <p:sp>
        <p:nvSpPr>
          <p:cNvPr id="13" name="Shape 9"/>
          <p:cNvSpPr/>
          <p:nvPr/>
        </p:nvSpPr>
        <p:spPr>
          <a:xfrm>
            <a:off x="4114800" y="1325880"/>
            <a:ext cx="822960" cy="822960"/>
          </a:xfrm>
          <a:prstGeom prst="ellipse">
            <a:avLst/>
          </a:prstGeom>
          <a:solidFill>
            <a:srgbClr val="262A20"/>
          </a:solidFill>
          <a:ln w="12700">
            <a:solidFill>
              <a:srgbClr val="262A20"/>
            </a:solidFill>
            <a:prstDash val="solid"/>
          </a:ln>
        </p:spPr>
      </p:sp>
      <p:pic>
        <p:nvPicPr>
          <p:cNvPr id="14" name="Image 1" descr="preencoded.png">    </p:cNvPr>
          <p:cNvPicPr>
            <a:picLocks noChangeAspect="1"/>
          </p:cNvPicPr>
          <p:nvPr/>
        </p:nvPicPr>
        <p:blipFill>
          <a:blip r:embed="rId2"/>
          <a:stretch>
            <a:fillRect/>
          </a:stretch>
        </p:blipFill>
        <p:spPr>
          <a:xfrm>
            <a:off x="4320540" y="1531620"/>
            <a:ext cx="411480" cy="411480"/>
          </a:xfrm>
          <a:prstGeom prst="rect">
            <a:avLst/>
          </a:prstGeom>
        </p:spPr>
      </p:pic>
      <p:sp>
        <p:nvSpPr>
          <p:cNvPr id="15" name="Text 10"/>
          <p:cNvSpPr txBox="1"/>
          <p:nvPr/>
        </p:nvSpPr>
        <p:spPr>
          <a:xfrm>
            <a:off x="3291840" y="2286000"/>
            <a:ext cx="2468880" cy="365760"/>
          </a:xfrm>
          <a:prstGeom prst="rect">
            <a:avLst/>
          </a:prstGeom>
          <a:noFill/>
          <a:ln/>
        </p:spPr>
        <p:txBody>
          <a:bodyPr wrap="square" lIns="0" tIns="0" rIns="0" bIns="0" rtlCol="0" anchor="ctr"/>
          <a:lstStyle/>
          <a:p>
            <a:pPr algn="ctr" indent="0" marL="0">
              <a:buNone/>
            </a:pPr>
            <a:r>
              <a:rPr lang="en-US" sz="1800" b="1" dirty="0">
                <a:solidFill>
                  <a:srgbClr val="262A20"/>
                </a:solidFill>
                <a:latin typeface="Open Sans" pitchFamily="34" charset="0"/>
                <a:ea typeface="Open Sans" pitchFamily="34" charset="-122"/>
                <a:cs typeface="Open Sans" pitchFamily="34" charset="-120"/>
              </a:rPr>
              <a:t>Vulnerability</a:t>
            </a:r>
            <a:endParaRPr lang="en-US" sz="1800" dirty="0"/>
          </a:p>
        </p:txBody>
      </p:sp>
      <p:sp>
        <p:nvSpPr>
          <p:cNvPr id="16" name="Text 11"/>
          <p:cNvSpPr txBox="1"/>
          <p:nvPr/>
        </p:nvSpPr>
        <p:spPr>
          <a:xfrm>
            <a:off x="3291840" y="2697480"/>
            <a:ext cx="2468880" cy="731520"/>
          </a:xfrm>
          <a:prstGeom prst="rect">
            <a:avLst/>
          </a:prstGeom>
          <a:noFill/>
          <a:ln/>
        </p:spPr>
        <p:txBody>
          <a:bodyPr wrap="square" lIns="0" tIns="0" rIns="0" bIns="0" rtlCol="0" anchor="t"/>
          <a:lstStyle/>
          <a:p>
            <a:pPr algn="ctr" indent="0" marL="0">
              <a:buNone/>
            </a:pPr>
            <a:r>
              <a:rPr lang="en-US" sz="1500" dirty="0">
                <a:solidFill>
                  <a:srgbClr val="262A20"/>
                </a:solidFill>
                <a:latin typeface="Open Sans" pitchFamily="34" charset="0"/>
                <a:ea typeface="Open Sans" pitchFamily="34" charset="-122"/>
                <a:cs typeface="Open Sans" pitchFamily="34" charset="-120"/>
              </a:rPr>
              <a:t>An open window</a:t>
            </a:r>
            <a:endParaRPr lang="en-US" sz="1500" dirty="0"/>
          </a:p>
        </p:txBody>
      </p:sp>
      <p:sp>
        <p:nvSpPr>
          <p:cNvPr id="17" name="Shape 12"/>
          <p:cNvSpPr/>
          <p:nvPr/>
        </p:nvSpPr>
        <p:spPr>
          <a:xfrm>
            <a:off x="5806440" y="1737360"/>
            <a:ext cx="274320" cy="0"/>
          </a:xfrm>
          <a:prstGeom prst="line">
            <a:avLst/>
          </a:prstGeom>
          <a:noFill/>
          <a:ln w="25400">
            <a:solidFill>
              <a:srgbClr val="5A5F55"/>
            </a:solidFill>
            <a:prstDash val="solid"/>
            <a:tailEnd type="triangle"/>
          </a:ln>
        </p:spPr>
      </p:sp>
      <p:sp>
        <p:nvSpPr>
          <p:cNvPr id="18" name="Shape 13"/>
          <p:cNvSpPr/>
          <p:nvPr/>
        </p:nvSpPr>
        <p:spPr>
          <a:xfrm>
            <a:off x="6949440" y="1325880"/>
            <a:ext cx="822960" cy="822960"/>
          </a:xfrm>
          <a:prstGeom prst="ellipse">
            <a:avLst/>
          </a:prstGeom>
          <a:solidFill>
            <a:srgbClr val="667C7E"/>
          </a:solidFill>
          <a:ln w="12700">
            <a:solidFill>
              <a:srgbClr val="667C7E"/>
            </a:solidFill>
            <a:prstDash val="solid"/>
          </a:ln>
        </p:spPr>
      </p:sp>
      <p:pic>
        <p:nvPicPr>
          <p:cNvPr id="19" name="Image 2" descr="preencoded.png">    </p:cNvPr>
          <p:cNvPicPr>
            <a:picLocks noChangeAspect="1"/>
          </p:cNvPicPr>
          <p:nvPr/>
        </p:nvPicPr>
        <p:blipFill>
          <a:blip r:embed="rId3"/>
          <a:stretch>
            <a:fillRect/>
          </a:stretch>
        </p:blipFill>
        <p:spPr>
          <a:xfrm>
            <a:off x="7155180" y="1531620"/>
            <a:ext cx="411480" cy="411480"/>
          </a:xfrm>
          <a:prstGeom prst="rect">
            <a:avLst/>
          </a:prstGeom>
        </p:spPr>
      </p:pic>
      <p:sp>
        <p:nvSpPr>
          <p:cNvPr id="20" name="Text 14"/>
          <p:cNvSpPr txBox="1"/>
          <p:nvPr/>
        </p:nvSpPr>
        <p:spPr>
          <a:xfrm>
            <a:off x="6126480" y="2286000"/>
            <a:ext cx="2468880" cy="365760"/>
          </a:xfrm>
          <a:prstGeom prst="rect">
            <a:avLst/>
          </a:prstGeom>
          <a:noFill/>
          <a:ln/>
        </p:spPr>
        <p:txBody>
          <a:bodyPr wrap="square" lIns="0" tIns="0" rIns="0" bIns="0" rtlCol="0" anchor="ctr"/>
          <a:lstStyle/>
          <a:p>
            <a:pPr algn="ctr" indent="0" marL="0">
              <a:buNone/>
            </a:pPr>
            <a:r>
              <a:rPr lang="en-US" sz="1800" b="1" dirty="0">
                <a:solidFill>
                  <a:srgbClr val="566A6C"/>
                </a:solidFill>
                <a:latin typeface="Open Sans" pitchFamily="34" charset="0"/>
                <a:ea typeface="Open Sans" pitchFamily="34" charset="-122"/>
                <a:cs typeface="Open Sans" pitchFamily="34" charset="-120"/>
              </a:rPr>
              <a:t>Risk</a:t>
            </a:r>
            <a:endParaRPr lang="en-US" sz="1800" dirty="0"/>
          </a:p>
        </p:txBody>
      </p:sp>
      <p:sp>
        <p:nvSpPr>
          <p:cNvPr id="21" name="Text 15"/>
          <p:cNvSpPr txBox="1"/>
          <p:nvPr/>
        </p:nvSpPr>
        <p:spPr>
          <a:xfrm>
            <a:off x="6126480" y="2697480"/>
            <a:ext cx="2468880" cy="731520"/>
          </a:xfrm>
          <a:prstGeom prst="rect">
            <a:avLst/>
          </a:prstGeom>
          <a:noFill/>
          <a:ln/>
        </p:spPr>
        <p:txBody>
          <a:bodyPr wrap="square" lIns="0" tIns="0" rIns="0" bIns="0" rtlCol="0" anchor="t"/>
          <a:lstStyle/>
          <a:p>
            <a:pPr algn="ctr" indent="0" marL="0">
              <a:buNone/>
            </a:pPr>
            <a:r>
              <a:rPr lang="en-US" sz="1500" dirty="0">
                <a:solidFill>
                  <a:srgbClr val="262A20"/>
                </a:solidFill>
                <a:latin typeface="Open Sans" pitchFamily="34" charset="0"/>
                <a:ea typeface="Open Sans" pitchFamily="34" charset="-122"/>
                <a:cs typeface="Open Sans" pitchFamily="34" charset="-120"/>
              </a:rPr>
              <a:t>The thief may climb in and take the TV</a:t>
            </a:r>
            <a:endParaRPr lang="en-US" sz="1500" dirty="0"/>
          </a:p>
        </p:txBody>
      </p:sp>
      <p:sp>
        <p:nvSpPr>
          <p:cNvPr id="22" name="Text 16"/>
          <p:cNvSpPr txBox="1"/>
          <p:nvPr/>
        </p:nvSpPr>
        <p:spPr>
          <a:xfrm>
            <a:off x="457200" y="3840480"/>
            <a:ext cx="8229600" cy="457200"/>
          </a:xfrm>
          <a:prstGeom prst="rect">
            <a:avLst/>
          </a:prstGeom>
          <a:noFill/>
          <a:ln/>
        </p:spPr>
        <p:txBody>
          <a:bodyPr wrap="square" lIns="0" tIns="0" rIns="0" bIns="0" rtlCol="0" anchor="ctr"/>
          <a:lstStyle/>
          <a:p>
            <a:pPr algn="ctr" indent="0" marL="0">
              <a:buNone/>
            </a:pPr>
            <a:r>
              <a:rPr lang="en-US" sz="1600" b="1" dirty="0">
                <a:solidFill>
                  <a:srgbClr val="262A20"/>
                </a:solidFill>
                <a:latin typeface="Open Sans" pitchFamily="34" charset="0"/>
                <a:ea typeface="Open Sans" pitchFamily="34" charset="-122"/>
                <a:cs typeface="Open Sans" pitchFamily="34" charset="-120"/>
              </a:rPr>
              <a:t>No thief, no risk. No open window, much less risk.</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same idea at TeaLeaf</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29</a:t>
            </a:r>
            <a:endParaRPr lang="en-US" sz="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377440"/>
                <a:gridCol w="5852160"/>
              </a:tblGrid>
              <a:tr h="548640">
                <a:tc>
                  <a:txBody>
                    <a:bodyPr/>
                    <a:lstStyle/>
                    <a:p>
                      <a:pPr indent="0" marL="0">
                        <a:buNone/>
                      </a:pPr>
                      <a:r>
                        <a:rPr lang="en-US" sz="1500" b="1" dirty="0">
                          <a:solidFill>
                            <a:srgbClr val="FFFFFF"/>
                          </a:solidFill>
                          <a:latin typeface="Open Sans" pitchFamily="34" charset="0"/>
                          <a:ea typeface="Open Sans" pitchFamily="34" charset="-122"/>
                          <a:cs typeface="Open Sans" pitchFamily="34" charset="-120"/>
                        </a:rPr>
                        <a:t>Word</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500" b="1" dirty="0">
                          <a:solidFill>
                            <a:srgbClr val="FFFFFF"/>
                          </a:solidFill>
                          <a:latin typeface="Open Sans" pitchFamily="34" charset="0"/>
                          <a:ea typeface="Open Sans" pitchFamily="34" charset="-122"/>
                          <a:cs typeface="Open Sans" pitchFamily="34" charset="-120"/>
                        </a:rPr>
                        <a:t>At TeaLeaf</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548640">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Threat</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A criminal who guesses passwords</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Vulnerability</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All accounts staff share one simple password</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548640">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Risk</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The criminal may guess the password and steal customer data</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Which part of CIA?</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500" dirty="0">
                          <a:solidFill>
                            <a:srgbClr val="262A20"/>
                          </a:solidFill>
                          <a:latin typeface="Open Sans" pitchFamily="34" charset="0"/>
                          <a:ea typeface="Open Sans" pitchFamily="34" charset="-122"/>
                          <a:cs typeface="Open Sans" pitchFamily="34" charset="-120"/>
                        </a:rPr>
                        <a:t>Confidentiality: the data is seen by the wrong person</a:t>
                      </a:r>
                      <a:endParaRPr lang="en-US" sz="15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risk sentence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30</a:t>
            </a:r>
            <a:endParaRPr lang="en-US" sz="800" dirty="0"/>
          </a:p>
        </p:txBody>
      </p:sp>
      <p:sp>
        <p:nvSpPr>
          <p:cNvPr id="8" name="Shape 5"/>
          <p:cNvSpPr/>
          <p:nvPr/>
        </p:nvSpPr>
        <p:spPr>
          <a:xfrm>
            <a:off x="457200" y="1280160"/>
            <a:ext cx="8229600" cy="1188720"/>
          </a:xfrm>
          <a:prstGeom prst="roundRect">
            <a:avLst>
              <a:gd name="adj" fmla="val 6154"/>
            </a:avLst>
          </a:prstGeom>
          <a:solidFill>
            <a:srgbClr val="D9D5D2"/>
          </a:solidFill>
          <a:ln w="19050">
            <a:solidFill>
              <a:srgbClr val="262A20"/>
            </a:solidFill>
            <a:prstDash val="solid"/>
          </a:ln>
        </p:spPr>
      </p:sp>
      <p:sp>
        <p:nvSpPr>
          <p:cNvPr id="9" name="Text 6"/>
          <p:cNvSpPr txBox="1"/>
          <p:nvPr/>
        </p:nvSpPr>
        <p:spPr>
          <a:xfrm>
            <a:off x="640080" y="1371600"/>
            <a:ext cx="7863840" cy="1005840"/>
          </a:xfrm>
          <a:prstGeom prst="rect">
            <a:avLst/>
          </a:prstGeom>
          <a:noFill/>
          <a:ln/>
        </p:spPr>
        <p:txBody>
          <a:bodyPr wrap="square" lIns="0" tIns="0" rIns="0" bIns="0" rtlCol="0" anchor="ctr"/>
          <a:lstStyle/>
          <a:p>
            <a:pPr indent="0" marL="0">
              <a:buNone/>
            </a:pPr>
            <a:r>
              <a:rPr lang="en-US" sz="2000" b="1" dirty="0">
                <a:solidFill>
                  <a:srgbClr val="7D5F3F"/>
                </a:solidFill>
                <a:latin typeface="Open Sans" pitchFamily="34" charset="0"/>
                <a:ea typeface="Open Sans" pitchFamily="34" charset="-122"/>
                <a:cs typeface="Open Sans" pitchFamily="34" charset="-120"/>
              </a:rPr>
              <a:t>[Threat]</a:t>
            </a:r>
            <a:pPr indent="0" marL="0">
              <a:buNone/>
            </a:pPr>
            <a:r>
              <a:rPr lang="en-US" sz="2000" dirty="0">
                <a:solidFill>
                  <a:srgbClr val="262A20"/>
                </a:solidFill>
                <a:latin typeface="Open Sans" pitchFamily="34" charset="0"/>
                <a:ea typeface="Open Sans" pitchFamily="34" charset="-122"/>
                <a:cs typeface="Open Sans" pitchFamily="34" charset="-120"/>
              </a:rPr>
              <a:t> could use </a:t>
            </a:r>
            <a:pPr indent="0" marL="0">
              <a:buNone/>
            </a:pPr>
            <a:r>
              <a:rPr lang="en-US" sz="2000" b="1" dirty="0">
                <a:solidFill>
                  <a:srgbClr val="262A20"/>
                </a:solidFill>
                <a:latin typeface="Open Sans" pitchFamily="34" charset="0"/>
                <a:ea typeface="Open Sans" pitchFamily="34" charset="-122"/>
                <a:cs typeface="Open Sans" pitchFamily="34" charset="-120"/>
              </a:rPr>
              <a:t>[vulnerability]</a:t>
            </a:r>
            <a:pPr indent="0" marL="0">
              <a:buNone/>
            </a:pPr>
            <a:r>
              <a:rPr lang="en-US" sz="2000" dirty="0">
                <a:solidFill>
                  <a:srgbClr val="262A20"/>
                </a:solidFill>
                <a:latin typeface="Open Sans" pitchFamily="34" charset="0"/>
                <a:ea typeface="Open Sans" pitchFamily="34" charset="-122"/>
                <a:cs typeface="Open Sans" pitchFamily="34" charset="-120"/>
              </a:rPr>
              <a:t>, and TeaLeaf could lose </a:t>
            </a:r>
            <a:pPr indent="0" marL="0">
              <a:buNone/>
            </a:pPr>
            <a:r>
              <a:rPr lang="en-US" sz="2000" b="1" dirty="0">
                <a:solidFill>
                  <a:srgbClr val="566A6C"/>
                </a:solidFill>
                <a:latin typeface="Open Sans" pitchFamily="34" charset="0"/>
                <a:ea typeface="Open Sans" pitchFamily="34" charset="-122"/>
                <a:cs typeface="Open Sans" pitchFamily="34" charset="-120"/>
              </a:rPr>
              <a:t>[C, I or A of an asset]</a:t>
            </a:r>
            <a:pPr indent="0" marL="0">
              <a:buNone/>
            </a:pPr>
            <a:r>
              <a:rPr lang="en-US" sz="2000" dirty="0">
                <a:solidFill>
                  <a:srgbClr val="262A20"/>
                </a:solidFill>
                <a:latin typeface="Open Sans" pitchFamily="34" charset="0"/>
                <a:ea typeface="Open Sans" pitchFamily="34" charset="-122"/>
                <a:cs typeface="Open Sans" pitchFamily="34" charset="-120"/>
              </a:rPr>
              <a:t>.</a:t>
            </a:r>
            <a:endParaRPr lang="en-US" sz="2000" dirty="0"/>
          </a:p>
        </p:txBody>
      </p:sp>
      <p:sp>
        <p:nvSpPr>
          <p:cNvPr id="10" name="Text 7"/>
          <p:cNvSpPr txBox="1"/>
          <p:nvPr/>
        </p:nvSpPr>
        <p:spPr>
          <a:xfrm>
            <a:off x="457200" y="2743200"/>
            <a:ext cx="8229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Example</a:t>
            </a:r>
            <a:endParaRPr lang="en-US" sz="1400" dirty="0"/>
          </a:p>
        </p:txBody>
      </p:sp>
      <p:sp>
        <p:nvSpPr>
          <p:cNvPr id="11" name="Text 8"/>
          <p:cNvSpPr txBox="1"/>
          <p:nvPr/>
        </p:nvSpPr>
        <p:spPr>
          <a:xfrm>
            <a:off x="457200" y="3108960"/>
            <a:ext cx="8229600" cy="91440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A flood could damage the old office server, which has no backup, and TeaLeaf could lose the availability of its accounts.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Common mix-ups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31</a:t>
            </a:r>
            <a:endParaRPr lang="en-US" sz="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651760"/>
                <a:gridCol w="2743200"/>
                <a:gridCol w="2834640"/>
              </a:tblGrid>
              <a:tr h="685800">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People say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Better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Why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68580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risk is a hacker."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threat is a hacker.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 hacker is someone who can cause harm.</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threat is old software."</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Old software is a vulnerability.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It is a weakness, not an attacker.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68580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risk is a shared password."</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shared password is a vulnerability.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 risk needs a threat, a weakness and harm.</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A1.2</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Risk Word Sorter</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Read each sentence about TeaLeaf.</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Tap Threat, Vulnerability or Risk.</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Read why, then try the next one.</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Risk Word Sorter</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threat, vulnerability and risk</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10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32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A1.7</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Risk Builder</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Pick a threat, a weakness and a harm.</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Watch the risk sentence build itself.</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Build 5 real risks. Then fix each weakness.</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Risk Builder</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how a threat, a weakness and harm make a risk</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10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we learned this morning</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34</a:t>
            </a:r>
            <a:endParaRPr lang="en-US" sz="800" dirty="0"/>
          </a:p>
        </p:txBody>
      </p:sp>
      <p:sp>
        <p:nvSpPr>
          <p:cNvPr id="8" name="Shape 5"/>
          <p:cNvSpPr/>
          <p:nvPr/>
        </p:nvSpPr>
        <p:spPr>
          <a:xfrm>
            <a:off x="457200" y="1234440"/>
            <a:ext cx="548640" cy="5486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594360" y="1371600"/>
            <a:ext cx="274320" cy="274320"/>
          </a:xfrm>
          <a:prstGeom prst="rect">
            <a:avLst/>
          </a:prstGeom>
        </p:spPr>
      </p:pic>
      <p:sp>
        <p:nvSpPr>
          <p:cNvPr id="10" name="Text 6"/>
          <p:cNvSpPr txBox="1"/>
          <p:nvPr/>
        </p:nvSpPr>
        <p:spPr>
          <a:xfrm>
            <a:off x="1188720" y="118872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Small businesses are attacked too</a:t>
            </a:r>
            <a:endParaRPr lang="en-US" sz="1600" dirty="0"/>
          </a:p>
        </p:txBody>
      </p:sp>
      <p:sp>
        <p:nvSpPr>
          <p:cNvPr id="11" name="Text 7"/>
          <p:cNvSpPr txBox="1"/>
          <p:nvPr/>
        </p:nvSpPr>
        <p:spPr>
          <a:xfrm>
            <a:off x="1188720" y="1499616"/>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They are easy, valuable and connected.</a:t>
            </a:r>
            <a:endParaRPr lang="en-US" sz="1300" dirty="0"/>
          </a:p>
        </p:txBody>
      </p:sp>
      <p:sp>
        <p:nvSpPr>
          <p:cNvPr id="12" name="Shape 8"/>
          <p:cNvSpPr/>
          <p:nvPr/>
        </p:nvSpPr>
        <p:spPr>
          <a:xfrm>
            <a:off x="457200" y="2075688"/>
            <a:ext cx="548640" cy="548640"/>
          </a:xfrm>
          <a:prstGeom prst="ellipse">
            <a:avLst/>
          </a:prstGeom>
          <a:solidFill>
            <a:srgbClr val="667C7E"/>
          </a:solidFill>
          <a:ln w="12700">
            <a:solidFill>
              <a:srgbClr val="667C7E"/>
            </a:solidFill>
            <a:prstDash val="solid"/>
          </a:ln>
        </p:spPr>
      </p:sp>
      <p:pic>
        <p:nvPicPr>
          <p:cNvPr id="13" name="Image 1" descr="preencoded.png">    </p:cNvPr>
          <p:cNvPicPr>
            <a:picLocks noChangeAspect="1"/>
          </p:cNvPicPr>
          <p:nvPr/>
        </p:nvPicPr>
        <p:blipFill>
          <a:blip r:embed="rId2"/>
          <a:stretch>
            <a:fillRect/>
          </a:stretch>
        </p:blipFill>
        <p:spPr>
          <a:xfrm>
            <a:off x="594360" y="2212848"/>
            <a:ext cx="274320" cy="274320"/>
          </a:xfrm>
          <a:prstGeom prst="rect">
            <a:avLst/>
          </a:prstGeom>
        </p:spPr>
      </p:pic>
      <p:sp>
        <p:nvSpPr>
          <p:cNvPr id="14" name="Text 9"/>
          <p:cNvSpPr txBox="1"/>
          <p:nvPr/>
        </p:nvSpPr>
        <p:spPr>
          <a:xfrm>
            <a:off x="1188720" y="2029968"/>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Information is an asset</a:t>
            </a:r>
            <a:endParaRPr lang="en-US" sz="1600" dirty="0"/>
          </a:p>
        </p:txBody>
      </p:sp>
      <p:sp>
        <p:nvSpPr>
          <p:cNvPr id="15" name="Text 10"/>
          <p:cNvSpPr txBox="1"/>
          <p:nvPr/>
        </p:nvSpPr>
        <p:spPr>
          <a:xfrm>
            <a:off x="1188720" y="2340864"/>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Often worth more than the computer it is on.</a:t>
            </a:r>
            <a:endParaRPr lang="en-US" sz="1300" dirty="0"/>
          </a:p>
        </p:txBody>
      </p:sp>
      <p:sp>
        <p:nvSpPr>
          <p:cNvPr id="16" name="Shape 11"/>
          <p:cNvSpPr/>
          <p:nvPr/>
        </p:nvSpPr>
        <p:spPr>
          <a:xfrm>
            <a:off x="457200" y="2916936"/>
            <a:ext cx="548640" cy="548640"/>
          </a:xfrm>
          <a:prstGeom prst="ellipse">
            <a:avLst/>
          </a:prstGeom>
          <a:solidFill>
            <a:srgbClr val="667C7E"/>
          </a:solidFill>
          <a:ln w="12700">
            <a:solidFill>
              <a:srgbClr val="667C7E"/>
            </a:solidFill>
            <a:prstDash val="solid"/>
          </a:ln>
        </p:spPr>
      </p:sp>
      <p:pic>
        <p:nvPicPr>
          <p:cNvPr id="17" name="Image 2" descr="preencoded.png">    </p:cNvPr>
          <p:cNvPicPr>
            <a:picLocks noChangeAspect="1"/>
          </p:cNvPicPr>
          <p:nvPr/>
        </p:nvPicPr>
        <p:blipFill>
          <a:blip r:embed="rId3"/>
          <a:stretch>
            <a:fillRect/>
          </a:stretch>
        </p:blipFill>
        <p:spPr>
          <a:xfrm>
            <a:off x="594360" y="3054096"/>
            <a:ext cx="274320" cy="274320"/>
          </a:xfrm>
          <a:prstGeom prst="rect">
            <a:avLst/>
          </a:prstGeom>
        </p:spPr>
      </p:pic>
      <p:sp>
        <p:nvSpPr>
          <p:cNvPr id="18" name="Text 12"/>
          <p:cNvSpPr txBox="1"/>
          <p:nvPr/>
        </p:nvSpPr>
        <p:spPr>
          <a:xfrm>
            <a:off x="1188720" y="2871216"/>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CIA: keep it secret, correct and available</a:t>
            </a:r>
            <a:endParaRPr lang="en-US" sz="1600" dirty="0"/>
          </a:p>
        </p:txBody>
      </p:sp>
      <p:sp>
        <p:nvSpPr>
          <p:cNvPr id="19" name="Text 13"/>
          <p:cNvSpPr txBox="1"/>
          <p:nvPr/>
        </p:nvSpPr>
        <p:spPr>
          <a:xfrm>
            <a:off x="1188720" y="3182112"/>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Seen? Changed? Cannot use?</a:t>
            </a:r>
            <a:endParaRPr lang="en-US" sz="1300" dirty="0"/>
          </a:p>
        </p:txBody>
      </p:sp>
      <p:sp>
        <p:nvSpPr>
          <p:cNvPr id="20" name="Shape 14"/>
          <p:cNvSpPr/>
          <p:nvPr/>
        </p:nvSpPr>
        <p:spPr>
          <a:xfrm>
            <a:off x="457200" y="3758184"/>
            <a:ext cx="548640" cy="548640"/>
          </a:xfrm>
          <a:prstGeom prst="ellipse">
            <a:avLst/>
          </a:prstGeom>
          <a:solidFill>
            <a:srgbClr val="667C7E"/>
          </a:solidFill>
          <a:ln w="12700">
            <a:solidFill>
              <a:srgbClr val="667C7E"/>
            </a:solidFill>
            <a:prstDash val="solid"/>
          </a:ln>
        </p:spPr>
      </p:sp>
      <p:pic>
        <p:nvPicPr>
          <p:cNvPr id="21" name="Image 3" descr="preencoded.png">    </p:cNvPr>
          <p:cNvPicPr>
            <a:picLocks noChangeAspect="1"/>
          </p:cNvPicPr>
          <p:nvPr/>
        </p:nvPicPr>
        <p:blipFill>
          <a:blip r:embed="rId4"/>
          <a:stretch>
            <a:fillRect/>
          </a:stretch>
        </p:blipFill>
        <p:spPr>
          <a:xfrm>
            <a:off x="594360" y="3895344"/>
            <a:ext cx="274320" cy="274320"/>
          </a:xfrm>
          <a:prstGeom prst="rect">
            <a:avLst/>
          </a:prstGeom>
        </p:spPr>
      </p:pic>
      <p:sp>
        <p:nvSpPr>
          <p:cNvPr id="22" name="Text 15"/>
          <p:cNvSpPr txBox="1"/>
          <p:nvPr/>
        </p:nvSpPr>
        <p:spPr>
          <a:xfrm>
            <a:off x="1188720" y="3712464"/>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Threat, vulnerability, risk</a:t>
            </a:r>
            <a:endParaRPr lang="en-US" sz="1600" dirty="0"/>
          </a:p>
        </p:txBody>
      </p:sp>
      <p:sp>
        <p:nvSpPr>
          <p:cNvPr id="23" name="Text 16"/>
          <p:cNvSpPr txBox="1"/>
          <p:nvPr/>
        </p:nvSpPr>
        <p:spPr>
          <a:xfrm>
            <a:off x="1188720" y="4023360"/>
            <a:ext cx="7498080" cy="475488"/>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A threat uses a weakness and causes harm.</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Words to know</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35</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5852160"/>
              </a:tblGrid>
              <a:tr h="411480">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Word</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Simple meaning</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Asset</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Anything that has value to the business</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Confidentiality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Keep it secret: only the right people see it</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Integrity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Keep it correct: nobody changes it wrongly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Availability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Keep it available: we can use it when we need it</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Threat</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Something or someone that can cause harm</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Vulnerability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 weakness a threat can use</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Risk</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chance a threat uses a weakness and causes harm</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A1.6</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Risk Words Ladder</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Study the words. Tap Hear it to hear each one.</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Climb three rungs: meaning, example, right or wrong.</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Start now. Finish it at lunch or at home.</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1 &gt; Risk Words Ladder</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the seven words of the morning</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3 min</a:t>
            </a:r>
            <a:endParaRPr lang="en-US" sz="2600" dirty="0"/>
          </a:p>
        </p:txBody>
      </p:sp>
      <p:sp>
        <p:nvSpPr>
          <p:cNvPr id="11"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12"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36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After lunch</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1  |  Session 11.1</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37</a:t>
            </a:r>
            <a:endParaRPr lang="en-US" sz="800" dirty="0"/>
          </a:p>
        </p:txBody>
      </p:sp>
      <p:sp>
        <p:nvSpPr>
          <p:cNvPr id="8" name="Shape 5"/>
          <p:cNvSpPr/>
          <p:nvPr/>
        </p:nvSpPr>
        <p:spPr>
          <a:xfrm>
            <a:off x="3977640" y="1371600"/>
            <a:ext cx="1188720" cy="1188720"/>
          </a:xfrm>
          <a:prstGeom prst="ellipse">
            <a:avLst/>
          </a:prstGeom>
          <a:solidFill>
            <a:srgbClr val="C7A887"/>
          </a:solidFill>
          <a:ln w="12700">
            <a:solidFill>
              <a:srgbClr val="C7A887"/>
            </a:solidFill>
            <a:prstDash val="solid"/>
          </a:ln>
        </p:spPr>
      </p:sp>
      <p:pic>
        <p:nvPicPr>
          <p:cNvPr id="9" name="Image 0" descr="preencoded.png">    </p:cNvPr>
          <p:cNvPicPr>
            <a:picLocks noChangeAspect="1"/>
          </p:cNvPicPr>
          <p:nvPr/>
        </p:nvPicPr>
        <p:blipFill>
          <a:blip r:embed="rId1"/>
          <a:stretch>
            <a:fillRect/>
          </a:stretch>
        </p:blipFill>
        <p:spPr>
          <a:xfrm>
            <a:off x="4274820" y="1668780"/>
            <a:ext cx="594360" cy="594360"/>
          </a:xfrm>
          <a:prstGeom prst="rect">
            <a:avLst/>
          </a:prstGeom>
        </p:spPr>
      </p:pic>
      <p:sp>
        <p:nvSpPr>
          <p:cNvPr id="10" name="Text 6"/>
          <p:cNvSpPr txBox="1"/>
          <p:nvPr/>
        </p:nvSpPr>
        <p:spPr>
          <a:xfrm>
            <a:off x="457200" y="2788920"/>
            <a:ext cx="8229600" cy="640080"/>
          </a:xfrm>
          <a:prstGeom prst="rect">
            <a:avLst/>
          </a:prstGeom>
          <a:noFill/>
          <a:ln/>
        </p:spPr>
        <p:txBody>
          <a:bodyPr wrap="square" lIns="0" tIns="0" rIns="0" bIns="0" rtlCol="0" anchor="ctr"/>
          <a:lstStyle/>
          <a:p>
            <a:pPr algn="ctr" indent="0" marL="0">
              <a:buNone/>
            </a:pPr>
            <a:r>
              <a:rPr lang="en-US" sz="3000" b="1" dirty="0">
                <a:solidFill>
                  <a:srgbClr val="262A20"/>
                </a:solidFill>
                <a:latin typeface="Open Sans" pitchFamily="34" charset="0"/>
                <a:ea typeface="Open Sans" pitchFamily="34" charset="-122"/>
                <a:cs typeface="Open Sans" pitchFamily="34" charset="-120"/>
              </a:rPr>
              <a:t>Who attacks, and how?</a:t>
            </a:r>
            <a:endParaRPr lang="en-US" sz="3000" dirty="0"/>
          </a:p>
        </p:txBody>
      </p:sp>
      <p:sp>
        <p:nvSpPr>
          <p:cNvPr id="11" name="Text 7"/>
          <p:cNvSpPr txBox="1"/>
          <p:nvPr/>
        </p:nvSpPr>
        <p:spPr>
          <a:xfrm>
            <a:off x="457200" y="3474720"/>
            <a:ext cx="8229600" cy="457200"/>
          </a:xfrm>
          <a:prstGeom prst="rect">
            <a:avLst/>
          </a:prstGeom>
          <a:noFill/>
          <a:ln/>
        </p:spPr>
        <p:txBody>
          <a:bodyPr wrap="square" lIns="0" tIns="0" rIns="0" bIns="0" rtlCol="0" anchor="ctr"/>
          <a:lstStyle/>
          <a:p>
            <a:pPr algn="ctr" indent="0" marL="0">
              <a:buNone/>
            </a:pPr>
            <a:r>
              <a:rPr lang="en-US" sz="1600" dirty="0">
                <a:solidFill>
                  <a:srgbClr val="5A5F55"/>
                </a:solidFill>
                <a:latin typeface="Open Sans" pitchFamily="34" charset="0"/>
                <a:ea typeface="Open Sans" pitchFamily="34" charset="-122"/>
                <a:cs typeface="Open Sans" pitchFamily="34" charset="-120"/>
              </a:rPr>
              <a:t>We answer the second half of the MD's question. Back at 1:00.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security matters to a business</dc:title>
  <dc:subject>PptxGenJS Presentation</dc:subject>
  <dc:creator>NIBM SOCE</dc:creator>
  <cp:lastModifiedBy>NIBM SOCE</cp:lastModifiedBy>
  <cp:revision>1</cp:revision>
  <dcterms:created xsi:type="dcterms:W3CDTF">2026-09-28T19:06:12Z</dcterms:created>
  <dcterms:modified xsi:type="dcterms:W3CDTF">2026-09-28T19:06:12Z</dcterms:modified>
</cp:coreProperties>
</file>