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Welcome the class. Keep the first 10 minutes light: this module is about business decisions, not coding. Nobody needs to be technical to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shape of the week. Stress the daily test: it only asks about that day's lessons, and the best 5 of 6 tests count. Nothing is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clock. The 3:00 test is written on paper, closed book. Then students take a photo, make a PDF and upload it before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map for the whole week. Every day we come back to it. Today we work on Govern (why security matters) and Identify (what we have and what could go wrong). The names come from the NIST Cybersecurity Framework 2.0; students only need the six simple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company we follow all week. It is not real, but it is like many Sri Lankan SMEs. Ask: does this sound like a company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big question. We answer the first half this morning and the second half after lunch. Leave it on screen for a moment. Ask two students to guess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only. We will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 Start idea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people think only banks are attacked. Small businesses are often easier targets. Keep it simple: easy, valuable,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Attackers use tools that try thousands of businesses at the same time. They look for any door that is open. TeaLeaf does not need to be famous to be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security to money. Managers care about these four costs. Ask: which one would worry the MD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Warm-up for a quiet class: pairs are safer than asking the whole room. Collect two stories and link each to money, time, customers or legal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asset simply. Most students think of things they can touch. Move them to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systems and reputation. Reputation surprises students: explain that customers buy from companies they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is replaced in a day. The customer list took ten years to build. This is the key idea of this section. Numbers are only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 Idea 3, the most important idea of the day. We will extend it on Day 2, so teach the three parts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CIA here has nothing to do with the American agency. It is three goals. Use the plain-words version on the right; students can use either in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Confidentiality is about who can SEE. Ask: who at TeaLeaf should see the salary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is about CORRECT. The information is still there and still secret, but now it is wrong. Students often mix this with confidentiality: ask 'was it seen, or was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is about USE. Nothing is stolen or changed, but we cannot work. Ask: what does one day of the shop being down cost TeaLeaf?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simple test to use in the game and in the 3:00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Students play on phones. Walk around. Afterwards ask which card was hardest, and why. Common mix-up: ransomware (mainly A) versus data theft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There is no single right order, which is the point. Then 5 minutes of discussion: why is the laptop last for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to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Idea 4. These words grow later: on Day 3 we add a fourth word, control, and on Day 6 we do risk analysis. Teach them carefully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word aloud and ask the class to repeat it. ESL learners often confuse threat and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house example first because everyone understands it. Draw the arrow on the board: threat uses weakness, harm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move the example into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sentence frame. It works for every risk this week and helps ESL learners write the 3:00 test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row. Ask the class to fix the wrong sentence before you reveal the right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After the game, show one risk sentence from the game and ask students to find the threat and the weakness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 This replaces a paper exercise. The game refuses pieces that do not fit and explains why, e.g. a flood cannot use a shared password. That is the key understanding: the threat must be able to use the weakness. The 'Fix the weakness' button previews Day 3, where the fix gets its name: a control. Ask two students to read one risk aloud each. This is direct practice for Test 1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Recap on the six jobs map, then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any new words into their notebook. The same list is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11:58. Only open it now so students see how it works. The ladder is built on the Words to know list, which ESL learners find hardest. Relaxed mode has no clock; Challenge mode has 20 seconds. The Hear it buttons use the phone's own voice and work offline on most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11.1  |  9:00 to 12:00</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Why security matters to a business</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Diploma in Business Information Systems</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team">    </p:cNvPr>
          <p:cNvPicPr>
            <a:picLocks noChangeAspect="1"/>
          </p:cNvPicPr>
          <p:nvPr/>
        </p:nvPicPr>
        <p:blipFill>
          <a:blip r:embed="rId2"/>
          <a:stretch>
            <a:fillRect/>
          </a:stretch>
        </p:blipFill>
        <p:spPr>
          <a:xfrm>
            <a:off x="5394960" y="1461065"/>
            <a:ext cx="3474720" cy="2015629"/>
          </a:xfrm>
          <a:prstGeom prst="rect">
            <a:avLst/>
          </a:prstGeom>
        </p:spPr>
      </p:pic>
      <p:sp>
        <p:nvSpPr>
          <p:cNvPr id="11" name="Text 7"/>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Licensed CC BY-NC-SA 4.0. Icons: Font Awesome Free (CC BY 4.0). Illustrations: original, same licence.</a:t>
            </a:r>
            <a:endParaRPr lang="en-US" sz="750" dirty="0"/>
          </a:p>
        </p:txBody>
      </p:sp>
      <p:sp>
        <p:nvSpPr>
          <p:cNvPr id="12" name="Text 8"/>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3" name="Text 9"/>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this week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a:t>
            </a:r>
            <a:endParaRPr lang="en-US" sz="800" dirty="0"/>
          </a:p>
        </p:txBody>
      </p:sp>
      <p:sp>
        <p:nvSpPr>
          <p:cNvPr id="8" name="Shape 5"/>
          <p:cNvSpPr/>
          <p:nvPr/>
        </p:nvSpPr>
        <p:spPr>
          <a:xfrm>
            <a:off x="457200" y="128016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46304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588770"/>
            <a:ext cx="251460" cy="251460"/>
          </a:xfrm>
          <a:prstGeom prst="rect">
            <a:avLst/>
          </a:prstGeom>
        </p:spPr>
      </p:pic>
      <p:sp>
        <p:nvSpPr>
          <p:cNvPr id="11" name="Text 7"/>
          <p:cNvSpPr txBox="1"/>
          <p:nvPr/>
        </p:nvSpPr>
        <p:spPr>
          <a:xfrm>
            <a:off x="6400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7 days</a:t>
            </a:r>
            <a:endParaRPr lang="en-US" sz="1500" dirty="0"/>
          </a:p>
        </p:txBody>
      </p:sp>
      <p:sp>
        <p:nvSpPr>
          <p:cNvPr id="12" name="Text 8"/>
          <p:cNvSpPr txBox="1"/>
          <p:nvPr/>
        </p:nvSpPr>
        <p:spPr>
          <a:xfrm>
            <a:off x="6400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1 to 6: new lessons.</a:t>
            </a:r>
            <a:endParaRPr lang="en-US" sz="1250" dirty="0"/>
          </a:p>
          <a:p>
            <a:pPr indent="0" marL="0">
              <a:buNone/>
            </a:pPr>
            <a:r>
              <a:rPr lang="en-US" sz="1250" dirty="0">
                <a:solidFill>
                  <a:srgbClr val="262A20"/>
                </a:solidFill>
                <a:latin typeface="Open Sans" pitchFamily="34" charset="0"/>
                <a:ea typeface="Open Sans" pitchFamily="34" charset="-122"/>
                <a:cs typeface="Open Sans" pitchFamily="34" charset="-120"/>
              </a:rPr>
              <a:t>Day 7: exam practice.</a:t>
            </a:r>
            <a:endParaRPr lang="en-US" sz="1250" dirty="0"/>
          </a:p>
        </p:txBody>
      </p:sp>
      <p:sp>
        <p:nvSpPr>
          <p:cNvPr id="13" name="Shape 9"/>
          <p:cNvSpPr/>
          <p:nvPr/>
        </p:nvSpPr>
        <p:spPr>
          <a:xfrm>
            <a:off x="2571750" y="128016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46304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588770"/>
            <a:ext cx="251460" cy="251460"/>
          </a:xfrm>
          <a:prstGeom prst="rect">
            <a:avLst/>
          </a:prstGeom>
        </p:spPr>
      </p:pic>
      <p:sp>
        <p:nvSpPr>
          <p:cNvPr id="16" name="Text 11"/>
          <p:cNvSpPr txBox="1"/>
          <p:nvPr/>
        </p:nvSpPr>
        <p:spPr>
          <a:xfrm>
            <a:off x="27546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6 short tests</a:t>
            </a:r>
            <a:endParaRPr lang="en-US" sz="1500" dirty="0"/>
          </a:p>
        </p:txBody>
      </p:sp>
      <p:sp>
        <p:nvSpPr>
          <p:cNvPr id="17" name="Text 12"/>
          <p:cNvSpPr txBox="1"/>
          <p:nvPr/>
        </p:nvSpPr>
        <p:spPr>
          <a:xfrm>
            <a:off x="27546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At 3:00 each day. Two questions. Only about that day.</a:t>
            </a:r>
            <a:endParaRPr lang="en-US" sz="1250" dirty="0"/>
          </a:p>
        </p:txBody>
      </p:sp>
      <p:sp>
        <p:nvSpPr>
          <p:cNvPr id="18" name="Shape 13"/>
          <p:cNvSpPr/>
          <p:nvPr/>
        </p:nvSpPr>
        <p:spPr>
          <a:xfrm>
            <a:off x="4686300" y="128016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46304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588770"/>
            <a:ext cx="251460" cy="251460"/>
          </a:xfrm>
          <a:prstGeom prst="rect">
            <a:avLst/>
          </a:prstGeom>
        </p:spPr>
      </p:pic>
      <p:sp>
        <p:nvSpPr>
          <p:cNvPr id="21" name="Text 15"/>
          <p:cNvSpPr txBox="1"/>
          <p:nvPr/>
        </p:nvSpPr>
        <p:spPr>
          <a:xfrm>
            <a:off x="48691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Best 5 count</a:t>
            </a:r>
            <a:endParaRPr lang="en-US" sz="1500" dirty="0"/>
          </a:p>
        </p:txBody>
      </p:sp>
      <p:sp>
        <p:nvSpPr>
          <p:cNvPr id="22" name="Text 16"/>
          <p:cNvSpPr txBox="1"/>
          <p:nvPr/>
        </p:nvSpPr>
        <p:spPr>
          <a:xfrm>
            <a:off x="48691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Miss one day or have a bad day? It does not count.</a:t>
            </a:r>
            <a:endParaRPr lang="en-US" sz="1250" dirty="0"/>
          </a:p>
        </p:txBody>
      </p:sp>
      <p:sp>
        <p:nvSpPr>
          <p:cNvPr id="23" name="Shape 17"/>
          <p:cNvSpPr/>
          <p:nvPr/>
        </p:nvSpPr>
        <p:spPr>
          <a:xfrm>
            <a:off x="6800850" y="128016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46304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588770"/>
            <a:ext cx="251460" cy="251460"/>
          </a:xfrm>
          <a:prstGeom prst="rect">
            <a:avLst/>
          </a:prstGeom>
        </p:spPr>
      </p:pic>
      <p:sp>
        <p:nvSpPr>
          <p:cNvPr id="26" name="Text 19"/>
          <p:cNvSpPr txBox="1"/>
          <p:nvPr/>
        </p:nvSpPr>
        <p:spPr>
          <a:xfrm>
            <a:off x="69837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Final exam</a:t>
            </a:r>
            <a:endParaRPr lang="en-US" sz="1500" dirty="0"/>
          </a:p>
        </p:txBody>
      </p:sp>
      <p:sp>
        <p:nvSpPr>
          <p:cNvPr id="27" name="Text 20"/>
          <p:cNvSpPr txBox="1"/>
          <p:nvPr/>
        </p:nvSpPr>
        <p:spPr>
          <a:xfrm>
            <a:off x="69837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2 hours. Half of your module mark.</a:t>
            </a:r>
            <a:endParaRPr lang="en-US" sz="1250" dirty="0"/>
          </a:p>
        </p:txBody>
      </p:sp>
      <p:sp>
        <p:nvSpPr>
          <p:cNvPr id="28" name="Text 21"/>
          <p:cNvSpPr txBox="1"/>
          <p:nvPr/>
        </p:nvSpPr>
        <p:spPr>
          <a:xfrm>
            <a:off x="457200" y="4023360"/>
            <a:ext cx="8229600" cy="320040"/>
          </a:xfrm>
          <a:prstGeom prst="rect">
            <a:avLst/>
          </a:prstGeom>
          <a:noFill/>
          <a:ln/>
        </p:spPr>
        <p:txBody>
          <a:bodyPr wrap="square" lIns="0" tIns="0" rIns="0" bIns="0" rtlCol="0" anchor="ctr"/>
          <a:lstStyle/>
          <a:p>
            <a:pPr algn="ctr" indent="0" marL="0">
              <a:buNone/>
            </a:pPr>
            <a:r>
              <a:rPr lang="en-US" sz="1500" b="1" dirty="0">
                <a:solidFill>
                  <a:srgbClr val="566A6C"/>
                </a:solidFill>
                <a:latin typeface="Open Sans" pitchFamily="34" charset="0"/>
                <a:ea typeface="Open Sans" pitchFamily="34" charset="-122"/>
                <a:cs typeface="Open Sans" pitchFamily="34" charset="-120"/>
              </a:rPr>
              <a:t>Coursework (tests) 50%   +   Final exam 50%</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each day runs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554480"/>
            <a:ext cx="1252728" cy="1737360"/>
          </a:xfrm>
          <a:prstGeom prst="roundRect">
            <a:avLst>
              <a:gd name="adj" fmla="val 5839"/>
            </a:avLst>
          </a:prstGeom>
          <a:solidFill>
            <a:srgbClr val="E1E6E6"/>
          </a:solidFill>
          <a:ln w="6350">
            <a:solidFill>
              <a:srgbClr val="E1E6E6"/>
            </a:solidFill>
            <a:prstDash val="solid"/>
          </a:ln>
        </p:spPr>
      </p:sp>
      <p:sp>
        <p:nvSpPr>
          <p:cNvPr id="9" name="Text 6"/>
          <p:cNvSpPr txBox="1"/>
          <p:nvPr/>
        </p:nvSpPr>
        <p:spPr>
          <a:xfrm>
            <a:off x="457200"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9:00</a:t>
            </a:r>
            <a:endParaRPr lang="en-US" sz="2200" dirty="0"/>
          </a:p>
        </p:txBody>
      </p:sp>
      <p:sp>
        <p:nvSpPr>
          <p:cNvPr id="10" name="Text 7"/>
          <p:cNvSpPr txBox="1"/>
          <p:nvPr/>
        </p:nvSpPr>
        <p:spPr>
          <a:xfrm>
            <a:off x="54864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1" name="Shape 8"/>
          <p:cNvSpPr/>
          <p:nvPr/>
        </p:nvSpPr>
        <p:spPr>
          <a:xfrm>
            <a:off x="1847088" y="1554480"/>
            <a:ext cx="1252728" cy="1737360"/>
          </a:xfrm>
          <a:prstGeom prst="roundRect">
            <a:avLst>
              <a:gd name="adj" fmla="val 5839"/>
            </a:avLst>
          </a:prstGeom>
          <a:solidFill>
            <a:srgbClr val="F2EFEC"/>
          </a:solidFill>
          <a:ln w="6350">
            <a:solidFill>
              <a:srgbClr val="F2EFEC"/>
            </a:solidFill>
            <a:prstDash val="solid"/>
          </a:ln>
        </p:spPr>
      </p:sp>
      <p:sp>
        <p:nvSpPr>
          <p:cNvPr id="12" name="Text 9"/>
          <p:cNvSpPr txBox="1"/>
          <p:nvPr/>
        </p:nvSpPr>
        <p:spPr>
          <a:xfrm>
            <a:off x="1847088"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10:30</a:t>
            </a:r>
            <a:endParaRPr lang="en-US" sz="2200" dirty="0"/>
          </a:p>
        </p:txBody>
      </p:sp>
      <p:sp>
        <p:nvSpPr>
          <p:cNvPr id="13" name="Text 10"/>
          <p:cNvSpPr txBox="1"/>
          <p:nvPr/>
        </p:nvSpPr>
        <p:spPr>
          <a:xfrm>
            <a:off x="1938528"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Break</a:t>
            </a:r>
            <a:endParaRPr lang="en-US" sz="1300" dirty="0"/>
          </a:p>
        </p:txBody>
      </p:sp>
      <p:sp>
        <p:nvSpPr>
          <p:cNvPr id="14" name="Shape 11"/>
          <p:cNvSpPr/>
          <p:nvPr/>
        </p:nvSpPr>
        <p:spPr>
          <a:xfrm>
            <a:off x="3236976" y="1554480"/>
            <a:ext cx="1252728" cy="1737360"/>
          </a:xfrm>
          <a:prstGeom prst="roundRect">
            <a:avLst>
              <a:gd name="adj" fmla="val 5839"/>
            </a:avLst>
          </a:prstGeom>
          <a:solidFill>
            <a:srgbClr val="E1E6E6"/>
          </a:solidFill>
          <a:ln w="6350">
            <a:solidFill>
              <a:srgbClr val="E1E6E6"/>
            </a:solidFill>
            <a:prstDash val="solid"/>
          </a:ln>
        </p:spPr>
      </p:sp>
      <p:sp>
        <p:nvSpPr>
          <p:cNvPr id="15" name="Text 12"/>
          <p:cNvSpPr txBox="1"/>
          <p:nvPr/>
        </p:nvSpPr>
        <p:spPr>
          <a:xfrm>
            <a:off x="3236976"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11:00</a:t>
            </a:r>
            <a:endParaRPr lang="en-US" sz="2200" dirty="0"/>
          </a:p>
        </p:txBody>
      </p:sp>
      <p:sp>
        <p:nvSpPr>
          <p:cNvPr id="16" name="Text 13"/>
          <p:cNvSpPr txBox="1"/>
          <p:nvPr/>
        </p:nvSpPr>
        <p:spPr>
          <a:xfrm>
            <a:off x="3328416"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7" name="Shape 14"/>
          <p:cNvSpPr/>
          <p:nvPr/>
        </p:nvSpPr>
        <p:spPr>
          <a:xfrm>
            <a:off x="4626864" y="1554480"/>
            <a:ext cx="1252728" cy="1737360"/>
          </a:xfrm>
          <a:prstGeom prst="roundRect">
            <a:avLst>
              <a:gd name="adj" fmla="val 5839"/>
            </a:avLst>
          </a:prstGeom>
          <a:solidFill>
            <a:srgbClr val="F2EFEC"/>
          </a:solidFill>
          <a:ln w="6350">
            <a:solidFill>
              <a:srgbClr val="F2EFEC"/>
            </a:solidFill>
            <a:prstDash val="solid"/>
          </a:ln>
        </p:spPr>
      </p:sp>
      <p:sp>
        <p:nvSpPr>
          <p:cNvPr id="18" name="Text 15"/>
          <p:cNvSpPr txBox="1"/>
          <p:nvPr/>
        </p:nvSpPr>
        <p:spPr>
          <a:xfrm>
            <a:off x="4626864"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12:00</a:t>
            </a:r>
            <a:endParaRPr lang="en-US" sz="2200" dirty="0"/>
          </a:p>
        </p:txBody>
      </p:sp>
      <p:sp>
        <p:nvSpPr>
          <p:cNvPr id="19" name="Text 16"/>
          <p:cNvSpPr txBox="1"/>
          <p:nvPr/>
        </p:nvSpPr>
        <p:spPr>
          <a:xfrm>
            <a:off x="4718304"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Lunch</a:t>
            </a:r>
            <a:endParaRPr lang="en-US" sz="1300" dirty="0"/>
          </a:p>
        </p:txBody>
      </p:sp>
      <p:sp>
        <p:nvSpPr>
          <p:cNvPr id="20" name="Shape 17"/>
          <p:cNvSpPr/>
          <p:nvPr/>
        </p:nvSpPr>
        <p:spPr>
          <a:xfrm>
            <a:off x="6016752" y="1554480"/>
            <a:ext cx="1252728" cy="1737360"/>
          </a:xfrm>
          <a:prstGeom prst="roundRect">
            <a:avLst>
              <a:gd name="adj" fmla="val 5839"/>
            </a:avLst>
          </a:prstGeom>
          <a:solidFill>
            <a:srgbClr val="E1E6E6"/>
          </a:solidFill>
          <a:ln w="6350">
            <a:solidFill>
              <a:srgbClr val="E1E6E6"/>
            </a:solidFill>
            <a:prstDash val="solid"/>
          </a:ln>
        </p:spPr>
      </p:sp>
      <p:sp>
        <p:nvSpPr>
          <p:cNvPr id="21" name="Text 18"/>
          <p:cNvSpPr txBox="1"/>
          <p:nvPr/>
        </p:nvSpPr>
        <p:spPr>
          <a:xfrm>
            <a:off x="6016752"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1:00</a:t>
            </a:r>
            <a:endParaRPr lang="en-US" sz="2200" dirty="0"/>
          </a:p>
        </p:txBody>
      </p:sp>
      <p:sp>
        <p:nvSpPr>
          <p:cNvPr id="22" name="Text 19"/>
          <p:cNvSpPr txBox="1"/>
          <p:nvPr/>
        </p:nvSpPr>
        <p:spPr>
          <a:xfrm>
            <a:off x="6108192"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23" name="Shape 20"/>
          <p:cNvSpPr/>
          <p:nvPr/>
        </p:nvSpPr>
        <p:spPr>
          <a:xfrm>
            <a:off x="7406640" y="1554480"/>
            <a:ext cx="1252728" cy="1737360"/>
          </a:xfrm>
          <a:prstGeom prst="roundRect">
            <a:avLst>
              <a:gd name="adj" fmla="val 5839"/>
            </a:avLst>
          </a:prstGeom>
          <a:solidFill>
            <a:srgbClr val="EDDDCD"/>
          </a:solidFill>
          <a:ln w="25400">
            <a:solidFill>
              <a:srgbClr val="C7A887"/>
            </a:solidFill>
            <a:prstDash val="solid"/>
          </a:ln>
        </p:spPr>
      </p:sp>
      <p:sp>
        <p:nvSpPr>
          <p:cNvPr id="24" name="Text 21"/>
          <p:cNvSpPr txBox="1"/>
          <p:nvPr/>
        </p:nvSpPr>
        <p:spPr>
          <a:xfrm>
            <a:off x="7406640" y="1783080"/>
            <a:ext cx="1252728" cy="457200"/>
          </a:xfrm>
          <a:prstGeom prst="rect">
            <a:avLst/>
          </a:prstGeom>
          <a:noFill/>
          <a:ln/>
        </p:spPr>
        <p:txBody>
          <a:bodyPr wrap="square" lIns="0" tIns="0" rIns="0" bIns="0" rtlCol="0" anchor="ctr"/>
          <a:lstStyle/>
          <a:p>
            <a:pPr algn="ctr" indent="0" marL="0">
              <a:buNone/>
            </a:pPr>
            <a:r>
              <a:rPr lang="en-US" sz="2200" b="1" dirty="0">
                <a:solidFill>
                  <a:srgbClr val="7D5F3F"/>
                </a:solidFill>
                <a:latin typeface="Open Sans" pitchFamily="34" charset="0"/>
                <a:ea typeface="Open Sans" pitchFamily="34" charset="-122"/>
                <a:cs typeface="Open Sans" pitchFamily="34" charset="-120"/>
              </a:rPr>
              <a:t>3:00</a:t>
            </a:r>
            <a:endParaRPr lang="en-US" sz="2200" dirty="0"/>
          </a:p>
        </p:txBody>
      </p:sp>
      <p:sp>
        <p:nvSpPr>
          <p:cNvPr id="25" name="Text 22"/>
          <p:cNvSpPr txBox="1"/>
          <p:nvPr/>
        </p:nvSpPr>
        <p:spPr>
          <a:xfrm>
            <a:off x="749808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Test (1 hour)</a:t>
            </a:r>
            <a:endParaRPr lang="en-US" sz="1300" dirty="0"/>
          </a:p>
        </p:txBody>
      </p:sp>
      <p:sp>
        <p:nvSpPr>
          <p:cNvPr id="26" name="Text 23"/>
          <p:cNvSpPr txBox="1"/>
          <p:nvPr/>
        </p:nvSpPr>
        <p:spPr>
          <a:xfrm>
            <a:off x="457200" y="3749040"/>
            <a:ext cx="8229600" cy="457200"/>
          </a:xfrm>
          <a:prstGeom prst="rect">
            <a:avLst/>
          </a:prstGeom>
          <a:noFill/>
          <a:ln/>
        </p:spPr>
        <p:txBody>
          <a:bodyPr wrap="square" lIns="0" tIns="0" rIns="0" bIns="0" rtlCol="0" anchor="ctr"/>
          <a:lstStyle/>
          <a:p>
            <a:pPr algn="ctr" indent="0" marL="0">
              <a:buNone/>
            </a:pPr>
            <a:r>
              <a:rPr lang="en-US" sz="1600" dirty="0">
                <a:solidFill>
                  <a:srgbClr val="262A20"/>
                </a:solidFill>
                <a:latin typeface="Open Sans" pitchFamily="34" charset="0"/>
                <a:ea typeface="Open Sans" pitchFamily="34" charset="-122"/>
                <a:cs typeface="Open Sans" pitchFamily="34" charset="-120"/>
              </a:rPr>
              <a:t>Bring your phone or laptop. We use it for short games in every lesson.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six jobs of security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25880"/>
            <a:ext cx="1280160" cy="2103120"/>
          </a:xfrm>
          <a:prstGeom prst="roundRect">
            <a:avLst>
              <a:gd name="adj" fmla="val 5714"/>
            </a:avLst>
          </a:prstGeom>
          <a:solidFill>
            <a:srgbClr val="D9D5D2"/>
          </a:solidFill>
          <a:ln w="25400">
            <a:solidFill>
              <a:srgbClr val="566A6C"/>
            </a:solidFill>
            <a:prstDash val="solid"/>
          </a:ln>
        </p:spPr>
      </p:sp>
      <p:sp>
        <p:nvSpPr>
          <p:cNvPr id="9" name="Shape 6"/>
          <p:cNvSpPr/>
          <p:nvPr/>
        </p:nvSpPr>
        <p:spPr>
          <a:xfrm>
            <a:off x="822960" y="1554480"/>
            <a:ext cx="548640" cy="54864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Today: Govern and Identify</a:t>
            </a:r>
            <a:endParaRPr lang="en-US" sz="1800" dirty="0"/>
          </a:p>
        </p:txBody>
      </p:sp>
      <p:sp>
        <p:nvSpPr>
          <p:cNvPr id="39" name="Text 30"/>
          <p:cNvSpPr txBox="1"/>
          <p:nvPr/>
        </p:nvSpPr>
        <p:spPr>
          <a:xfrm>
            <a:off x="457200" y="4160520"/>
            <a:ext cx="8229600" cy="320040"/>
          </a:xfrm>
          <a:prstGeom prst="rect">
            <a:avLst/>
          </a:prstGeom>
          <a:noFill/>
          <a:ln/>
        </p:spPr>
        <p:txBody>
          <a:bodyPr wrap="square" lIns="0" tIns="0" rIns="0" bIns="0" rtlCol="0" anchor="ctr"/>
          <a:lstStyle/>
          <a:p>
            <a:pPr algn="ctr" indent="0" marL="0">
              <a:buNone/>
            </a:pPr>
            <a:r>
              <a:rPr lang="en-US" sz="1200" dirty="0">
                <a:solidFill>
                  <a:srgbClr val="5A5F55"/>
                </a:solidFill>
                <a:latin typeface="Open Sans" pitchFamily="34" charset="0"/>
                <a:ea typeface="Open Sans" pitchFamily="34" charset="-122"/>
                <a:cs typeface="Open Sans" pitchFamily="34" charset="-120"/>
              </a:rPr>
              <a:t>This map comes from the NIST Cybersecurity Framework 2.0, used by companies around the world.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Meet TeaLeaf Exports (Pvt) Ltd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5</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 tea exporter in Colombo</a:t>
            </a:r>
            <a:endParaRPr lang="en-US" sz="1600" dirty="0"/>
          </a:p>
        </p:txBody>
      </p:sp>
      <p:sp>
        <p:nvSpPr>
          <p:cNvPr id="11" name="Text 7"/>
          <p:cNvSpPr txBox="1"/>
          <p:nvPr/>
        </p:nvSpPr>
        <p:spPr>
          <a:xfrm>
            <a:off x="1188720" y="1499616"/>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About 45 staff. Sells tea to buyers in other countries.</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An online shop</a:t>
            </a:r>
            <a:endParaRPr lang="en-US" sz="1600" dirty="0"/>
          </a:p>
        </p:txBody>
      </p:sp>
      <p:sp>
        <p:nvSpPr>
          <p:cNvPr id="15" name="Text 10"/>
          <p:cNvSpPr txBox="1"/>
          <p:nvPr/>
        </p:nvSpPr>
        <p:spPr>
          <a:xfrm>
            <a:off x="1188720" y="2340864"/>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Tourists and overseas buyers order online.</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One busy IT officer</a:t>
            </a:r>
            <a:endParaRPr lang="en-US" sz="1600" dirty="0"/>
          </a:p>
        </p:txBody>
      </p:sp>
      <p:sp>
        <p:nvSpPr>
          <p:cNvPr id="19" name="Text 13"/>
          <p:cNvSpPr txBox="1"/>
          <p:nvPr/>
        </p:nvSpPr>
        <p:spPr>
          <a:xfrm>
            <a:off x="1188720" y="3182112"/>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One person looks after all the computers.</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Old habits</a:t>
            </a:r>
            <a:endParaRPr lang="en-US" sz="1600" dirty="0"/>
          </a:p>
        </p:txBody>
      </p:sp>
      <p:sp>
        <p:nvSpPr>
          <p:cNvPr id="23" name="Text 16"/>
          <p:cNvSpPr txBox="1"/>
          <p:nvPr/>
        </p:nvSpPr>
        <p:spPr>
          <a:xfrm>
            <a:off x="1188720" y="4023360"/>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An old office server. Staff share passwords. The MD wants to move to the cloud before December.</a:t>
            </a:r>
            <a:endParaRPr lang="en-US" sz="1300" dirty="0"/>
          </a:p>
        </p:txBody>
      </p:sp>
      <p:pic>
        <p:nvPicPr>
          <p:cNvPr id="24" name="Image 4" descr="it_server">    </p:cNvPr>
          <p:cNvPicPr>
            <a:picLocks noChangeAspect="1"/>
          </p:cNvPicPr>
          <p:nvPr/>
        </p:nvPicPr>
        <p:blipFill>
          <a:blip r:embed="rId5"/>
          <a:stretch>
            <a:fillRect/>
          </a:stretch>
        </p:blipFill>
        <p:spPr>
          <a:xfrm>
            <a:off x="5989320" y="1750658"/>
            <a:ext cx="2743200" cy="225940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What do we have that is worth protecting, and who would want it?</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The Managing Director of TeaLeaf, on Monday morning</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md">    </p:cNvPr>
          <p:cNvPicPr>
            <a:picLocks noChangeAspect="1"/>
          </p:cNvPicPr>
          <p:nvPr/>
        </p:nvPicPr>
        <p:blipFill>
          <a:blip r:embed="rId1"/>
          <a:stretch>
            <a:fillRect/>
          </a:stretch>
        </p:blipFill>
        <p:spPr>
          <a:xfrm>
            <a:off x="5760720" y="742717"/>
            <a:ext cx="3108960" cy="3452327"/>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morning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a tea company is a target.</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Information has value, like money or stock.</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The CIA triad</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things we want for our information.</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4.  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words we will use every day this week.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Small businesses are attacked too</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Why would anyone attack a tea company?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Why attack a small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easy</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Small businesses often have weak passwords, old software and no security staff.</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have value</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Money in the bank, customer details, and payments to suppliers.</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connected</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 small supplier can be a way into a bigger customer.</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Easy, valuable and connected: TeaLeaf is all three.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Most attacks are not personal</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pic>
        <p:nvPicPr>
          <p:cNvPr id="8" name="Image 0" descr="attacker">    </p:cNvPr>
          <p:cNvPicPr>
            <a:picLocks noChangeAspect="1"/>
          </p:cNvPicPr>
          <p:nvPr/>
        </p:nvPicPr>
        <p:blipFill>
          <a:blip r:embed="rId1"/>
          <a:stretch>
            <a:fillRect/>
          </a:stretch>
        </p:blipFill>
        <p:spPr>
          <a:xfrm>
            <a:off x="274320" y="1889150"/>
            <a:ext cx="1737360" cy="1250899"/>
          </a:xfrm>
          <a:prstGeom prst="rect">
            <a:avLst/>
          </a:prstGeom>
        </p:spPr>
      </p:pic>
      <p:sp>
        <p:nvSpPr>
          <p:cNvPr id="9" name="Text 5"/>
          <p:cNvSpPr txBox="1"/>
          <p:nvPr/>
        </p:nvSpPr>
        <p:spPr>
          <a:xfrm>
            <a:off x="274320" y="3337560"/>
            <a:ext cx="1737360" cy="365760"/>
          </a:xfrm>
          <a:prstGeom prst="rect">
            <a:avLst/>
          </a:prstGeom>
          <a:noFill/>
          <a:ln/>
        </p:spPr>
        <p:txBody>
          <a:bodyPr wrap="square" lIns="0" tIns="0" rIns="0" bIns="0" rtlCol="0" anchor="ctr"/>
          <a:lstStyle/>
          <a:p>
            <a:pPr algn="ctr" indent="0" marL="0">
              <a:buNone/>
            </a:pPr>
            <a:r>
              <a:rPr lang="en-US" sz="1300" b="1" dirty="0">
                <a:solidFill>
                  <a:srgbClr val="7D5F3F"/>
                </a:solidFill>
                <a:latin typeface="Open Sans" pitchFamily="34" charset="0"/>
                <a:ea typeface="Open Sans" pitchFamily="34" charset="-122"/>
                <a:cs typeface="Open Sans" pitchFamily="34" charset="-120"/>
              </a:rPr>
              <a:t>One attacker</a:t>
            </a:r>
            <a:endParaRPr lang="en-US" sz="1300" dirty="0"/>
          </a:p>
        </p:txBody>
      </p:sp>
      <p:sp>
        <p:nvSpPr>
          <p:cNvPr id="10" name="Shape 6"/>
          <p:cNvSpPr/>
          <p:nvPr/>
        </p:nvSpPr>
        <p:spPr>
          <a:xfrm flipV="1">
            <a:off x="1920240" y="1463040"/>
            <a:ext cx="2011680" cy="1143000"/>
          </a:xfrm>
          <a:prstGeom prst="line">
            <a:avLst/>
          </a:prstGeom>
          <a:noFill/>
          <a:ln w="19050">
            <a:solidFill>
              <a:srgbClr val="A39E98"/>
            </a:solidFill>
            <a:prstDash val="solid"/>
            <a:tailEnd type="triangle"/>
          </a:ln>
        </p:spPr>
      </p:sp>
      <p:sp>
        <p:nvSpPr>
          <p:cNvPr id="11" name="Shape 7"/>
          <p:cNvSpPr/>
          <p:nvPr/>
        </p:nvSpPr>
        <p:spPr>
          <a:xfrm>
            <a:off x="4023360" y="1234440"/>
            <a:ext cx="457200" cy="457200"/>
          </a:xfrm>
          <a:prstGeom prst="ellipse">
            <a:avLst/>
          </a:prstGeom>
          <a:solidFill>
            <a:srgbClr val="A39E98"/>
          </a:solidFill>
          <a:ln w="12700">
            <a:solidFill>
              <a:srgbClr val="A39E98"/>
            </a:solidFill>
            <a:prstDash val="solid"/>
          </a:ln>
        </p:spPr>
      </p:sp>
      <p:pic>
        <p:nvPicPr>
          <p:cNvPr id="12" name="Image 1" descr="preencoded.png">    </p:cNvPr>
          <p:cNvPicPr>
            <a:picLocks noChangeAspect="1"/>
          </p:cNvPicPr>
          <p:nvPr/>
        </p:nvPicPr>
        <p:blipFill>
          <a:blip r:embed="rId2"/>
          <a:stretch>
            <a:fillRect/>
          </a:stretch>
        </p:blipFill>
        <p:spPr>
          <a:xfrm>
            <a:off x="4137660" y="1348740"/>
            <a:ext cx="228600" cy="228600"/>
          </a:xfrm>
          <a:prstGeom prst="rect">
            <a:avLst/>
          </a:prstGeom>
        </p:spPr>
      </p:pic>
      <p:sp>
        <p:nvSpPr>
          <p:cNvPr id="13" name="Shape 8"/>
          <p:cNvSpPr/>
          <p:nvPr/>
        </p:nvSpPr>
        <p:spPr>
          <a:xfrm flipV="1">
            <a:off x="1920240" y="2148840"/>
            <a:ext cx="2011680" cy="457200"/>
          </a:xfrm>
          <a:prstGeom prst="line">
            <a:avLst/>
          </a:prstGeom>
          <a:noFill/>
          <a:ln w="19050">
            <a:solidFill>
              <a:srgbClr val="A39E98"/>
            </a:solidFill>
            <a:prstDash val="solid"/>
            <a:tailEnd type="triangle"/>
          </a:ln>
        </p:spPr>
      </p:sp>
      <p:sp>
        <p:nvSpPr>
          <p:cNvPr id="14" name="Shape 9"/>
          <p:cNvSpPr/>
          <p:nvPr/>
        </p:nvSpPr>
        <p:spPr>
          <a:xfrm>
            <a:off x="4023360" y="1920240"/>
            <a:ext cx="457200" cy="457200"/>
          </a:xfrm>
          <a:prstGeom prst="ellipse">
            <a:avLst/>
          </a:prstGeom>
          <a:solidFill>
            <a:srgbClr val="A39E98"/>
          </a:solidFill>
          <a:ln w="12700">
            <a:solidFill>
              <a:srgbClr val="A39E98"/>
            </a:solidFill>
            <a:prstDash val="solid"/>
          </a:ln>
        </p:spPr>
      </p:sp>
      <p:pic>
        <p:nvPicPr>
          <p:cNvPr id="15" name="Image 2" descr="preencoded.png">    </p:cNvPr>
          <p:cNvPicPr>
            <a:picLocks noChangeAspect="1"/>
          </p:cNvPicPr>
          <p:nvPr/>
        </p:nvPicPr>
        <p:blipFill>
          <a:blip r:embed="rId3"/>
          <a:stretch>
            <a:fillRect/>
          </a:stretch>
        </p:blipFill>
        <p:spPr>
          <a:xfrm>
            <a:off x="4137660" y="2034540"/>
            <a:ext cx="228600" cy="228600"/>
          </a:xfrm>
          <a:prstGeom prst="rect">
            <a:avLst/>
          </a:prstGeom>
        </p:spPr>
      </p:pic>
      <p:sp>
        <p:nvSpPr>
          <p:cNvPr id="16" name="Shape 10"/>
          <p:cNvSpPr/>
          <p:nvPr/>
        </p:nvSpPr>
        <p:spPr>
          <a:xfrm>
            <a:off x="1920240" y="2606040"/>
            <a:ext cx="2011680" cy="228600"/>
          </a:xfrm>
          <a:prstGeom prst="line">
            <a:avLst/>
          </a:prstGeom>
          <a:noFill/>
          <a:ln w="19050">
            <a:solidFill>
              <a:srgbClr val="A39E98"/>
            </a:solidFill>
            <a:prstDash val="solid"/>
            <a:tailEnd type="triangle"/>
          </a:ln>
        </p:spPr>
      </p:sp>
      <p:sp>
        <p:nvSpPr>
          <p:cNvPr id="17" name="Shape 11"/>
          <p:cNvSpPr/>
          <p:nvPr/>
        </p:nvSpPr>
        <p:spPr>
          <a:xfrm>
            <a:off x="4023360" y="2606040"/>
            <a:ext cx="457200" cy="457200"/>
          </a:xfrm>
          <a:prstGeom prst="ellipse">
            <a:avLst/>
          </a:prstGeom>
          <a:solidFill>
            <a:srgbClr val="667C7E"/>
          </a:solidFill>
          <a:ln w="12700">
            <a:solidFill>
              <a:srgbClr val="667C7E"/>
            </a:solidFill>
            <a:prstDash val="solid"/>
          </a:ln>
        </p:spPr>
      </p:sp>
      <p:pic>
        <p:nvPicPr>
          <p:cNvPr id="18" name="Image 3" descr="preencoded.png">    </p:cNvPr>
          <p:cNvPicPr>
            <a:picLocks noChangeAspect="1"/>
          </p:cNvPicPr>
          <p:nvPr/>
        </p:nvPicPr>
        <p:blipFill>
          <a:blip r:embed="rId4"/>
          <a:stretch>
            <a:fillRect/>
          </a:stretch>
        </p:blipFill>
        <p:spPr>
          <a:xfrm>
            <a:off x="4137660" y="2720340"/>
            <a:ext cx="228600" cy="228600"/>
          </a:xfrm>
          <a:prstGeom prst="rect">
            <a:avLst/>
          </a:prstGeom>
        </p:spPr>
      </p:pic>
      <p:sp>
        <p:nvSpPr>
          <p:cNvPr id="19" name="Shape 12"/>
          <p:cNvSpPr/>
          <p:nvPr/>
        </p:nvSpPr>
        <p:spPr>
          <a:xfrm>
            <a:off x="1920240" y="2606040"/>
            <a:ext cx="2011680" cy="914400"/>
          </a:xfrm>
          <a:prstGeom prst="line">
            <a:avLst/>
          </a:prstGeom>
          <a:noFill/>
          <a:ln w="19050">
            <a:solidFill>
              <a:srgbClr val="A39E98"/>
            </a:solidFill>
            <a:prstDash val="solid"/>
            <a:tailEnd type="triangle"/>
          </a:ln>
        </p:spPr>
      </p:sp>
      <p:sp>
        <p:nvSpPr>
          <p:cNvPr id="20" name="Shape 13"/>
          <p:cNvSpPr/>
          <p:nvPr/>
        </p:nvSpPr>
        <p:spPr>
          <a:xfrm>
            <a:off x="4023360" y="3291840"/>
            <a:ext cx="457200" cy="457200"/>
          </a:xfrm>
          <a:prstGeom prst="ellipse">
            <a:avLst/>
          </a:prstGeom>
          <a:solidFill>
            <a:srgbClr val="A39E98"/>
          </a:solidFill>
          <a:ln w="12700">
            <a:solidFill>
              <a:srgbClr val="A39E98"/>
            </a:solidFill>
            <a:prstDash val="solid"/>
          </a:ln>
        </p:spPr>
      </p:sp>
      <p:pic>
        <p:nvPicPr>
          <p:cNvPr id="21" name="Image 4" descr="preencoded.png">    </p:cNvPr>
          <p:cNvPicPr>
            <a:picLocks noChangeAspect="1"/>
          </p:cNvPicPr>
          <p:nvPr/>
        </p:nvPicPr>
        <p:blipFill>
          <a:blip r:embed="rId5"/>
          <a:stretch>
            <a:fillRect/>
          </a:stretch>
        </p:blipFill>
        <p:spPr>
          <a:xfrm>
            <a:off x="4137660" y="3406140"/>
            <a:ext cx="228600" cy="228600"/>
          </a:xfrm>
          <a:prstGeom prst="rect">
            <a:avLst/>
          </a:prstGeom>
        </p:spPr>
      </p:pic>
      <p:sp>
        <p:nvSpPr>
          <p:cNvPr id="22" name="Shape 14"/>
          <p:cNvSpPr/>
          <p:nvPr/>
        </p:nvSpPr>
        <p:spPr>
          <a:xfrm>
            <a:off x="1920240" y="2606040"/>
            <a:ext cx="2011680" cy="1600200"/>
          </a:xfrm>
          <a:prstGeom prst="line">
            <a:avLst/>
          </a:prstGeom>
          <a:noFill/>
          <a:ln w="19050">
            <a:solidFill>
              <a:srgbClr val="A39E98"/>
            </a:solidFill>
            <a:prstDash val="solid"/>
            <a:tailEnd type="triangle"/>
          </a:ln>
        </p:spPr>
      </p:sp>
      <p:sp>
        <p:nvSpPr>
          <p:cNvPr id="23" name="Shape 15"/>
          <p:cNvSpPr/>
          <p:nvPr/>
        </p:nvSpPr>
        <p:spPr>
          <a:xfrm>
            <a:off x="4023360" y="3977640"/>
            <a:ext cx="457200" cy="457200"/>
          </a:xfrm>
          <a:prstGeom prst="ellipse">
            <a:avLst/>
          </a:prstGeom>
          <a:solidFill>
            <a:srgbClr val="A39E98"/>
          </a:solidFill>
          <a:ln w="12700">
            <a:solidFill>
              <a:srgbClr val="A39E98"/>
            </a:solidFill>
            <a:prstDash val="solid"/>
          </a:ln>
        </p:spPr>
      </p:sp>
      <p:pic>
        <p:nvPicPr>
          <p:cNvPr id="24" name="Image 5" descr="preencoded.png">    </p:cNvPr>
          <p:cNvPicPr>
            <a:picLocks noChangeAspect="1"/>
          </p:cNvPicPr>
          <p:nvPr/>
        </p:nvPicPr>
        <p:blipFill>
          <a:blip r:embed="rId6"/>
          <a:stretch>
            <a:fillRect/>
          </a:stretch>
        </p:blipFill>
        <p:spPr>
          <a:xfrm>
            <a:off x="4137660" y="4091940"/>
            <a:ext cx="228600" cy="228600"/>
          </a:xfrm>
          <a:prstGeom prst="rect">
            <a:avLst/>
          </a:prstGeom>
        </p:spPr>
      </p:pic>
      <p:sp>
        <p:nvSpPr>
          <p:cNvPr id="25" name="Text 16"/>
          <p:cNvSpPr txBox="1"/>
          <p:nvPr/>
        </p:nvSpPr>
        <p:spPr>
          <a:xfrm>
            <a:off x="4754880" y="1463040"/>
            <a:ext cx="3931920" cy="54864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Tools try thousands of businesses at once.</a:t>
            </a:r>
            <a:endParaRPr lang="en-US" sz="1700" dirty="0"/>
          </a:p>
        </p:txBody>
      </p:sp>
      <p:sp>
        <p:nvSpPr>
          <p:cNvPr id="26" name="Text 17"/>
          <p:cNvSpPr txBox="1"/>
          <p:nvPr/>
        </p:nvSpPr>
        <p:spPr>
          <a:xfrm>
            <a:off x="4754880" y="2103120"/>
            <a:ext cx="3931920" cy="91440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They look for any open door: a weak password, an old computer, a careless click.</a:t>
            </a:r>
            <a:endParaRPr lang="en-US" sz="1500" dirty="0"/>
          </a:p>
        </p:txBody>
      </p:sp>
      <p:sp>
        <p:nvSpPr>
          <p:cNvPr id="27" name="Text 18"/>
          <p:cNvSpPr txBox="1"/>
          <p:nvPr/>
        </p:nvSpPr>
        <p:spPr>
          <a:xfrm>
            <a:off x="4754880" y="3200400"/>
            <a:ext cx="3931920" cy="731520"/>
          </a:xfrm>
          <a:prstGeom prst="rect">
            <a:avLst/>
          </a:prstGeom>
          <a:noFill/>
          <a:ln/>
        </p:spPr>
        <p:txBody>
          <a:bodyPr wrap="square" lIns="0" tIns="0" rIns="0" bIns="0" rtlCol="0" anchor="t"/>
          <a:lstStyle/>
          <a:p>
            <a:pPr indent="0" marL="0">
              <a:buNone/>
            </a:pPr>
            <a:r>
              <a:rPr lang="en-US" sz="1500" b="1" dirty="0">
                <a:solidFill>
                  <a:srgbClr val="566A6C"/>
                </a:solidFill>
                <a:latin typeface="Open Sans" pitchFamily="34" charset="0"/>
                <a:ea typeface="Open Sans" pitchFamily="34" charset="-122"/>
                <a:cs typeface="Open Sans" pitchFamily="34" charset="-120"/>
              </a:rPr>
              <a:t>TeaLeaf does not need to be famous to be attacked.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an attack costs a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sp>
        <p:nvSpPr>
          <p:cNvPr id="8" name="Shape 5"/>
          <p:cNvSpPr/>
          <p:nvPr/>
        </p:nvSpPr>
        <p:spPr>
          <a:xfrm>
            <a:off x="457200" y="118872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Money</a:t>
            </a:r>
            <a:endParaRPr lang="en-US" sz="1500" dirty="0"/>
          </a:p>
        </p:txBody>
      </p:sp>
      <p:sp>
        <p:nvSpPr>
          <p:cNvPr id="12" name="Text 8"/>
          <p:cNvSpPr txBox="1"/>
          <p:nvPr/>
        </p:nvSpPr>
        <p:spPr>
          <a:xfrm>
            <a:off x="6400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Stolen payments, repair costs, lost sales.</a:t>
            </a:r>
            <a:endParaRPr lang="en-US" sz="1250" dirty="0"/>
          </a:p>
        </p:txBody>
      </p:sp>
      <p:sp>
        <p:nvSpPr>
          <p:cNvPr id="13" name="Shape 9"/>
          <p:cNvSpPr/>
          <p:nvPr/>
        </p:nvSpPr>
        <p:spPr>
          <a:xfrm>
            <a:off x="2571750" y="118872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497330"/>
            <a:ext cx="251460" cy="251460"/>
          </a:xfrm>
          <a:prstGeom prst="rect">
            <a:avLst/>
          </a:prstGeom>
        </p:spPr>
      </p:pic>
      <p:sp>
        <p:nvSpPr>
          <p:cNvPr id="16" name="Text 11"/>
          <p:cNvSpPr txBox="1"/>
          <p:nvPr/>
        </p:nvSpPr>
        <p:spPr>
          <a:xfrm>
            <a:off x="27546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Time</a:t>
            </a:r>
            <a:endParaRPr lang="en-US" sz="1500" dirty="0"/>
          </a:p>
        </p:txBody>
      </p:sp>
      <p:sp>
        <p:nvSpPr>
          <p:cNvPr id="17" name="Text 12"/>
          <p:cNvSpPr txBox="1"/>
          <p:nvPr/>
        </p:nvSpPr>
        <p:spPr>
          <a:xfrm>
            <a:off x="27546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without email, orders or accounts.</a:t>
            </a:r>
            <a:endParaRPr lang="en-US" sz="1250" dirty="0"/>
          </a:p>
        </p:txBody>
      </p:sp>
      <p:sp>
        <p:nvSpPr>
          <p:cNvPr id="18" name="Shape 13"/>
          <p:cNvSpPr/>
          <p:nvPr/>
        </p:nvSpPr>
        <p:spPr>
          <a:xfrm>
            <a:off x="4686300" y="118872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497330"/>
            <a:ext cx="251460" cy="251460"/>
          </a:xfrm>
          <a:prstGeom prst="rect">
            <a:avLst/>
          </a:prstGeom>
        </p:spPr>
      </p:pic>
      <p:sp>
        <p:nvSpPr>
          <p:cNvPr id="21" name="Text 15"/>
          <p:cNvSpPr txBox="1"/>
          <p:nvPr/>
        </p:nvSpPr>
        <p:spPr>
          <a:xfrm>
            <a:off x="48691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Customers</a:t>
            </a:r>
            <a:endParaRPr lang="en-US" sz="1500" dirty="0"/>
          </a:p>
        </p:txBody>
      </p:sp>
      <p:sp>
        <p:nvSpPr>
          <p:cNvPr id="22" name="Text 16"/>
          <p:cNvSpPr txBox="1"/>
          <p:nvPr/>
        </p:nvSpPr>
        <p:spPr>
          <a:xfrm>
            <a:off x="48691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Buyers leave if they stop trusting us.</a:t>
            </a:r>
            <a:endParaRPr lang="en-US" sz="1250" dirty="0"/>
          </a:p>
        </p:txBody>
      </p:sp>
      <p:sp>
        <p:nvSpPr>
          <p:cNvPr id="23" name="Shape 17"/>
          <p:cNvSpPr/>
          <p:nvPr/>
        </p:nvSpPr>
        <p:spPr>
          <a:xfrm>
            <a:off x="6800850" y="118872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37160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497330"/>
            <a:ext cx="251460" cy="251460"/>
          </a:xfrm>
          <a:prstGeom prst="rect">
            <a:avLst/>
          </a:prstGeom>
        </p:spPr>
      </p:pic>
      <p:sp>
        <p:nvSpPr>
          <p:cNvPr id="26" name="Text 19"/>
          <p:cNvSpPr txBox="1"/>
          <p:nvPr/>
        </p:nvSpPr>
        <p:spPr>
          <a:xfrm>
            <a:off x="69837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Legal trouble</a:t>
            </a:r>
            <a:endParaRPr lang="en-US" sz="1500" dirty="0"/>
          </a:p>
        </p:txBody>
      </p:sp>
      <p:sp>
        <p:nvSpPr>
          <p:cNvPr id="27" name="Text 20"/>
          <p:cNvSpPr txBox="1"/>
          <p:nvPr/>
        </p:nvSpPr>
        <p:spPr>
          <a:xfrm>
            <a:off x="69837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law protects customer data. Losing it can bring fines.</a:t>
            </a:r>
            <a:endParaRPr lang="en-US" sz="1250" dirty="0"/>
          </a:p>
        </p:txBody>
      </p:sp>
      <p:sp>
        <p:nvSpPr>
          <p:cNvPr id="28" name="Text 21"/>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Security is a business cost, not only a computer problem.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DDCD"/>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C7A887"/>
          </a:solidFill>
          <a:ln w="12700">
            <a:solidFill>
              <a:srgbClr val="C7A887"/>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3657600" cy="320040"/>
          </a:xfrm>
          <a:prstGeom prst="rect">
            <a:avLst/>
          </a:prstGeom>
          <a:noFill/>
          <a:ln/>
        </p:spPr>
        <p:txBody>
          <a:bodyPr wrap="square" lIns="0" tIns="0" rIns="0" bIns="0" rtlCol="0" anchor="ctr"/>
          <a:lstStyle/>
          <a:p>
            <a:pPr indent="0" marL="0">
              <a:buNone/>
            </a:pPr>
            <a:r>
              <a:rPr lang="en-US" sz="1400" b="1" dirty="0">
                <a:solidFill>
                  <a:srgbClr val="6B4F33"/>
                </a:solidFill>
                <a:latin typeface="Open Sans" pitchFamily="34" charset="0"/>
                <a:ea typeface="Open Sans" pitchFamily="34" charset="-122"/>
                <a:cs typeface="Open Sans" pitchFamily="34" charset="-120"/>
              </a:rPr>
              <a:t>Your turn</a:t>
            </a:r>
            <a:endParaRPr lang="en-US" sz="1400" dirty="0"/>
          </a:p>
        </p:txBody>
      </p:sp>
      <p:sp>
        <p:nvSpPr>
          <p:cNvPr id="5" name="Text 2"/>
          <p:cNvSpPr txBox="1"/>
          <p:nvPr/>
        </p:nvSpPr>
        <p:spPr>
          <a:xfrm>
            <a:off x="1371600" y="731520"/>
            <a:ext cx="7315200" cy="457200"/>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Talk to your neighbour</a:t>
            </a:r>
            <a:endParaRPr lang="en-US" sz="2400" dirty="0"/>
          </a:p>
        </p:txBody>
      </p:sp>
      <p:sp>
        <p:nvSpPr>
          <p:cNvPr id="6" name="Text 3"/>
          <p:cNvSpPr txBox="1"/>
          <p:nvPr/>
        </p:nvSpPr>
        <p:spPr>
          <a:xfrm>
            <a:off x="457200" y="1508760"/>
            <a:ext cx="8229600" cy="1371600"/>
          </a:xfrm>
          <a:prstGeom prst="rect">
            <a:avLst/>
          </a:prstGeom>
          <a:noFill/>
          <a:ln/>
        </p:spPr>
        <p:txBody>
          <a:bodyPr wrap="square" lIns="0" tIns="0" rIns="0" bIns="0" rtlCol="0" anchor="t"/>
          <a:lstStyle/>
          <a:p>
            <a:pPr indent="0" marL="0">
              <a:buNone/>
            </a:pPr>
            <a:r>
              <a:rPr lang="en-US" sz="2200" dirty="0">
                <a:solidFill>
                  <a:srgbClr val="262A20"/>
                </a:solidFill>
                <a:latin typeface="Open Sans" pitchFamily="34" charset="0"/>
                <a:ea typeface="Open Sans" pitchFamily="34" charset="-122"/>
                <a:cs typeface="Open Sans" pitchFamily="34" charset="-120"/>
              </a:rPr>
              <a:t>Do you know someone who was tricked or hacked online? What happened? What did it cost them?</a:t>
            </a:r>
            <a:endParaRPr lang="en-US" sz="2200" dirty="0"/>
          </a:p>
        </p:txBody>
      </p:sp>
      <p:sp>
        <p:nvSpPr>
          <p:cNvPr id="7" name="Text 4"/>
          <p:cNvSpPr txBox="1"/>
          <p:nvPr/>
        </p:nvSpPr>
        <p:spPr>
          <a:xfrm>
            <a:off x="457200" y="3017520"/>
            <a:ext cx="6217920" cy="1371600"/>
          </a:xfrm>
          <a:prstGeom prst="rect">
            <a:avLst/>
          </a:prstGeom>
          <a:noFill/>
          <a:ln/>
        </p:spPr>
        <p:txBody>
          <a:bodyPr wrap="square" lIns="0" tIns="0" rIns="0" bIns="0" rtlCol="0" anchor="t"/>
          <a:lstStyle/>
          <a:p>
            <a:pPr indent="0" marL="0">
              <a:buNone/>
            </a:pPr>
            <a:r>
              <a:rPr lang="en-US" sz="1400" dirty="0">
                <a:solidFill>
                  <a:srgbClr val="5A5F55"/>
                </a:solidFill>
                <a:latin typeface="Open Sans" pitchFamily="34" charset="0"/>
                <a:ea typeface="Open Sans" pitchFamily="34" charset="-122"/>
                <a:cs typeface="Open Sans" pitchFamily="34" charset="-120"/>
              </a:rPr>
              <a:t>Share with one person next to you.</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No real names, please.</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Two pairs will share with the class.</a:t>
            </a:r>
            <a:endParaRPr lang="en-US" sz="1400" dirty="0"/>
          </a:p>
        </p:txBody>
      </p:sp>
      <p:sp>
        <p:nvSpPr>
          <p:cNvPr id="8" name="Shape 5"/>
          <p:cNvSpPr/>
          <p:nvPr/>
        </p:nvSpPr>
        <p:spPr>
          <a:xfrm>
            <a:off x="6949440" y="3200400"/>
            <a:ext cx="1737360" cy="1005840"/>
          </a:xfrm>
          <a:prstGeom prst="roundRect">
            <a:avLst>
              <a:gd name="adj" fmla="val 9091"/>
            </a:avLst>
          </a:prstGeom>
          <a:solidFill>
            <a:srgbClr val="C7A887"/>
          </a:solidFill>
          <a:ln w="12700">
            <a:solidFill>
              <a:srgbClr val="C7A887"/>
            </a:solidFill>
            <a:prstDash val="solid"/>
          </a:ln>
        </p:spPr>
      </p:sp>
      <p:sp>
        <p:nvSpPr>
          <p:cNvPr id="9" name="Text 6"/>
          <p:cNvSpPr txBox="1"/>
          <p:nvPr/>
        </p:nvSpPr>
        <p:spPr>
          <a:xfrm>
            <a:off x="6949440" y="3200400"/>
            <a:ext cx="1737360" cy="1005840"/>
          </a:xfrm>
          <a:prstGeom prst="rect">
            <a:avLst/>
          </a:prstGeom>
          <a:noFill/>
          <a:ln/>
        </p:spPr>
        <p:txBody>
          <a:bodyPr wrap="square" lIns="0" tIns="0" rIns="0" bIns="0" rtlCol="0" anchor="ctr"/>
          <a:lstStyle/>
          <a:p>
            <a:pPr algn="ctr" indent="0" marL="0">
              <a:buNone/>
            </a:pPr>
            <a:r>
              <a:rPr lang="en-US" sz="2600" b="1" dirty="0">
                <a:solidFill>
                  <a:srgbClr val="262A20"/>
                </a:solidFill>
                <a:latin typeface="Open Sans" pitchFamily="34" charset="0"/>
                <a:ea typeface="Open Sans" pitchFamily="34" charset="-122"/>
                <a:cs typeface="Open Sans" pitchFamily="34" charset="-120"/>
              </a:rPr>
              <a:t>5 min</a:t>
            </a:r>
            <a:endParaRPr lang="en-US" sz="2600" dirty="0"/>
          </a:p>
        </p:txBody>
      </p:sp>
      <p:sp>
        <p:nvSpPr>
          <p:cNvPr id="10" name="Text 7"/>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1" name="Text 8"/>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Information is an asset</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Information has value, just like money.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an asset?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000" b="1" dirty="0">
                <a:solidFill>
                  <a:srgbClr val="566A6C"/>
                </a:solidFill>
                <a:latin typeface="Open Sans" pitchFamily="34" charset="0"/>
                <a:ea typeface="Open Sans" pitchFamily="34" charset="-122"/>
                <a:cs typeface="Open Sans" pitchFamily="34" charset="-120"/>
              </a:rPr>
              <a:t>An asset is anything that has value to the business.</a:t>
            </a:r>
            <a:endParaRPr lang="en-US" sz="2000" dirty="0"/>
          </a:p>
        </p:txBody>
      </p:sp>
      <p:sp>
        <p:nvSpPr>
          <p:cNvPr id="9" name="Shape 6"/>
          <p:cNvSpPr/>
          <p:nvPr/>
        </p:nvSpPr>
        <p:spPr>
          <a:xfrm>
            <a:off x="457200" y="1920240"/>
            <a:ext cx="4000500" cy="2103120"/>
          </a:xfrm>
          <a:prstGeom prst="roundRect">
            <a:avLst>
              <a:gd name="adj" fmla="val 3478"/>
            </a:avLst>
          </a:prstGeom>
          <a:solidFill>
            <a:srgbClr val="F2EFEC"/>
          </a:solidFill>
          <a:ln w="12700">
            <a:solidFill>
              <a:srgbClr val="F2EFEC"/>
            </a:solidFill>
            <a:prstDash val="solid"/>
          </a:ln>
        </p:spPr>
      </p:sp>
      <p:sp>
        <p:nvSpPr>
          <p:cNvPr id="10" name="Shape 7"/>
          <p:cNvSpPr/>
          <p:nvPr/>
        </p:nvSpPr>
        <p:spPr>
          <a:xfrm>
            <a:off x="640080" y="2103120"/>
            <a:ext cx="502920" cy="502920"/>
          </a:xfrm>
          <a:prstGeom prst="ellipse">
            <a:avLst/>
          </a:prstGeom>
          <a:solidFill>
            <a:srgbClr val="A39E98"/>
          </a:solidFill>
          <a:ln w="12700">
            <a:solidFill>
              <a:srgbClr val="A39E98"/>
            </a:solidFill>
            <a:prstDash val="solid"/>
          </a:ln>
        </p:spPr>
      </p:sp>
      <p:pic>
        <p:nvPicPr>
          <p:cNvPr id="11" name="Image 0" descr="preencoded.png">    </p:cNvPr>
          <p:cNvPicPr>
            <a:picLocks noChangeAspect="1"/>
          </p:cNvPicPr>
          <p:nvPr/>
        </p:nvPicPr>
        <p:blipFill>
          <a:blip r:embed="rId1"/>
          <a:stretch>
            <a:fillRect/>
          </a:stretch>
        </p:blipFill>
        <p:spPr>
          <a:xfrm>
            <a:off x="765810" y="2228850"/>
            <a:ext cx="251460" cy="251460"/>
          </a:xfrm>
          <a:prstGeom prst="rect">
            <a:avLst/>
          </a:prstGeom>
        </p:spPr>
      </p:pic>
      <p:sp>
        <p:nvSpPr>
          <p:cNvPr id="12" name="Text 8"/>
          <p:cNvSpPr txBox="1"/>
          <p:nvPr/>
        </p:nvSpPr>
        <p:spPr>
          <a:xfrm>
            <a:off x="6400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Things you can touch</a:t>
            </a:r>
            <a:endParaRPr lang="en-US" sz="1500" dirty="0"/>
          </a:p>
        </p:txBody>
      </p:sp>
      <p:sp>
        <p:nvSpPr>
          <p:cNvPr id="13" name="Text 9"/>
          <p:cNvSpPr txBox="1"/>
          <p:nvPr/>
        </p:nvSpPr>
        <p:spPr>
          <a:xfrm>
            <a:off x="6400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Tea stock, lorries, the office, laptops.</a:t>
            </a:r>
            <a:endParaRPr lang="en-US" sz="1250" dirty="0"/>
          </a:p>
        </p:txBody>
      </p:sp>
      <p:sp>
        <p:nvSpPr>
          <p:cNvPr id="14" name="Shape 10"/>
          <p:cNvSpPr/>
          <p:nvPr/>
        </p:nvSpPr>
        <p:spPr>
          <a:xfrm>
            <a:off x="4686300" y="1920240"/>
            <a:ext cx="4000500" cy="2103120"/>
          </a:xfrm>
          <a:prstGeom prst="roundRect">
            <a:avLst>
              <a:gd name="adj" fmla="val 3478"/>
            </a:avLst>
          </a:prstGeom>
          <a:solidFill>
            <a:srgbClr val="E1E6E6"/>
          </a:solidFill>
          <a:ln w="12700">
            <a:solidFill>
              <a:srgbClr val="E1E6E6"/>
            </a:solidFill>
            <a:prstDash val="solid"/>
          </a:ln>
        </p:spPr>
      </p:sp>
      <p:sp>
        <p:nvSpPr>
          <p:cNvPr id="15" name="Shape 11"/>
          <p:cNvSpPr/>
          <p:nvPr/>
        </p:nvSpPr>
        <p:spPr>
          <a:xfrm>
            <a:off x="4869180" y="2103120"/>
            <a:ext cx="502920" cy="50292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4994910" y="2228850"/>
            <a:ext cx="251460" cy="251460"/>
          </a:xfrm>
          <a:prstGeom prst="rect">
            <a:avLst/>
          </a:prstGeom>
        </p:spPr>
      </p:pic>
      <p:sp>
        <p:nvSpPr>
          <p:cNvPr id="17" name="Text 12"/>
          <p:cNvSpPr txBox="1"/>
          <p:nvPr/>
        </p:nvSpPr>
        <p:spPr>
          <a:xfrm>
            <a:off x="48691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Information</a:t>
            </a:r>
            <a:endParaRPr lang="en-US" sz="1500" dirty="0"/>
          </a:p>
        </p:txBody>
      </p:sp>
      <p:sp>
        <p:nvSpPr>
          <p:cNvPr id="18" name="Text 13"/>
          <p:cNvSpPr txBox="1"/>
          <p:nvPr/>
        </p:nvSpPr>
        <p:spPr>
          <a:xfrm>
            <a:off x="48691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Customer lists, orders, prices, accounts, passwords.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kinds of information assets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15</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Data</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Facts we keep. Customer names, orders, supplier prices, bank details.</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Systems</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tools that use the data. The online shop, email, the accounts server.</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Reputation</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Our good name. Buyers pay us because they trust us.</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600" b="1" dirty="0">
                <a:solidFill>
                  <a:srgbClr val="566A6C"/>
                </a:solidFill>
                <a:latin typeface="Open Sans" pitchFamily="34" charset="0"/>
                <a:ea typeface="Open Sans" pitchFamily="34" charset="-122"/>
                <a:cs typeface="Open Sans" pitchFamily="34" charset="-120"/>
              </a:rPr>
              <a:t>Attackers want the data, break the systems and damage the reputation.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data can be worth more than the laptop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80160"/>
            <a:ext cx="3977640" cy="3108960"/>
          </a:xfrm>
          <a:prstGeom prst="roundRect">
            <a:avLst>
              <a:gd name="adj" fmla="val 2353"/>
            </a:avLst>
          </a:prstGeom>
          <a:solidFill>
            <a:srgbClr val="F2EFEC"/>
          </a:solidFill>
          <a:ln w="12700">
            <a:solidFill>
              <a:srgbClr val="F2EFEC"/>
            </a:solidFill>
            <a:prstDash val="solid"/>
          </a:ln>
        </p:spPr>
      </p:sp>
      <p:sp>
        <p:nvSpPr>
          <p:cNvPr id="9" name="Shape 6"/>
          <p:cNvSpPr/>
          <p:nvPr/>
        </p:nvSpPr>
        <p:spPr>
          <a:xfrm>
            <a:off x="2011680" y="1463040"/>
            <a:ext cx="822960" cy="822960"/>
          </a:xfrm>
          <a:prstGeom prst="ellipse">
            <a:avLst/>
          </a:prstGeom>
          <a:solidFill>
            <a:srgbClr val="A39E98"/>
          </a:solidFill>
          <a:ln w="12700">
            <a:solidFill>
              <a:srgbClr val="A39E98"/>
            </a:solidFill>
            <a:prstDash val="solid"/>
          </a:ln>
        </p:spPr>
      </p:sp>
      <p:pic>
        <p:nvPicPr>
          <p:cNvPr id="10" name="Image 0" descr="preencoded.png">    </p:cNvPr>
          <p:cNvPicPr>
            <a:picLocks noChangeAspect="1"/>
          </p:cNvPicPr>
          <p:nvPr/>
        </p:nvPicPr>
        <p:blipFill>
          <a:blip r:embed="rId1"/>
          <a:stretch>
            <a:fillRect/>
          </a:stretch>
        </p:blipFill>
        <p:spPr>
          <a:xfrm>
            <a:off x="2217420" y="1668780"/>
            <a:ext cx="411480" cy="411480"/>
          </a:xfrm>
          <a:prstGeom prst="rect">
            <a:avLst/>
          </a:prstGeom>
        </p:spPr>
      </p:pic>
      <p:sp>
        <p:nvSpPr>
          <p:cNvPr id="11" name="Text 7"/>
          <p:cNvSpPr txBox="1"/>
          <p:nvPr/>
        </p:nvSpPr>
        <p:spPr>
          <a:xfrm>
            <a:off x="64008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A stolen laptop</a:t>
            </a:r>
            <a:endParaRPr lang="en-US" sz="1800" dirty="0"/>
          </a:p>
        </p:txBody>
      </p:sp>
      <p:sp>
        <p:nvSpPr>
          <p:cNvPr id="12" name="Text 8"/>
          <p:cNvSpPr txBox="1"/>
          <p:nvPr/>
        </p:nvSpPr>
        <p:spPr>
          <a:xfrm>
            <a:off x="64008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Buy a new one for about LKR 250,000.</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Ready tomorrow.</a:t>
            </a:r>
            <a:endParaRPr lang="en-US" sz="1500" dirty="0"/>
          </a:p>
        </p:txBody>
      </p:sp>
      <p:sp>
        <p:nvSpPr>
          <p:cNvPr id="13" name="Shape 9"/>
          <p:cNvSpPr/>
          <p:nvPr/>
        </p:nvSpPr>
        <p:spPr>
          <a:xfrm>
            <a:off x="4709160" y="1280160"/>
            <a:ext cx="3977640" cy="3108960"/>
          </a:xfrm>
          <a:prstGeom prst="roundRect">
            <a:avLst>
              <a:gd name="adj" fmla="val 2353"/>
            </a:avLst>
          </a:prstGeom>
          <a:solidFill>
            <a:srgbClr val="E1E6E6"/>
          </a:solidFill>
          <a:ln w="25400">
            <a:solidFill>
              <a:srgbClr val="667C7E"/>
            </a:solidFill>
            <a:prstDash val="solid"/>
          </a:ln>
        </p:spPr>
      </p:sp>
      <p:sp>
        <p:nvSpPr>
          <p:cNvPr id="14" name="Shape 10"/>
          <p:cNvSpPr/>
          <p:nvPr/>
        </p:nvSpPr>
        <p:spPr>
          <a:xfrm>
            <a:off x="6263640" y="1463040"/>
            <a:ext cx="822960" cy="82296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6469380" y="1668780"/>
            <a:ext cx="411480" cy="411480"/>
          </a:xfrm>
          <a:prstGeom prst="rect">
            <a:avLst/>
          </a:prstGeom>
        </p:spPr>
      </p:pic>
      <p:sp>
        <p:nvSpPr>
          <p:cNvPr id="16" name="Text 11"/>
          <p:cNvSpPr txBox="1"/>
          <p:nvPr/>
        </p:nvSpPr>
        <p:spPr>
          <a:xfrm>
            <a:off x="489204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The customer list on it</a:t>
            </a:r>
            <a:endParaRPr lang="en-US" sz="1800" dirty="0"/>
          </a:p>
        </p:txBody>
      </p:sp>
      <p:sp>
        <p:nvSpPr>
          <p:cNvPr id="17" name="Text 12"/>
          <p:cNvSpPr txBox="1"/>
          <p:nvPr/>
        </p:nvSpPr>
        <p:spPr>
          <a:xfrm>
            <a:off x="489204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Ten years of work.</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If a rival gets it, or it is lost, we cannot buy it back.</a:t>
            </a:r>
            <a:endParaRPr lang="en-US" sz="1500" dirty="0"/>
          </a:p>
        </p:txBody>
      </p:sp>
      <p:sp>
        <p:nvSpPr>
          <p:cNvPr id="18" name="Text 13"/>
          <p:cNvSpPr txBox="1"/>
          <p:nvPr/>
        </p:nvSpPr>
        <p:spPr>
          <a:xfrm>
            <a:off x="457200" y="4434840"/>
            <a:ext cx="8229600" cy="228600"/>
          </a:xfrm>
          <a:prstGeom prst="rect">
            <a:avLst/>
          </a:prstGeom>
          <a:noFill/>
          <a:ln/>
        </p:spPr>
        <p:txBody>
          <a:bodyPr wrap="square" lIns="0" tIns="0" rIns="0" bIns="0" rtlCol="0" anchor="ctr"/>
          <a:lstStyle/>
          <a:p>
            <a:pPr algn="r" indent="0" marL="0">
              <a:buNone/>
            </a:pPr>
            <a:r>
              <a:rPr lang="en-US" sz="1000" dirty="0">
                <a:solidFill>
                  <a:srgbClr val="5A5F55"/>
                </a:solidFill>
                <a:latin typeface="Open Sans" pitchFamily="34" charset="0"/>
                <a:ea typeface="Open Sans" pitchFamily="34" charset="-122"/>
                <a:cs typeface="Open Sans" pitchFamily="34" charset="-120"/>
              </a:rPr>
              <a:t>Example figures only.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The CIA triad</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things we want for our information.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CIA triad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640080" y="1234440"/>
            <a:ext cx="3291840" cy="2834640"/>
          </a:xfrm>
          <a:prstGeom prst="triangle">
            <a:avLst/>
          </a:prstGeom>
          <a:solidFill>
            <a:srgbClr val="E1E6E6"/>
          </a:solidFill>
          <a:ln w="25400">
            <a:solidFill>
              <a:srgbClr val="667C7E"/>
            </a:solidFill>
            <a:prstDash val="solid"/>
          </a:ln>
        </p:spPr>
      </p:sp>
      <p:sp>
        <p:nvSpPr>
          <p:cNvPr id="9" name="Text 6"/>
          <p:cNvSpPr txBox="1"/>
          <p:nvPr/>
        </p:nvSpPr>
        <p:spPr>
          <a:xfrm>
            <a:off x="1920240" y="141732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C</a:t>
            </a:r>
            <a:endParaRPr lang="en-US" sz="3000" dirty="0"/>
          </a:p>
        </p:txBody>
      </p:sp>
      <p:sp>
        <p:nvSpPr>
          <p:cNvPr id="10" name="Text 7"/>
          <p:cNvSpPr txBox="1"/>
          <p:nvPr/>
        </p:nvSpPr>
        <p:spPr>
          <a:xfrm>
            <a:off x="777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I</a:t>
            </a:r>
            <a:endParaRPr lang="en-US" sz="3000" dirty="0"/>
          </a:p>
        </p:txBody>
      </p:sp>
      <p:sp>
        <p:nvSpPr>
          <p:cNvPr id="11" name="Text 8"/>
          <p:cNvSpPr txBox="1"/>
          <p:nvPr/>
        </p:nvSpPr>
        <p:spPr>
          <a:xfrm>
            <a:off x="3063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A</a:t>
            </a:r>
            <a:endParaRPr lang="en-US" sz="3000" dirty="0"/>
          </a:p>
        </p:txBody>
      </p:sp>
      <p:sp>
        <p:nvSpPr>
          <p:cNvPr id="12" name="Text 9"/>
          <p:cNvSpPr txBox="1"/>
          <p:nvPr/>
        </p:nvSpPr>
        <p:spPr>
          <a:xfrm>
            <a:off x="1645920" y="2606040"/>
            <a:ext cx="1280160" cy="640080"/>
          </a:xfrm>
          <a:prstGeom prst="rect">
            <a:avLst/>
          </a:prstGeom>
          <a:noFill/>
          <a:ln/>
        </p:spPr>
        <p:txBody>
          <a:bodyPr wrap="square" lIns="0" tIns="0" rIns="0" bIns="0" rtlCol="0" anchor="ctr"/>
          <a:lstStyle/>
          <a:p>
            <a:pPr algn="ctr" indent="0" marL="0">
              <a:buNone/>
            </a:pPr>
            <a:r>
              <a:rPr lang="en-US" sz="1200" b="1" dirty="0">
                <a:solidFill>
                  <a:srgbClr val="566A6C"/>
                </a:solidFill>
                <a:latin typeface="Open Sans" pitchFamily="34" charset="0"/>
                <a:ea typeface="Open Sans" pitchFamily="34" charset="-122"/>
                <a:cs typeface="Open Sans" pitchFamily="34" charset="-120"/>
              </a:rPr>
              <a:t>Our</a:t>
            </a:r>
            <a:endParaRPr lang="en-US" sz="1200" dirty="0"/>
          </a:p>
          <a:p>
            <a:pPr algn="ctr" indent="0" marL="0">
              <a:buNone/>
            </a:pPr>
            <a:r>
              <a:rPr lang="en-US" sz="1200" b="1" dirty="0">
                <a:solidFill>
                  <a:srgbClr val="566A6C"/>
                </a:solidFill>
                <a:latin typeface="Open Sans" pitchFamily="34" charset="0"/>
                <a:ea typeface="Open Sans" pitchFamily="34" charset="-122"/>
                <a:cs typeface="Open Sans" pitchFamily="34" charset="-120"/>
              </a:rPr>
              <a:t>information</a:t>
            </a:r>
            <a:endParaRPr lang="en-US" sz="1200" dirty="0"/>
          </a:p>
        </p:txBody>
      </p:sp>
      <p:sp>
        <p:nvSpPr>
          <p:cNvPr id="13" name="Shape 10"/>
          <p:cNvSpPr/>
          <p:nvPr/>
        </p:nvSpPr>
        <p:spPr>
          <a:xfrm>
            <a:off x="4389120" y="1371600"/>
            <a:ext cx="548640" cy="548640"/>
          </a:xfrm>
          <a:prstGeom prst="ellipse">
            <a:avLst/>
          </a:prstGeom>
          <a:solidFill>
            <a:srgbClr val="667C7E"/>
          </a:solidFill>
          <a:ln w="12700">
            <a:solidFill>
              <a:srgbClr val="667C7E"/>
            </a:solidFill>
            <a:prstDash val="solid"/>
          </a:ln>
        </p:spPr>
      </p:sp>
      <p:pic>
        <p:nvPicPr>
          <p:cNvPr id="14" name="Image 0" descr="preencoded.png">    </p:cNvPr>
          <p:cNvPicPr>
            <a:picLocks noChangeAspect="1"/>
          </p:cNvPicPr>
          <p:nvPr/>
        </p:nvPicPr>
        <p:blipFill>
          <a:blip r:embed="rId1"/>
          <a:stretch>
            <a:fillRect/>
          </a:stretch>
        </p:blipFill>
        <p:spPr>
          <a:xfrm>
            <a:off x="4526280" y="1508760"/>
            <a:ext cx="274320" cy="274320"/>
          </a:xfrm>
          <a:prstGeom prst="rect">
            <a:avLst/>
          </a:prstGeom>
        </p:spPr>
      </p:pic>
      <p:sp>
        <p:nvSpPr>
          <p:cNvPr id="15" name="Text 11"/>
          <p:cNvSpPr txBox="1"/>
          <p:nvPr/>
        </p:nvSpPr>
        <p:spPr>
          <a:xfrm>
            <a:off x="5120640" y="132588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Confidentiality</a:t>
            </a:r>
            <a:endParaRPr lang="en-US" sz="1600" dirty="0"/>
          </a:p>
        </p:txBody>
      </p:sp>
      <p:sp>
        <p:nvSpPr>
          <p:cNvPr id="16" name="Text 12"/>
          <p:cNvSpPr txBox="1"/>
          <p:nvPr/>
        </p:nvSpPr>
        <p:spPr>
          <a:xfrm>
            <a:off x="5120640" y="163677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can see it.</a:t>
            </a:r>
            <a:endParaRPr lang="en-US" sz="1300" dirty="0"/>
          </a:p>
        </p:txBody>
      </p:sp>
      <p:sp>
        <p:nvSpPr>
          <p:cNvPr id="17" name="Shape 13"/>
          <p:cNvSpPr/>
          <p:nvPr/>
        </p:nvSpPr>
        <p:spPr>
          <a:xfrm>
            <a:off x="4389120" y="2377440"/>
            <a:ext cx="548640" cy="548640"/>
          </a:xfrm>
          <a:prstGeom prst="ellipse">
            <a:avLst/>
          </a:prstGeom>
          <a:solidFill>
            <a:srgbClr val="667C7E"/>
          </a:solidFill>
          <a:ln w="12700">
            <a:solidFill>
              <a:srgbClr val="667C7E"/>
            </a:solidFill>
            <a:prstDash val="solid"/>
          </a:ln>
        </p:spPr>
      </p:sp>
      <p:pic>
        <p:nvPicPr>
          <p:cNvPr id="18" name="Image 1" descr="preencoded.png">    </p:cNvPr>
          <p:cNvPicPr>
            <a:picLocks noChangeAspect="1"/>
          </p:cNvPicPr>
          <p:nvPr/>
        </p:nvPicPr>
        <p:blipFill>
          <a:blip r:embed="rId2"/>
          <a:stretch>
            <a:fillRect/>
          </a:stretch>
        </p:blipFill>
        <p:spPr>
          <a:xfrm>
            <a:off x="4526280" y="2514600"/>
            <a:ext cx="274320" cy="274320"/>
          </a:xfrm>
          <a:prstGeom prst="rect">
            <a:avLst/>
          </a:prstGeom>
        </p:spPr>
      </p:pic>
      <p:sp>
        <p:nvSpPr>
          <p:cNvPr id="19" name="Text 14"/>
          <p:cNvSpPr txBox="1"/>
          <p:nvPr/>
        </p:nvSpPr>
        <p:spPr>
          <a:xfrm>
            <a:off x="5120640" y="233172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Integrity</a:t>
            </a:r>
            <a:endParaRPr lang="en-US" sz="1600" dirty="0"/>
          </a:p>
        </p:txBody>
      </p:sp>
      <p:sp>
        <p:nvSpPr>
          <p:cNvPr id="20" name="Text 15"/>
          <p:cNvSpPr txBox="1"/>
          <p:nvPr/>
        </p:nvSpPr>
        <p:spPr>
          <a:xfrm>
            <a:off x="5120640" y="264261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p>
        </p:txBody>
      </p:sp>
      <p:sp>
        <p:nvSpPr>
          <p:cNvPr id="21" name="Shape 16"/>
          <p:cNvSpPr/>
          <p:nvPr/>
        </p:nvSpPr>
        <p:spPr>
          <a:xfrm>
            <a:off x="4389120" y="338328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526280" y="3520440"/>
            <a:ext cx="274320" cy="274320"/>
          </a:xfrm>
          <a:prstGeom prst="rect">
            <a:avLst/>
          </a:prstGeom>
        </p:spPr>
      </p:pic>
      <p:sp>
        <p:nvSpPr>
          <p:cNvPr id="23" name="Text 17"/>
          <p:cNvSpPr txBox="1"/>
          <p:nvPr/>
        </p:nvSpPr>
        <p:spPr>
          <a:xfrm>
            <a:off x="5120640" y="333756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Availability</a:t>
            </a:r>
            <a:endParaRPr lang="en-US" sz="1600" dirty="0"/>
          </a:p>
        </p:txBody>
      </p:sp>
      <p:sp>
        <p:nvSpPr>
          <p:cNvPr id="24" name="Text 18"/>
          <p:cNvSpPr txBox="1"/>
          <p:nvPr/>
        </p:nvSpPr>
        <p:spPr>
          <a:xfrm>
            <a:off x="5120640" y="364845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 is for Confidentiality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Confidentiality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secret. Only people who should see the information can see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Only the finance team can open the salary file. Only TeaLeaf can see customer card details.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laptop with the customer list is stolen. A staff member emails the price list to the wrong person.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 is for Integrity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Integrity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correct. Information is not changed by mistake or on purpose by the wrong person.</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price on the website is the real price. An export order says 5 kg when the buyer ordered 5 kg.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Someone changes a price from LKR 1,500 to LKR 150. A virus changes numbers in the accounts file.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 is for Availability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Availability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available. We can use the information and systems when we need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Buyers can order from the online shop at any time. Staff can open the accounts on Monday morning.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is down for a whole day. The office server stops after a power cut.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quick questions to find the letter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sp>
        <p:nvSpPr>
          <p:cNvPr id="8" name="Shape 5"/>
          <p:cNvSpPr/>
          <p:nvPr/>
        </p:nvSpPr>
        <p:spPr>
          <a:xfrm>
            <a:off x="457200" y="1371600"/>
            <a:ext cx="2590800" cy="2011680"/>
          </a:xfrm>
          <a:prstGeom prst="roundRect">
            <a:avLst>
              <a:gd name="adj" fmla="val 3636"/>
            </a:avLst>
          </a:prstGeom>
          <a:solidFill>
            <a:srgbClr val="E1E6E6"/>
          </a:solidFill>
          <a:ln w="12700">
            <a:solidFill>
              <a:srgbClr val="E1E6E6"/>
            </a:solidFill>
            <a:prstDash val="solid"/>
          </a:ln>
        </p:spPr>
      </p:sp>
      <p:sp>
        <p:nvSpPr>
          <p:cNvPr id="9" name="Text 6"/>
          <p:cNvSpPr txBox="1"/>
          <p:nvPr/>
        </p:nvSpPr>
        <p:spPr>
          <a:xfrm>
            <a:off x="6400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SEEN by the wrong person?</a:t>
            </a:r>
            <a:endParaRPr lang="en-US" sz="1700" dirty="0"/>
          </a:p>
        </p:txBody>
      </p:sp>
      <p:sp>
        <p:nvSpPr>
          <p:cNvPr id="10" name="Text 7"/>
          <p:cNvSpPr txBox="1"/>
          <p:nvPr/>
        </p:nvSpPr>
        <p:spPr>
          <a:xfrm>
            <a:off x="6400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Confidentiality</a:t>
            </a:r>
            <a:endParaRPr lang="en-US" sz="2000" dirty="0"/>
          </a:p>
        </p:txBody>
      </p:sp>
      <p:sp>
        <p:nvSpPr>
          <p:cNvPr id="11" name="Shape 8"/>
          <p:cNvSpPr/>
          <p:nvPr/>
        </p:nvSpPr>
        <p:spPr>
          <a:xfrm>
            <a:off x="3276600" y="1371600"/>
            <a:ext cx="2590800" cy="2011680"/>
          </a:xfrm>
          <a:prstGeom prst="roundRect">
            <a:avLst>
              <a:gd name="adj" fmla="val 3636"/>
            </a:avLst>
          </a:prstGeom>
          <a:solidFill>
            <a:srgbClr val="D9D5D2"/>
          </a:solidFill>
          <a:ln w="12700">
            <a:solidFill>
              <a:srgbClr val="D9D5D2"/>
            </a:solidFill>
            <a:prstDash val="solid"/>
          </a:ln>
        </p:spPr>
      </p:sp>
      <p:sp>
        <p:nvSpPr>
          <p:cNvPr id="12" name="Text 9"/>
          <p:cNvSpPr txBox="1"/>
          <p:nvPr/>
        </p:nvSpPr>
        <p:spPr>
          <a:xfrm>
            <a:off x="34594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CHANGED wrongly?</a:t>
            </a:r>
            <a:endParaRPr lang="en-US" sz="1700" dirty="0"/>
          </a:p>
        </p:txBody>
      </p:sp>
      <p:sp>
        <p:nvSpPr>
          <p:cNvPr id="13" name="Text 10"/>
          <p:cNvSpPr txBox="1"/>
          <p:nvPr/>
        </p:nvSpPr>
        <p:spPr>
          <a:xfrm>
            <a:off x="34594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Integrity</a:t>
            </a:r>
            <a:endParaRPr lang="en-US" sz="2000" dirty="0"/>
          </a:p>
        </p:txBody>
      </p:sp>
      <p:sp>
        <p:nvSpPr>
          <p:cNvPr id="14" name="Shape 11"/>
          <p:cNvSpPr/>
          <p:nvPr/>
        </p:nvSpPr>
        <p:spPr>
          <a:xfrm>
            <a:off x="6096000" y="1371600"/>
            <a:ext cx="2590800" cy="2011680"/>
          </a:xfrm>
          <a:prstGeom prst="roundRect">
            <a:avLst>
              <a:gd name="adj" fmla="val 3636"/>
            </a:avLst>
          </a:prstGeom>
          <a:solidFill>
            <a:srgbClr val="EDDDCD"/>
          </a:solidFill>
          <a:ln w="12700">
            <a:solidFill>
              <a:srgbClr val="EDDDCD"/>
            </a:solidFill>
            <a:prstDash val="solid"/>
          </a:ln>
        </p:spPr>
      </p:sp>
      <p:sp>
        <p:nvSpPr>
          <p:cNvPr id="15" name="Text 12"/>
          <p:cNvSpPr txBox="1"/>
          <p:nvPr/>
        </p:nvSpPr>
        <p:spPr>
          <a:xfrm>
            <a:off x="62788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Could we NOT USE it?</a:t>
            </a:r>
            <a:endParaRPr lang="en-US" sz="1700" dirty="0"/>
          </a:p>
        </p:txBody>
      </p:sp>
      <p:sp>
        <p:nvSpPr>
          <p:cNvPr id="16" name="Text 13"/>
          <p:cNvSpPr txBox="1"/>
          <p:nvPr/>
        </p:nvSpPr>
        <p:spPr>
          <a:xfrm>
            <a:off x="62788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Availability</a:t>
            </a:r>
            <a:endParaRPr lang="en-US" sz="2000" dirty="0"/>
          </a:p>
        </p:txBody>
      </p:sp>
      <p:sp>
        <p:nvSpPr>
          <p:cNvPr id="17" name="Text 14"/>
          <p:cNvSpPr txBox="1"/>
          <p:nvPr/>
        </p:nvSpPr>
        <p:spPr>
          <a:xfrm>
            <a:off x="457200" y="3703320"/>
            <a:ext cx="8229600" cy="54864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One event can hurt more than one. Choose the one that hurts most, and say why.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A1.1</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CIA Triage</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short event.</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C, I or A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Your score is private.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CIA Triage</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CIA triad</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CIA Triage">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A1.3</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What Is TeaLeaf Worth?</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Put TeaLeaf's six assets in order.</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Most harmful to lose goes at the top.</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Compare your order with the MD's view.</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What Is TeaLeaf Worth?</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information as an asset</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What Is TeaLeaf Worth?">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Break</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3977640" y="146304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760220"/>
            <a:ext cx="594360" cy="594360"/>
          </a:xfrm>
          <a:prstGeom prst="rect">
            <a:avLst/>
          </a:prstGeom>
        </p:spPr>
      </p:pic>
      <p:sp>
        <p:nvSpPr>
          <p:cNvPr id="10" name="Text 6"/>
          <p:cNvSpPr txBox="1"/>
          <p:nvPr/>
        </p:nvSpPr>
        <p:spPr>
          <a:xfrm>
            <a:off x="457200" y="2926080"/>
            <a:ext cx="8229600" cy="640080"/>
          </a:xfrm>
          <a:prstGeom prst="rect">
            <a:avLst/>
          </a:prstGeom>
          <a:noFill/>
          <a:ln/>
        </p:spPr>
        <p:txBody>
          <a:bodyPr wrap="square" lIns="0" tIns="0" rIns="0" bIns="0" rtlCol="0" anchor="ctr"/>
          <a:lstStyle/>
          <a:p>
            <a:pPr algn="ctr" indent="0" marL="0">
              <a:buNone/>
            </a:pPr>
            <a:r>
              <a:rPr lang="en-US" sz="3200" b="1" dirty="0">
                <a:solidFill>
                  <a:srgbClr val="262A20"/>
                </a:solidFill>
                <a:latin typeface="Open Sans" pitchFamily="34" charset="0"/>
                <a:ea typeface="Open Sans" pitchFamily="34" charset="-122"/>
                <a:cs typeface="Open Sans" pitchFamily="34" charset="-120"/>
              </a:rPr>
              <a:t>Back at 11:00</a:t>
            </a:r>
            <a:endParaRPr lang="en-US" sz="3200" dirty="0"/>
          </a:p>
        </p:txBody>
      </p:sp>
      <p:sp>
        <p:nvSpPr>
          <p:cNvPr id="11" name="Text 7"/>
          <p:cNvSpPr txBox="1"/>
          <p:nvPr/>
        </p:nvSpPr>
        <p:spPr>
          <a:xfrm>
            <a:off x="457200" y="361188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Next: three words we will use all week.</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4</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Threat, vulnerability, risk</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words we will use every day this week.</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three risk words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560320"/>
          </a:xfrm>
          <a:prstGeom prst="roundRect">
            <a:avLst>
              <a:gd name="adj" fmla="val 2857"/>
            </a:avLst>
          </a:prstGeom>
          <a:solidFill>
            <a:srgbClr val="EDDDCD"/>
          </a:solidFill>
          <a:ln w="12700">
            <a:solidFill>
              <a:srgbClr val="EDDDCD"/>
            </a:solidFill>
            <a:prstDash val="solid"/>
          </a:ln>
        </p:spPr>
      </p:sp>
      <p:sp>
        <p:nvSpPr>
          <p:cNvPr id="9" name="Shape 6"/>
          <p:cNvSpPr/>
          <p:nvPr/>
        </p:nvSpPr>
        <p:spPr>
          <a:xfrm>
            <a:off x="640080" y="1371600"/>
            <a:ext cx="502920" cy="50292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Threat</a:t>
            </a:r>
            <a:endParaRPr lang="en-US" sz="2000" dirty="0"/>
          </a:p>
        </p:txBody>
      </p:sp>
      <p:sp>
        <p:nvSpPr>
          <p:cNvPr id="12" name="Text 8"/>
          <p:cNvSpPr txBox="1"/>
          <p:nvPr/>
        </p:nvSpPr>
        <p:spPr>
          <a:xfrm>
            <a:off x="6400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Something or someone that can cause harm.</a:t>
            </a:r>
            <a:endParaRPr lang="en-US" sz="1500" dirty="0"/>
          </a:p>
        </p:txBody>
      </p:sp>
      <p:sp>
        <p:nvSpPr>
          <p:cNvPr id="13" name="Shape 9"/>
          <p:cNvSpPr/>
          <p:nvPr/>
        </p:nvSpPr>
        <p:spPr>
          <a:xfrm>
            <a:off x="3276600" y="1188720"/>
            <a:ext cx="2590800" cy="2560320"/>
          </a:xfrm>
          <a:prstGeom prst="roundRect">
            <a:avLst>
              <a:gd name="adj" fmla="val 2857"/>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Vulnerability</a:t>
            </a:r>
            <a:endParaRPr lang="en-US" sz="2000" dirty="0"/>
          </a:p>
        </p:txBody>
      </p:sp>
      <p:sp>
        <p:nvSpPr>
          <p:cNvPr id="17" name="Text 12"/>
          <p:cNvSpPr txBox="1"/>
          <p:nvPr/>
        </p:nvSpPr>
        <p:spPr>
          <a:xfrm>
            <a:off x="34594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A weakness that a threat can use.</a:t>
            </a:r>
            <a:endParaRPr lang="en-US" sz="1500" dirty="0"/>
          </a:p>
        </p:txBody>
      </p:sp>
      <p:sp>
        <p:nvSpPr>
          <p:cNvPr id="18" name="Shape 13"/>
          <p:cNvSpPr/>
          <p:nvPr/>
        </p:nvSpPr>
        <p:spPr>
          <a:xfrm>
            <a:off x="6096000" y="1188720"/>
            <a:ext cx="2590800" cy="2560320"/>
          </a:xfrm>
          <a:prstGeom prst="roundRect">
            <a:avLst>
              <a:gd name="adj" fmla="val 2857"/>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Risk</a:t>
            </a:r>
            <a:endParaRPr lang="en-US" sz="2000" dirty="0"/>
          </a:p>
        </p:txBody>
      </p:sp>
      <p:sp>
        <p:nvSpPr>
          <p:cNvPr id="22" name="Text 16"/>
          <p:cNvSpPr txBox="1"/>
          <p:nvPr/>
        </p:nvSpPr>
        <p:spPr>
          <a:xfrm>
            <a:off x="62788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 chance that a threat uses a weakness and causes harm.</a:t>
            </a:r>
            <a:endParaRPr lang="en-US" sz="1500" dirty="0"/>
          </a:p>
        </p:txBody>
      </p:sp>
      <p:sp>
        <p:nvSpPr>
          <p:cNvPr id="23" name="Text 17"/>
          <p:cNvSpPr txBox="1"/>
          <p:nvPr/>
        </p:nvSpPr>
        <p:spPr>
          <a:xfrm>
            <a:off x="457200" y="4023360"/>
            <a:ext cx="8229600" cy="41148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A risk needs all three: a threat, a weakness, and harm to an asset.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example from home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sp>
        <p:nvSpPr>
          <p:cNvPr id="8" name="Shape 5"/>
          <p:cNvSpPr/>
          <p:nvPr/>
        </p:nvSpPr>
        <p:spPr>
          <a:xfrm>
            <a:off x="1280160" y="1325880"/>
            <a:ext cx="822960" cy="82296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1485900" y="1531620"/>
            <a:ext cx="411480" cy="411480"/>
          </a:xfrm>
          <a:prstGeom prst="rect">
            <a:avLst/>
          </a:prstGeom>
        </p:spPr>
      </p:pic>
      <p:sp>
        <p:nvSpPr>
          <p:cNvPr id="10" name="Text 6"/>
          <p:cNvSpPr txBox="1"/>
          <p:nvPr/>
        </p:nvSpPr>
        <p:spPr>
          <a:xfrm>
            <a:off x="457200" y="2286000"/>
            <a:ext cx="246888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Threat</a:t>
            </a:r>
            <a:endParaRPr lang="en-US" sz="1800" dirty="0"/>
          </a:p>
        </p:txBody>
      </p:sp>
      <p:sp>
        <p:nvSpPr>
          <p:cNvPr id="11" name="Text 7"/>
          <p:cNvSpPr txBox="1"/>
          <p:nvPr/>
        </p:nvSpPr>
        <p:spPr>
          <a:xfrm>
            <a:off x="45720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 thief</a:t>
            </a:r>
            <a:endParaRPr lang="en-US" sz="1500" dirty="0"/>
          </a:p>
        </p:txBody>
      </p:sp>
      <p:sp>
        <p:nvSpPr>
          <p:cNvPr id="12" name="Shape 8"/>
          <p:cNvSpPr/>
          <p:nvPr/>
        </p:nvSpPr>
        <p:spPr>
          <a:xfrm>
            <a:off x="2971800" y="1737360"/>
            <a:ext cx="274320" cy="0"/>
          </a:xfrm>
          <a:prstGeom prst="line">
            <a:avLst/>
          </a:prstGeom>
          <a:noFill/>
          <a:ln w="25400">
            <a:solidFill>
              <a:srgbClr val="5A5F55"/>
            </a:solidFill>
            <a:prstDash val="solid"/>
            <a:tailEnd type="triangle"/>
          </a:ln>
        </p:spPr>
      </p:sp>
      <p:sp>
        <p:nvSpPr>
          <p:cNvPr id="13" name="Shape 9"/>
          <p:cNvSpPr/>
          <p:nvPr/>
        </p:nvSpPr>
        <p:spPr>
          <a:xfrm>
            <a:off x="4114800" y="1325880"/>
            <a:ext cx="822960" cy="822960"/>
          </a:xfrm>
          <a:prstGeom prst="ellipse">
            <a:avLst/>
          </a:prstGeom>
          <a:solidFill>
            <a:srgbClr val="262A20"/>
          </a:solidFill>
          <a:ln w="12700">
            <a:solidFill>
              <a:srgbClr val="262A20"/>
            </a:solidFill>
            <a:prstDash val="solid"/>
          </a:ln>
        </p:spPr>
      </p:sp>
      <p:pic>
        <p:nvPicPr>
          <p:cNvPr id="14" name="Image 1" descr="preencoded.png">    </p:cNvPr>
          <p:cNvPicPr>
            <a:picLocks noChangeAspect="1"/>
          </p:cNvPicPr>
          <p:nvPr/>
        </p:nvPicPr>
        <p:blipFill>
          <a:blip r:embed="rId2"/>
          <a:stretch>
            <a:fillRect/>
          </a:stretch>
        </p:blipFill>
        <p:spPr>
          <a:xfrm>
            <a:off x="4320540" y="1531620"/>
            <a:ext cx="411480" cy="411480"/>
          </a:xfrm>
          <a:prstGeom prst="rect">
            <a:avLst/>
          </a:prstGeom>
        </p:spPr>
      </p:pic>
      <p:sp>
        <p:nvSpPr>
          <p:cNvPr id="15" name="Text 10"/>
          <p:cNvSpPr txBox="1"/>
          <p:nvPr/>
        </p:nvSpPr>
        <p:spPr>
          <a:xfrm>
            <a:off x="3291840" y="2286000"/>
            <a:ext cx="2468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Vulnerability</a:t>
            </a:r>
            <a:endParaRPr lang="en-US" sz="1800" dirty="0"/>
          </a:p>
        </p:txBody>
      </p:sp>
      <p:sp>
        <p:nvSpPr>
          <p:cNvPr id="16" name="Text 11"/>
          <p:cNvSpPr txBox="1"/>
          <p:nvPr/>
        </p:nvSpPr>
        <p:spPr>
          <a:xfrm>
            <a:off x="329184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An open window</a:t>
            </a:r>
            <a:endParaRPr lang="en-US" sz="1500" dirty="0"/>
          </a:p>
        </p:txBody>
      </p:sp>
      <p:sp>
        <p:nvSpPr>
          <p:cNvPr id="17" name="Shape 12"/>
          <p:cNvSpPr/>
          <p:nvPr/>
        </p:nvSpPr>
        <p:spPr>
          <a:xfrm>
            <a:off x="5806440" y="1737360"/>
            <a:ext cx="274320" cy="0"/>
          </a:xfrm>
          <a:prstGeom prst="line">
            <a:avLst/>
          </a:prstGeom>
          <a:noFill/>
          <a:ln w="25400">
            <a:solidFill>
              <a:srgbClr val="5A5F55"/>
            </a:solidFill>
            <a:prstDash val="solid"/>
            <a:tailEnd type="triangle"/>
          </a:ln>
        </p:spPr>
      </p:sp>
      <p:sp>
        <p:nvSpPr>
          <p:cNvPr id="18" name="Shape 13"/>
          <p:cNvSpPr/>
          <p:nvPr/>
        </p:nvSpPr>
        <p:spPr>
          <a:xfrm>
            <a:off x="6949440" y="1325880"/>
            <a:ext cx="822960" cy="822960"/>
          </a:xfrm>
          <a:prstGeom prst="ellipse">
            <a:avLst/>
          </a:prstGeom>
          <a:solidFill>
            <a:srgbClr val="667C7E"/>
          </a:solidFill>
          <a:ln w="12700">
            <a:solidFill>
              <a:srgbClr val="667C7E"/>
            </a:solidFill>
            <a:prstDash val="solid"/>
          </a:ln>
        </p:spPr>
      </p:sp>
      <p:pic>
        <p:nvPicPr>
          <p:cNvPr id="19" name="Image 2" descr="preencoded.png">    </p:cNvPr>
          <p:cNvPicPr>
            <a:picLocks noChangeAspect="1"/>
          </p:cNvPicPr>
          <p:nvPr/>
        </p:nvPicPr>
        <p:blipFill>
          <a:blip r:embed="rId3"/>
          <a:stretch>
            <a:fillRect/>
          </a:stretch>
        </p:blipFill>
        <p:spPr>
          <a:xfrm>
            <a:off x="7155180" y="1531620"/>
            <a:ext cx="411480" cy="411480"/>
          </a:xfrm>
          <a:prstGeom prst="rect">
            <a:avLst/>
          </a:prstGeom>
        </p:spPr>
      </p:pic>
      <p:sp>
        <p:nvSpPr>
          <p:cNvPr id="20" name="Text 14"/>
          <p:cNvSpPr txBox="1"/>
          <p:nvPr/>
        </p:nvSpPr>
        <p:spPr>
          <a:xfrm>
            <a:off x="6126480" y="2286000"/>
            <a:ext cx="2468880" cy="365760"/>
          </a:xfrm>
          <a:prstGeom prst="rect">
            <a:avLst/>
          </a:prstGeom>
          <a:noFill/>
          <a:ln/>
        </p:spPr>
        <p:txBody>
          <a:bodyPr wrap="square" lIns="0" tIns="0" rIns="0" bIns="0" rtlCol="0" anchor="ctr"/>
          <a:lstStyle/>
          <a:p>
            <a:pPr algn="ctr" indent="0" marL="0">
              <a:buNone/>
            </a:pPr>
            <a:r>
              <a:rPr lang="en-US" sz="1800" b="1" dirty="0">
                <a:solidFill>
                  <a:srgbClr val="566A6C"/>
                </a:solidFill>
                <a:latin typeface="Open Sans" pitchFamily="34" charset="0"/>
                <a:ea typeface="Open Sans" pitchFamily="34" charset="-122"/>
                <a:cs typeface="Open Sans" pitchFamily="34" charset="-120"/>
              </a:rPr>
              <a:t>Risk</a:t>
            </a:r>
            <a:endParaRPr lang="en-US" sz="1800" dirty="0"/>
          </a:p>
        </p:txBody>
      </p:sp>
      <p:sp>
        <p:nvSpPr>
          <p:cNvPr id="21" name="Text 15"/>
          <p:cNvSpPr txBox="1"/>
          <p:nvPr/>
        </p:nvSpPr>
        <p:spPr>
          <a:xfrm>
            <a:off x="612648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The thief may climb in and take the TV</a:t>
            </a:r>
            <a:endParaRPr lang="en-US" sz="1500" dirty="0"/>
          </a:p>
        </p:txBody>
      </p:sp>
      <p:sp>
        <p:nvSpPr>
          <p:cNvPr id="22" name="Text 16"/>
          <p:cNvSpPr txBox="1"/>
          <p:nvPr/>
        </p:nvSpPr>
        <p:spPr>
          <a:xfrm>
            <a:off x="457200" y="3840480"/>
            <a:ext cx="8229600" cy="45720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No thief, no risk. No open window, much less risk.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same idea at TeaLeaf</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29</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377440"/>
                <a:gridCol w="5852160"/>
              </a:tblGrid>
              <a:tr h="548640">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At TeaLeaf</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Threat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 criminal who guesses passwords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Vulnerability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All accounts staff share one simple password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Risk</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The criminal may guess the password and steal customer data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Confidentiality: the data is seen by the wrong person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risk sentence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80160"/>
            <a:ext cx="8229600" cy="1188720"/>
          </a:xfrm>
          <a:prstGeom prst="roundRect">
            <a:avLst>
              <a:gd name="adj" fmla="val 6154"/>
            </a:avLst>
          </a:prstGeom>
          <a:solidFill>
            <a:srgbClr val="D9D5D2"/>
          </a:solidFill>
          <a:ln w="19050">
            <a:solidFill>
              <a:srgbClr val="262A20"/>
            </a:solidFill>
            <a:prstDash val="solid"/>
          </a:ln>
        </p:spPr>
      </p:sp>
      <p:sp>
        <p:nvSpPr>
          <p:cNvPr id="9" name="Text 6"/>
          <p:cNvSpPr txBox="1"/>
          <p:nvPr/>
        </p:nvSpPr>
        <p:spPr>
          <a:xfrm>
            <a:off x="640080" y="1371600"/>
            <a:ext cx="7863840" cy="1005840"/>
          </a:xfrm>
          <a:prstGeom prst="rect">
            <a:avLst/>
          </a:prstGeom>
          <a:noFill/>
          <a:ln/>
        </p:spPr>
        <p:txBody>
          <a:bodyPr wrap="square" lIns="0" tIns="0" rIns="0" bIns="0" rtlCol="0" anchor="ctr"/>
          <a:lstStyle/>
          <a:p>
            <a:pPr indent="0" marL="0">
              <a:buNone/>
            </a:pPr>
            <a:r>
              <a:rPr lang="en-US" sz="2000" b="1" dirty="0">
                <a:solidFill>
                  <a:srgbClr val="7D5F3F"/>
                </a:solidFill>
                <a:latin typeface="Open Sans" pitchFamily="34" charset="0"/>
                <a:ea typeface="Open Sans" pitchFamily="34" charset="-122"/>
                <a:cs typeface="Open Sans" pitchFamily="34" charset="-120"/>
              </a:rPr>
              <a:t>[Threat]</a:t>
            </a:r>
            <a:pPr indent="0" marL="0">
              <a:buNone/>
            </a:pPr>
            <a:r>
              <a:rPr lang="en-US" sz="2000" dirty="0">
                <a:solidFill>
                  <a:srgbClr val="262A20"/>
                </a:solidFill>
                <a:latin typeface="Open Sans" pitchFamily="34" charset="0"/>
                <a:ea typeface="Open Sans" pitchFamily="34" charset="-122"/>
                <a:cs typeface="Open Sans" pitchFamily="34" charset="-120"/>
              </a:rPr>
              <a:t> could use </a:t>
            </a:r>
            <a:pPr indent="0" marL="0">
              <a:buNone/>
            </a:pPr>
            <a:r>
              <a:rPr lang="en-US" sz="2000" b="1" dirty="0">
                <a:solidFill>
                  <a:srgbClr val="262A20"/>
                </a:solidFill>
                <a:latin typeface="Open Sans" pitchFamily="34" charset="0"/>
                <a:ea typeface="Open Sans" pitchFamily="34" charset="-122"/>
                <a:cs typeface="Open Sans" pitchFamily="34" charset="-120"/>
              </a:rPr>
              <a:t>[vulnerability]</a:t>
            </a:r>
            <a:pPr indent="0" marL="0">
              <a:buNone/>
            </a:pPr>
            <a:r>
              <a:rPr lang="en-US" sz="2000" dirty="0">
                <a:solidFill>
                  <a:srgbClr val="262A20"/>
                </a:solidFill>
                <a:latin typeface="Open Sans" pitchFamily="34" charset="0"/>
                <a:ea typeface="Open Sans" pitchFamily="34" charset="-122"/>
                <a:cs typeface="Open Sans" pitchFamily="34" charset="-120"/>
              </a:rPr>
              <a:t>, and TeaLeaf could lose </a:t>
            </a:r>
            <a:pPr indent="0" marL="0">
              <a:buNone/>
            </a:pPr>
            <a:r>
              <a:rPr lang="en-US" sz="2000" b="1" dirty="0">
                <a:solidFill>
                  <a:srgbClr val="566A6C"/>
                </a:solidFill>
                <a:latin typeface="Open Sans" pitchFamily="34" charset="0"/>
                <a:ea typeface="Open Sans" pitchFamily="34" charset="-122"/>
                <a:cs typeface="Open Sans" pitchFamily="34" charset="-120"/>
              </a:rPr>
              <a:t>[C, I or A of an asset]</a:t>
            </a:r>
            <a:pPr indent="0" marL="0">
              <a:buNone/>
            </a:pPr>
            <a:r>
              <a:rPr lang="en-US" sz="2000" dirty="0">
                <a:solidFill>
                  <a:srgbClr val="262A20"/>
                </a:solidFill>
                <a:latin typeface="Open Sans" pitchFamily="34" charset="0"/>
                <a:ea typeface="Open Sans" pitchFamily="34" charset="-122"/>
                <a:cs typeface="Open Sans" pitchFamily="34" charset="-120"/>
              </a:rPr>
              <a:t>.</a:t>
            </a:r>
            <a:endParaRPr lang="en-US" sz="2000" dirty="0"/>
          </a:p>
        </p:txBody>
      </p:sp>
      <p:sp>
        <p:nvSpPr>
          <p:cNvPr id="10" name="Text 7"/>
          <p:cNvSpPr txBox="1"/>
          <p:nvPr/>
        </p:nvSpPr>
        <p:spPr>
          <a:xfrm>
            <a:off x="457200" y="2743200"/>
            <a:ext cx="8229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Example</a:t>
            </a:r>
            <a:endParaRPr lang="en-US" sz="1400" dirty="0"/>
          </a:p>
        </p:txBody>
      </p:sp>
      <p:sp>
        <p:nvSpPr>
          <p:cNvPr id="11" name="Text 8"/>
          <p:cNvSpPr txBox="1"/>
          <p:nvPr/>
        </p:nvSpPr>
        <p:spPr>
          <a:xfrm>
            <a:off x="457200" y="3108960"/>
            <a:ext cx="8229600" cy="91440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 flood could damage the old office server, which has no backup, and TeaLeaf could lose the availability of its accounts.</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Common mix-ups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31</a:t>
            </a:r>
            <a:endParaRPr lang="en-US" sz="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651760"/>
                <a:gridCol w="2743200"/>
                <a:gridCol w="2834640"/>
              </a:tblGrid>
              <a:tr h="68580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People say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Better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Why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hacker is someone who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old software."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Old software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It is a weakness, not an attacker.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shared password."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shared password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risk needs a threat, a weakness and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A1.2</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 Sorter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sentence about TeaLeaf.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Threat, Vulnerability or Risk.</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then try the next one.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 Sorter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threat, vulnerability and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 Sort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32</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A1.7</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Builder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Pick a threat, a weakness and a harm.</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the risk sentence build itself.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Build 5 real risks. Then fix each weakness.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Builder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a threat, a weakness and harm make a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Buil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this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34</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They are easy, valuable and connected.</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Often worth more than the computer it is on.</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CIA: keep it secret, correct and available</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Seen? Changed? Cannot use?</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threat uses a weakness and causes harm.</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35</a:t>
            </a:r>
            <a:endParaRPr lang="en-US" sz="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5852160"/>
              </a:tblGrid>
              <a:tr h="41148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Simple meaning</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Asset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Anything that has value to the business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Confidentiality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see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Integrity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Availability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Threat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Something or someone that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weakness a threat can use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Risk</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chance a threat uses a weakness and causes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A1.6</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Start now. Finish it at lunch or at home.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seven words of the morning</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3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36</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After lunch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37</a:t>
            </a:r>
            <a:endParaRPr lang="en-US" sz="800" dirty="0"/>
          </a:p>
        </p:txBody>
      </p:sp>
      <p:sp>
        <p:nvSpPr>
          <p:cNvPr id="8" name="Shape 5"/>
          <p:cNvSpPr/>
          <p:nvPr/>
        </p:nvSpPr>
        <p:spPr>
          <a:xfrm>
            <a:off x="3977640" y="137160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668780"/>
            <a:ext cx="594360" cy="594360"/>
          </a:xfrm>
          <a:prstGeom prst="rect">
            <a:avLst/>
          </a:prstGeom>
        </p:spPr>
      </p:pic>
      <p:sp>
        <p:nvSpPr>
          <p:cNvPr id="10" name="Text 6"/>
          <p:cNvSpPr txBox="1"/>
          <p:nvPr/>
        </p:nvSpPr>
        <p:spPr>
          <a:xfrm>
            <a:off x="457200" y="2788920"/>
            <a:ext cx="8229600" cy="64008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Who attacks, and how?</a:t>
            </a:r>
            <a:endParaRPr lang="en-US" sz="3000" dirty="0"/>
          </a:p>
        </p:txBody>
      </p:sp>
      <p:sp>
        <p:nvSpPr>
          <p:cNvPr id="11" name="Text 7"/>
          <p:cNvSpPr txBox="1"/>
          <p:nvPr/>
        </p:nvSpPr>
        <p:spPr>
          <a:xfrm>
            <a:off x="457200" y="347472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We answer the second half of the MD's question. Back at 1:00.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security matters to a business</dc:title>
  <dc:subject>PptxGenJS Presentation</dc:subject>
  <dc:creator>NIBM SOCE</dc:creator>
  <cp:lastModifiedBy>NIBM SOCE</cp:lastModifiedBy>
  <cp:revision>1</cp:revision>
  <dcterms:created xsi:type="dcterms:W3CDTF">2026-09-28T19:27:01Z</dcterms:created>
  <dcterms:modified xsi:type="dcterms:W3CDTF">2026-09-28T19:27:01Z</dcterms:modified>
</cp:coreProperties>
</file>